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Opportunity score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8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Schedule-conflict agent</c:v>
                  </c:pt>
                  <c:pt idx="1">
                    <c:v>Onboarding Companion</c:v>
                  </c:pt>
                  <c:pt idx="2">
                    <c:v>Intent-cluster ranking</c:v>
                  </c:pt>
                  <c:pt idx="3">
                    <c:v>Day-1 orientation agent</c:v>
                  </c:pt>
                  <c:pt idx="4">
                    <c:v>Cohort taxonomy + signals</c:v>
                  </c:pt>
                  <c:pt idx="5">
                    <c:v>Buddy-connection prompts</c:v>
                  </c:pt>
                  <c:pt idx="6">
                    <c:v>Retention funnel baselines</c:v>
                  </c:pt>
                  <c:pt idx="7">
                    <c:v>Fix top dead-end flow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14.5</c:v>
                </c:pt>
                <c:pt idx="1">
                  <c:v>15.2</c:v>
                </c:pt>
                <c:pt idx="2">
                  <c:v>18</c:v>
                </c:pt>
                <c:pt idx="3">
                  <c:v>18.8</c:v>
                </c:pt>
                <c:pt idx="4">
                  <c:v>19.1</c:v>
                </c:pt>
                <c:pt idx="5">
                  <c:v>19.3</c:v>
                </c:pt>
                <c:pt idx="6">
                  <c:v>22.5</c:v>
                </c:pt>
                <c:pt idx="7">
                  <c:v>23.6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A58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635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first, per the playbook. Everything after this slide defends it: the problem is priced, the three options are compared with a named kill, and the ask closes with amount, owner, date, and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Turnover was named the burning problem in the second interview. The 5-year tenure of those who stay makes the case sharper: the cliff is at the start, so a narrow early intervention carries outsized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Sidekick already answers 3 million questions a day (public figure). The waste sits after the answer: top question clusters dead-end into manual handoffs. That gap is priced, not just described, and the model appears with the bet that attacks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first two weeks regardless of the bet. A week on the floor is the cheapest high-fidelity data available, it is culturally native at Walmart, and it buys credibility with the associates whose adoption decides the product's fate.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options with a named kill and a priced do-nothing baseline. The kill is standalone B as the entry point, not B itself; its agents ship inside the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 A holds that the highest-value user is the associate in their first 90 days. Academies, Live Better U and the promotion culture already exist; they are not orchestrated into a new hire's daily experience. The CFO can check the math in their head: 500K hires, a point of retention is 5,000 people, times $2.5K to $4K replacement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 B attacks the agentic gap for every associate. The loop is the product: detect before the associate notices, propose takers, initiate, one-tap lead approval, confirm. Minutes are money at Walmart scale, and the range is stated with its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Bet C is the durable advantage: a platform that senses each cohort's state and responds with the right intervention. Tulsa vs. Tacoma is the whole pitch in one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room keeps one slide, it is this one. The trade-off is explicit: sequencing A then C buys proof first and breadth second, at the cost of a slower platform start. B standalone was killed as the entry on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with amount, owner, date and fallback, per the playbook. The delay price restates the do-nothing baseline from slide 5 at pilot scale: 2 to 3 targeted points on the pilot cohort share of the $12M to $20M per point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Pre-empts the CTO seat: product owns the semantics, engineering and DS own the pipes. Feature store on Element, versioned score models, config-driven arms on the existing experimentation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Pre-empts the legal and compliance seat. Real rewards raise the bar: taxable compensation, sweepstakes law, nomination flows through existing HR calibration, quarterly equity audits.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 2 is deliberately the busiest: both MVPs and the first scores go live. Everything in month 3 is a read, a decision, or an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Layer-5 output. The value is that overrides become explicit and debatable, which is data-backed storytelling operationalized.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Pre-empted questions for the CFO, CTO, and legal seats: sensitivity of each assumption sits next to its number on slides 6 to 8; reversibility is the day-90 kill switch; the surveillance headline is answered by design, not by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MYWALMART / SIDEKICK  ·  DECISION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$1M pilot quarter: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of discovery, then a 20-store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of the bet the evidence picks.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bet A into bet C, with B woven through. Operating principle: rejuvenation and rewards drive retention and results.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434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Rejuvenation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06040" y="43434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434340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43434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43434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94960" y="434340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43434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0920" y="43434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0" y="4343400"/>
            <a:ext cx="1965960" cy="566928"/>
          </a:xfrm>
          <a:prstGeom prst="roundRect">
            <a:avLst>
              <a:gd name="adj" fmla="val 14516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43434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at day 90: a retention read against control stores, a measured ROI model, and a platform go or no-go.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Hoem  ·  Principal Product Manager candidate  ·  R-2555971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concentrates in the first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worldwide; the largest workforce in retail (public figure)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196596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08483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3657600" y="33832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 store hires a year (stated assumption for all models here)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46520" y="196596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08483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$2.5K to $4K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46520" y="33832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cost per hourly associate (industry estimates)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69164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35440" y="196596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08483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606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yrs</a:t>
            </a:r>
            <a:endParaRPr lang="en-US" sz="4000" dirty="0"/>
          </a:p>
        </p:txBody>
      </p:sp>
      <p:sp>
        <p:nvSpPr>
          <p:cNvPr id="23" name="Text 17"/>
          <p:cNvSpPr/>
          <p:nvPr/>
        </p:nvSpPr>
        <p:spPr>
          <a:xfrm>
            <a:off x="9235440" y="338328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 of US associates who stay (public figure)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49834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90 days and you stay for years; quit early and Walmart pays to rehire. </a:t>
            </a:r>
            <a:pPr indent="0" marL="0">
              <a:buNone/>
            </a:pPr>
            <a:r>
              <a:rPr lang="en-US" sz="16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won or lost in the first two weeks, before most support programs even notice a new hire.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VALUE LEAKS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daily questions get answered, then abandoned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3749040"/>
          </a:xfrm>
          <a:prstGeom prst="roundRect">
            <a:avLst>
              <a:gd name="adj" fmla="val 2195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scheduled Saturday but I have a class conflict. What do I do?”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22783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request a shift swap! Ask your team lead to start a swap in the scheduling system.”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215384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ends. The associate walks the floor to find their lead. The lead stops mid-task. A customer waits.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39512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6596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2084832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0" y="26060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answer engine,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action engine.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583680" y="3520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dead-end answer costs 3 people time: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associate hunting for help, the team lead interrupted mid-task, and the customer standing there.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83680" y="4663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that gap is worth $90M to $125M a year per minute returned (model on slide 7).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DECIDE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weeks of discovery pick the bet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3246120"/>
          </a:xfrm>
          <a:prstGeom prst="roundRect">
            <a:avLst>
              <a:gd name="adj" fmla="val 321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848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 to 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deep-dive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daily questions clustered by intent; engagement by role, tenure, shift, region; where answers dead-end into manual work.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9000" y="1691640"/>
            <a:ext cx="2560320" cy="3246120"/>
          </a:xfrm>
          <a:prstGeom prst="roundRect">
            <a:avLst>
              <a:gd name="adj" fmla="val 321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0" y="196596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08483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768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 to 5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65760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associate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57600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survey verbatims, thumbs-down transcripts, exit themes: where associates say it hurts vs. where data shows it hurts.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560320" cy="3246120"/>
          </a:xfrm>
          <a:prstGeom prst="roundRect">
            <a:avLst>
              <a:gd name="adj" fmla="val 321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46520" y="196596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08483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 to 12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44652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floor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46520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in for overnight stocking and front-end shifts, real task assignments, same shared handhelds. Then monthly.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06840" y="1691640"/>
            <a:ext cx="2560320" cy="3246120"/>
          </a:xfrm>
          <a:prstGeom prst="roundRect">
            <a:avLst>
              <a:gd name="adj" fmla="val 321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35440" y="196596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08483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75520" y="2084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13 to 14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235440" y="2606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235440" y="31546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persona, pain ranked by frequency × time-cost × emotional severity. Direct input to the roadmap model.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" y="534924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without evidence is a guess wearing a suit. </a:t>
            </a:r>
            <a:pPr indent="0" marL="0">
              <a:buNone/>
            </a:pPr>
            <a:r>
              <a:rPr lang="en-US" sz="15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bet declares up front what the data must show for it to be the right entry; the sprint output selects the plan.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COMPARED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sequenced bets beat one big bet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502152" cy="3611880"/>
          </a:xfrm>
          <a:prstGeom prst="roundRect">
            <a:avLst>
              <a:gd name="adj" fmla="val 2350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5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first 90 days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4323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NEW HIRE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70662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Maya's first two weeks: orchestrate Academies, Live Better U and buddy prompts into her daily experience.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 </a:t>
            </a:r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new-hire retention (pilot vs. control)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46227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if:  </a:t>
            </a:r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attrition is concentrated; exit themes say confusion and isolation.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572768"/>
            <a:ext cx="3502152" cy="3611880"/>
          </a:xfrm>
          <a:prstGeom prst="roundRect">
            <a:avLst>
              <a:gd name="adj" fmla="val 2350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17830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5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39512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→ Action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99432" y="24323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ASSOCIATE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99432" y="270662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in-app: detect the schedule conflict, propose takers, initiate the swap, confirm.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9432" y="38404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 </a:t>
            </a:r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associate time returned per week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9432" y="446227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if:  </a:t>
            </a:r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question volume dead-ends into manual handoffs; friction drives quits.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1584" y="1572768"/>
            <a:ext cx="3502152" cy="3611880"/>
          </a:xfrm>
          <a:prstGeom prst="roundRect">
            <a:avLst>
              <a:gd name="adj" fmla="val 2350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30184" y="17830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058A6"/>
          </a:solidFill>
          <a:ln/>
        </p:spPr>
      </p:sp>
      <p:sp>
        <p:nvSpPr>
          <p:cNvPr id="22" name="Text 20"/>
          <p:cNvSpPr/>
          <p:nvPr/>
        </p:nvSpPr>
        <p:spPr>
          <a:xfrm>
            <a:off x="833018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970264" y="17922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 platform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330184" y="24323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1.9M DIFFERENT ASSOCIATES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30184" y="270662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scores plus a contextual bandit pick the right intervention per cohort: alert, reward, training, career nudge.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30184" y="38404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 </a:t>
            </a:r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retention lift (holdouts)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30184" y="446227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if:  </a:t>
            </a:r>
            <a:pPr indent="0" marL="0">
              <a:buNone/>
            </a:pPr>
            <a:r>
              <a:rPr lang="en-US" sz="11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drivers vary strongly by cohort; appetite for platform investment.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as the entry: B standalone. </a:t>
            </a:r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agents touch systems of record before any retention read exists; they earn trust faster inside A's cohort, then become C's intervention arms.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870448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nothing, priced: </a:t>
            </a:r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unclaimed point of 90-day retention costs $12M to $20M a year, and each quarter of delay forfeits a full pilot cycle.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A OF 3  ·  OWN THE FIRST 90 DAYS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Maya's first two weeks, keep her for years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· DAY 3 · OVERNIGHT STOCKING.  From “nobody told me anything” to a guided first week, with a visible path by day 30.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400800" cy="1060704"/>
          </a:xfrm>
          <a:prstGeom prst="roundRect">
            <a:avLst>
              <a:gd name="adj" fmla="val 7759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93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 to 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350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the funnel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37560" y="207568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7/30/60/90-day survival curves by cohort; onboarding journey map; first-shift audit from my week on the floor.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172968"/>
            <a:ext cx="6400800" cy="1060704"/>
          </a:xfrm>
          <a:prstGeom prst="roundRect">
            <a:avLst>
              <a:gd name="adj" fmla="val 7759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00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 to 60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5570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Onboarding Companion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32826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orientation agent, proactive next-step nudges, buddy prompts, zero-tenure language. Pilot in 10 to 20 stores.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6400800" cy="1060704"/>
          </a:xfrm>
          <a:prstGeom prst="roundRect">
            <a:avLst>
              <a:gd name="adj" fmla="val 7759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07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 to 90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7640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 or kill 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448970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vs. control read on 30/60-day retention; real-reward milestones; scale or kill decision priced for the CFO.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60920" y="1965960"/>
            <a:ext cx="4187952" cy="3520440"/>
          </a:xfrm>
          <a:prstGeom prst="roundRect">
            <a:avLst>
              <a:gd name="adj" fmla="val 2338"/>
            </a:avLst>
          </a:prstGeom>
          <a:solidFill>
            <a:srgbClr val="EAF6ED"/>
          </a:solidFill>
          <a:ln w="12700">
            <a:solidFill>
              <a:srgbClr val="EAF6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FOR WALMART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2514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 to $20M / yr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635240" y="3200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point of 90-day new-hire retention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35240" y="3611880"/>
            <a:ext cx="3611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stated: ~500K hires/yr; 1 pt ≈ 5,000 fewer replacements; $2.5K to $4K each. Pilot targets 2 to 3 pts.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projection, not observed data. The pilot replaces it with measured numbers.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7150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risk: </a:t>
            </a:r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multi-causal; pay, managers and scheduling dominate. This bet moves the app's share, and HR partnership starts day 1.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B OF 3  ·  ANSWER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closed loop returns minutes to the floor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 · MID-SHIFT · FRONT END.  Saturday's conflict is fixed before Devon notices; 3 people are never interrupted.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207008" cy="502920"/>
          </a:xfrm>
          <a:prstGeom prst="chevron">
            <a:avLst/>
          </a:prstGeom>
          <a:solidFill>
            <a:srgbClr val="005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38528" y="1920240"/>
            <a:ext cx="1207008" cy="502920"/>
          </a:xfrm>
          <a:prstGeom prst="chevron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1938528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36976" y="1920240"/>
            <a:ext cx="1207008" cy="502920"/>
          </a:xfrm>
          <a:prstGeom prst="chevron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3236976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35424" y="1920240"/>
            <a:ext cx="1207008" cy="502920"/>
          </a:xfrm>
          <a:prstGeom prst="chevron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33872" y="1920240"/>
            <a:ext cx="1207008" cy="502920"/>
          </a:xfrm>
          <a:prstGeom prst="chevron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5833872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nano-agent ships the full loop for the #1 question cluster (hypothesis: scheduling). Surgical, not sprawling.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6400800" cy="786384"/>
          </a:xfrm>
          <a:prstGeom prst="roundRect">
            <a:avLst>
              <a:gd name="adj" fmla="val 10465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 to 30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clusters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337560" y="321868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daily questions scored by frequency × time-cost × feasibility; top-3 action candidates.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050792"/>
            <a:ext cx="6400800" cy="786384"/>
          </a:xfrm>
          <a:prstGeom prst="roundRect">
            <a:avLst>
              <a:gd name="adj" fmla="val 10465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 to 60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8680" y="4370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first action agent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37560" y="411480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Schedule-conflict loop end to end; strictest grounding tier on pay, benefits, scheduling.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946904"/>
            <a:ext cx="6400800" cy="786384"/>
          </a:xfrm>
          <a:prstGeom prst="roundRect">
            <a:avLst>
              <a:gd name="adj" fmla="val 10465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0109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 to 90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52669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Harden, then expand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37560" y="50109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Task-completion and deflection reads; boringly dependable before broadly loved; cluster #2 spec'd.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60920" y="1920240"/>
            <a:ext cx="4187952" cy="3474720"/>
          </a:xfrm>
          <a:prstGeom prst="roundRect">
            <a:avLst>
              <a:gd name="adj" fmla="val 2368"/>
            </a:avLst>
          </a:prstGeom>
          <a:solidFill>
            <a:srgbClr val="EAF6ED"/>
          </a:solidFill>
          <a:ln w="12700">
            <a:solidFill>
              <a:srgbClr val="EAF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FOR WALMART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5240" y="2468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$90M to $125M / yr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635240" y="31546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minute returned, per associate, per shift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35240" y="356616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stated: ~1M store associates; $0.25 to $0.35 per loaded minute; ~350 operating days. Top clusters waste more than a minute.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projection. Deflection of team-lead interruptions comes on top.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598932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risk: </a:t>
            </a:r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scheduling action costs more trust than 100 right answers earn; reliability hardening comes before breadth.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C OF 3  ·  SIGNAL ENGINE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treating 1.9M associates as one user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NUDGE, TWO COHORTS.  The engine learned what lands; People teams audit every policy it writes.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400800" cy="1325880"/>
          </a:xfrm>
          <a:prstGeom prst="roundRect">
            <a:avLst>
              <a:gd name="adj" fmla="val 6207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50008"/>
            <a:ext cx="457200" cy="457200"/>
          </a:xfrm>
          <a:prstGeom prst="ellipse">
            <a:avLst/>
          </a:prstGeom>
          <a:solidFill>
            <a:srgbClr val="1BAF7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46430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103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TULSA · OVERNIGHT STOCK · 8 MO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08760" y="2377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2 certificates from team-lead eligibility. LBU is free. Block tonight's slow window for module 1?”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447288"/>
            <a:ext cx="6400800" cy="1325880"/>
          </a:xfrm>
          <a:prstGeom prst="roundRect">
            <a:avLst>
              <a:gd name="adj" fmla="val 6207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831336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94563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584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TACOMA · OVERNIGHT STOCK · 8 MO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508760" y="385876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“Four close-shifts in a row. Thursday has coverage. Take it as a recovery day? One tap.”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0080" y="4983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contextual bandit learns the best intervention per cohort. Nobody hypothesizes why West-coast overnight stockers differ from East-coast; the engine finds out and shows its work.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60920" y="1965960"/>
            <a:ext cx="4187952" cy="3520440"/>
          </a:xfrm>
          <a:prstGeom prst="roundRect">
            <a:avLst>
              <a:gd name="adj" fmla="val 2338"/>
            </a:avLst>
          </a:prstGeom>
          <a:solidFill>
            <a:srgbClr val="EAF6ED"/>
          </a:solidFill>
          <a:ln w="12700">
            <a:solidFill>
              <a:srgbClr val="EAF6E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3524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FOR WALMART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635240" y="2514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 to 2.5× yield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7635240" y="3200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incentive dollar, proven or killed against permanent holdouts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635240" y="374904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concentrates spend on arms that work per cohort (modeled; pilot measures it).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effect: a new intervention is config, not code. Weeks become days.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A and B: their features become arms the engine keeps optimizing.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0080" y="58978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risk: </a:t>
            </a:r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can read as surveillance. Mitigations: cohort-level scores only, growth framing, no hidden labels. It is also the slowest path to a visible win.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buys proof in one quarter; C compounds it;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B's agents become C's interventions.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FC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27614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win 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6499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Companion delivers a visible, CFO-priced result in one quarter, and is itself the Signal Engine's first use case.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25146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FC220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27614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that compounds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336499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scores, real-reward arms and the bandit turn every launch into a learning system.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2514600"/>
            <a:ext cx="3502152" cy="2148840"/>
          </a:xfrm>
          <a:prstGeom prst="roundRect">
            <a:avLst>
              <a:gd name="adj" fmla="val 3830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274320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FFC220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743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42832" y="27614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that 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0184" y="3364992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agents become the moves the engine deploys: answers that finish the job.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983480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is the operating principle underneath all three: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capacity to show up (mental and physical health; safe to fail and learn; safe at work and in the community) and reward the inputs (driven, proactive, challenge-seeking behavior) in real currency. Retention and results follow as outputs.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$0.8M to $1.2M for one pilot quarter.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8600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40487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8529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96112" y="3456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sprint: telemetry, voice of associate, and a badge-in week on the floor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201168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6864" y="228600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40487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28529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stores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4626864" y="3456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pilot and control footprint for the bet the evidence picks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201168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6406F"/>
          </a:solidFill>
          <a:ln w="12700">
            <a:solidFill>
              <a:srgbClr val="16406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7616" y="2286000"/>
            <a:ext cx="475488" cy="475488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40487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8529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DS pod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8357616" y="3456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holdouts and the bandit on the existing experimentation platform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45262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basis, assumption-tagged: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principal PM, 5 to 6 engineers, 1 DS pod, plus a capped pilot incentive budget. Owner: this role (Allen Hoem). Start: within 2 weeks of approval, target October 1, 2026.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25780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declined: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$50K telemetry-plus-survey baseline instead, and return next quarter with weaker evidence. Each quarter of delay leaves $3M to $5M of modeled retention value unclaimed.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" y="6126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 90: a retention read against control, a measured ROI model, a platform go or no-go.  ·  Appendix follows.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1  ·  SIGNAL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turn raw signals into a ranked roadmap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29968" cy="3017520"/>
          </a:xfrm>
          <a:prstGeom prst="roundRect">
            <a:avLst>
              <a:gd name="adj" fmla="val 405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20240"/>
            <a:ext cx="438912" cy="438912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2996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487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inputs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30175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voice of associate, ethnographic, workforce, operational, competitive, external.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52928" y="1691640"/>
            <a:ext cx="2029968" cy="3017520"/>
          </a:xfrm>
          <a:prstGeom prst="roundRect">
            <a:avLst>
              <a:gd name="adj" fmla="val 405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54096" y="1920240"/>
            <a:ext cx="438912" cy="438912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20299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54096" y="2487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Cohort scores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054096" y="30175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scores per cohort: friction, engagement, retention-risk, growth, trust, wellbeing. Never individual.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65776" y="1691640"/>
            <a:ext cx="2029968" cy="3017520"/>
          </a:xfrm>
          <a:prstGeom prst="roundRect">
            <a:avLst>
              <a:gd name="adj" fmla="val 405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66944" y="1920240"/>
            <a:ext cx="438912" cy="438912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202996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66944" y="2487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Decision layer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66944" y="30175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patterns map to intervention families: alerts, onboarding, rewards, career pathing, trust fixes, rejuvenation.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78624" y="1691640"/>
            <a:ext cx="2029968" cy="3017520"/>
          </a:xfrm>
          <a:prstGeom prst="roundRect">
            <a:avLst>
              <a:gd name="adj" fmla="val 405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79792" y="1920240"/>
            <a:ext cx="438912" cy="438912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02996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9792" y="2487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Learning layer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79792" y="30175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bandits (Thompson sampling) learn the best arm per cohort, validated against 90-day retention.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91472" y="1691640"/>
            <a:ext cx="2029968" cy="3017520"/>
          </a:xfrm>
          <a:prstGeom prst="roundRect">
            <a:avLst>
              <a:gd name="adj" fmla="val 4054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692640" y="1920240"/>
            <a:ext cx="438912" cy="438912"/>
          </a:xfrm>
          <a:prstGeom prst="ellipse">
            <a:avLst/>
          </a:prstGeom>
          <a:solidFill>
            <a:srgbClr val="0058A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2029968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92640" y="2487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Roadmap surface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692640" y="3017520"/>
            <a:ext cx="16642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scored: (minutes + retention lift) × confidence ÷ cost. Overrides are explicit.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0B2B4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120640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14300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holdouts: optimize retention, not clicks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6144768" y="5029200"/>
            <a:ext cx="365760" cy="365760"/>
          </a:xfrm>
          <a:prstGeom prst="ellipse">
            <a:avLst/>
          </a:prstGeom>
          <a:solidFill>
            <a:srgbClr val="0B2B4C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5120640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647688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floors: no cohort silently starved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40080" y="5596128"/>
            <a:ext cx="365760" cy="365760"/>
          </a:xfrm>
          <a:prstGeom prst="ellipse">
            <a:avLst/>
          </a:prstGeom>
          <a:solidFill>
            <a:srgbClr val="0B2B4C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5687568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143000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caps: at most N nudges per week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6144768" y="5596128"/>
            <a:ext cx="365760" cy="365760"/>
          </a:xfrm>
          <a:prstGeom prst="ellipse">
            <a:avLst/>
          </a:prstGeom>
          <a:solidFill>
            <a:srgbClr val="0B2B4C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5687568"/>
            <a:ext cx="182880" cy="18288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647688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policies, reviewable by People teams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640080" y="6217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reads operational signals only (schedules, breaks, callouts). Never health data.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  ·  REWARDS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are real currency, not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38528"/>
            <a:ext cx="475488" cy="475488"/>
          </a:xfrm>
          <a:prstGeom prst="ellipse">
            <a:avLst/>
          </a:prstGeom>
          <a:solidFill>
            <a:srgbClr val="2A78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574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751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SYSTEM-GRANTED · INSTANT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2907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lunch · small gift card · stock-sweepstake entries · donation to a cause you choose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931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pick, and every choice teaches the bandit what motivates each cohort.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70832" y="169164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9432" y="1938528"/>
            <a:ext cx="475488" cy="475488"/>
          </a:xfrm>
          <a:prstGeom prst="ellipse">
            <a:avLst/>
          </a:prstGeom>
          <a:solidFill>
            <a:srgbClr val="EB683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05740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19751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99432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STREAK-FED · HUMAN-DECIDED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99432" y="2907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· merit-increase nomination · larger stock sweepstake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99432" y="3931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nominates with evidence; managers and HR decide in existing calibration.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1584" y="1691640"/>
            <a:ext cx="3502152" cy="3383280"/>
          </a:xfrm>
          <a:prstGeom prst="roundRect">
            <a:avLst>
              <a:gd name="adj" fmla="val 2432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30184" y="1938528"/>
            <a:ext cx="475488" cy="475488"/>
          </a:xfrm>
          <a:prstGeom prst="ellipse">
            <a:avLst/>
          </a:prstGeom>
          <a:solidFill>
            <a:srgbClr val="1BAF7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057400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70264" y="197510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30184" y="2606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PATH ITSELF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330184" y="290779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grants · team-lead track via Academies and Live Better U (310K promoted in 2 years)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330184" y="39319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as concrete next steps, never vague promises: “2 certificates from eligibility”.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40080" y="53492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said out loud: </a:t>
            </a:r>
            <a:pPr indent="0" marL="0">
              <a:buNone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cards, bonuses and stock are taxable compensation (payroll integration, not an app feature); sweepstakes carry state rules; every tier ships with an equity audit. Rewarding drive must never quietly punish the associate who simply works their shift well. Failing a challenge never costs anything: safe to fail, mechanically enforced.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3  ·  90-DAY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quarter delivers discovery, 2 MVPs, and a scale 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3931920"/>
          </a:xfrm>
          <a:prstGeom prst="roundRect">
            <a:avLst>
              <a:gd name="adj" fmla="val 2350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 to 30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96112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baseline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78892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sprint + retention funnel baselines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 questions clustered and scored by intent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top dead-end flow (quick win)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taxonomy + signal inventory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502152" cy="39319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 to 60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26864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MVPs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6864" y="278892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Companion pilot (10 to 20 stores)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Schedule-conflict action agent (full loop)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Retention-risk + wellbeing scores live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catalog v1, everyday tier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691640"/>
            <a:ext cx="3502152" cy="3931920"/>
          </a:xfrm>
          <a:prstGeom prst="roundRect">
            <a:avLst>
              <a:gd name="adj" fmla="val 2350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 to 90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57616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&amp; expand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57616" y="278892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vs. control retention read, then scale or kill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bandit across 3 to 4 arms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Career-pathing + recovery-day nudges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dashboard feeds the roadmap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journey-swimlane roadmap, filterable by strategy, lives in the interactive studio.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4  ·  PRIORITY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fund the quarter while both MVPs land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this chart answers: what ships first, and why? Axis starts at 0.</a:t>
            </a:r>
            <a:endParaRPr lang="en-US" sz="11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691640"/>
            <a:ext cx="3730752" cy="3931920"/>
          </a:xfrm>
          <a:prstGeom prst="roundRect">
            <a:avLst>
              <a:gd name="adj" fmla="val 2206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4152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74152" y="233172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(minutes returned + retention lift) × confidence ÷ build cost, at balanced weights.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certain items rank first and fund the story while the 2 MVPs land mid-quarter.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reviews stop being opinion tournaments: here is what the signals rank, and here is where I override the model, with the reason.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6172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scores, not observed data. The live model with adjustable weights runs in the interactive studio.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5  ·  MEASUREMENT AND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bet is an experiment with a kill switch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BET IS MEASURED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2311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58A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pilot vs. control stores; pre-registered north star; scale or kill at day 90.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1912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58A6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Task-level instrumentation: answer-to-action conversion, deflection, time to resolution.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1F6FB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415137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58A6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06908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long-horizon holdouts; incentive ROI per arm; quarterly equity audits.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5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EACH WITH AN OWNER AND A MITIGATION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057400"/>
            <a:ext cx="51937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130552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multi-causal. </a:t>
            </a:r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moves its share, not the whole number. Owner: PM, with HR/People partnership from day 1.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017520"/>
            <a:ext cx="51937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090672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asymmetric. </a:t>
            </a:r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action outweighs 100 right answers. Owner: eng lead; reliability hardening before breadth.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3977640"/>
            <a:ext cx="51937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050792"/>
            <a:ext cx="4754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can read as surveillance. </a:t>
            </a:r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only, radical transparency, equity audits. Owner: PM with People team review.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2578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Backstop for everything the engine does: </a:t>
            </a:r>
            <a:pPr indent="0" marL="0">
              <a:buNone/>
            </a:pPr>
            <a:r>
              <a:rPr lang="en-US" sz="1350" i="1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intervention family is something we would be comfortable explaining on the front page of the Wall Street Journal.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 the Sidekick pilot quarter</dc:title>
  <dc:subject>PptxGenJS Presentation</dc:subject>
  <dc:creator>Allen Hoem</dc:creator>
  <cp:lastModifiedBy>Allen Hoem</cp:lastModifiedBy>
  <cp:revision>1</cp:revision>
  <dcterms:created xsi:type="dcterms:W3CDTF">2026-08-02T23:14:23Z</dcterms:created>
  <dcterms:modified xsi:type="dcterms:W3CDTF">2026-08-02T23:14:23Z</dcterms:modified>
</cp:coreProperties>
</file>