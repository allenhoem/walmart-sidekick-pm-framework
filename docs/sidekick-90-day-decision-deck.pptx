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New hires still employed</c:v>
                </c:pt>
              </c:strCache>
            </c:strRef>
          </c:tx>
          <c:spPr>
            <a:solidFill>
              <a:srgbClr val="3B7EA8"/>
            </a:solidFill>
            <a:ln w="44450" cap="flat">
              <a:solidFill>
                <a:srgbClr val="3B7EA8"/>
              </a:solidFill>
              <a:prstDash val="solid"/>
              <a:round/>
            </a:ln>
            <a:effectLst/>
          </c:spPr>
          <c:invertIfNegative val="0"/>
          <c:dLbls>
            <c:numFmt formatCode="0&quot;%&quot;" sourceLinked="0"/>
            <c:txPr>
              <a:bodyPr/>
              <a:lstStyle/>
              <a:p>
                <a:pPr>
                  <a:defRPr b="0" i="0" strike="noStrike" sz="1000" u="none">
                    <a:solidFill>
                      <a:srgbClr val="5E6980"/>
                    </a:solidFill>
                    <a:latin typeface="Arial"/>
                  </a:defRPr>
                </a:pPr>
              </a:p>
            </c:txPr>
            <c:dLblPos val="t"/>
            <c:showLegendKey val="0"/>
            <c:showVal val="1"/>
            <c:showCatName val="0"/>
            <c:showSerName val="0"/>
            <c:showPercent val="0"/>
            <c:showBubbleSize val="0"/>
            <c:showLeaderLines val="0"/>
          </c:dLbls>
          <c:marker>
            <c:symbol val="circle"/>
            <c:size val="6"/>
            <c:spPr>
              <a:solidFill>
                <a:srgbClr val="3B7EA8"/>
              </a:solidFill>
              <a:ln w="9525" cap="flat">
                <a:solidFill>
                  <a:srgbClr val="3B7EA8"/>
                </a:solidFill>
                <a:prstDash val="solid"/>
                <a:round/>
              </a:ln>
              <a:effectLst/>
            </c:spPr>
          </c:marker>
          <c:cat>
            <c:multiLvlStrRef>
              <c:f>Sheet1!$A$2:$A$8</c:f>
              <c:multiLvlStrCache>
                <c:ptCount val="7"/>
                <c:lvl>
                  <c:pt idx="0">
                    <c:v>Day 0</c:v>
                  </c:pt>
                  <c:pt idx="1">
                    <c:v>Day 7</c:v>
                  </c:pt>
                  <c:pt idx="2">
                    <c:v>Day 14</c:v>
                  </c:pt>
                  <c:pt idx="3">
                    <c:v>Day 30</c:v>
                  </c:pt>
                  <c:pt idx="4">
                    <c:v>Day 45</c:v>
                  </c:pt>
                  <c:pt idx="5">
                    <c:v>Day 60</c:v>
                  </c:pt>
                  <c:pt idx="6">
                    <c:v>Day 90</c:v>
                  </c:pt>
                </c:lvl>
              </c:multiLvlStrCache>
            </c:multiLvlStrRef>
          </c:cat>
          <c:val>
            <c:numRef>
              <c:f>Sheet1!$B$2:$B$8</c:f>
              <c:numCache>
                <c:formatCode>General</c:formatCode>
                <c:ptCount val="7"/>
                <c:pt idx="0">
                  <c:v>100</c:v>
                </c:pt>
                <c:pt idx="1">
                  <c:v>94</c:v>
                </c:pt>
                <c:pt idx="2">
                  <c:v>88</c:v>
                </c:pt>
                <c:pt idx="3">
                  <c:v>81</c:v>
                </c:pt>
                <c:pt idx="4">
                  <c:v>78</c:v>
                </c:pt>
                <c:pt idx="5">
                  <c:v>75</c:v>
                </c:pt>
                <c:pt idx="6">
                  <c:v>72</c:v>
                </c:pt>
              </c:numCache>
            </c:numRef>
          </c:val>
          <c:smooth val="0"/>
        </c:ser>
        <c:dLbls>
          <c:numFmt formatCode="0&quot;%&quot;" sourceLinked="0"/>
          <c:txPr>
            <a:bodyPr/>
            <a:lstStyle/>
            <a:p>
              <a:pPr>
                <a:defRPr b="0" i="0" strike="noStrike" sz="1000" u="none">
                  <a:solidFill>
                    <a:srgbClr val="5E698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2EAF4"/>
            </a:solidFill>
            <a:prstDash val="solid"/>
            <a:round/>
          </a:ln>
        </c:spPr>
        <c:txPr>
          <a:bodyPr/>
          <a:lstStyle/>
          <a:p>
            <a:pPr>
              <a:defRPr sz="1050" b="0" i="0" u="none" strike="noStrike">
                <a:solidFill>
                  <a:srgbClr val="5E6980"/>
                </a:solidFill>
                <a:latin typeface="Calibri"/>
              </a:defRPr>
            </a:pPr>
            <a:endParaRPr lang="en-US"/>
          </a:p>
        </c:txPr>
        <c:crossAx val="2094734552"/>
        <c:crosses val="autoZero"/>
        <c:auto val="1"/>
        <c:lblAlgn val="ctr"/>
        <c:noMultiLvlLbl val="1"/>
      </c:catAx>
      <c:valAx>
        <c:axId val="2094734552"/>
        <c:scaling>
          <c:orientation val="minMax"/>
          <c:max val="104"/>
          <c:min val="60"/>
        </c:scaling>
        <c:delete val="0"/>
        <c:axPos val="l"/>
        <c:majorGridlines>
          <c:spPr>
            <a:ln w="12700" cap="flat">
              <a:solidFill>
                <a:srgbClr val="E2EAF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5E69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ask, not an agenda. Two weeks of discovery, then a 90-day pilot across 20 matched store pairs. Every number here is order-of-magnitude with assumptions stated, built to be interrogated and then replaced by pilot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do-nothing price. Inaction is not free: at these assumptions it costs about $1.5B a year. The curve shape is the point, not the exact values. The sprint produces the real curves in the first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Sidekick is a strong answer engine and a weak action engine. The gap between answering and doing is where the minutes and the goodwill go. Devon's exchange is the everyday version of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in one line. Rejuvenation and rewards are inputs; retention and results are outputs. Everything downstream is an implementation of this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bet is falsifiable: it states up front what the discovery data would have to show for it to be the right entry point. That makes the sprint output the decider rather than anyone's conviction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proves the retention thesis in one quarter on a footprint small enough to kill. C turns that proof into rails everything later ships on. B runs through both because its wins are immediate and it feeds the engine the intent data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 is a day-3 overnight stocker. Skipping a training never costs her anything, which is what makes it safe to learn. The week-1 reward is chosen by her, and that choice is also the training signal Plan C learns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Cohorts, not individuals: larger samples make the scores stable, and it is the right privacy posture because the engine never carries a hidden label on a person. Wellbeing reads operational signals only. Never health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Surveillance perception is the risk that kills Plan C if it is handled late. The mitigation is radical transparency from the first release, not a comms plan bolted on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and stop talking. Amount, owner, date, gate, and the fallback are all on one slide so the room can decide without a second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walk the appendix. Jump to the slide the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in the sensitivity grid still clears the cost of the sprint. That is the point of showing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Bentonville makes the floor shifts a weekly habit rather than a one-time event. That is the difference between ethnography and a photo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why not A/B: exposure. A/B spends weeks paying losing arms while a bandit reallocates continuously and still explores.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Cohort-level scoring gives larger samples per estimate, so the scores are statistically stable, and it is the right privacy posture because no individual carries a hidden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production the thresholds come from score distributions, for example top-quartile friction. The policy stays human-readable on purpose so a People team can audit every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everyday tier is the only one the system grants on its own. Everything above it routes through a human decision inside processes HR already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what let a People team sign off on a learning system. Each one is testable and each one has an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not there to be obeyed. It makes overrides explicit: here is what the signals rank, here is where I am overriding,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handoff posture matters: product owns what a score means, data science owns how it is computed and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here is public or stated as illustrative. The sprint replaces the illustrative ones with measured internal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ALLEN HOEM  ·  PRINCIPAL PM CANDIDATE  ·  MYWALMART / SIDEKICK  ·  R-2555971</a:t>
            </a:r>
            <a:endParaRPr lang="en-US" sz="1100" dirty="0"/>
          </a:p>
        </p:txBody>
      </p:sp>
      <p:sp>
        <p:nvSpPr>
          <p:cNvPr id="4" name="Text 2"/>
          <p:cNvSpPr/>
          <p:nvPr/>
        </p:nvSpPr>
        <p:spPr>
          <a:xfrm>
            <a:off x="566928" y="932688"/>
            <a:ext cx="10232136" cy="1691640"/>
          </a:xfrm>
          <a:prstGeom prst="rect">
            <a:avLst/>
          </a:prstGeom>
          <a:noFill/>
          <a:ln/>
        </p:spPr>
        <p:txBody>
          <a:bodyPr wrap="square" lIns="0" tIns="0" rIns="0" bIns="0" rtlCol="0" anchor="t"/>
          <a:lstStyle/>
          <a:p>
            <a:pPr indent="0" marL="0">
              <a:lnSpc>
                <a:spcPts val="4000"/>
              </a:lnSpc>
              <a:buNone/>
            </a:pPr>
            <a:r>
              <a:rPr lang="en-US" sz="3300" b="1" dirty="0">
                <a:solidFill>
                  <a:srgbClr val="FFFFFF"/>
                </a:solidFill>
                <a:latin typeface="Cambria" pitchFamily="34" charset="0"/>
                <a:ea typeface="Cambria" pitchFamily="34" charset="-122"/>
                <a:cs typeface="Cambria" pitchFamily="34" charset="-120"/>
              </a:rPr>
              <a:t>Approve 2 weeks, 20 pilot stores, and 1 data-science pod to chase 2 to 3 points of 90-day retention.</a:t>
            </a:r>
            <a:endParaRPr lang="en-US" sz="3300" dirty="0"/>
          </a:p>
        </p:txBody>
      </p:sp>
      <p:sp>
        <p:nvSpPr>
          <p:cNvPr id="5" name="Shape 3"/>
          <p:cNvSpPr/>
          <p:nvPr/>
        </p:nvSpPr>
        <p:spPr>
          <a:xfrm>
            <a:off x="566928" y="2944368"/>
            <a:ext cx="3502152" cy="1481328"/>
          </a:xfrm>
          <a:prstGeom prst="roundRect">
            <a:avLst>
              <a:gd name="adj" fmla="val 7407"/>
            </a:avLst>
          </a:prstGeom>
          <a:solidFill>
            <a:srgbClr val="223558"/>
          </a:solidFill>
          <a:ln w="12700">
            <a:solidFill>
              <a:srgbClr val="223558"/>
            </a:solidFill>
            <a:prstDash val="solid"/>
          </a:ln>
        </p:spPr>
      </p:sp>
      <p:sp>
        <p:nvSpPr>
          <p:cNvPr id="6" name="Text 4"/>
          <p:cNvSpPr/>
          <p:nvPr/>
        </p:nvSpPr>
        <p:spPr>
          <a:xfrm>
            <a:off x="731520" y="3127248"/>
            <a:ext cx="3172968" cy="74066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~$15M</a:t>
            </a:r>
            <a:endParaRPr lang="en-US" sz="3000" dirty="0"/>
          </a:p>
        </p:txBody>
      </p:sp>
      <p:sp>
        <p:nvSpPr>
          <p:cNvPr id="7" name="Text 5"/>
          <p:cNvSpPr/>
          <p:nvPr/>
        </p:nvSpPr>
        <p:spPr>
          <a:xfrm>
            <a:off x="731520" y="3862791"/>
            <a:ext cx="3172968" cy="474025"/>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a year, per point of 90-day</a:t>
            </a:r>
            <a:endParaRPr lang="en-US" sz="1150" dirty="0"/>
          </a:p>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new-hire retention</a:t>
            </a:r>
            <a:endParaRPr lang="en-US" sz="1150" dirty="0"/>
          </a:p>
        </p:txBody>
      </p:sp>
      <p:sp>
        <p:nvSpPr>
          <p:cNvPr id="8" name="Shape 6"/>
          <p:cNvSpPr/>
          <p:nvPr/>
        </p:nvSpPr>
        <p:spPr>
          <a:xfrm>
            <a:off x="4343400" y="2944368"/>
            <a:ext cx="3502152" cy="1481328"/>
          </a:xfrm>
          <a:prstGeom prst="roundRect">
            <a:avLst>
              <a:gd name="adj" fmla="val 7407"/>
            </a:avLst>
          </a:prstGeom>
          <a:solidFill>
            <a:srgbClr val="223558"/>
          </a:solidFill>
          <a:ln w="12700">
            <a:solidFill>
              <a:srgbClr val="223558"/>
            </a:solidFill>
            <a:prstDash val="solid"/>
          </a:ln>
        </p:spPr>
      </p:sp>
      <p:sp>
        <p:nvSpPr>
          <p:cNvPr id="9" name="Text 7"/>
          <p:cNvSpPr/>
          <p:nvPr/>
        </p:nvSpPr>
        <p:spPr>
          <a:xfrm>
            <a:off x="4507992" y="3127248"/>
            <a:ext cx="3172968" cy="74066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$30-45M</a:t>
            </a:r>
            <a:endParaRPr lang="en-US" sz="3000" dirty="0"/>
          </a:p>
        </p:txBody>
      </p:sp>
      <p:sp>
        <p:nvSpPr>
          <p:cNvPr id="10" name="Text 8"/>
          <p:cNvSpPr/>
          <p:nvPr/>
        </p:nvSpPr>
        <p:spPr>
          <a:xfrm>
            <a:off x="4507992" y="3862791"/>
            <a:ext cx="3172968" cy="474025"/>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a year if the pilot lands</a:t>
            </a:r>
            <a:endParaRPr lang="en-US" sz="1150" dirty="0"/>
          </a:p>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2 to 3 points</a:t>
            </a:r>
            <a:endParaRPr lang="en-US" sz="1150" dirty="0"/>
          </a:p>
        </p:txBody>
      </p:sp>
      <p:sp>
        <p:nvSpPr>
          <p:cNvPr id="11" name="Shape 9"/>
          <p:cNvSpPr/>
          <p:nvPr/>
        </p:nvSpPr>
        <p:spPr>
          <a:xfrm>
            <a:off x="8119872" y="2944368"/>
            <a:ext cx="3502152" cy="1481328"/>
          </a:xfrm>
          <a:prstGeom prst="roundRect">
            <a:avLst>
              <a:gd name="adj" fmla="val 7407"/>
            </a:avLst>
          </a:prstGeom>
          <a:solidFill>
            <a:srgbClr val="223558"/>
          </a:solidFill>
          <a:ln w="12700">
            <a:solidFill>
              <a:srgbClr val="223558"/>
            </a:solidFill>
            <a:prstDash val="solid"/>
          </a:ln>
        </p:spPr>
      </p:sp>
      <p:sp>
        <p:nvSpPr>
          <p:cNvPr id="12" name="Text 10"/>
          <p:cNvSpPr/>
          <p:nvPr/>
        </p:nvSpPr>
        <p:spPr>
          <a:xfrm>
            <a:off x="8284464" y="3127248"/>
            <a:ext cx="3172968" cy="74066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Day 90</a:t>
            </a:r>
            <a:endParaRPr lang="en-US" sz="3000" dirty="0"/>
          </a:p>
        </p:txBody>
      </p:sp>
      <p:sp>
        <p:nvSpPr>
          <p:cNvPr id="13" name="Text 11"/>
          <p:cNvSpPr/>
          <p:nvPr/>
        </p:nvSpPr>
        <p:spPr>
          <a:xfrm>
            <a:off x="8284464" y="3862791"/>
            <a:ext cx="3172968" cy="474025"/>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pre-set scale or kill,</a:t>
            </a:r>
            <a:endParaRPr lang="en-US" sz="1150" dirty="0"/>
          </a:p>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no open-ended spend</a:t>
            </a:r>
            <a:endParaRPr lang="en-US" sz="1150" dirty="0"/>
          </a:p>
        </p:txBody>
      </p:sp>
      <p:sp>
        <p:nvSpPr>
          <p:cNvPr id="14" name="Text 12"/>
          <p:cNvSpPr/>
          <p:nvPr/>
        </p:nvSpPr>
        <p:spPr>
          <a:xfrm>
            <a:off x="566928" y="4773168"/>
            <a:ext cx="11055096" cy="411480"/>
          </a:xfrm>
          <a:prstGeom prst="rect">
            <a:avLst/>
          </a:prstGeom>
          <a:noFill/>
          <a:ln/>
        </p:spPr>
        <p:txBody>
          <a:bodyPr wrap="square" lIns="0" tIns="0" rIns="0" bIns="0" rtlCol="0" anchor="ctr"/>
          <a:lstStyle/>
          <a:p>
            <a:pPr indent="0" marL="0">
              <a:buNone/>
            </a:pPr>
            <a:r>
              <a:rPr lang="en-US" sz="1550" dirty="0">
                <a:solidFill>
                  <a:srgbClr val="D6DEEC"/>
                </a:solidFill>
                <a:latin typeface="Calibri" pitchFamily="34" charset="0"/>
                <a:ea typeface="Calibri" pitchFamily="34" charset="-122"/>
                <a:cs typeface="Calibri" pitchFamily="34" charset="-120"/>
              </a:rPr>
              <a:t>Plan A first. Plans B and C follow on evidence, not on preference.</a:t>
            </a:r>
            <a:endParaRPr lang="en-US" sz="1550" dirty="0"/>
          </a:p>
        </p:txBody>
      </p:sp>
      <p:sp>
        <p:nvSpPr>
          <p:cNvPr id="15" name="Text 13"/>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Illustrative model: about 500K new store hires a year, about $3,000 to replace each one. The sprint replaces both figures with measured data.</a:t>
            </a:r>
            <a:endParaRPr lang="en-US" sz="1050" dirty="0"/>
          </a:p>
        </p:txBody>
      </p:sp>
      <p:sp>
        <p:nvSpPr>
          <p:cNvPr id="16" name="Text 14"/>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SITUATION AND COMPLICATION</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Replacement spend runs about $1.5B a year, and it concentrates in weeks 1 to 6.</a:t>
            </a:r>
            <a:endParaRPr lang="en-US" sz="3000" dirty="0"/>
          </a:p>
        </p:txBody>
      </p:sp>
      <p:graphicFrame>
        <p:nvGraphicFramePr>
          <p:cNvPr id="5" name="Chart 0" descr=""/>
          <p:cNvGraphicFramePr/>
          <p:nvPr/>
        </p:nvGraphicFramePr>
        <p:xfrm>
          <a:off x="566928" y="1938528"/>
          <a:ext cx="6172200" cy="36576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66928" y="5596128"/>
            <a:ext cx="6172200" cy="502920"/>
          </a:xfrm>
          <a:prstGeom prst="rect">
            <a:avLst/>
          </a:prstGeom>
          <a:noFill/>
          <a:ln/>
        </p:spPr>
        <p:txBody>
          <a:bodyPr wrap="square" lIns="0" tIns="0" rIns="0" bIns="0" rtlCol="0" anchor="t"/>
          <a:lstStyle/>
          <a:p>
            <a:pPr indent="0" marL="0">
              <a:lnSpc>
                <a:spcPts val="1400"/>
              </a:lnSpc>
              <a:buNone/>
            </a:pPr>
            <a:r>
              <a:rPr lang="en-US" sz="1150" i="1" dirty="0">
                <a:solidFill>
                  <a:srgbClr val="5E6980"/>
                </a:solidFill>
                <a:latin typeface="Calibri" pitchFamily="34" charset="0"/>
                <a:ea typeface="Calibri" pitchFamily="34" charset="-122"/>
                <a:cs typeface="Calibri" pitchFamily="34" charset="-120"/>
              </a:rPr>
              <a:t>Steepest loss sits in the first 6 weeks, before most support programs reach a new hire.</a:t>
            </a:r>
            <a:endParaRPr lang="en-US" sz="1150" dirty="0"/>
          </a:p>
        </p:txBody>
      </p:sp>
      <p:sp>
        <p:nvSpPr>
          <p:cNvPr id="7" name="Shape 4"/>
          <p:cNvSpPr/>
          <p:nvPr/>
        </p:nvSpPr>
        <p:spPr>
          <a:xfrm>
            <a:off x="7104888" y="1938528"/>
            <a:ext cx="4517136" cy="1170432"/>
          </a:xfrm>
          <a:prstGeom prst="roundRect">
            <a:avLst>
              <a:gd name="adj" fmla="val 9375"/>
            </a:avLst>
          </a:prstGeom>
          <a:solidFill>
            <a:srgbClr val="FAECD4"/>
          </a:solidFill>
          <a:ln w="12700">
            <a:solidFill>
              <a:srgbClr val="FAECD4"/>
            </a:solidFill>
            <a:prstDash val="solid"/>
          </a:ln>
        </p:spPr>
      </p:sp>
      <p:sp>
        <p:nvSpPr>
          <p:cNvPr id="8" name="Text 5"/>
          <p:cNvSpPr/>
          <p:nvPr/>
        </p:nvSpPr>
        <p:spPr>
          <a:xfrm>
            <a:off x="7306056" y="2048256"/>
            <a:ext cx="4114800" cy="566928"/>
          </a:xfrm>
          <a:prstGeom prst="rect">
            <a:avLst/>
          </a:prstGeom>
          <a:noFill/>
          <a:ln/>
        </p:spPr>
        <p:txBody>
          <a:bodyPr wrap="square" lIns="0" tIns="0" rIns="0" bIns="0" rtlCol="0" anchor="ctr"/>
          <a:lstStyle/>
          <a:p>
            <a:pPr indent="0" marL="0">
              <a:buNone/>
            </a:pPr>
            <a:r>
              <a:rPr lang="en-US" sz="3000" b="1" dirty="0">
                <a:solidFill>
                  <a:srgbClr val="8A5A11"/>
                </a:solidFill>
                <a:latin typeface="Cambria" pitchFamily="34" charset="0"/>
                <a:ea typeface="Cambria" pitchFamily="34" charset="-122"/>
                <a:cs typeface="Cambria" pitchFamily="34" charset="-120"/>
              </a:rPr>
              <a:t>~$1.5B</a:t>
            </a:r>
            <a:endParaRPr lang="en-US" sz="3000" dirty="0"/>
          </a:p>
        </p:txBody>
      </p:sp>
      <p:sp>
        <p:nvSpPr>
          <p:cNvPr id="9" name="Text 6"/>
          <p:cNvSpPr/>
          <p:nvPr/>
        </p:nvSpPr>
        <p:spPr>
          <a:xfrm>
            <a:off x="7306056" y="2615184"/>
            <a:ext cx="4114800" cy="402336"/>
          </a:xfrm>
          <a:prstGeom prst="rect">
            <a:avLst/>
          </a:prstGeom>
          <a:noFill/>
          <a:ln/>
        </p:spPr>
        <p:txBody>
          <a:bodyPr wrap="square" lIns="0" tIns="0" rIns="0" bIns="0" rtlCol="0" anchor="t"/>
          <a:lstStyle/>
          <a:p>
            <a:pPr indent="0" marL="0">
              <a:buNone/>
            </a:pPr>
            <a:r>
              <a:rPr lang="en-US" sz="1200" dirty="0">
                <a:solidFill>
                  <a:srgbClr val="8A5A11"/>
                </a:solidFill>
                <a:latin typeface="Calibri" pitchFamily="34" charset="0"/>
                <a:ea typeface="Calibri" pitchFamily="34" charset="-122"/>
                <a:cs typeface="Calibri" pitchFamily="34" charset="-120"/>
              </a:rPr>
              <a:t>a year in replacement spend if nothing changes</a:t>
            </a:r>
            <a:endParaRPr lang="en-US" sz="1200" dirty="0"/>
          </a:p>
        </p:txBody>
      </p:sp>
      <p:sp>
        <p:nvSpPr>
          <p:cNvPr id="10" name="Shape 7"/>
          <p:cNvSpPr/>
          <p:nvPr/>
        </p:nvSpPr>
        <p:spPr>
          <a:xfrm>
            <a:off x="7104888" y="3429000"/>
            <a:ext cx="100584" cy="100584"/>
          </a:xfrm>
          <a:prstGeom prst="diamond">
            <a:avLst/>
          </a:prstGeom>
          <a:solidFill>
            <a:srgbClr val="D9922B"/>
          </a:solidFill>
          <a:ln w="12700">
            <a:solidFill>
              <a:srgbClr val="D9922B"/>
            </a:solidFill>
            <a:prstDash val="solid"/>
          </a:ln>
        </p:spPr>
      </p:sp>
      <p:sp>
        <p:nvSpPr>
          <p:cNvPr id="11" name="Text 8"/>
          <p:cNvSpPr/>
          <p:nvPr/>
        </p:nvSpPr>
        <p:spPr>
          <a:xfrm>
            <a:off x="7324344" y="3319272"/>
            <a:ext cx="4297680"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1.9M associates globally. About 500K new store hires a year.</a:t>
            </a:r>
            <a:endParaRPr lang="en-US" sz="1300" dirty="0"/>
          </a:p>
        </p:txBody>
      </p:sp>
      <p:sp>
        <p:nvSpPr>
          <p:cNvPr id="12" name="Shape 9"/>
          <p:cNvSpPr/>
          <p:nvPr/>
        </p:nvSpPr>
        <p:spPr>
          <a:xfrm>
            <a:off x="7104888" y="4056888"/>
            <a:ext cx="100584" cy="100584"/>
          </a:xfrm>
          <a:prstGeom prst="diamond">
            <a:avLst/>
          </a:prstGeom>
          <a:solidFill>
            <a:srgbClr val="D9922B"/>
          </a:solidFill>
          <a:ln w="12700">
            <a:solidFill>
              <a:srgbClr val="D9922B"/>
            </a:solidFill>
            <a:prstDash val="solid"/>
          </a:ln>
        </p:spPr>
      </p:sp>
      <p:sp>
        <p:nvSpPr>
          <p:cNvPr id="13" name="Text 10"/>
          <p:cNvSpPr/>
          <p:nvPr/>
        </p:nvSpPr>
        <p:spPr>
          <a:xfrm>
            <a:off x="7324344" y="3947160"/>
            <a:ext cx="4297680" cy="281940"/>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About $3,000 to replace each early exit.</a:t>
            </a:r>
            <a:endParaRPr lang="en-US" sz="1300" dirty="0"/>
          </a:p>
        </p:txBody>
      </p:sp>
      <p:sp>
        <p:nvSpPr>
          <p:cNvPr id="14" name="Shape 11"/>
          <p:cNvSpPr/>
          <p:nvPr/>
        </p:nvSpPr>
        <p:spPr>
          <a:xfrm>
            <a:off x="7104888" y="4466844"/>
            <a:ext cx="100584" cy="100584"/>
          </a:xfrm>
          <a:prstGeom prst="diamond">
            <a:avLst/>
          </a:prstGeom>
          <a:solidFill>
            <a:srgbClr val="D9922B"/>
          </a:solidFill>
          <a:ln w="12700">
            <a:solidFill>
              <a:srgbClr val="D9922B"/>
            </a:solidFill>
            <a:prstDash val="solid"/>
          </a:ln>
        </p:spPr>
      </p:sp>
      <p:sp>
        <p:nvSpPr>
          <p:cNvPr id="15" name="Text 12"/>
          <p:cNvSpPr/>
          <p:nvPr/>
        </p:nvSpPr>
        <p:spPr>
          <a:xfrm>
            <a:off x="7324344" y="4357116"/>
            <a:ext cx="4297680"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Exit themes read as confusion and isolation, not only wage competition.</a:t>
            </a:r>
            <a:endParaRPr lang="en-US" sz="1300" dirty="0"/>
          </a:p>
        </p:txBody>
      </p:sp>
      <p:sp>
        <p:nvSpPr>
          <p:cNvPr id="16" name="Shape 13"/>
          <p:cNvSpPr/>
          <p:nvPr/>
        </p:nvSpPr>
        <p:spPr>
          <a:xfrm>
            <a:off x="7104888" y="5094732"/>
            <a:ext cx="100584" cy="100584"/>
          </a:xfrm>
          <a:prstGeom prst="diamond">
            <a:avLst/>
          </a:prstGeom>
          <a:solidFill>
            <a:srgbClr val="D9922B"/>
          </a:solidFill>
          <a:ln w="12700">
            <a:solidFill>
              <a:srgbClr val="D9922B"/>
            </a:solidFill>
            <a:prstDash val="solid"/>
          </a:ln>
        </p:spPr>
      </p:sp>
      <p:sp>
        <p:nvSpPr>
          <p:cNvPr id="17" name="Text 14"/>
          <p:cNvSpPr/>
          <p:nvPr/>
        </p:nvSpPr>
        <p:spPr>
          <a:xfrm>
            <a:off x="7324344" y="4985004"/>
            <a:ext cx="4297680" cy="717804"/>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The retention assets already exist and go unorchestrated: Academies, 50+ Live Better U certificates at no cost, 310K associates promoted in two years.</a:t>
            </a:r>
            <a:endParaRPr lang="en-US" sz="1300" dirty="0"/>
          </a:p>
        </p:txBody>
      </p:sp>
      <p:sp>
        <p:nvSpPr>
          <p:cNvPr id="18" name="Text 1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Survival curve is illustrative. Days 1 to 30 of the sprint replace it with real 7/30/60/90-day curves by cohort.</a:t>
            </a:r>
            <a:endParaRPr lang="en-US" sz="1050" dirty="0"/>
          </a:p>
        </p:txBody>
      </p:sp>
      <p:sp>
        <p:nvSpPr>
          <p:cNvPr id="19" name="Text 1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INSIGHT FROM 3M QUESTIONS A DAY</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Sidekick answers 3M questions a day and can act on almost none of them.</a:t>
            </a:r>
            <a:endParaRPr lang="en-US" sz="3000" dirty="0"/>
          </a:p>
        </p:txBody>
      </p:sp>
      <p:sp>
        <p:nvSpPr>
          <p:cNvPr id="5" name="Shape 3"/>
          <p:cNvSpPr/>
          <p:nvPr/>
        </p:nvSpPr>
        <p:spPr>
          <a:xfrm>
            <a:off x="566928" y="1938528"/>
            <a:ext cx="5852160" cy="3246120"/>
          </a:xfrm>
          <a:prstGeom prst="roundRect">
            <a:avLst>
              <a:gd name="adj" fmla="val 3380"/>
            </a:avLst>
          </a:prstGeom>
          <a:solidFill>
            <a:srgbClr val="F1F5FA"/>
          </a:solidFill>
          <a:ln w="12700">
            <a:solidFill>
              <a:srgbClr val="F1F5FA"/>
            </a:solidFill>
            <a:prstDash val="solid"/>
          </a:ln>
        </p:spPr>
      </p:sp>
      <p:sp>
        <p:nvSpPr>
          <p:cNvPr id="6" name="Text 4"/>
          <p:cNvSpPr/>
          <p:nvPr/>
        </p:nvSpPr>
        <p:spPr>
          <a:xfrm>
            <a:off x="804672" y="2084832"/>
            <a:ext cx="5376672" cy="292608"/>
          </a:xfrm>
          <a:prstGeom prst="rect">
            <a:avLst/>
          </a:prstGeom>
          <a:noFill/>
          <a:ln/>
        </p:spPr>
        <p:txBody>
          <a:bodyPr wrap="square" lIns="0" tIns="0" rIns="0" bIns="0" rtlCol="0" anchor="ctr"/>
          <a:lstStyle/>
          <a:p>
            <a:pPr indent="0" marL="0">
              <a:buNone/>
            </a:pPr>
            <a:r>
              <a:rPr lang="en-US" sz="1100" b="1" dirty="0">
                <a:solidFill>
                  <a:srgbClr val="5E6980"/>
                </a:solidFill>
                <a:latin typeface="Calibri" pitchFamily="34" charset="0"/>
                <a:ea typeface="Calibri" pitchFamily="34" charset="-122"/>
                <a:cs typeface="Calibri" pitchFamily="34" charset="-120"/>
              </a:rPr>
              <a:t>Devon, front end, mid-shift. Today.</a:t>
            </a:r>
            <a:endParaRPr lang="en-US" sz="1100" dirty="0"/>
          </a:p>
        </p:txBody>
      </p:sp>
      <p:sp>
        <p:nvSpPr>
          <p:cNvPr id="7" name="Shape 5"/>
          <p:cNvSpPr/>
          <p:nvPr/>
        </p:nvSpPr>
        <p:spPr>
          <a:xfrm>
            <a:off x="804672" y="2450592"/>
            <a:ext cx="4480560" cy="566928"/>
          </a:xfrm>
          <a:prstGeom prst="roundRect">
            <a:avLst>
              <a:gd name="adj" fmla="val 16129"/>
            </a:avLst>
          </a:prstGeom>
          <a:solidFill>
            <a:srgbClr val="223558"/>
          </a:solidFill>
          <a:ln w="12700">
            <a:solidFill>
              <a:srgbClr val="223558"/>
            </a:solidFill>
            <a:prstDash val="solid"/>
          </a:ln>
        </p:spPr>
      </p:sp>
      <p:sp>
        <p:nvSpPr>
          <p:cNvPr id="8" name="Text 6"/>
          <p:cNvSpPr/>
          <p:nvPr/>
        </p:nvSpPr>
        <p:spPr>
          <a:xfrm>
            <a:off x="950976" y="2487168"/>
            <a:ext cx="4187952" cy="493776"/>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I'm scheduled Saturday but I have a class conflict. What do I do?</a:t>
            </a:r>
            <a:endParaRPr lang="en-US" sz="1150" dirty="0"/>
          </a:p>
        </p:txBody>
      </p:sp>
      <p:sp>
        <p:nvSpPr>
          <p:cNvPr id="9" name="Shape 7"/>
          <p:cNvSpPr/>
          <p:nvPr/>
        </p:nvSpPr>
        <p:spPr>
          <a:xfrm>
            <a:off x="1700784" y="3127248"/>
            <a:ext cx="4480560" cy="566928"/>
          </a:xfrm>
          <a:prstGeom prst="roundRect">
            <a:avLst>
              <a:gd name="adj" fmla="val 16129"/>
            </a:avLst>
          </a:prstGeom>
          <a:solidFill>
            <a:srgbClr val="E2EAF4"/>
          </a:solidFill>
          <a:ln w="12700">
            <a:solidFill>
              <a:srgbClr val="E2EAF4"/>
            </a:solidFill>
            <a:prstDash val="solid"/>
          </a:ln>
        </p:spPr>
      </p:sp>
      <p:sp>
        <p:nvSpPr>
          <p:cNvPr id="10" name="Text 8"/>
          <p:cNvSpPr/>
          <p:nvPr/>
        </p:nvSpPr>
        <p:spPr>
          <a:xfrm>
            <a:off x="1847088" y="3163824"/>
            <a:ext cx="4187952" cy="493776"/>
          </a:xfrm>
          <a:prstGeom prst="rect">
            <a:avLst/>
          </a:prstGeom>
          <a:noFill/>
          <a:ln/>
        </p:spPr>
        <p:txBody>
          <a:bodyPr wrap="square" lIns="0" tIns="0" rIns="0" bIns="0" rtlCol="0" anchor="ctr"/>
          <a:lstStyle/>
          <a:p>
            <a:pPr indent="0" marL="0">
              <a:lnSpc>
                <a:spcPts val="1400"/>
              </a:lnSpc>
              <a:buNone/>
            </a:pPr>
            <a:r>
              <a:rPr lang="en-US" sz="1150" dirty="0">
                <a:solidFill>
                  <a:srgbClr val="1B2338"/>
                </a:solidFill>
                <a:latin typeface="Calibri" pitchFamily="34" charset="0"/>
                <a:ea typeface="Calibri" pitchFamily="34" charset="-122"/>
                <a:cs typeface="Calibri" pitchFamily="34" charset="-120"/>
              </a:rPr>
              <a:t>You can request a shift swap. Ask your team lead to start one in the scheduling system.</a:t>
            </a:r>
            <a:endParaRPr lang="en-US" sz="1150" dirty="0"/>
          </a:p>
        </p:txBody>
      </p:sp>
      <p:sp>
        <p:nvSpPr>
          <p:cNvPr id="11" name="Text 9"/>
          <p:cNvSpPr/>
          <p:nvPr/>
        </p:nvSpPr>
        <p:spPr>
          <a:xfrm>
            <a:off x="804672" y="3895344"/>
            <a:ext cx="5376672" cy="274320"/>
          </a:xfrm>
          <a:prstGeom prst="rect">
            <a:avLst/>
          </a:prstGeom>
          <a:noFill/>
          <a:ln/>
        </p:spPr>
        <p:txBody>
          <a:bodyPr wrap="square" lIns="0" tIns="0" rIns="0" bIns="0" rtlCol="0" anchor="ctr"/>
          <a:lstStyle/>
          <a:p>
            <a:pPr indent="0" marL="0">
              <a:buNone/>
            </a:pPr>
            <a:r>
              <a:rPr lang="en-US" sz="1150" b="1" dirty="0">
                <a:solidFill>
                  <a:srgbClr val="AE5348"/>
                </a:solidFill>
                <a:latin typeface="Calibri" pitchFamily="34" charset="0"/>
                <a:ea typeface="Calibri" pitchFamily="34" charset="-122"/>
                <a:cs typeface="Calibri" pitchFamily="34" charset="-120"/>
              </a:rPr>
              <a:t>Conversation ends.</a:t>
            </a:r>
            <a:endParaRPr lang="en-US" sz="1150" dirty="0"/>
          </a:p>
        </p:txBody>
      </p:sp>
      <p:sp>
        <p:nvSpPr>
          <p:cNvPr id="12" name="Text 10"/>
          <p:cNvSpPr/>
          <p:nvPr/>
        </p:nvSpPr>
        <p:spPr>
          <a:xfrm>
            <a:off x="804672" y="4206240"/>
            <a:ext cx="5376672" cy="841248"/>
          </a:xfrm>
          <a:prstGeom prst="rect">
            <a:avLst/>
          </a:prstGeom>
          <a:noFill/>
          <a:ln/>
        </p:spPr>
        <p:txBody>
          <a:bodyPr wrap="square" lIns="0" tIns="0" rIns="0" bIns="0" rtlCol="0" anchor="t"/>
          <a:lstStyle/>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Devon walks the floor looking for the lead.</a:t>
            </a:r>
            <a:endParaRPr lang="en-US" sz="1250" dirty="0"/>
          </a:p>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The lead stops mid-task.</a:t>
            </a:r>
            <a:endParaRPr lang="en-US" sz="1250" dirty="0"/>
          </a:p>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A customer waits.</a:t>
            </a:r>
            <a:endParaRPr lang="en-US" sz="1250" dirty="0"/>
          </a:p>
        </p:txBody>
      </p:sp>
      <p:sp>
        <p:nvSpPr>
          <p:cNvPr id="13" name="Shape 11"/>
          <p:cNvSpPr/>
          <p:nvPr/>
        </p:nvSpPr>
        <p:spPr>
          <a:xfrm>
            <a:off x="6876288" y="2075688"/>
            <a:ext cx="100584" cy="100584"/>
          </a:xfrm>
          <a:prstGeom prst="diamond">
            <a:avLst/>
          </a:prstGeom>
          <a:solidFill>
            <a:srgbClr val="D9922B"/>
          </a:solidFill>
          <a:ln w="12700">
            <a:solidFill>
              <a:srgbClr val="D9922B"/>
            </a:solidFill>
            <a:prstDash val="solid"/>
          </a:ln>
        </p:spPr>
      </p:sp>
      <p:sp>
        <p:nvSpPr>
          <p:cNvPr id="14" name="Text 12"/>
          <p:cNvSpPr/>
          <p:nvPr/>
        </p:nvSpPr>
        <p:spPr>
          <a:xfrm>
            <a:off x="7095744" y="1965960"/>
            <a:ext cx="4526280" cy="742950"/>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A correct answer that still costs three people time: the associate, the lead, and the customer standing there.</a:t>
            </a:r>
            <a:endParaRPr lang="en-US" sz="1350" dirty="0"/>
          </a:p>
        </p:txBody>
      </p:sp>
      <p:sp>
        <p:nvSpPr>
          <p:cNvPr id="15" name="Shape 13"/>
          <p:cNvSpPr/>
          <p:nvPr/>
        </p:nvSpPr>
        <p:spPr>
          <a:xfrm>
            <a:off x="6876288" y="2946654"/>
            <a:ext cx="100584" cy="100584"/>
          </a:xfrm>
          <a:prstGeom prst="diamond">
            <a:avLst/>
          </a:prstGeom>
          <a:solidFill>
            <a:srgbClr val="D9922B"/>
          </a:solidFill>
          <a:ln w="12700">
            <a:solidFill>
              <a:srgbClr val="D9922B"/>
            </a:solidFill>
            <a:prstDash val="solid"/>
          </a:ln>
        </p:spPr>
      </p:sp>
      <p:sp>
        <p:nvSpPr>
          <p:cNvPr id="16" name="Text 14"/>
          <p:cNvSpPr/>
          <p:nvPr/>
        </p:nvSpPr>
        <p:spPr>
          <a:xfrm>
            <a:off x="7095744" y="2836926"/>
            <a:ext cx="4526280" cy="516636"/>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Every handoff is minutes off the floor and one more reason the day feels unsupported.</a:t>
            </a:r>
            <a:endParaRPr lang="en-US" sz="1350" dirty="0"/>
          </a:p>
        </p:txBody>
      </p:sp>
      <p:sp>
        <p:nvSpPr>
          <p:cNvPr id="17" name="Shape 15"/>
          <p:cNvSpPr/>
          <p:nvPr/>
        </p:nvSpPr>
        <p:spPr>
          <a:xfrm>
            <a:off x="6876288" y="3591306"/>
            <a:ext cx="100584" cy="100584"/>
          </a:xfrm>
          <a:prstGeom prst="diamond">
            <a:avLst/>
          </a:prstGeom>
          <a:solidFill>
            <a:srgbClr val="D9922B"/>
          </a:solidFill>
          <a:ln w="12700">
            <a:solidFill>
              <a:srgbClr val="D9922B"/>
            </a:solidFill>
            <a:prstDash val="solid"/>
          </a:ln>
        </p:spPr>
      </p:sp>
      <p:sp>
        <p:nvSpPr>
          <p:cNvPr id="18" name="Text 16"/>
          <p:cNvSpPr/>
          <p:nvPr/>
        </p:nvSpPr>
        <p:spPr>
          <a:xfrm>
            <a:off x="7095744" y="3481578"/>
            <a:ext cx="4526280" cy="516636"/>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Turnover themes centre on daily friction, not one dramatic failure.</a:t>
            </a:r>
            <a:endParaRPr lang="en-US" sz="1350" dirty="0"/>
          </a:p>
        </p:txBody>
      </p:sp>
      <p:sp>
        <p:nvSpPr>
          <p:cNvPr id="19" name="Shape 17"/>
          <p:cNvSpPr/>
          <p:nvPr/>
        </p:nvSpPr>
        <p:spPr>
          <a:xfrm>
            <a:off x="6876288" y="4041648"/>
            <a:ext cx="4745736" cy="1170432"/>
          </a:xfrm>
          <a:prstGeom prst="roundRect">
            <a:avLst>
              <a:gd name="adj" fmla="val 9375"/>
            </a:avLst>
          </a:prstGeom>
          <a:solidFill>
            <a:srgbClr val="DCE9F2"/>
          </a:solidFill>
          <a:ln w="12700">
            <a:solidFill>
              <a:srgbClr val="DCE9F2"/>
            </a:solidFill>
            <a:prstDash val="solid"/>
          </a:ln>
        </p:spPr>
      </p:sp>
      <p:sp>
        <p:nvSpPr>
          <p:cNvPr id="20" name="Text 18"/>
          <p:cNvSpPr/>
          <p:nvPr/>
        </p:nvSpPr>
        <p:spPr>
          <a:xfrm>
            <a:off x="7077456" y="4151376"/>
            <a:ext cx="4343400" cy="548640"/>
          </a:xfrm>
          <a:prstGeom prst="rect">
            <a:avLst/>
          </a:prstGeom>
          <a:noFill/>
          <a:ln/>
        </p:spPr>
        <p:txBody>
          <a:bodyPr wrap="square" lIns="0" tIns="0" rIns="0" bIns="0" rtlCol="0" anchor="ctr"/>
          <a:lstStyle/>
          <a:p>
            <a:pPr indent="0" marL="0">
              <a:buNone/>
            </a:pPr>
            <a:r>
              <a:rPr lang="en-US" sz="3000" b="1" dirty="0">
                <a:solidFill>
                  <a:srgbClr val="1E4E6B"/>
                </a:solidFill>
                <a:latin typeface="Cambria" pitchFamily="34" charset="0"/>
                <a:ea typeface="Cambria" pitchFamily="34" charset="-122"/>
                <a:cs typeface="Cambria" pitchFamily="34" charset="-120"/>
              </a:rPr>
              <a:t>~$100M</a:t>
            </a:r>
            <a:endParaRPr lang="en-US" sz="3000" dirty="0"/>
          </a:p>
        </p:txBody>
      </p:sp>
      <p:sp>
        <p:nvSpPr>
          <p:cNvPr id="21" name="Text 19"/>
          <p:cNvSpPr/>
          <p:nvPr/>
        </p:nvSpPr>
        <p:spPr>
          <a:xfrm>
            <a:off x="7077456" y="4700016"/>
            <a:ext cx="4343400" cy="420624"/>
          </a:xfrm>
          <a:prstGeom prst="rect">
            <a:avLst/>
          </a:prstGeom>
          <a:noFill/>
          <a:ln/>
        </p:spPr>
        <p:txBody>
          <a:bodyPr wrap="square" lIns="0" tIns="0" rIns="0" bIns="0" rtlCol="0" anchor="t"/>
          <a:lstStyle/>
          <a:p>
            <a:pPr indent="0" marL="0">
              <a:buNone/>
            </a:pPr>
            <a:r>
              <a:rPr lang="en-US" sz="1200" dirty="0">
                <a:solidFill>
                  <a:srgbClr val="1E4E6B"/>
                </a:solidFill>
                <a:latin typeface="Calibri" pitchFamily="34" charset="0"/>
                <a:ea typeface="Calibri" pitchFamily="34" charset="-122"/>
                <a:cs typeface="Calibri" pitchFamily="34" charset="-120"/>
              </a:rPr>
              <a:t>a year for one minute returned per associate per shift</a:t>
            </a:r>
            <a:endParaRPr lang="en-US" sz="1200" dirty="0"/>
          </a:p>
        </p:txBody>
      </p:sp>
      <p:sp>
        <p:nvSpPr>
          <p:cNvPr id="22" name="Text 20"/>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Assumptions: about 1M store associates, 1 minute per shift, about $0.30 a minute loaded labor, roughly $300K a day. Top question clusters waste far more than a minute.</a:t>
            </a:r>
            <a:endParaRPr lang="en-US" sz="105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POINT OF VIEW</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4012"/>
              </a:lnSpc>
              <a:buNone/>
            </a:pPr>
            <a:r>
              <a:rPr lang="en-US" sz="3400" b="1" dirty="0">
                <a:solidFill>
                  <a:srgbClr val="FFFFFF"/>
                </a:solidFill>
                <a:latin typeface="Cambria" pitchFamily="34" charset="0"/>
                <a:ea typeface="Cambria" pitchFamily="34" charset="-122"/>
                <a:cs typeface="Cambria" pitchFamily="34" charset="-120"/>
              </a:rPr>
              <a:t>Rejuvenation and rewards drive retention and results.</a:t>
            </a:r>
            <a:endParaRPr lang="en-US" sz="3400" dirty="0"/>
          </a:p>
        </p:txBody>
      </p:sp>
      <p:sp>
        <p:nvSpPr>
          <p:cNvPr id="5" name="Shape 3"/>
          <p:cNvSpPr/>
          <p:nvPr/>
        </p:nvSpPr>
        <p:spPr>
          <a:xfrm>
            <a:off x="566928" y="2578608"/>
            <a:ext cx="2468880" cy="2011680"/>
          </a:xfrm>
          <a:prstGeom prst="roundRect">
            <a:avLst>
              <a:gd name="adj" fmla="val 5455"/>
            </a:avLst>
          </a:prstGeom>
          <a:solidFill>
            <a:srgbClr val="223558"/>
          </a:solidFill>
          <a:ln w="12700">
            <a:solidFill>
              <a:srgbClr val="223558"/>
            </a:solidFill>
            <a:prstDash val="solid"/>
          </a:ln>
        </p:spPr>
      </p:sp>
      <p:sp>
        <p:nvSpPr>
          <p:cNvPr id="6" name="Text 4"/>
          <p:cNvSpPr/>
          <p:nvPr/>
        </p:nvSpPr>
        <p:spPr>
          <a:xfrm>
            <a:off x="749808" y="2798064"/>
            <a:ext cx="2103120" cy="42062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Rejuvenation</a:t>
            </a:r>
            <a:endParaRPr lang="en-US" sz="1900" dirty="0"/>
          </a:p>
        </p:txBody>
      </p:sp>
      <p:sp>
        <p:nvSpPr>
          <p:cNvPr id="7" name="Text 5"/>
          <p:cNvSpPr/>
          <p:nvPr/>
        </p:nvSpPr>
        <p:spPr>
          <a:xfrm>
            <a:off x="749808" y="3273552"/>
            <a:ext cx="2103120" cy="118872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Rest that is scheduled, not begged for. Safe to fail and learn. Safe at work and in the community.</a:t>
            </a:r>
            <a:endParaRPr lang="en-US" sz="1150" dirty="0"/>
          </a:p>
        </p:txBody>
      </p:sp>
      <p:sp>
        <p:nvSpPr>
          <p:cNvPr id="8" name="Text 6"/>
          <p:cNvSpPr/>
          <p:nvPr/>
        </p:nvSpPr>
        <p:spPr>
          <a:xfrm>
            <a:off x="3035808" y="3310128"/>
            <a:ext cx="393192" cy="548640"/>
          </a:xfrm>
          <a:prstGeom prst="rect">
            <a:avLst/>
          </a:prstGeom>
          <a:noFill/>
          <a:ln/>
        </p:spPr>
        <p:txBody>
          <a:bodyPr wrap="square" lIns="0" tIns="0" rIns="0" bIns="0" rtlCol="0" anchor="ctr"/>
          <a:lstStyle/>
          <a:p>
            <a:pPr algn="ctr" indent="0" marL="0">
              <a:buNone/>
            </a:pPr>
            <a:r>
              <a:rPr lang="en-US" sz="2400" b="1" dirty="0">
                <a:solidFill>
                  <a:srgbClr val="D9922B"/>
                </a:solidFill>
                <a:latin typeface="Cambria" pitchFamily="34" charset="0"/>
                <a:ea typeface="Cambria" pitchFamily="34" charset="-122"/>
                <a:cs typeface="Cambria" pitchFamily="34" charset="-120"/>
              </a:rPr>
              <a:t>+</a:t>
            </a:r>
            <a:endParaRPr lang="en-US" sz="2400" dirty="0"/>
          </a:p>
        </p:txBody>
      </p:sp>
      <p:sp>
        <p:nvSpPr>
          <p:cNvPr id="9" name="Shape 7"/>
          <p:cNvSpPr/>
          <p:nvPr/>
        </p:nvSpPr>
        <p:spPr>
          <a:xfrm>
            <a:off x="3429000" y="2578608"/>
            <a:ext cx="2468880" cy="2011680"/>
          </a:xfrm>
          <a:prstGeom prst="roundRect">
            <a:avLst>
              <a:gd name="adj" fmla="val 5455"/>
            </a:avLst>
          </a:prstGeom>
          <a:solidFill>
            <a:srgbClr val="223558"/>
          </a:solidFill>
          <a:ln w="12700">
            <a:solidFill>
              <a:srgbClr val="223558"/>
            </a:solidFill>
            <a:prstDash val="solid"/>
          </a:ln>
        </p:spPr>
      </p:sp>
      <p:sp>
        <p:nvSpPr>
          <p:cNvPr id="10" name="Text 8"/>
          <p:cNvSpPr/>
          <p:nvPr/>
        </p:nvSpPr>
        <p:spPr>
          <a:xfrm>
            <a:off x="3611880" y="2798064"/>
            <a:ext cx="2103120" cy="42062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Rewards</a:t>
            </a:r>
            <a:endParaRPr lang="en-US" sz="1900" dirty="0"/>
          </a:p>
        </p:txBody>
      </p:sp>
      <p:sp>
        <p:nvSpPr>
          <p:cNvPr id="11" name="Text 9"/>
          <p:cNvSpPr/>
          <p:nvPr/>
        </p:nvSpPr>
        <p:spPr>
          <a:xfrm>
            <a:off x="3611880" y="3273552"/>
            <a:ext cx="2103120" cy="118872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Real currency for driven, proactive, challenge-seeking work. The associate picks what it is.</a:t>
            </a:r>
            <a:endParaRPr lang="en-US" sz="1150" dirty="0"/>
          </a:p>
        </p:txBody>
      </p:sp>
      <p:sp>
        <p:nvSpPr>
          <p:cNvPr id="12" name="Text 10"/>
          <p:cNvSpPr/>
          <p:nvPr/>
        </p:nvSpPr>
        <p:spPr>
          <a:xfrm>
            <a:off x="5897880" y="3310128"/>
            <a:ext cx="393192" cy="548640"/>
          </a:xfrm>
          <a:prstGeom prst="rect">
            <a:avLst/>
          </a:prstGeom>
          <a:noFill/>
          <a:ln/>
        </p:spPr>
        <p:txBody>
          <a:bodyPr wrap="square" lIns="0" tIns="0" rIns="0" bIns="0" rtlCol="0" anchor="ctr"/>
          <a:lstStyle/>
          <a:p>
            <a:pPr algn="ctr" indent="0" marL="0">
              <a:buNone/>
            </a:pPr>
            <a:r>
              <a:rPr lang="en-US" sz="2400" b="1" dirty="0">
                <a:solidFill>
                  <a:srgbClr val="D9922B"/>
                </a:solidFill>
                <a:latin typeface="Cambria" pitchFamily="34" charset="0"/>
                <a:ea typeface="Cambria" pitchFamily="34" charset="-122"/>
                <a:cs typeface="Cambria" pitchFamily="34" charset="-120"/>
              </a:rPr>
              <a:t>=</a:t>
            </a:r>
            <a:endParaRPr lang="en-US" sz="2400" dirty="0"/>
          </a:p>
        </p:txBody>
      </p:sp>
      <p:sp>
        <p:nvSpPr>
          <p:cNvPr id="13" name="Shape 11"/>
          <p:cNvSpPr/>
          <p:nvPr/>
        </p:nvSpPr>
        <p:spPr>
          <a:xfrm>
            <a:off x="6291072" y="2578608"/>
            <a:ext cx="2468880" cy="2011680"/>
          </a:xfrm>
          <a:prstGeom prst="roundRect">
            <a:avLst>
              <a:gd name="adj" fmla="val 5455"/>
            </a:avLst>
          </a:prstGeom>
          <a:solidFill>
            <a:srgbClr val="2E4571"/>
          </a:solidFill>
          <a:ln w="12700">
            <a:solidFill>
              <a:srgbClr val="2E4571"/>
            </a:solidFill>
            <a:prstDash val="solid"/>
          </a:ln>
        </p:spPr>
      </p:sp>
      <p:sp>
        <p:nvSpPr>
          <p:cNvPr id="14" name="Text 12"/>
          <p:cNvSpPr/>
          <p:nvPr/>
        </p:nvSpPr>
        <p:spPr>
          <a:xfrm>
            <a:off x="6473952" y="2798064"/>
            <a:ext cx="2103120" cy="420624"/>
          </a:xfrm>
          <a:prstGeom prst="rect">
            <a:avLst/>
          </a:prstGeom>
          <a:noFill/>
          <a:ln/>
        </p:spPr>
        <p:txBody>
          <a:bodyPr wrap="square" lIns="0" tIns="0" rIns="0" bIns="0" rtlCol="0" anchor="ctr"/>
          <a:lstStyle/>
          <a:p>
            <a:pPr indent="0" marL="0">
              <a:buNone/>
            </a:pPr>
            <a:r>
              <a:rPr lang="en-US" sz="1900" b="1" dirty="0">
                <a:solidFill>
                  <a:srgbClr val="D9922B"/>
                </a:solidFill>
                <a:latin typeface="Cambria" pitchFamily="34" charset="0"/>
                <a:ea typeface="Cambria" pitchFamily="34" charset="-122"/>
                <a:cs typeface="Cambria" pitchFamily="34" charset="-120"/>
              </a:rPr>
              <a:t>Retention</a:t>
            </a:r>
            <a:endParaRPr lang="en-US" sz="1900" dirty="0"/>
          </a:p>
        </p:txBody>
      </p:sp>
      <p:sp>
        <p:nvSpPr>
          <p:cNvPr id="15" name="Text 13"/>
          <p:cNvSpPr/>
          <p:nvPr/>
        </p:nvSpPr>
        <p:spPr>
          <a:xfrm>
            <a:off x="6473952" y="3273552"/>
            <a:ext cx="2103120" cy="118872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Past 90 days, and past 5 years. The 5-year average US tenure is the number to beat.</a:t>
            </a:r>
            <a:endParaRPr lang="en-US" sz="1150" dirty="0"/>
          </a:p>
        </p:txBody>
      </p:sp>
      <p:sp>
        <p:nvSpPr>
          <p:cNvPr id="16" name="Text 14"/>
          <p:cNvSpPr/>
          <p:nvPr/>
        </p:nvSpPr>
        <p:spPr>
          <a:xfrm>
            <a:off x="8759952" y="3310128"/>
            <a:ext cx="393192" cy="548640"/>
          </a:xfrm>
          <a:prstGeom prst="rect">
            <a:avLst/>
          </a:prstGeom>
          <a:noFill/>
          <a:ln/>
        </p:spPr>
        <p:txBody>
          <a:bodyPr wrap="square" lIns="0" tIns="0" rIns="0" bIns="0" rtlCol="0" anchor="ctr"/>
          <a:lstStyle/>
          <a:p>
            <a:pPr algn="ctr" indent="0" marL="0">
              <a:buNone/>
            </a:pPr>
            <a:r>
              <a:rPr lang="en-US" sz="2400" b="1" dirty="0">
                <a:solidFill>
                  <a:srgbClr val="D9922B"/>
                </a:solidFill>
                <a:latin typeface="Cambria" pitchFamily="34" charset="0"/>
                <a:ea typeface="Cambria" pitchFamily="34" charset="-122"/>
                <a:cs typeface="Cambria" pitchFamily="34" charset="-120"/>
              </a:rPr>
              <a:t>+</a:t>
            </a:r>
            <a:endParaRPr lang="en-US" sz="2400" dirty="0"/>
          </a:p>
        </p:txBody>
      </p:sp>
      <p:sp>
        <p:nvSpPr>
          <p:cNvPr id="17" name="Shape 15"/>
          <p:cNvSpPr/>
          <p:nvPr/>
        </p:nvSpPr>
        <p:spPr>
          <a:xfrm>
            <a:off x="9153144" y="2578608"/>
            <a:ext cx="2468880" cy="2011680"/>
          </a:xfrm>
          <a:prstGeom prst="roundRect">
            <a:avLst>
              <a:gd name="adj" fmla="val 5455"/>
            </a:avLst>
          </a:prstGeom>
          <a:solidFill>
            <a:srgbClr val="2E4571"/>
          </a:solidFill>
          <a:ln w="12700">
            <a:solidFill>
              <a:srgbClr val="2E4571"/>
            </a:solidFill>
            <a:prstDash val="solid"/>
          </a:ln>
        </p:spPr>
      </p:sp>
      <p:sp>
        <p:nvSpPr>
          <p:cNvPr id="18" name="Text 16"/>
          <p:cNvSpPr/>
          <p:nvPr/>
        </p:nvSpPr>
        <p:spPr>
          <a:xfrm>
            <a:off x="9336024" y="2798064"/>
            <a:ext cx="2103120" cy="420624"/>
          </a:xfrm>
          <a:prstGeom prst="rect">
            <a:avLst/>
          </a:prstGeom>
          <a:noFill/>
          <a:ln/>
        </p:spPr>
        <p:txBody>
          <a:bodyPr wrap="square" lIns="0" tIns="0" rIns="0" bIns="0" rtlCol="0" anchor="ctr"/>
          <a:lstStyle/>
          <a:p>
            <a:pPr indent="0" marL="0">
              <a:buNone/>
            </a:pPr>
            <a:r>
              <a:rPr lang="en-US" sz="1900" b="1" dirty="0">
                <a:solidFill>
                  <a:srgbClr val="D9922B"/>
                </a:solidFill>
                <a:latin typeface="Cambria" pitchFamily="34" charset="0"/>
                <a:ea typeface="Cambria" pitchFamily="34" charset="-122"/>
                <a:cs typeface="Cambria" pitchFamily="34" charset="-120"/>
              </a:rPr>
              <a:t>Results</a:t>
            </a:r>
            <a:endParaRPr lang="en-US" sz="1900" dirty="0"/>
          </a:p>
        </p:txBody>
      </p:sp>
      <p:sp>
        <p:nvSpPr>
          <p:cNvPr id="19" name="Text 17"/>
          <p:cNvSpPr/>
          <p:nvPr/>
        </p:nvSpPr>
        <p:spPr>
          <a:xfrm>
            <a:off x="9336024" y="3273552"/>
            <a:ext cx="2103120" cy="118872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Effective associates, staffed shifts, customers served on a full floor.</a:t>
            </a:r>
            <a:endParaRPr lang="en-US" sz="1150" dirty="0"/>
          </a:p>
        </p:txBody>
      </p:sp>
      <p:sp>
        <p:nvSpPr>
          <p:cNvPr id="20" name="Text 18"/>
          <p:cNvSpPr/>
          <p:nvPr/>
        </p:nvSpPr>
        <p:spPr>
          <a:xfrm>
            <a:off x="566928" y="5029200"/>
            <a:ext cx="11055096" cy="548640"/>
          </a:xfrm>
          <a:prstGeom prst="rect">
            <a:avLst/>
          </a:prstGeom>
          <a:noFill/>
          <a:ln/>
        </p:spPr>
        <p:txBody>
          <a:bodyPr wrap="square" lIns="0" tIns="0" rIns="0" bIns="0" rtlCol="0" anchor="ctr"/>
          <a:lstStyle/>
          <a:p>
            <a:pPr indent="0" marL="0">
              <a:lnSpc>
                <a:spcPts val="1900"/>
              </a:lnSpc>
              <a:buNone/>
            </a:pPr>
            <a:r>
              <a:rPr lang="en-US" sz="1450" dirty="0">
                <a:solidFill>
                  <a:srgbClr val="D6DEEC"/>
                </a:solidFill>
                <a:latin typeface="Calibri" pitchFamily="34" charset="0"/>
                <a:ea typeface="Calibri" pitchFamily="34" charset="-122"/>
                <a:cs typeface="Calibri" pitchFamily="34" charset="-120"/>
              </a:rPr>
              <a:t>This is not a request for more features. It is a system that senses each cohort's state and responds with the right one.</a:t>
            </a:r>
            <a:endParaRPr lang="en-US" sz="1450" dirty="0"/>
          </a:p>
        </p:txBody>
      </p:sp>
      <p:sp>
        <p:nvSpPr>
          <p:cNvPr id="21" name="Text 19"/>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Rewards reach payroll, not just a badge in an app. That distinction is what makes the loop credible to an associate.</a:t>
            </a:r>
            <a:endParaRPr lang="en-US" sz="1050" dirty="0"/>
          </a:p>
        </p:txBody>
      </p:sp>
      <p:sp>
        <p:nvSpPr>
          <p:cNvPr id="22" name="Text 20"/>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THREE BETS, ONE DECISION RULE</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Discovery data picks the entry point, not conviction.</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1417320"/>
                <a:gridCol w="3209544"/>
                <a:gridCol w="3209544"/>
                <a:gridCol w="3218688"/>
              </a:tblGrid>
              <a:tr h="0">
                <a:tc>
                  <a:txBody>
                    <a:bodyPr/>
                    <a:lstStyle/>
                    <a:p>
                      <a:pPr indent="0" marL="0">
                        <a:buNone/>
                      </a:pP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 · Own the first 90 days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 · Answer to action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 · Signal Engine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$15M a year for every 1 point gained in 90-day retention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$100M a year for every 1 minute given back per shift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About 2x the retention gain from the same incentive budget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Key Metric Improved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90-day new-hire retention, pilot stores vs control stores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Minutes of work time returned per associate per week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Predicted vs actual retention lift, measured against holdouts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Choose if</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New hires quit early, and exit interviews blame confusion and isolation, not pay</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Associates ask the same questions constantly, and answers dead-end in a manual handoff</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Different groups quit for different reasons, and there is budget for a platform</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People quit for many reasons. An app only moves the ones it touches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Agents write into scheduling and HR systems. One bad write undoes 100 right answers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Scoring associates can feel like surveillance. Slowest bet to show a visible win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Shape 3"/>
          <p:cNvSpPr/>
          <p:nvPr/>
        </p:nvSpPr>
        <p:spPr>
          <a:xfrm>
            <a:off x="566928" y="4892040"/>
            <a:ext cx="11055096" cy="694944"/>
          </a:xfrm>
          <a:prstGeom prst="roundRect">
            <a:avLst>
              <a:gd name="adj" fmla="val 15789"/>
            </a:avLst>
          </a:prstGeom>
          <a:solidFill>
            <a:srgbClr val="FAECD4"/>
          </a:solidFill>
          <a:ln w="12700">
            <a:solidFill>
              <a:srgbClr val="FAECD4"/>
            </a:solidFill>
            <a:prstDash val="solid"/>
          </a:ln>
        </p:spPr>
      </p:sp>
      <p:sp>
        <p:nvSpPr>
          <p:cNvPr id="7" name="Text 4"/>
          <p:cNvSpPr/>
          <p:nvPr/>
        </p:nvSpPr>
        <p:spPr>
          <a:xfrm>
            <a:off x="786384" y="4928616"/>
            <a:ext cx="10616184" cy="621792"/>
          </a:xfrm>
          <a:prstGeom prst="rect">
            <a:avLst/>
          </a:prstGeom>
          <a:noFill/>
          <a:ln/>
        </p:spPr>
        <p:txBody>
          <a:bodyPr wrap="square" lIns="0" tIns="0" rIns="0" bIns="0" rtlCol="0" anchor="ctr"/>
          <a:lstStyle/>
          <a:p>
            <a:pPr indent="0" marL="0">
              <a:buNone/>
            </a:pPr>
            <a:r>
              <a:rPr lang="en-US" sz="1300" b="1" dirty="0">
                <a:solidFill>
                  <a:srgbClr val="8A5A11"/>
                </a:solidFill>
                <a:latin typeface="Calibri" pitchFamily="34" charset="0"/>
                <a:ea typeface="Calibri" pitchFamily="34" charset="-122"/>
                <a:cs typeface="Calibri" pitchFamily="34" charset="-120"/>
              </a:rPr>
              <a:t>Do nothing and about $1.5B a year in replacement spend continues. That is the fourth option, and the one I would kill first.</a:t>
            </a:r>
            <a:endParaRPr lang="en-US" sz="1300" dirty="0"/>
          </a:p>
        </p:txBody>
      </p:sp>
      <p:sp>
        <p:nvSpPr>
          <p:cNvPr id="8" name="Text 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RECOMMENDED SEQUENCE</a:t>
            </a:r>
            <a:endParaRPr lang="en-US" sz="1100" dirty="0"/>
          </a:p>
        </p:txBody>
      </p:sp>
      <p:sp>
        <p:nvSpPr>
          <p:cNvPr id="4" name="Text 2"/>
          <p:cNvSpPr/>
          <p:nvPr/>
        </p:nvSpPr>
        <p:spPr>
          <a:xfrm>
            <a:off x="566928" y="749808"/>
            <a:ext cx="11055096" cy="914400"/>
          </a:xfrm>
          <a:prstGeom prst="rect">
            <a:avLst/>
          </a:prstGeom>
          <a:noFill/>
          <a:ln/>
        </p:spPr>
        <p:txBody>
          <a:bodyPr wrap="square" lIns="0" tIns="0" rIns="0" bIns="0" rtlCol="0" anchor="t"/>
          <a:lstStyle/>
          <a:p>
            <a:pPr indent="0" marL="0">
              <a:lnSpc>
                <a:spcPts val="3186"/>
              </a:lnSpc>
              <a:buNone/>
            </a:pPr>
            <a:r>
              <a:rPr lang="en-US" sz="2700" b="1" dirty="0">
                <a:solidFill>
                  <a:srgbClr val="1B2338"/>
                </a:solidFill>
                <a:latin typeface="Cambria" pitchFamily="34" charset="0"/>
                <a:ea typeface="Cambria" pitchFamily="34" charset="-122"/>
                <a:cs typeface="Cambria" pitchFamily="34" charset="-120"/>
              </a:rPr>
              <a:t>Sequence A then C, with B woven through: a visible win in one quarter that becomes the platform.</a:t>
            </a:r>
            <a:endParaRPr lang="en-US" sz="2700" dirty="0"/>
          </a:p>
        </p:txBody>
      </p:sp>
      <p:sp>
        <p:nvSpPr>
          <p:cNvPr id="5" name="Text 3"/>
          <p:cNvSpPr/>
          <p:nvPr/>
        </p:nvSpPr>
        <p:spPr>
          <a:xfrm>
            <a:off x="1801368"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1 to 30  ·  Discover</a:t>
            </a:r>
            <a:endParaRPr lang="en-US" sz="1150" dirty="0"/>
          </a:p>
        </p:txBody>
      </p:sp>
      <p:sp>
        <p:nvSpPr>
          <p:cNvPr id="6" name="Text 4"/>
          <p:cNvSpPr/>
          <p:nvPr/>
        </p:nvSpPr>
        <p:spPr>
          <a:xfrm>
            <a:off x="5151120"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31 to 60  ·  MVP</a:t>
            </a:r>
            <a:endParaRPr lang="en-US" sz="1150" dirty="0"/>
          </a:p>
        </p:txBody>
      </p:sp>
      <p:sp>
        <p:nvSpPr>
          <p:cNvPr id="7" name="Text 5"/>
          <p:cNvSpPr/>
          <p:nvPr/>
        </p:nvSpPr>
        <p:spPr>
          <a:xfrm>
            <a:off x="8500872"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61 to 90  ·  Prove</a:t>
            </a:r>
            <a:endParaRPr lang="en-US" sz="1150" dirty="0"/>
          </a:p>
        </p:txBody>
      </p:sp>
      <p:sp>
        <p:nvSpPr>
          <p:cNvPr id="8" name="Shape 6"/>
          <p:cNvSpPr/>
          <p:nvPr/>
        </p:nvSpPr>
        <p:spPr>
          <a:xfrm>
            <a:off x="566928" y="2542032"/>
            <a:ext cx="402336" cy="402336"/>
          </a:xfrm>
          <a:prstGeom prst="ellipse">
            <a:avLst/>
          </a:prstGeom>
          <a:solidFill>
            <a:srgbClr val="D9922B"/>
          </a:solidFill>
          <a:ln w="12700">
            <a:solidFill>
              <a:srgbClr val="D9922B"/>
            </a:solidFill>
            <a:prstDash val="solid"/>
          </a:ln>
        </p:spPr>
      </p:sp>
      <p:sp>
        <p:nvSpPr>
          <p:cNvPr id="9" name="Text 7"/>
          <p:cNvSpPr/>
          <p:nvPr/>
        </p:nvSpPr>
        <p:spPr>
          <a:xfrm>
            <a:off x="566928" y="25420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10" name="Text 8"/>
          <p:cNvSpPr/>
          <p:nvPr/>
        </p:nvSpPr>
        <p:spPr>
          <a:xfrm>
            <a:off x="1042416" y="2487168"/>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Own the first</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90 days</a:t>
            </a:r>
            <a:endParaRPr lang="en-US" sz="1050" dirty="0"/>
          </a:p>
        </p:txBody>
      </p:sp>
      <p:sp>
        <p:nvSpPr>
          <p:cNvPr id="11" name="Shape 9"/>
          <p:cNvSpPr/>
          <p:nvPr/>
        </p:nvSpPr>
        <p:spPr>
          <a:xfrm>
            <a:off x="1801368" y="2286000"/>
            <a:ext cx="3121152" cy="914400"/>
          </a:xfrm>
          <a:prstGeom prst="roundRect">
            <a:avLst>
              <a:gd name="adj" fmla="val 10000"/>
            </a:avLst>
          </a:prstGeom>
          <a:solidFill>
            <a:srgbClr val="FAECD4"/>
          </a:solidFill>
          <a:ln w="12700">
            <a:solidFill>
              <a:srgbClr val="FAECD4"/>
            </a:solidFill>
            <a:prstDash val="solid"/>
          </a:ln>
        </p:spPr>
      </p:sp>
      <p:sp>
        <p:nvSpPr>
          <p:cNvPr id="12" name="Text 10"/>
          <p:cNvSpPr/>
          <p:nvPr/>
        </p:nvSpPr>
        <p:spPr>
          <a:xfrm>
            <a:off x="1965960"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Retention baselines and journey maps</a:t>
            </a:r>
            <a:endParaRPr lang="en-US" sz="1150" dirty="0"/>
          </a:p>
        </p:txBody>
      </p:sp>
      <p:sp>
        <p:nvSpPr>
          <p:cNvPr id="13" name="Shape 11"/>
          <p:cNvSpPr/>
          <p:nvPr/>
        </p:nvSpPr>
        <p:spPr>
          <a:xfrm>
            <a:off x="5151120" y="2286000"/>
            <a:ext cx="3121152" cy="914400"/>
          </a:xfrm>
          <a:prstGeom prst="roundRect">
            <a:avLst>
              <a:gd name="adj" fmla="val 10000"/>
            </a:avLst>
          </a:prstGeom>
          <a:solidFill>
            <a:srgbClr val="FAECD4"/>
          </a:solidFill>
          <a:ln w="12700">
            <a:solidFill>
              <a:srgbClr val="FAECD4"/>
            </a:solidFill>
            <a:prstDash val="solid"/>
          </a:ln>
        </p:spPr>
      </p:sp>
      <p:sp>
        <p:nvSpPr>
          <p:cNvPr id="14" name="Text 12"/>
          <p:cNvSpPr/>
          <p:nvPr/>
        </p:nvSpPr>
        <p:spPr>
          <a:xfrm>
            <a:off x="5315712"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Onboarding Companion live in 20 stores</a:t>
            </a:r>
            <a:endParaRPr lang="en-US" sz="1150" dirty="0"/>
          </a:p>
        </p:txBody>
      </p:sp>
      <p:sp>
        <p:nvSpPr>
          <p:cNvPr id="15" name="Shape 13"/>
          <p:cNvSpPr/>
          <p:nvPr/>
        </p:nvSpPr>
        <p:spPr>
          <a:xfrm>
            <a:off x="8500872" y="2286000"/>
            <a:ext cx="3121152" cy="914400"/>
          </a:xfrm>
          <a:prstGeom prst="roundRect">
            <a:avLst>
              <a:gd name="adj" fmla="val 10000"/>
            </a:avLst>
          </a:prstGeom>
          <a:solidFill>
            <a:srgbClr val="FAECD4"/>
          </a:solidFill>
          <a:ln w="12700">
            <a:solidFill>
              <a:srgbClr val="FAECD4"/>
            </a:solidFill>
            <a:prstDash val="solid"/>
          </a:ln>
        </p:spPr>
      </p:sp>
      <p:sp>
        <p:nvSpPr>
          <p:cNvPr id="16" name="Text 14"/>
          <p:cNvSpPr/>
          <p:nvPr/>
        </p:nvSpPr>
        <p:spPr>
          <a:xfrm>
            <a:off x="8665464"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Pilot vs control read. Scale or kill.</a:t>
            </a:r>
            <a:endParaRPr lang="en-US" sz="1150" dirty="0"/>
          </a:p>
        </p:txBody>
      </p:sp>
      <p:sp>
        <p:nvSpPr>
          <p:cNvPr id="17" name="Shape 15"/>
          <p:cNvSpPr/>
          <p:nvPr/>
        </p:nvSpPr>
        <p:spPr>
          <a:xfrm>
            <a:off x="566928" y="3712464"/>
            <a:ext cx="402336" cy="402336"/>
          </a:xfrm>
          <a:prstGeom prst="ellipse">
            <a:avLst/>
          </a:prstGeom>
          <a:solidFill>
            <a:srgbClr val="3B7EA8"/>
          </a:solidFill>
          <a:ln w="12700">
            <a:solidFill>
              <a:srgbClr val="3B7EA8"/>
            </a:solidFill>
            <a:prstDash val="solid"/>
          </a:ln>
        </p:spPr>
      </p:sp>
      <p:sp>
        <p:nvSpPr>
          <p:cNvPr id="18" name="Text 16"/>
          <p:cNvSpPr/>
          <p:nvPr/>
        </p:nvSpPr>
        <p:spPr>
          <a:xfrm>
            <a:off x="566928" y="37124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9" name="Text 17"/>
          <p:cNvSpPr/>
          <p:nvPr/>
        </p:nvSpPr>
        <p:spPr>
          <a:xfrm>
            <a:off x="1042416" y="3657600"/>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Answer to</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action</a:t>
            </a:r>
            <a:endParaRPr lang="en-US" sz="1050" dirty="0"/>
          </a:p>
        </p:txBody>
      </p:sp>
      <p:sp>
        <p:nvSpPr>
          <p:cNvPr id="20" name="Shape 18"/>
          <p:cNvSpPr/>
          <p:nvPr/>
        </p:nvSpPr>
        <p:spPr>
          <a:xfrm>
            <a:off x="1801368" y="3456432"/>
            <a:ext cx="3121152" cy="914400"/>
          </a:xfrm>
          <a:prstGeom prst="roundRect">
            <a:avLst>
              <a:gd name="adj" fmla="val 10000"/>
            </a:avLst>
          </a:prstGeom>
          <a:solidFill>
            <a:srgbClr val="DCE9F2"/>
          </a:solidFill>
          <a:ln w="12700">
            <a:solidFill>
              <a:srgbClr val="DCE9F2"/>
            </a:solidFill>
            <a:prstDash val="solid"/>
          </a:ln>
        </p:spPr>
      </p:sp>
      <p:sp>
        <p:nvSpPr>
          <p:cNvPr id="21" name="Text 19"/>
          <p:cNvSpPr/>
          <p:nvPr/>
        </p:nvSpPr>
        <p:spPr>
          <a:xfrm>
            <a:off x="1965960"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Cluster the 3M questions by intent</a:t>
            </a:r>
            <a:endParaRPr lang="en-US" sz="1150" dirty="0"/>
          </a:p>
        </p:txBody>
      </p:sp>
      <p:sp>
        <p:nvSpPr>
          <p:cNvPr id="22" name="Shape 20"/>
          <p:cNvSpPr/>
          <p:nvPr/>
        </p:nvSpPr>
        <p:spPr>
          <a:xfrm>
            <a:off x="5151120" y="3456432"/>
            <a:ext cx="3121152" cy="914400"/>
          </a:xfrm>
          <a:prstGeom prst="roundRect">
            <a:avLst>
              <a:gd name="adj" fmla="val 10000"/>
            </a:avLst>
          </a:prstGeom>
          <a:solidFill>
            <a:srgbClr val="DCE9F2"/>
          </a:solidFill>
          <a:ln w="12700">
            <a:solidFill>
              <a:srgbClr val="DCE9F2"/>
            </a:solidFill>
            <a:prstDash val="solid"/>
          </a:ln>
        </p:spPr>
      </p:sp>
      <p:sp>
        <p:nvSpPr>
          <p:cNvPr id="23" name="Text 21"/>
          <p:cNvSpPr/>
          <p:nvPr/>
        </p:nvSpPr>
        <p:spPr>
          <a:xfrm>
            <a:off x="5315712"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Schedule-conflict action agent, full loop</a:t>
            </a:r>
            <a:endParaRPr lang="en-US" sz="1150" dirty="0"/>
          </a:p>
        </p:txBody>
      </p:sp>
      <p:sp>
        <p:nvSpPr>
          <p:cNvPr id="24" name="Shape 22"/>
          <p:cNvSpPr/>
          <p:nvPr/>
        </p:nvSpPr>
        <p:spPr>
          <a:xfrm>
            <a:off x="8500872" y="3456432"/>
            <a:ext cx="3121152" cy="914400"/>
          </a:xfrm>
          <a:prstGeom prst="roundRect">
            <a:avLst>
              <a:gd name="adj" fmla="val 10000"/>
            </a:avLst>
          </a:prstGeom>
          <a:solidFill>
            <a:srgbClr val="DCE9F2"/>
          </a:solidFill>
          <a:ln w="12700">
            <a:solidFill>
              <a:srgbClr val="DCE9F2"/>
            </a:solidFill>
            <a:prstDash val="solid"/>
          </a:ln>
        </p:spPr>
      </p:sp>
      <p:sp>
        <p:nvSpPr>
          <p:cNvPr id="25" name="Text 23"/>
          <p:cNvSpPr/>
          <p:nvPr/>
        </p:nvSpPr>
        <p:spPr>
          <a:xfrm>
            <a:off x="8665464"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Harden reliability. Spec cluster two.</a:t>
            </a:r>
            <a:endParaRPr lang="en-US" sz="1150" dirty="0"/>
          </a:p>
        </p:txBody>
      </p:sp>
      <p:sp>
        <p:nvSpPr>
          <p:cNvPr id="26" name="Shape 24"/>
          <p:cNvSpPr/>
          <p:nvPr/>
        </p:nvSpPr>
        <p:spPr>
          <a:xfrm>
            <a:off x="566928" y="4882896"/>
            <a:ext cx="402336" cy="402336"/>
          </a:xfrm>
          <a:prstGeom prst="ellipse">
            <a:avLst/>
          </a:prstGeom>
          <a:solidFill>
            <a:srgbClr val="44795A"/>
          </a:solidFill>
          <a:ln w="12700">
            <a:solidFill>
              <a:srgbClr val="44795A"/>
            </a:solidFill>
            <a:prstDash val="solid"/>
          </a:ln>
        </p:spPr>
      </p:sp>
      <p:sp>
        <p:nvSpPr>
          <p:cNvPr id="27" name="Text 25"/>
          <p:cNvSpPr/>
          <p:nvPr/>
        </p:nvSpPr>
        <p:spPr>
          <a:xfrm>
            <a:off x="566928" y="48828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28" name="Text 26"/>
          <p:cNvSpPr/>
          <p:nvPr/>
        </p:nvSpPr>
        <p:spPr>
          <a:xfrm>
            <a:off x="1042416" y="4828032"/>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Signal</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Engine</a:t>
            </a:r>
            <a:endParaRPr lang="en-US" sz="1050" dirty="0"/>
          </a:p>
        </p:txBody>
      </p:sp>
      <p:sp>
        <p:nvSpPr>
          <p:cNvPr id="29" name="Shape 27"/>
          <p:cNvSpPr/>
          <p:nvPr/>
        </p:nvSpPr>
        <p:spPr>
          <a:xfrm>
            <a:off x="1801368" y="4626864"/>
            <a:ext cx="3121152" cy="914400"/>
          </a:xfrm>
          <a:prstGeom prst="roundRect">
            <a:avLst>
              <a:gd name="adj" fmla="val 10000"/>
            </a:avLst>
          </a:prstGeom>
          <a:solidFill>
            <a:srgbClr val="DDEAE1"/>
          </a:solidFill>
          <a:ln w="12700">
            <a:solidFill>
              <a:srgbClr val="DDEAE1"/>
            </a:solidFill>
            <a:prstDash val="solid"/>
          </a:ln>
        </p:spPr>
      </p:sp>
      <p:sp>
        <p:nvSpPr>
          <p:cNvPr id="30" name="Text 28"/>
          <p:cNvSpPr/>
          <p:nvPr/>
        </p:nvSpPr>
        <p:spPr>
          <a:xfrm>
            <a:off x="1965960"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Signal audit and cohort taxonomy</a:t>
            </a:r>
            <a:endParaRPr lang="en-US" sz="1150" dirty="0"/>
          </a:p>
        </p:txBody>
      </p:sp>
      <p:sp>
        <p:nvSpPr>
          <p:cNvPr id="31" name="Shape 29"/>
          <p:cNvSpPr/>
          <p:nvPr/>
        </p:nvSpPr>
        <p:spPr>
          <a:xfrm>
            <a:off x="5151120" y="4626864"/>
            <a:ext cx="3121152" cy="914400"/>
          </a:xfrm>
          <a:prstGeom prst="roundRect">
            <a:avLst>
              <a:gd name="adj" fmla="val 10000"/>
            </a:avLst>
          </a:prstGeom>
          <a:solidFill>
            <a:srgbClr val="DDEAE1"/>
          </a:solidFill>
          <a:ln w="12700">
            <a:solidFill>
              <a:srgbClr val="DDEAE1"/>
            </a:solidFill>
            <a:prstDash val="solid"/>
          </a:ln>
        </p:spPr>
      </p:sp>
      <p:sp>
        <p:nvSpPr>
          <p:cNvPr id="32" name="Text 30"/>
          <p:cNvSpPr/>
          <p:nvPr/>
        </p:nvSpPr>
        <p:spPr>
          <a:xfrm>
            <a:off x="5315712"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One score live, two intervention arms</a:t>
            </a:r>
            <a:endParaRPr lang="en-US" sz="1150" dirty="0"/>
          </a:p>
        </p:txBody>
      </p:sp>
      <p:sp>
        <p:nvSpPr>
          <p:cNvPr id="33" name="Shape 31"/>
          <p:cNvSpPr/>
          <p:nvPr/>
        </p:nvSpPr>
        <p:spPr>
          <a:xfrm>
            <a:off x="8500872" y="4626864"/>
            <a:ext cx="3121152" cy="914400"/>
          </a:xfrm>
          <a:prstGeom prst="roundRect">
            <a:avLst>
              <a:gd name="adj" fmla="val 10000"/>
            </a:avLst>
          </a:prstGeom>
          <a:solidFill>
            <a:srgbClr val="DDEAE1"/>
          </a:solidFill>
          <a:ln w="12700">
            <a:solidFill>
              <a:srgbClr val="DDEAE1"/>
            </a:solidFill>
            <a:prstDash val="solid"/>
          </a:ln>
        </p:spPr>
      </p:sp>
      <p:sp>
        <p:nvSpPr>
          <p:cNvPr id="34" name="Text 32"/>
          <p:cNvSpPr/>
          <p:nvPr/>
        </p:nvSpPr>
        <p:spPr>
          <a:xfrm>
            <a:off x="8665464"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Contextual bandit across 3 to 4 arms</a:t>
            </a:r>
            <a:endParaRPr lang="en-US" sz="1150" dirty="0"/>
          </a:p>
        </p:txBody>
      </p:sp>
      <p:sp>
        <p:nvSpPr>
          <p:cNvPr id="35" name="Shape 33"/>
          <p:cNvSpPr/>
          <p:nvPr/>
        </p:nvSpPr>
        <p:spPr>
          <a:xfrm>
            <a:off x="11722608" y="2212848"/>
            <a:ext cx="0" cy="3657600"/>
          </a:xfrm>
          <a:prstGeom prst="line">
            <a:avLst/>
          </a:prstGeom>
          <a:noFill/>
          <a:ln w="25400">
            <a:solidFill>
              <a:srgbClr val="AE5348"/>
            </a:solidFill>
            <a:prstDash val="dash"/>
          </a:ln>
        </p:spPr>
      </p:sp>
      <p:sp>
        <p:nvSpPr>
          <p:cNvPr id="36" name="Text 34"/>
          <p:cNvSpPr/>
          <p:nvPr/>
        </p:nvSpPr>
        <p:spPr>
          <a:xfrm>
            <a:off x="10570464" y="5852160"/>
            <a:ext cx="1097280" cy="274320"/>
          </a:xfrm>
          <a:prstGeom prst="rect">
            <a:avLst/>
          </a:prstGeom>
          <a:noFill/>
          <a:ln/>
        </p:spPr>
        <p:txBody>
          <a:bodyPr wrap="square" lIns="0" tIns="0" rIns="0" bIns="0" rtlCol="0" anchor="ctr"/>
          <a:lstStyle/>
          <a:p>
            <a:pPr algn="r" indent="0" marL="0">
              <a:buNone/>
            </a:pPr>
            <a:r>
              <a:rPr lang="en-US" sz="1050" b="1" dirty="0">
                <a:solidFill>
                  <a:srgbClr val="AE5348"/>
                </a:solidFill>
                <a:latin typeface="Calibri" pitchFamily="34" charset="0"/>
                <a:ea typeface="Calibri" pitchFamily="34" charset="-122"/>
                <a:cs typeface="Calibri" pitchFamily="34" charset="-120"/>
              </a:rPr>
              <a:t>Day-90 gate</a:t>
            </a:r>
            <a:endParaRPr lang="en-US" sz="1050" dirty="0"/>
          </a:p>
        </p:txBody>
      </p:sp>
      <p:sp>
        <p:nvSpPr>
          <p:cNvPr id="37" name="Text 3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Cost of this order: the platform starts slower. Benefit: a measured retention number in hand before anyone is asked to fund platform headcount.</a:t>
            </a:r>
            <a:endParaRPr lang="en-US" sz="1050" dirty="0"/>
          </a:p>
        </p:txBody>
      </p:sp>
      <p:sp>
        <p:nvSpPr>
          <p:cNvPr id="38" name="Text 3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PLAN A, SEEN FROM THE FLOOR</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Day 1 stops being "nobody told me anything."</a:t>
            </a:r>
            <a:endParaRPr lang="en-US" sz="3000" dirty="0"/>
          </a:p>
        </p:txBody>
      </p:sp>
      <p:sp>
        <p:nvSpPr>
          <p:cNvPr id="5" name="Shape 3"/>
          <p:cNvSpPr/>
          <p:nvPr/>
        </p:nvSpPr>
        <p:spPr>
          <a:xfrm>
            <a:off x="566928" y="1920240"/>
            <a:ext cx="2592324" cy="2926080"/>
          </a:xfrm>
          <a:prstGeom prst="roundRect">
            <a:avLst>
              <a:gd name="adj" fmla="val 4233"/>
            </a:avLst>
          </a:prstGeom>
          <a:solidFill>
            <a:srgbClr val="DCE9F2"/>
          </a:solidFill>
          <a:ln w="12700">
            <a:solidFill>
              <a:srgbClr val="DCE9F2"/>
            </a:solidFill>
            <a:prstDash val="solid"/>
          </a:ln>
        </p:spPr>
      </p:sp>
      <p:sp>
        <p:nvSpPr>
          <p:cNvPr id="6" name="Shape 4"/>
          <p:cNvSpPr/>
          <p:nvPr/>
        </p:nvSpPr>
        <p:spPr>
          <a:xfrm>
            <a:off x="731520" y="2103120"/>
            <a:ext cx="1298448" cy="274320"/>
          </a:xfrm>
          <a:prstGeom prst="roundRect">
            <a:avLst>
              <a:gd name="adj" fmla="val 50000"/>
            </a:avLst>
          </a:prstGeom>
          <a:solidFill>
            <a:srgbClr val="3B7EA8"/>
          </a:solidFill>
          <a:ln w="12700">
            <a:solidFill>
              <a:srgbClr val="3B7EA8"/>
            </a:solidFill>
            <a:prstDash val="solid"/>
          </a:ln>
        </p:spPr>
      </p:sp>
      <p:sp>
        <p:nvSpPr>
          <p:cNvPr id="7" name="Text 5"/>
          <p:cNvSpPr/>
          <p:nvPr/>
        </p:nvSpPr>
        <p:spPr>
          <a:xfrm>
            <a:off x="731520" y="2103120"/>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Proactive</a:t>
            </a:r>
            <a:endParaRPr lang="en-US" sz="950" dirty="0"/>
          </a:p>
        </p:txBody>
      </p:sp>
      <p:sp>
        <p:nvSpPr>
          <p:cNvPr id="8" name="Text 6"/>
          <p:cNvSpPr/>
          <p:nvPr/>
        </p:nvSpPr>
        <p:spPr>
          <a:xfrm>
            <a:off x="731520" y="2487168"/>
            <a:ext cx="2263140" cy="256032"/>
          </a:xfrm>
          <a:prstGeom prst="rect">
            <a:avLst/>
          </a:prstGeom>
          <a:noFill/>
          <a:ln/>
        </p:spPr>
        <p:txBody>
          <a:bodyPr wrap="square" lIns="0" tIns="0" rIns="0" bIns="0" rtlCol="0" anchor="ctr"/>
          <a:lstStyle/>
          <a:p>
            <a:pPr indent="0" marL="0">
              <a:buNone/>
            </a:pPr>
            <a:r>
              <a:rPr lang="en-US" sz="1050" b="1" dirty="0">
                <a:solidFill>
                  <a:srgbClr val="5E6980"/>
                </a:solidFill>
                <a:latin typeface="Calibri" pitchFamily="34" charset="0"/>
                <a:ea typeface="Calibri" pitchFamily="34" charset="-122"/>
                <a:cs typeface="Calibri" pitchFamily="34" charset="-120"/>
              </a:rPr>
              <a:t>Day 1  ·  6:55am</a:t>
            </a:r>
            <a:endParaRPr lang="en-US" sz="1050" dirty="0"/>
          </a:p>
        </p:txBody>
      </p:sp>
      <p:sp>
        <p:nvSpPr>
          <p:cNvPr id="9" name="Text 7"/>
          <p:cNvSpPr/>
          <p:nvPr/>
        </p:nvSpPr>
        <p:spPr>
          <a:xfrm>
            <a:off x="731520" y="2761488"/>
            <a:ext cx="2263140" cy="603504"/>
          </a:xfrm>
          <a:prstGeom prst="rect">
            <a:avLst/>
          </a:prstGeom>
          <a:noFill/>
          <a:ln/>
        </p:spPr>
        <p:txBody>
          <a:bodyPr wrap="square" lIns="0" tIns="0" rIns="0" bIns="0" rtlCol="0" anchor="t"/>
          <a:lstStyle/>
          <a:p>
            <a:pPr indent="0" marL="0">
              <a:lnSpc>
                <a:spcPts val="1900"/>
              </a:lnSpc>
              <a:buNone/>
            </a:pPr>
            <a:r>
              <a:rPr lang="en-US" sz="1550" b="1" dirty="0">
                <a:solidFill>
                  <a:srgbClr val="1E4E6B"/>
                </a:solidFill>
                <a:latin typeface="Cambria" pitchFamily="34" charset="0"/>
                <a:ea typeface="Cambria" pitchFamily="34" charset="-122"/>
                <a:cs typeface="Cambria" pitchFamily="34" charset="-120"/>
              </a:rPr>
              <a:t>The app speaks first</a:t>
            </a:r>
            <a:endParaRPr lang="en-US" sz="1550" dirty="0"/>
          </a:p>
        </p:txBody>
      </p:sp>
      <p:sp>
        <p:nvSpPr>
          <p:cNvPr id="10" name="Text 8"/>
          <p:cNvSpPr/>
          <p:nvPr/>
        </p:nvSpPr>
        <p:spPr>
          <a:xfrm>
            <a:off x="731520" y="3401568"/>
            <a:ext cx="2263140" cy="128016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First shift today, Maya. Badge and locker first, then meet Dee, your buddy, aisle 12. I will guide each step when you arrive.</a:t>
            </a:r>
            <a:endParaRPr lang="en-US" sz="1200" dirty="0"/>
          </a:p>
        </p:txBody>
      </p:sp>
      <p:sp>
        <p:nvSpPr>
          <p:cNvPr id="11" name="Shape 9"/>
          <p:cNvSpPr/>
          <p:nvPr/>
        </p:nvSpPr>
        <p:spPr>
          <a:xfrm>
            <a:off x="3387852" y="1920240"/>
            <a:ext cx="2592324" cy="2926080"/>
          </a:xfrm>
          <a:prstGeom prst="roundRect">
            <a:avLst>
              <a:gd name="adj" fmla="val 4233"/>
            </a:avLst>
          </a:prstGeom>
          <a:solidFill>
            <a:srgbClr val="E2EAF4"/>
          </a:solidFill>
          <a:ln w="12700">
            <a:solidFill>
              <a:srgbClr val="E2EAF4"/>
            </a:solidFill>
            <a:prstDash val="solid"/>
          </a:ln>
        </p:spPr>
      </p:sp>
      <p:sp>
        <p:nvSpPr>
          <p:cNvPr id="12" name="Shape 10"/>
          <p:cNvSpPr/>
          <p:nvPr/>
        </p:nvSpPr>
        <p:spPr>
          <a:xfrm>
            <a:off x="3552444" y="2103120"/>
            <a:ext cx="1298448" cy="274320"/>
          </a:xfrm>
          <a:prstGeom prst="roundRect">
            <a:avLst>
              <a:gd name="adj" fmla="val 50000"/>
            </a:avLst>
          </a:prstGeom>
          <a:solidFill>
            <a:srgbClr val="2E4571"/>
          </a:solidFill>
          <a:ln w="12700">
            <a:solidFill>
              <a:srgbClr val="2E4571"/>
            </a:solidFill>
            <a:prstDash val="solid"/>
          </a:ln>
        </p:spPr>
      </p:sp>
      <p:sp>
        <p:nvSpPr>
          <p:cNvPr id="13" name="Text 11"/>
          <p:cNvSpPr/>
          <p:nvPr/>
        </p:nvSpPr>
        <p:spPr>
          <a:xfrm>
            <a:off x="3552444" y="2103120"/>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Conversational</a:t>
            </a:r>
            <a:endParaRPr lang="en-US" sz="950" dirty="0"/>
          </a:p>
        </p:txBody>
      </p:sp>
      <p:sp>
        <p:nvSpPr>
          <p:cNvPr id="14" name="Text 12"/>
          <p:cNvSpPr/>
          <p:nvPr/>
        </p:nvSpPr>
        <p:spPr>
          <a:xfrm>
            <a:off x="3552444" y="2487168"/>
            <a:ext cx="2263140" cy="256032"/>
          </a:xfrm>
          <a:prstGeom prst="rect">
            <a:avLst/>
          </a:prstGeom>
          <a:noFill/>
          <a:ln/>
        </p:spPr>
        <p:txBody>
          <a:bodyPr wrap="square" lIns="0" tIns="0" rIns="0" bIns="0" rtlCol="0" anchor="ctr"/>
          <a:lstStyle/>
          <a:p>
            <a:pPr indent="0" marL="0">
              <a:buNone/>
            </a:pPr>
            <a:r>
              <a:rPr lang="en-US" sz="1050" b="1" dirty="0">
                <a:solidFill>
                  <a:srgbClr val="5E6980"/>
                </a:solidFill>
                <a:latin typeface="Calibri" pitchFamily="34" charset="0"/>
                <a:ea typeface="Calibri" pitchFamily="34" charset="-122"/>
                <a:cs typeface="Calibri" pitchFamily="34" charset="-120"/>
              </a:rPr>
              <a:t>Shift 1</a:t>
            </a:r>
            <a:endParaRPr lang="en-US" sz="1050" dirty="0"/>
          </a:p>
        </p:txBody>
      </p:sp>
      <p:sp>
        <p:nvSpPr>
          <p:cNvPr id="15" name="Text 13"/>
          <p:cNvSpPr/>
          <p:nvPr/>
        </p:nvSpPr>
        <p:spPr>
          <a:xfrm>
            <a:off x="3552444" y="2761488"/>
            <a:ext cx="2263140" cy="603504"/>
          </a:xfrm>
          <a:prstGeom prst="rect">
            <a:avLst/>
          </a:prstGeom>
          <a:noFill/>
          <a:ln/>
        </p:spPr>
        <p:txBody>
          <a:bodyPr wrap="square" lIns="0" tIns="0" rIns="0" bIns="0" rtlCol="0" anchor="t"/>
          <a:lstStyle/>
          <a:p>
            <a:pPr indent="0" marL="0">
              <a:lnSpc>
                <a:spcPts val="1900"/>
              </a:lnSpc>
              <a:buNone/>
            </a:pPr>
            <a:r>
              <a:rPr lang="en-US" sz="1550" b="1" dirty="0">
                <a:solidFill>
                  <a:srgbClr val="16233B"/>
                </a:solidFill>
                <a:latin typeface="Cambria" pitchFamily="34" charset="0"/>
                <a:ea typeface="Cambria" pitchFamily="34" charset="-122"/>
                <a:cs typeface="Cambria" pitchFamily="34" charset="-120"/>
              </a:rPr>
              <a:t>Zero-tenure vocabulary</a:t>
            </a:r>
            <a:endParaRPr lang="en-US" sz="1550" dirty="0"/>
          </a:p>
        </p:txBody>
      </p:sp>
      <p:sp>
        <p:nvSpPr>
          <p:cNvPr id="16" name="Text 14"/>
          <p:cNvSpPr/>
          <p:nvPr/>
        </p:nvSpPr>
        <p:spPr>
          <a:xfrm>
            <a:off x="3552444" y="3401568"/>
            <a:ext cx="2263140" cy="128016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“What's a zone?”  Your assigned section for the night. Yours is GM-3, aisles 10 to 14. Dee walks the first pass with you.</a:t>
            </a:r>
            <a:endParaRPr lang="en-US" sz="1200" dirty="0"/>
          </a:p>
        </p:txBody>
      </p:sp>
      <p:sp>
        <p:nvSpPr>
          <p:cNvPr id="17" name="Shape 15"/>
          <p:cNvSpPr/>
          <p:nvPr/>
        </p:nvSpPr>
        <p:spPr>
          <a:xfrm>
            <a:off x="6208776" y="1920240"/>
            <a:ext cx="2592324" cy="2926080"/>
          </a:xfrm>
          <a:prstGeom prst="roundRect">
            <a:avLst>
              <a:gd name="adj" fmla="val 4233"/>
            </a:avLst>
          </a:prstGeom>
          <a:solidFill>
            <a:srgbClr val="FAECD4"/>
          </a:solidFill>
          <a:ln w="12700">
            <a:solidFill>
              <a:srgbClr val="FAECD4"/>
            </a:solidFill>
            <a:prstDash val="solid"/>
          </a:ln>
        </p:spPr>
      </p:sp>
      <p:sp>
        <p:nvSpPr>
          <p:cNvPr id="18" name="Shape 16"/>
          <p:cNvSpPr/>
          <p:nvPr/>
        </p:nvSpPr>
        <p:spPr>
          <a:xfrm>
            <a:off x="6373368" y="2103120"/>
            <a:ext cx="1298448" cy="274320"/>
          </a:xfrm>
          <a:prstGeom prst="roundRect">
            <a:avLst>
              <a:gd name="adj" fmla="val 50000"/>
            </a:avLst>
          </a:prstGeom>
          <a:solidFill>
            <a:srgbClr val="D9922B"/>
          </a:solidFill>
          <a:ln w="12700">
            <a:solidFill>
              <a:srgbClr val="D9922B"/>
            </a:solidFill>
            <a:prstDash val="solid"/>
          </a:ln>
        </p:spPr>
      </p:sp>
      <p:sp>
        <p:nvSpPr>
          <p:cNvPr id="19" name="Text 17"/>
          <p:cNvSpPr/>
          <p:nvPr/>
        </p:nvSpPr>
        <p:spPr>
          <a:xfrm>
            <a:off x="6373368" y="2103120"/>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Reward</a:t>
            </a:r>
            <a:endParaRPr lang="en-US" sz="950" dirty="0"/>
          </a:p>
        </p:txBody>
      </p:sp>
      <p:sp>
        <p:nvSpPr>
          <p:cNvPr id="20" name="Text 18"/>
          <p:cNvSpPr/>
          <p:nvPr/>
        </p:nvSpPr>
        <p:spPr>
          <a:xfrm>
            <a:off x="6373368" y="2487168"/>
            <a:ext cx="2263140" cy="256032"/>
          </a:xfrm>
          <a:prstGeom prst="rect">
            <a:avLst/>
          </a:prstGeom>
          <a:noFill/>
          <a:ln/>
        </p:spPr>
        <p:txBody>
          <a:bodyPr wrap="square" lIns="0" tIns="0" rIns="0" bIns="0" rtlCol="0" anchor="ctr"/>
          <a:lstStyle/>
          <a:p>
            <a:pPr indent="0" marL="0">
              <a:buNone/>
            </a:pPr>
            <a:r>
              <a:rPr lang="en-US" sz="1050" b="1" dirty="0">
                <a:solidFill>
                  <a:srgbClr val="5E6980"/>
                </a:solidFill>
                <a:latin typeface="Calibri" pitchFamily="34" charset="0"/>
                <a:ea typeface="Calibri" pitchFamily="34" charset="-122"/>
                <a:cs typeface="Calibri" pitchFamily="34" charset="-120"/>
              </a:rPr>
              <a:t>Week 1</a:t>
            </a:r>
            <a:endParaRPr lang="en-US" sz="1050" dirty="0"/>
          </a:p>
        </p:txBody>
      </p:sp>
      <p:sp>
        <p:nvSpPr>
          <p:cNvPr id="21" name="Text 19"/>
          <p:cNvSpPr/>
          <p:nvPr/>
        </p:nvSpPr>
        <p:spPr>
          <a:xfrm>
            <a:off x="6373368" y="2761488"/>
            <a:ext cx="2263140" cy="603504"/>
          </a:xfrm>
          <a:prstGeom prst="rect">
            <a:avLst/>
          </a:prstGeom>
          <a:noFill/>
          <a:ln/>
        </p:spPr>
        <p:txBody>
          <a:bodyPr wrap="square" lIns="0" tIns="0" rIns="0" bIns="0" rtlCol="0" anchor="t"/>
          <a:lstStyle/>
          <a:p>
            <a:pPr indent="0" marL="0">
              <a:lnSpc>
                <a:spcPts val="1900"/>
              </a:lnSpc>
              <a:buNone/>
            </a:pPr>
            <a:r>
              <a:rPr lang="en-US" sz="1550" b="1" dirty="0">
                <a:solidFill>
                  <a:srgbClr val="8A5A11"/>
                </a:solidFill>
                <a:latin typeface="Cambria" pitchFamily="34" charset="0"/>
                <a:ea typeface="Cambria" pitchFamily="34" charset="-122"/>
                <a:cs typeface="Cambria" pitchFamily="34" charset="-120"/>
              </a:rPr>
              <a:t>Real reward, her choice</a:t>
            </a:r>
            <a:endParaRPr lang="en-US" sz="1550" dirty="0"/>
          </a:p>
        </p:txBody>
      </p:sp>
      <p:sp>
        <p:nvSpPr>
          <p:cNvPr id="22" name="Text 20"/>
          <p:cNvSpPr/>
          <p:nvPr/>
        </p:nvSpPr>
        <p:spPr>
          <a:xfrm>
            <a:off x="6373368" y="3401568"/>
            <a:ext cx="2263140" cy="128016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Five shifts, all trainings done. Pick one: $15 gift card, free lunch, 5 stock-sweepstake entries, or $15 to a cause you choose.</a:t>
            </a:r>
            <a:endParaRPr lang="en-US" sz="1200" dirty="0"/>
          </a:p>
        </p:txBody>
      </p:sp>
      <p:sp>
        <p:nvSpPr>
          <p:cNvPr id="23" name="Shape 21"/>
          <p:cNvSpPr/>
          <p:nvPr/>
        </p:nvSpPr>
        <p:spPr>
          <a:xfrm>
            <a:off x="9029700" y="1920240"/>
            <a:ext cx="2592324" cy="2926080"/>
          </a:xfrm>
          <a:prstGeom prst="roundRect">
            <a:avLst>
              <a:gd name="adj" fmla="val 4233"/>
            </a:avLst>
          </a:prstGeom>
          <a:solidFill>
            <a:srgbClr val="DDEAE1"/>
          </a:solidFill>
          <a:ln w="12700">
            <a:solidFill>
              <a:srgbClr val="DDEAE1"/>
            </a:solidFill>
            <a:prstDash val="solid"/>
          </a:ln>
        </p:spPr>
      </p:sp>
      <p:sp>
        <p:nvSpPr>
          <p:cNvPr id="24" name="Shape 22"/>
          <p:cNvSpPr/>
          <p:nvPr/>
        </p:nvSpPr>
        <p:spPr>
          <a:xfrm>
            <a:off x="9194292" y="2103120"/>
            <a:ext cx="1298448" cy="274320"/>
          </a:xfrm>
          <a:prstGeom prst="roundRect">
            <a:avLst>
              <a:gd name="adj" fmla="val 50000"/>
            </a:avLst>
          </a:prstGeom>
          <a:solidFill>
            <a:srgbClr val="44795A"/>
          </a:solidFill>
          <a:ln w="12700">
            <a:solidFill>
              <a:srgbClr val="44795A"/>
            </a:solidFill>
            <a:prstDash val="solid"/>
          </a:ln>
        </p:spPr>
      </p:sp>
      <p:sp>
        <p:nvSpPr>
          <p:cNvPr id="25" name="Text 23"/>
          <p:cNvSpPr/>
          <p:nvPr/>
        </p:nvSpPr>
        <p:spPr>
          <a:xfrm>
            <a:off x="9194292" y="2103120"/>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Growth path</a:t>
            </a:r>
            <a:endParaRPr lang="en-US" sz="950" dirty="0"/>
          </a:p>
        </p:txBody>
      </p:sp>
      <p:sp>
        <p:nvSpPr>
          <p:cNvPr id="26" name="Text 24"/>
          <p:cNvSpPr/>
          <p:nvPr/>
        </p:nvSpPr>
        <p:spPr>
          <a:xfrm>
            <a:off x="9194292" y="2487168"/>
            <a:ext cx="2263140" cy="256032"/>
          </a:xfrm>
          <a:prstGeom prst="rect">
            <a:avLst/>
          </a:prstGeom>
          <a:noFill/>
          <a:ln/>
        </p:spPr>
        <p:txBody>
          <a:bodyPr wrap="square" lIns="0" tIns="0" rIns="0" bIns="0" rtlCol="0" anchor="ctr"/>
          <a:lstStyle/>
          <a:p>
            <a:pPr indent="0" marL="0">
              <a:buNone/>
            </a:pPr>
            <a:r>
              <a:rPr lang="en-US" sz="1050" b="1" dirty="0">
                <a:solidFill>
                  <a:srgbClr val="5E6980"/>
                </a:solidFill>
                <a:latin typeface="Calibri" pitchFamily="34" charset="0"/>
                <a:ea typeface="Calibri" pitchFamily="34" charset="-122"/>
                <a:cs typeface="Calibri" pitchFamily="34" charset="-120"/>
              </a:rPr>
              <a:t>Day 30</a:t>
            </a:r>
            <a:endParaRPr lang="en-US" sz="1050" dirty="0"/>
          </a:p>
        </p:txBody>
      </p:sp>
      <p:sp>
        <p:nvSpPr>
          <p:cNvPr id="27" name="Text 25"/>
          <p:cNvSpPr/>
          <p:nvPr/>
        </p:nvSpPr>
        <p:spPr>
          <a:xfrm>
            <a:off x="9194292" y="2761488"/>
            <a:ext cx="2263140" cy="603504"/>
          </a:xfrm>
          <a:prstGeom prst="rect">
            <a:avLst/>
          </a:prstGeom>
          <a:noFill/>
          <a:ln/>
        </p:spPr>
        <p:txBody>
          <a:bodyPr wrap="square" lIns="0" tIns="0" rIns="0" bIns="0" rtlCol="0" anchor="t"/>
          <a:lstStyle/>
          <a:p>
            <a:pPr indent="0" marL="0">
              <a:lnSpc>
                <a:spcPts val="1900"/>
              </a:lnSpc>
              <a:buNone/>
            </a:pPr>
            <a:r>
              <a:rPr lang="en-US" sz="1550" b="1" dirty="0">
                <a:solidFill>
                  <a:srgbClr val="2E5540"/>
                </a:solidFill>
                <a:latin typeface="Cambria" pitchFamily="34" charset="0"/>
                <a:ea typeface="Cambria" pitchFamily="34" charset="-122"/>
                <a:cs typeface="Cambria" pitchFamily="34" charset="-120"/>
              </a:rPr>
              <a:t>A visible road</a:t>
            </a:r>
            <a:endParaRPr lang="en-US" sz="1550" dirty="0"/>
          </a:p>
        </p:txBody>
      </p:sp>
      <p:sp>
        <p:nvSpPr>
          <p:cNvPr id="28" name="Text 26"/>
          <p:cNvSpPr/>
          <p:nvPr/>
        </p:nvSpPr>
        <p:spPr>
          <a:xfrm>
            <a:off x="9194292" y="3401568"/>
            <a:ext cx="2263140" cy="128016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Day-30 check-in tomorrow. Day 60 cross-training choice. Day 90 milestone and path picker. Two recovery days a week held.</a:t>
            </a:r>
            <a:endParaRPr lang="en-US" sz="1200" dirty="0"/>
          </a:p>
        </p:txBody>
      </p:sp>
      <p:sp>
        <p:nvSpPr>
          <p:cNvPr id="29" name="Text 27"/>
          <p:cNvSpPr/>
          <p:nvPr/>
        </p:nvSpPr>
        <p:spPr>
          <a:xfrm>
            <a:off x="566928" y="5138928"/>
            <a:ext cx="11055096" cy="457200"/>
          </a:xfrm>
          <a:prstGeom prst="rect">
            <a:avLst/>
          </a:prstGeom>
          <a:noFill/>
          <a:ln/>
        </p:spPr>
        <p:txBody>
          <a:bodyPr wrap="square" lIns="0" tIns="0" rIns="0" bIns="0" rtlCol="0" anchor="ctr"/>
          <a:lstStyle/>
          <a:p>
            <a:pPr indent="0" marL="0">
              <a:buNone/>
            </a:pPr>
            <a:r>
              <a:rPr lang="en-US" sz="1300" dirty="0">
                <a:solidFill>
                  <a:srgbClr val="1B2338"/>
                </a:solidFill>
                <a:latin typeface="Calibri" pitchFamily="34" charset="0"/>
                <a:ea typeface="Calibri" pitchFamily="34" charset="-122"/>
                <a:cs typeface="Calibri" pitchFamily="34" charset="-120"/>
              </a:rPr>
              <a:t>Four surfaces, one associate. Every plan in this deck is drawn the same way, so the room compares experiences and not adjectives.</a:t>
            </a:r>
            <a:endParaRPr lang="en-US" sz="1300" dirty="0"/>
          </a:p>
        </p:txBody>
      </p:sp>
      <p:sp>
        <p:nvSpPr>
          <p:cNvPr id="30" name="Text 2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Illustrative dialogue, drafted to show intent. Not shipped UX copy.</a:t>
            </a:r>
            <a:endParaRPr lang="en-US" sz="1050" dirty="0"/>
          </a:p>
        </p:txBody>
      </p:sp>
      <p:sp>
        <p:nvSpPr>
          <p:cNvPr id="31" name="Text 2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HOW IT SENSES AND LEARNS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304"/>
              </a:lnSpc>
              <a:buNone/>
            </a:pPr>
            <a:r>
              <a:rPr lang="en-US" sz="2800" b="1" dirty="0">
                <a:solidFill>
                  <a:srgbClr val="FFFFFF"/>
                </a:solidFill>
                <a:latin typeface="Cambria" pitchFamily="34" charset="0"/>
                <a:ea typeface="Cambria" pitchFamily="34" charset="-122"/>
                <a:cs typeface="Cambria" pitchFamily="34" charset="-120"/>
              </a:rPr>
              <a:t>Six cohort scores decide what fires, and a bandit learns what works per cohort.</a:t>
            </a:r>
            <a:endParaRPr lang="en-US" sz="2800" dirty="0"/>
          </a:p>
        </p:txBody>
      </p:sp>
      <p:sp>
        <p:nvSpPr>
          <p:cNvPr id="5" name="Shape 3"/>
          <p:cNvSpPr/>
          <p:nvPr/>
        </p:nvSpPr>
        <p:spPr>
          <a:xfrm>
            <a:off x="566928" y="1938528"/>
            <a:ext cx="11055096" cy="621792"/>
          </a:xfrm>
          <a:prstGeom prst="roundRect">
            <a:avLst>
              <a:gd name="adj" fmla="val 14706"/>
            </a:avLst>
          </a:prstGeom>
          <a:solidFill>
            <a:srgbClr val="2E4571"/>
          </a:solidFill>
          <a:ln w="12700">
            <a:solidFill>
              <a:srgbClr val="2E4571"/>
            </a:solidFill>
            <a:prstDash val="solid"/>
          </a:ln>
        </p:spPr>
      </p:sp>
      <p:sp>
        <p:nvSpPr>
          <p:cNvPr id="6" name="Shape 4"/>
          <p:cNvSpPr/>
          <p:nvPr/>
        </p:nvSpPr>
        <p:spPr>
          <a:xfrm>
            <a:off x="749808" y="2084832"/>
            <a:ext cx="475488" cy="329184"/>
          </a:xfrm>
          <a:prstGeom prst="roundRect">
            <a:avLst>
              <a:gd name="adj" fmla="val 22222"/>
            </a:avLst>
          </a:prstGeom>
          <a:solidFill>
            <a:srgbClr val="D9922B"/>
          </a:solidFill>
          <a:ln w="12700">
            <a:solidFill>
              <a:srgbClr val="D9922B"/>
            </a:solidFill>
            <a:prstDash val="solid"/>
          </a:ln>
        </p:spPr>
      </p:sp>
      <p:sp>
        <p:nvSpPr>
          <p:cNvPr id="7" name="Text 5"/>
          <p:cNvSpPr/>
          <p:nvPr/>
        </p:nvSpPr>
        <p:spPr>
          <a:xfrm>
            <a:off x="749808" y="2084832"/>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L5</a:t>
            </a:r>
            <a:endParaRPr lang="en-US" sz="1100" dirty="0"/>
          </a:p>
        </p:txBody>
      </p:sp>
      <p:sp>
        <p:nvSpPr>
          <p:cNvPr id="8" name="Text 6"/>
          <p:cNvSpPr/>
          <p:nvPr/>
        </p:nvSpPr>
        <p:spPr>
          <a:xfrm>
            <a:off x="1371600" y="2066544"/>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Roadmapping surface</a:t>
            </a:r>
            <a:endParaRPr lang="en-US" sz="1450" dirty="0"/>
          </a:p>
        </p:txBody>
      </p:sp>
      <p:sp>
        <p:nvSpPr>
          <p:cNvPr id="9" name="Text 7"/>
          <p:cNvSpPr/>
          <p:nvPr/>
        </p:nvSpPr>
        <p:spPr>
          <a:xfrm>
            <a:off x="4087368" y="2066544"/>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Score, rank, and sequence every candidate against build cost</a:t>
            </a:r>
            <a:endParaRPr lang="en-US" sz="1150" dirty="0"/>
          </a:p>
        </p:txBody>
      </p:sp>
      <p:sp>
        <p:nvSpPr>
          <p:cNvPr id="10" name="Shape 8"/>
          <p:cNvSpPr/>
          <p:nvPr/>
        </p:nvSpPr>
        <p:spPr>
          <a:xfrm>
            <a:off x="566928" y="2660904"/>
            <a:ext cx="11055096" cy="621792"/>
          </a:xfrm>
          <a:prstGeom prst="roundRect">
            <a:avLst>
              <a:gd name="adj" fmla="val 14706"/>
            </a:avLst>
          </a:prstGeom>
          <a:solidFill>
            <a:srgbClr val="223558"/>
          </a:solidFill>
          <a:ln w="12700">
            <a:solidFill>
              <a:srgbClr val="223558"/>
            </a:solidFill>
            <a:prstDash val="solid"/>
          </a:ln>
        </p:spPr>
      </p:sp>
      <p:sp>
        <p:nvSpPr>
          <p:cNvPr id="11" name="Shape 9"/>
          <p:cNvSpPr/>
          <p:nvPr/>
        </p:nvSpPr>
        <p:spPr>
          <a:xfrm>
            <a:off x="749808" y="2807208"/>
            <a:ext cx="475488" cy="329184"/>
          </a:xfrm>
          <a:prstGeom prst="roundRect">
            <a:avLst>
              <a:gd name="adj" fmla="val 22222"/>
            </a:avLst>
          </a:prstGeom>
          <a:solidFill>
            <a:srgbClr val="D9922B"/>
          </a:solidFill>
          <a:ln w="12700">
            <a:solidFill>
              <a:srgbClr val="D9922B"/>
            </a:solidFill>
            <a:prstDash val="solid"/>
          </a:ln>
        </p:spPr>
      </p:sp>
      <p:sp>
        <p:nvSpPr>
          <p:cNvPr id="12" name="Text 10"/>
          <p:cNvSpPr/>
          <p:nvPr/>
        </p:nvSpPr>
        <p:spPr>
          <a:xfrm>
            <a:off x="749808" y="2807208"/>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L4</a:t>
            </a:r>
            <a:endParaRPr lang="en-US" sz="1100" dirty="0"/>
          </a:p>
        </p:txBody>
      </p:sp>
      <p:sp>
        <p:nvSpPr>
          <p:cNvPr id="13" name="Text 11"/>
          <p:cNvSpPr/>
          <p:nvPr/>
        </p:nvSpPr>
        <p:spPr>
          <a:xfrm>
            <a:off x="1371600" y="2788920"/>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Learning layer</a:t>
            </a:r>
            <a:endParaRPr lang="en-US" sz="1450" dirty="0"/>
          </a:p>
        </p:txBody>
      </p:sp>
      <p:sp>
        <p:nvSpPr>
          <p:cNvPr id="14" name="Text 12"/>
          <p:cNvSpPr/>
          <p:nvPr/>
        </p:nvSpPr>
        <p:spPr>
          <a:xfrm>
            <a:off x="4087368" y="2788920"/>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Contextual bandit, Thompson sampling. Exploration scales with uncertainty</a:t>
            </a:r>
            <a:endParaRPr lang="en-US" sz="1150" dirty="0"/>
          </a:p>
        </p:txBody>
      </p:sp>
      <p:sp>
        <p:nvSpPr>
          <p:cNvPr id="15" name="Shape 13"/>
          <p:cNvSpPr/>
          <p:nvPr/>
        </p:nvSpPr>
        <p:spPr>
          <a:xfrm>
            <a:off x="566928" y="3383280"/>
            <a:ext cx="11055096" cy="621792"/>
          </a:xfrm>
          <a:prstGeom prst="roundRect">
            <a:avLst>
              <a:gd name="adj" fmla="val 14706"/>
            </a:avLst>
          </a:prstGeom>
          <a:solidFill>
            <a:srgbClr val="1F3050"/>
          </a:solidFill>
          <a:ln w="12700">
            <a:solidFill>
              <a:srgbClr val="1F3050"/>
            </a:solidFill>
            <a:prstDash val="solid"/>
          </a:ln>
        </p:spPr>
      </p:sp>
      <p:sp>
        <p:nvSpPr>
          <p:cNvPr id="16" name="Shape 14"/>
          <p:cNvSpPr/>
          <p:nvPr/>
        </p:nvSpPr>
        <p:spPr>
          <a:xfrm>
            <a:off x="749808" y="3529584"/>
            <a:ext cx="475488" cy="329184"/>
          </a:xfrm>
          <a:prstGeom prst="roundRect">
            <a:avLst>
              <a:gd name="adj" fmla="val 22222"/>
            </a:avLst>
          </a:prstGeom>
          <a:solidFill>
            <a:srgbClr val="D9922B"/>
          </a:solidFill>
          <a:ln w="12700">
            <a:solidFill>
              <a:srgbClr val="D9922B"/>
            </a:solidFill>
            <a:prstDash val="solid"/>
          </a:ln>
        </p:spPr>
      </p:sp>
      <p:sp>
        <p:nvSpPr>
          <p:cNvPr id="17" name="Text 15"/>
          <p:cNvSpPr/>
          <p:nvPr/>
        </p:nvSpPr>
        <p:spPr>
          <a:xfrm>
            <a:off x="749808" y="3529584"/>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L3</a:t>
            </a:r>
            <a:endParaRPr lang="en-US" sz="1100" dirty="0"/>
          </a:p>
        </p:txBody>
      </p:sp>
      <p:sp>
        <p:nvSpPr>
          <p:cNvPr id="18" name="Text 16"/>
          <p:cNvSpPr/>
          <p:nvPr/>
        </p:nvSpPr>
        <p:spPr>
          <a:xfrm>
            <a:off x="1371600" y="3511296"/>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Decision layer</a:t>
            </a:r>
            <a:endParaRPr lang="en-US" sz="1450" dirty="0"/>
          </a:p>
        </p:txBody>
      </p:sp>
      <p:sp>
        <p:nvSpPr>
          <p:cNvPr id="19" name="Text 17"/>
          <p:cNvSpPr/>
          <p:nvPr/>
        </p:nvSpPr>
        <p:spPr>
          <a:xfrm>
            <a:off x="4087368" y="3511296"/>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Friction 65 or higher fires alerts. Wellbeing 40 or lower offers recovery</a:t>
            </a:r>
            <a:endParaRPr lang="en-US" sz="1150" dirty="0"/>
          </a:p>
        </p:txBody>
      </p:sp>
      <p:sp>
        <p:nvSpPr>
          <p:cNvPr id="20" name="Shape 18"/>
          <p:cNvSpPr/>
          <p:nvPr/>
        </p:nvSpPr>
        <p:spPr>
          <a:xfrm>
            <a:off x="566928" y="4105656"/>
            <a:ext cx="11055096" cy="621792"/>
          </a:xfrm>
          <a:prstGeom prst="roundRect">
            <a:avLst>
              <a:gd name="adj" fmla="val 14706"/>
            </a:avLst>
          </a:prstGeom>
          <a:solidFill>
            <a:srgbClr val="223558"/>
          </a:solidFill>
          <a:ln w="12700">
            <a:solidFill>
              <a:srgbClr val="223558"/>
            </a:solidFill>
            <a:prstDash val="solid"/>
          </a:ln>
        </p:spPr>
      </p:sp>
      <p:sp>
        <p:nvSpPr>
          <p:cNvPr id="21" name="Shape 19"/>
          <p:cNvSpPr/>
          <p:nvPr/>
        </p:nvSpPr>
        <p:spPr>
          <a:xfrm>
            <a:off x="749808" y="4251960"/>
            <a:ext cx="475488" cy="329184"/>
          </a:xfrm>
          <a:prstGeom prst="roundRect">
            <a:avLst>
              <a:gd name="adj" fmla="val 22222"/>
            </a:avLst>
          </a:prstGeom>
          <a:solidFill>
            <a:srgbClr val="D9922B"/>
          </a:solidFill>
          <a:ln w="12700">
            <a:solidFill>
              <a:srgbClr val="D9922B"/>
            </a:solidFill>
            <a:prstDash val="solid"/>
          </a:ln>
        </p:spPr>
      </p:sp>
      <p:sp>
        <p:nvSpPr>
          <p:cNvPr id="22" name="Text 20"/>
          <p:cNvSpPr/>
          <p:nvPr/>
        </p:nvSpPr>
        <p:spPr>
          <a:xfrm>
            <a:off x="749808" y="4251960"/>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L2</a:t>
            </a:r>
            <a:endParaRPr lang="en-US" sz="1100" dirty="0"/>
          </a:p>
        </p:txBody>
      </p:sp>
      <p:sp>
        <p:nvSpPr>
          <p:cNvPr id="23" name="Text 21"/>
          <p:cNvSpPr/>
          <p:nvPr/>
        </p:nvSpPr>
        <p:spPr>
          <a:xfrm>
            <a:off x="1371600" y="4233672"/>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Cohort scores</a:t>
            </a:r>
            <a:endParaRPr lang="en-US" sz="1450" dirty="0"/>
          </a:p>
        </p:txBody>
      </p:sp>
      <p:sp>
        <p:nvSpPr>
          <p:cNvPr id="24" name="Text 22"/>
          <p:cNvSpPr/>
          <p:nvPr/>
        </p:nvSpPr>
        <p:spPr>
          <a:xfrm>
            <a:off x="4087368" y="4233672"/>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Friction · engagement · retention-risk · growth-readiness · trust · wellbeing</a:t>
            </a:r>
            <a:endParaRPr lang="en-US" sz="1150" dirty="0"/>
          </a:p>
        </p:txBody>
      </p:sp>
      <p:sp>
        <p:nvSpPr>
          <p:cNvPr id="25" name="Shape 23"/>
          <p:cNvSpPr/>
          <p:nvPr/>
        </p:nvSpPr>
        <p:spPr>
          <a:xfrm>
            <a:off x="566928" y="4828032"/>
            <a:ext cx="11055096" cy="621792"/>
          </a:xfrm>
          <a:prstGeom prst="roundRect">
            <a:avLst>
              <a:gd name="adj" fmla="val 14706"/>
            </a:avLst>
          </a:prstGeom>
          <a:solidFill>
            <a:srgbClr val="1F3050"/>
          </a:solidFill>
          <a:ln w="12700">
            <a:solidFill>
              <a:srgbClr val="1F3050"/>
            </a:solidFill>
            <a:prstDash val="solid"/>
          </a:ln>
        </p:spPr>
      </p:sp>
      <p:sp>
        <p:nvSpPr>
          <p:cNvPr id="26" name="Shape 24"/>
          <p:cNvSpPr/>
          <p:nvPr/>
        </p:nvSpPr>
        <p:spPr>
          <a:xfrm>
            <a:off x="749808" y="4974336"/>
            <a:ext cx="475488" cy="329184"/>
          </a:xfrm>
          <a:prstGeom prst="roundRect">
            <a:avLst>
              <a:gd name="adj" fmla="val 22222"/>
            </a:avLst>
          </a:prstGeom>
          <a:solidFill>
            <a:srgbClr val="D9922B"/>
          </a:solidFill>
          <a:ln w="12700">
            <a:solidFill>
              <a:srgbClr val="D9922B"/>
            </a:solidFill>
            <a:prstDash val="solid"/>
          </a:ln>
        </p:spPr>
      </p:sp>
      <p:sp>
        <p:nvSpPr>
          <p:cNvPr id="27" name="Text 25"/>
          <p:cNvSpPr/>
          <p:nvPr/>
        </p:nvSpPr>
        <p:spPr>
          <a:xfrm>
            <a:off x="749808" y="4974336"/>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L1</a:t>
            </a:r>
            <a:endParaRPr lang="en-US" sz="1100" dirty="0"/>
          </a:p>
        </p:txBody>
      </p:sp>
      <p:sp>
        <p:nvSpPr>
          <p:cNvPr id="28" name="Text 26"/>
          <p:cNvSpPr/>
          <p:nvPr/>
        </p:nvSpPr>
        <p:spPr>
          <a:xfrm>
            <a:off x="1371600" y="4956048"/>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Data inputs</a:t>
            </a:r>
            <a:endParaRPr lang="en-US" sz="1450" dirty="0"/>
          </a:p>
        </p:txBody>
      </p:sp>
      <p:sp>
        <p:nvSpPr>
          <p:cNvPr id="29" name="Text 27"/>
          <p:cNvSpPr/>
          <p:nvPr/>
        </p:nvSpPr>
        <p:spPr>
          <a:xfrm>
            <a:off x="4087368" y="4956048"/>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Telemetry · voice of associate · field shifts · workforce · operational · competitive</a:t>
            </a:r>
            <a:endParaRPr lang="en-US" sz="1150" dirty="0"/>
          </a:p>
        </p:txBody>
      </p:sp>
      <p:sp>
        <p:nvSpPr>
          <p:cNvPr id="30" name="Text 28"/>
          <p:cNvSpPr/>
          <p:nvPr/>
        </p:nvSpPr>
        <p:spPr>
          <a:xfrm>
            <a:off x="566928" y="5596128"/>
            <a:ext cx="11055096" cy="566928"/>
          </a:xfrm>
          <a:prstGeom prst="rect">
            <a:avLst/>
          </a:prstGeom>
          <a:noFill/>
          <a:ln/>
        </p:spPr>
        <p:txBody>
          <a:bodyPr wrap="square" lIns="0" tIns="0" rIns="0" bIns="0" rtlCol="0" anchor="t"/>
          <a:lstStyle/>
          <a:p>
            <a:pPr indent="0" marL="0">
              <a:lnSpc>
                <a:spcPts val="1600"/>
              </a:lnSpc>
              <a:buNone/>
            </a:pPr>
            <a:r>
              <a:rPr lang="en-US" sz="1250" dirty="0">
                <a:solidFill>
                  <a:srgbClr val="D6DEEC"/>
                </a:solidFill>
                <a:latin typeface="Calibri" pitchFamily="34" charset="0"/>
                <a:ea typeface="Calibri" pitchFamily="34" charset="-122"/>
                <a:cs typeface="Calibri" pitchFamily="34" charset="-120"/>
              </a:rPr>
              <a:t>Scores are computed per cohort (role x shift x region x tenure), never per individual. Every learned policy exports in plain language: “cohort X responds best to Y,” reviewable by People teams.</a:t>
            </a:r>
            <a:endParaRPr lang="en-US" sz="1250" dirty="0"/>
          </a:p>
        </p:txBody>
      </p:sp>
      <p:sp>
        <p:nvSpPr>
          <p:cNvPr id="31" name="Text 2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WHAT WOULD SINK THIS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Four risks can sink this, and each has an owner and a trip wire.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514600"/>
                <a:gridCol w="1371600"/>
                <a:gridCol w="2926080"/>
                <a:gridCol w="42428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Trip wire to watch</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Mitigation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Scoring reads as surveillance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Product + HR</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Associate sentiment drops in pilot stores versus control</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Associates see their own signals, framed as growth, never as a hidden risk label. Opt-out available.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Bandit optimizes its own metric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Data science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Engagement climbs while 90-day retention stays flat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Reward is a leading indicator validated against 90-day retention in permanent holdout groups.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Retention is multi-causal</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Product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Control stores move with the pilot stores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Claim only the app's share. Matched pairs and a pre-registered north star.</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Wrong write to a system of record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Engineering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Any incorrect scheduling or pay action, at any volume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Strictest grounding tier on pay, benefits, and scheduling. A lead approves before commit.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Shape 3"/>
          <p:cNvSpPr/>
          <p:nvPr/>
        </p:nvSpPr>
        <p:spPr>
          <a:xfrm>
            <a:off x="566928" y="4645152"/>
            <a:ext cx="11055096" cy="749808"/>
          </a:xfrm>
          <a:prstGeom prst="roundRect">
            <a:avLst>
              <a:gd name="adj" fmla="val 14634"/>
            </a:avLst>
          </a:prstGeom>
          <a:solidFill>
            <a:srgbClr val="F5E2DF"/>
          </a:solidFill>
          <a:ln w="12700">
            <a:solidFill>
              <a:srgbClr val="F5E2DF"/>
            </a:solidFill>
            <a:prstDash val="solid"/>
          </a:ln>
        </p:spPr>
      </p:sp>
      <p:sp>
        <p:nvSpPr>
          <p:cNvPr id="7" name="Text 4"/>
          <p:cNvSpPr/>
          <p:nvPr/>
        </p:nvSpPr>
        <p:spPr>
          <a:xfrm>
            <a:off x="786384" y="4681728"/>
            <a:ext cx="10616184" cy="676656"/>
          </a:xfrm>
          <a:prstGeom prst="rect">
            <a:avLst/>
          </a:prstGeom>
          <a:noFill/>
          <a:ln/>
        </p:spPr>
        <p:txBody>
          <a:bodyPr wrap="square" lIns="0" tIns="0" rIns="0" bIns="0" rtlCol="0" anchor="ctr"/>
          <a:lstStyle/>
          <a:p>
            <a:pPr indent="0" marL="0">
              <a:lnSpc>
                <a:spcPts val="1500"/>
              </a:lnSpc>
              <a:buNone/>
            </a:pPr>
            <a:r>
              <a:rPr lang="en-US" sz="1200" dirty="0">
                <a:solidFill>
                  <a:srgbClr val="7A322A"/>
                </a:solidFill>
                <a:latin typeface="Calibri" pitchFamily="34" charset="0"/>
                <a:ea typeface="Calibri" pitchFamily="34" charset="-122"/>
                <a:cs typeface="Calibri" pitchFamily="34" charset="-120"/>
              </a:rPr>
              <a:t>Said out loud: gift cards, bonuses, and stock are taxable compensation. That is payroll integration, not an app feature. Sweepstakes carry their own legal regime, and every reward tier ships with an equity audit.</a:t>
            </a:r>
            <a:endParaRPr lang="en-US" sz="1200" dirty="0"/>
          </a:p>
        </p:txBody>
      </p:sp>
      <p:sp>
        <p:nvSpPr>
          <p:cNvPr id="8" name="Text 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DECISION REQUESTED TODAY</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40"/>
              </a:lnSpc>
              <a:buNone/>
            </a:pPr>
            <a:r>
              <a:rPr lang="en-US" sz="3000" b="1" dirty="0">
                <a:solidFill>
                  <a:srgbClr val="FFFFFF"/>
                </a:solidFill>
                <a:latin typeface="Cambria" pitchFamily="34" charset="0"/>
                <a:ea typeface="Cambria" pitchFamily="34" charset="-122"/>
                <a:cs typeface="Cambria" pitchFamily="34" charset="-120"/>
              </a:rPr>
              <a:t>Two weeks, 40 stores, one pod, and a date on the calendar.</a:t>
            </a:r>
            <a:endParaRPr lang="en-US" sz="3000" dirty="0"/>
          </a:p>
        </p:txBody>
      </p:sp>
      <p:sp>
        <p:nvSpPr>
          <p:cNvPr id="5" name="Shape 3"/>
          <p:cNvSpPr/>
          <p:nvPr/>
        </p:nvSpPr>
        <p:spPr>
          <a:xfrm>
            <a:off x="566928" y="1874520"/>
            <a:ext cx="11055096" cy="2084832"/>
          </a:xfrm>
          <a:prstGeom prst="roundRect">
            <a:avLst>
              <a:gd name="adj" fmla="val 5263"/>
            </a:avLst>
          </a:prstGeom>
          <a:solidFill>
            <a:srgbClr val="223558"/>
          </a:solidFill>
          <a:ln w="12700">
            <a:solidFill>
              <a:srgbClr val="223558"/>
            </a:solidFill>
            <a:prstDash val="solid"/>
          </a:ln>
        </p:spPr>
      </p:sp>
      <p:sp>
        <p:nvSpPr>
          <p:cNvPr id="6" name="Text 4"/>
          <p:cNvSpPr/>
          <p:nvPr/>
        </p:nvSpPr>
        <p:spPr>
          <a:xfrm>
            <a:off x="841248" y="2029968"/>
            <a:ext cx="1828800" cy="292608"/>
          </a:xfrm>
          <a:prstGeom prst="rect">
            <a:avLst/>
          </a:prstGeom>
          <a:noFill/>
          <a:ln/>
        </p:spPr>
        <p:txBody>
          <a:bodyPr wrap="square" lIns="0" tIns="0" rIns="0" bIns="0" rtlCol="0" anchor="ctr"/>
          <a:lstStyle/>
          <a:p>
            <a:pPr indent="0" marL="0">
              <a:buNone/>
            </a:pPr>
            <a:r>
              <a:rPr lang="en-US" sz="1100" b="1" spc="160" kern="0" dirty="0">
                <a:solidFill>
                  <a:srgbClr val="D9922B"/>
                </a:solidFill>
                <a:latin typeface="Calibri" pitchFamily="34" charset="0"/>
                <a:ea typeface="Calibri" pitchFamily="34" charset="-122"/>
                <a:cs typeface="Calibri" pitchFamily="34" charset="-120"/>
              </a:rPr>
              <a:t>APPROVE</a:t>
            </a:r>
            <a:endParaRPr lang="en-US" sz="1100" dirty="0"/>
          </a:p>
        </p:txBody>
      </p:sp>
      <p:sp>
        <p:nvSpPr>
          <p:cNvPr id="7" name="Text 5"/>
          <p:cNvSpPr/>
          <p:nvPr/>
        </p:nvSpPr>
        <p:spPr>
          <a:xfrm>
            <a:off x="841248" y="2322576"/>
            <a:ext cx="10506456" cy="420624"/>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 2-week discovery sprint, then a 90-day pilot.</a:t>
            </a:r>
            <a:endParaRPr lang="en-US" sz="2100" dirty="0"/>
          </a:p>
        </p:txBody>
      </p:sp>
      <p:sp>
        <p:nvSpPr>
          <p:cNvPr id="8" name="Text 6"/>
          <p:cNvSpPr/>
          <p:nvPr/>
        </p:nvSpPr>
        <p:spPr>
          <a:xfrm>
            <a:off x="841248"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FOOTPRINT</a:t>
            </a:r>
            <a:endParaRPr lang="en-US" sz="950" dirty="0"/>
          </a:p>
        </p:txBody>
      </p:sp>
      <p:sp>
        <p:nvSpPr>
          <p:cNvPr id="9" name="Text 7"/>
          <p:cNvSpPr/>
          <p:nvPr/>
        </p:nvSpPr>
        <p:spPr>
          <a:xfrm>
            <a:off x="841248"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20 pilot stores and 20 matched control stores</a:t>
            </a:r>
            <a:endParaRPr lang="en-US" sz="1300" dirty="0"/>
          </a:p>
        </p:txBody>
      </p:sp>
      <p:sp>
        <p:nvSpPr>
          <p:cNvPr id="10" name="Text 8"/>
          <p:cNvSpPr/>
          <p:nvPr/>
        </p:nvSpPr>
        <p:spPr>
          <a:xfrm>
            <a:off x="4434840"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TEAM</a:t>
            </a:r>
            <a:endParaRPr lang="en-US" sz="950" dirty="0"/>
          </a:p>
        </p:txBody>
      </p:sp>
      <p:sp>
        <p:nvSpPr>
          <p:cNvPr id="11" name="Text 9"/>
          <p:cNvSpPr/>
          <p:nvPr/>
        </p:nvSpPr>
        <p:spPr>
          <a:xfrm>
            <a:off x="4434840"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1 data-science pod, [N] engineers.</a:t>
            </a:r>
            <a:endParaRPr lang="en-US" sz="1300" dirty="0"/>
          </a:p>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Owner: [PM name]</a:t>
            </a:r>
            <a:endParaRPr lang="en-US" sz="1300" dirty="0"/>
          </a:p>
        </p:txBody>
      </p:sp>
      <p:sp>
        <p:nvSpPr>
          <p:cNvPr id="12" name="Text 10"/>
          <p:cNvSpPr/>
          <p:nvPr/>
        </p:nvSpPr>
        <p:spPr>
          <a:xfrm>
            <a:off x="8028432"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MONEY AND DATES</a:t>
            </a:r>
            <a:endParaRPr lang="en-US" sz="950" dirty="0"/>
          </a:p>
        </p:txBody>
      </p:sp>
      <p:sp>
        <p:nvSpPr>
          <p:cNvPr id="13" name="Text 11"/>
          <p:cNvSpPr/>
          <p:nvPr/>
        </p:nvSpPr>
        <p:spPr>
          <a:xfrm>
            <a:off x="8028432"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Budget: $[amount]</a:t>
            </a:r>
            <a:endParaRPr lang="en-US" sz="1300" dirty="0"/>
          </a:p>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Start: [date]   Gate: day 90</a:t>
            </a:r>
            <a:endParaRPr lang="en-US" sz="1300" dirty="0"/>
          </a:p>
        </p:txBody>
      </p:sp>
      <p:sp>
        <p:nvSpPr>
          <p:cNvPr id="14" name="Shape 12"/>
          <p:cNvSpPr/>
          <p:nvPr/>
        </p:nvSpPr>
        <p:spPr>
          <a:xfrm>
            <a:off x="566928" y="4224528"/>
            <a:ext cx="3502152" cy="1691640"/>
          </a:xfrm>
          <a:prstGeom prst="roundRect">
            <a:avLst>
              <a:gd name="adj" fmla="val 6486"/>
            </a:avLst>
          </a:prstGeom>
          <a:solidFill>
            <a:srgbClr val="1F3050"/>
          </a:solidFill>
          <a:ln w="12700">
            <a:solidFill>
              <a:srgbClr val="1F3050"/>
            </a:solidFill>
            <a:prstDash val="solid"/>
          </a:ln>
        </p:spPr>
      </p:sp>
      <p:sp>
        <p:nvSpPr>
          <p:cNvPr id="15" name="Shape 13"/>
          <p:cNvSpPr/>
          <p:nvPr/>
        </p:nvSpPr>
        <p:spPr>
          <a:xfrm>
            <a:off x="786384" y="4443984"/>
            <a:ext cx="182880" cy="182880"/>
          </a:xfrm>
          <a:prstGeom prst="ellipse">
            <a:avLst/>
          </a:prstGeom>
          <a:solidFill>
            <a:srgbClr val="44795A"/>
          </a:solidFill>
          <a:ln w="12700">
            <a:solidFill>
              <a:srgbClr val="44795A"/>
            </a:solidFill>
            <a:prstDash val="solid"/>
          </a:ln>
        </p:spPr>
      </p:sp>
      <p:sp>
        <p:nvSpPr>
          <p:cNvPr id="16" name="Text 14"/>
          <p:cNvSpPr/>
          <p:nvPr/>
        </p:nvSpPr>
        <p:spPr>
          <a:xfrm>
            <a:off x="1060704" y="4389120"/>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Scale if</a:t>
            </a:r>
            <a:endParaRPr lang="en-US" sz="1500" dirty="0"/>
          </a:p>
        </p:txBody>
      </p:sp>
      <p:sp>
        <p:nvSpPr>
          <p:cNvPr id="17" name="Text 15"/>
          <p:cNvSpPr/>
          <p:nvPr/>
        </p:nvSpPr>
        <p:spPr>
          <a:xfrm>
            <a:off x="786384" y="4791456"/>
            <a:ext cx="3063240" cy="100584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90-day retention in pilot stores beats matched controls by 2 points or more, on the pre-registered north star.</a:t>
            </a:r>
            <a:endParaRPr lang="en-US" sz="1150" dirty="0"/>
          </a:p>
        </p:txBody>
      </p:sp>
      <p:sp>
        <p:nvSpPr>
          <p:cNvPr id="18" name="Shape 16"/>
          <p:cNvSpPr/>
          <p:nvPr/>
        </p:nvSpPr>
        <p:spPr>
          <a:xfrm>
            <a:off x="4343400" y="4224528"/>
            <a:ext cx="3502152" cy="1691640"/>
          </a:xfrm>
          <a:prstGeom prst="roundRect">
            <a:avLst>
              <a:gd name="adj" fmla="val 6486"/>
            </a:avLst>
          </a:prstGeom>
          <a:solidFill>
            <a:srgbClr val="1F3050"/>
          </a:solidFill>
          <a:ln w="12700">
            <a:solidFill>
              <a:srgbClr val="1F3050"/>
            </a:solidFill>
            <a:prstDash val="solid"/>
          </a:ln>
        </p:spPr>
      </p:sp>
      <p:sp>
        <p:nvSpPr>
          <p:cNvPr id="19" name="Shape 17"/>
          <p:cNvSpPr/>
          <p:nvPr/>
        </p:nvSpPr>
        <p:spPr>
          <a:xfrm>
            <a:off x="4562856" y="4443984"/>
            <a:ext cx="182880" cy="182880"/>
          </a:xfrm>
          <a:prstGeom prst="ellipse">
            <a:avLst/>
          </a:prstGeom>
          <a:solidFill>
            <a:srgbClr val="AE5348"/>
          </a:solidFill>
          <a:ln w="12700">
            <a:solidFill>
              <a:srgbClr val="AE5348"/>
            </a:solidFill>
            <a:prstDash val="solid"/>
          </a:ln>
        </p:spPr>
      </p:sp>
      <p:sp>
        <p:nvSpPr>
          <p:cNvPr id="20" name="Text 18"/>
          <p:cNvSpPr/>
          <p:nvPr/>
        </p:nvSpPr>
        <p:spPr>
          <a:xfrm>
            <a:off x="4837176" y="4389120"/>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Kill if</a:t>
            </a:r>
            <a:endParaRPr lang="en-US" sz="1500" dirty="0"/>
          </a:p>
        </p:txBody>
      </p:sp>
      <p:sp>
        <p:nvSpPr>
          <p:cNvPr id="21" name="Text 19"/>
          <p:cNvSpPr/>
          <p:nvPr/>
        </p:nvSpPr>
        <p:spPr>
          <a:xfrm>
            <a:off x="4562856" y="4791456"/>
            <a:ext cx="3063240" cy="100584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Lift comes in under 1 point, or associate sentiment drops in pilot stores. No renegotiation.</a:t>
            </a:r>
            <a:endParaRPr lang="en-US" sz="1150" dirty="0"/>
          </a:p>
        </p:txBody>
      </p:sp>
      <p:sp>
        <p:nvSpPr>
          <p:cNvPr id="22" name="Shape 20"/>
          <p:cNvSpPr/>
          <p:nvPr/>
        </p:nvSpPr>
        <p:spPr>
          <a:xfrm>
            <a:off x="8119872" y="4224528"/>
            <a:ext cx="3502152" cy="1691640"/>
          </a:xfrm>
          <a:prstGeom prst="roundRect">
            <a:avLst>
              <a:gd name="adj" fmla="val 6486"/>
            </a:avLst>
          </a:prstGeom>
          <a:solidFill>
            <a:srgbClr val="1F3050"/>
          </a:solidFill>
          <a:ln w="12700">
            <a:solidFill>
              <a:srgbClr val="1F3050"/>
            </a:solidFill>
            <a:prstDash val="solid"/>
          </a:ln>
        </p:spPr>
      </p:sp>
      <p:sp>
        <p:nvSpPr>
          <p:cNvPr id="23" name="Shape 21"/>
          <p:cNvSpPr/>
          <p:nvPr/>
        </p:nvSpPr>
        <p:spPr>
          <a:xfrm>
            <a:off x="8339328" y="4443984"/>
            <a:ext cx="182880" cy="182880"/>
          </a:xfrm>
          <a:prstGeom prst="ellipse">
            <a:avLst/>
          </a:prstGeom>
          <a:solidFill>
            <a:srgbClr val="D9922B"/>
          </a:solidFill>
          <a:ln w="12700">
            <a:solidFill>
              <a:srgbClr val="D9922B"/>
            </a:solidFill>
            <a:prstDash val="solid"/>
          </a:ln>
        </p:spPr>
      </p:sp>
      <p:sp>
        <p:nvSpPr>
          <p:cNvPr id="24" name="Text 22"/>
          <p:cNvSpPr/>
          <p:nvPr/>
        </p:nvSpPr>
        <p:spPr>
          <a:xfrm>
            <a:off x="8613648" y="4389120"/>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Fallback if declined</a:t>
            </a:r>
            <a:endParaRPr lang="en-US" sz="1500" dirty="0"/>
          </a:p>
        </p:txBody>
      </p:sp>
      <p:sp>
        <p:nvSpPr>
          <p:cNvPr id="25" name="Text 23"/>
          <p:cNvSpPr/>
          <p:nvPr/>
        </p:nvSpPr>
        <p:spPr>
          <a:xfrm>
            <a:off x="8339328" y="4791456"/>
            <a:ext cx="3063240" cy="100584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Telemetry and survey baseline only, at roughly a tenth the cost. Weaker evidence. Revisit in Q3.</a:t>
            </a:r>
            <a:endParaRPr lang="en-US" sz="1150" dirty="0"/>
          </a:p>
        </p:txBody>
      </p:sp>
      <p:sp>
        <p:nvSpPr>
          <p:cNvPr id="26" name="Text 24"/>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Bracketed values need finance and staffing input before this deck is presented.</a:t>
            </a:r>
            <a:endParaRPr lang="en-US" sz="1050" dirty="0"/>
          </a:p>
        </p:txBody>
      </p:sp>
      <p:sp>
        <p:nvSpPr>
          <p:cNvPr id="27" name="Text 2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33B"/>
        </a:solidFill>
      </p:bgPr>
    </p:bg>
    <p:spTree>
      <p:nvGrpSpPr>
        <p:cNvPr id="1" name=""/>
        <p:cNvGrpSpPr/>
        <p:nvPr/>
      </p:nvGrpSpPr>
      <p:grpSpPr>
        <a:xfrm>
          <a:off x="0" y="0"/>
          <a:ext cx="0" cy="0"/>
          <a:chOff x="0" y="0"/>
          <a:chExt cx="0" cy="0"/>
        </a:xfrm>
      </p:grpSpPr>
      <p:sp>
        <p:nvSpPr>
          <p:cNvPr id="2" name="Text 0"/>
          <p:cNvSpPr/>
          <p:nvPr/>
        </p:nvSpPr>
        <p:spPr>
          <a:xfrm>
            <a:off x="566928" y="2377440"/>
            <a:ext cx="11055096"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Appendix</a:t>
            </a:r>
            <a:endParaRPr lang="en-US" sz="4200" dirty="0"/>
          </a:p>
        </p:txBody>
      </p:sp>
      <p:sp>
        <p:nvSpPr>
          <p:cNvPr id="3" name="Text 1"/>
          <p:cNvSpPr/>
          <p:nvPr/>
        </p:nvSpPr>
        <p:spPr>
          <a:xfrm>
            <a:off x="566928" y="3383280"/>
            <a:ext cx="8129016" cy="1097280"/>
          </a:xfrm>
          <a:prstGeom prst="rect">
            <a:avLst/>
          </a:prstGeom>
          <a:noFill/>
          <a:ln/>
        </p:spPr>
        <p:txBody>
          <a:bodyPr wrap="square" lIns="0" tIns="0" rIns="0" bIns="0" rtlCol="0" anchor="t"/>
          <a:lstStyle/>
          <a:p>
            <a:pPr indent="0" marL="0">
              <a:lnSpc>
                <a:spcPts val="2100"/>
              </a:lnSpc>
              <a:buNone/>
            </a:pPr>
            <a:r>
              <a:rPr lang="en-US" sz="1500" dirty="0">
                <a:solidFill>
                  <a:srgbClr val="C9D4E6"/>
                </a:solidFill>
                <a:latin typeface="Calibri" pitchFamily="34" charset="0"/>
                <a:ea typeface="Calibri" pitchFamily="34" charset="-122"/>
                <a:cs typeface="Calibri" pitchFamily="34" charset="-120"/>
              </a:rPr>
              <a:t>Nineteen slides, indexed by the seat that asks. ROI models and measurement design for finance. Architecture, integration, and bandit mechanics for engineering and data science. Reward ladder, compliance, and guardrails for HR and legal.</a:t>
            </a:r>
            <a:endParaRPr lang="en-US" sz="1500" dirty="0"/>
          </a:p>
        </p:txBody>
      </p:sp>
      <p:sp>
        <p:nvSpPr>
          <p:cNvPr id="4" name="Text 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A ROI rests on two inputs, and both are testable in the pilot.</a:t>
            </a:r>
            <a:endParaRPr lang="en-US" sz="2600" dirty="0"/>
          </a:p>
        </p:txBody>
      </p:sp>
      <p:sp>
        <p:nvSpPr>
          <p:cNvPr id="5" name="Shape 3"/>
          <p:cNvSpPr/>
          <p:nvPr/>
        </p:nvSpPr>
        <p:spPr>
          <a:xfrm>
            <a:off x="566928" y="1783080"/>
            <a:ext cx="3502152" cy="1371600"/>
          </a:xfrm>
          <a:prstGeom prst="roundRect">
            <a:avLst>
              <a:gd name="adj" fmla="val 8000"/>
            </a:avLst>
          </a:prstGeom>
          <a:solidFill>
            <a:srgbClr val="F1F5FA"/>
          </a:solidFill>
          <a:ln w="12700">
            <a:solidFill>
              <a:srgbClr val="F1F5FA"/>
            </a:solidFill>
            <a:prstDash val="solid"/>
          </a:ln>
        </p:spPr>
      </p:sp>
      <p:sp>
        <p:nvSpPr>
          <p:cNvPr id="6" name="Text 4"/>
          <p:cNvSpPr/>
          <p:nvPr/>
        </p:nvSpPr>
        <p:spPr>
          <a:xfrm>
            <a:off x="731520" y="1965960"/>
            <a:ext cx="3172968" cy="685800"/>
          </a:xfrm>
          <a:prstGeom prst="rect">
            <a:avLst/>
          </a:prstGeom>
          <a:noFill/>
          <a:ln/>
        </p:spPr>
        <p:txBody>
          <a:bodyPr wrap="square" lIns="0" tIns="0" rIns="0" bIns="0" rtlCol="0" anchor="ctr"/>
          <a:lstStyle/>
          <a:p>
            <a:pPr algn="ctr" indent="0" marL="0">
              <a:buNone/>
            </a:pPr>
            <a:r>
              <a:rPr lang="en-US" sz="3000" b="1" dirty="0">
                <a:solidFill>
                  <a:srgbClr val="1B2338"/>
                </a:solidFill>
                <a:latin typeface="Cambria" pitchFamily="34" charset="0"/>
                <a:ea typeface="Cambria" pitchFamily="34" charset="-122"/>
                <a:cs typeface="Cambria" pitchFamily="34" charset="-120"/>
              </a:rPr>
              <a:t>~500K</a:t>
            </a:r>
            <a:endParaRPr lang="en-US" sz="3000" dirty="0"/>
          </a:p>
        </p:txBody>
      </p:sp>
      <p:sp>
        <p:nvSpPr>
          <p:cNvPr id="7" name="Text 5"/>
          <p:cNvSpPr/>
          <p:nvPr/>
        </p:nvSpPr>
        <p:spPr>
          <a:xfrm>
            <a:off x="731520"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new store hires a year</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(illustrative)</a:t>
            </a:r>
            <a:endParaRPr lang="en-US" sz="1150" dirty="0"/>
          </a:p>
        </p:txBody>
      </p:sp>
      <p:sp>
        <p:nvSpPr>
          <p:cNvPr id="8" name="Text 6"/>
          <p:cNvSpPr/>
          <p:nvPr/>
        </p:nvSpPr>
        <p:spPr>
          <a:xfrm>
            <a:off x="4087368" y="2194560"/>
            <a:ext cx="237744" cy="548640"/>
          </a:xfrm>
          <a:prstGeom prst="rect">
            <a:avLst/>
          </a:prstGeom>
          <a:noFill/>
          <a:ln/>
        </p:spPr>
        <p:txBody>
          <a:bodyPr wrap="square" lIns="0" tIns="0" rIns="0" bIns="0" rtlCol="0" anchor="ctr"/>
          <a:lstStyle/>
          <a:p>
            <a:pPr algn="ctr" indent="0" marL="0">
              <a:buNone/>
            </a:pPr>
            <a:r>
              <a:rPr lang="en-US" sz="2200" b="1" dirty="0">
                <a:solidFill>
                  <a:srgbClr val="D9922B"/>
                </a:solidFill>
                <a:latin typeface="Cambria" pitchFamily="34" charset="0"/>
                <a:ea typeface="Cambria" pitchFamily="34" charset="-122"/>
                <a:cs typeface="Cambria" pitchFamily="34" charset="-120"/>
              </a:rPr>
              <a:t>›</a:t>
            </a:r>
            <a:endParaRPr lang="en-US" sz="2200" dirty="0"/>
          </a:p>
        </p:txBody>
      </p:sp>
      <p:sp>
        <p:nvSpPr>
          <p:cNvPr id="9" name="Shape 7"/>
          <p:cNvSpPr/>
          <p:nvPr/>
        </p:nvSpPr>
        <p:spPr>
          <a:xfrm>
            <a:off x="4343400" y="1783080"/>
            <a:ext cx="3502152" cy="1371600"/>
          </a:xfrm>
          <a:prstGeom prst="roundRect">
            <a:avLst>
              <a:gd name="adj" fmla="val 8000"/>
            </a:avLst>
          </a:prstGeom>
          <a:solidFill>
            <a:srgbClr val="F1F5FA"/>
          </a:solidFill>
          <a:ln w="12700">
            <a:solidFill>
              <a:srgbClr val="F1F5FA"/>
            </a:solidFill>
            <a:prstDash val="solid"/>
          </a:ln>
        </p:spPr>
      </p:sp>
      <p:sp>
        <p:nvSpPr>
          <p:cNvPr id="10" name="Text 8"/>
          <p:cNvSpPr/>
          <p:nvPr/>
        </p:nvSpPr>
        <p:spPr>
          <a:xfrm>
            <a:off x="4507992" y="1965960"/>
            <a:ext cx="3172968" cy="685800"/>
          </a:xfrm>
          <a:prstGeom prst="rect">
            <a:avLst/>
          </a:prstGeom>
          <a:noFill/>
          <a:ln/>
        </p:spPr>
        <p:txBody>
          <a:bodyPr wrap="square" lIns="0" tIns="0" rIns="0" bIns="0" rtlCol="0" anchor="ctr"/>
          <a:lstStyle/>
          <a:p>
            <a:pPr algn="ctr" indent="0" marL="0">
              <a:buNone/>
            </a:pPr>
            <a:r>
              <a:rPr lang="en-US" sz="3000" b="1" dirty="0">
                <a:solidFill>
                  <a:srgbClr val="1B2338"/>
                </a:solidFill>
                <a:latin typeface="Cambria" pitchFamily="34" charset="0"/>
                <a:ea typeface="Cambria" pitchFamily="34" charset="-122"/>
                <a:cs typeface="Cambria" pitchFamily="34" charset="-120"/>
              </a:rPr>
              <a:t>+1 point</a:t>
            </a:r>
            <a:endParaRPr lang="en-US" sz="3000" dirty="0"/>
          </a:p>
        </p:txBody>
      </p:sp>
      <p:sp>
        <p:nvSpPr>
          <p:cNvPr id="11" name="Text 9"/>
          <p:cNvSpPr/>
          <p:nvPr/>
        </p:nvSpPr>
        <p:spPr>
          <a:xfrm>
            <a:off x="4507992"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of 90-day retention is about</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5,000 fewer replacements</a:t>
            </a:r>
            <a:endParaRPr lang="en-US" sz="1150" dirty="0"/>
          </a:p>
        </p:txBody>
      </p:sp>
      <p:sp>
        <p:nvSpPr>
          <p:cNvPr id="12" name="Text 10"/>
          <p:cNvSpPr/>
          <p:nvPr/>
        </p:nvSpPr>
        <p:spPr>
          <a:xfrm>
            <a:off x="7863840" y="2194560"/>
            <a:ext cx="237744" cy="548640"/>
          </a:xfrm>
          <a:prstGeom prst="rect">
            <a:avLst/>
          </a:prstGeom>
          <a:noFill/>
          <a:ln/>
        </p:spPr>
        <p:txBody>
          <a:bodyPr wrap="square" lIns="0" tIns="0" rIns="0" bIns="0" rtlCol="0" anchor="ctr"/>
          <a:lstStyle/>
          <a:p>
            <a:pPr algn="ctr" indent="0" marL="0">
              <a:buNone/>
            </a:pPr>
            <a:r>
              <a:rPr lang="en-US" sz="2200" b="1" dirty="0">
                <a:solidFill>
                  <a:srgbClr val="D9922B"/>
                </a:solidFill>
                <a:latin typeface="Cambria" pitchFamily="34" charset="0"/>
                <a:ea typeface="Cambria" pitchFamily="34" charset="-122"/>
                <a:cs typeface="Cambria" pitchFamily="34" charset="-120"/>
              </a:rPr>
              <a:t>›</a:t>
            </a:r>
            <a:endParaRPr lang="en-US" sz="2200" dirty="0"/>
          </a:p>
        </p:txBody>
      </p:sp>
      <p:sp>
        <p:nvSpPr>
          <p:cNvPr id="13" name="Shape 11"/>
          <p:cNvSpPr/>
          <p:nvPr/>
        </p:nvSpPr>
        <p:spPr>
          <a:xfrm>
            <a:off x="8119872" y="1783080"/>
            <a:ext cx="3502152" cy="1371600"/>
          </a:xfrm>
          <a:prstGeom prst="roundRect">
            <a:avLst>
              <a:gd name="adj" fmla="val 8000"/>
            </a:avLst>
          </a:prstGeom>
          <a:solidFill>
            <a:srgbClr val="F1F5FA"/>
          </a:solidFill>
          <a:ln w="12700">
            <a:solidFill>
              <a:srgbClr val="F1F5FA"/>
            </a:solidFill>
            <a:prstDash val="solid"/>
          </a:ln>
        </p:spPr>
      </p:sp>
      <p:sp>
        <p:nvSpPr>
          <p:cNvPr id="14" name="Text 12"/>
          <p:cNvSpPr/>
          <p:nvPr/>
        </p:nvSpPr>
        <p:spPr>
          <a:xfrm>
            <a:off x="8284464" y="1965960"/>
            <a:ext cx="3172968" cy="685800"/>
          </a:xfrm>
          <a:prstGeom prst="rect">
            <a:avLst/>
          </a:prstGeom>
          <a:noFill/>
          <a:ln/>
        </p:spPr>
        <p:txBody>
          <a:bodyPr wrap="square" lIns="0" tIns="0" rIns="0" bIns="0" rtlCol="0" anchor="ctr"/>
          <a:lstStyle/>
          <a:p>
            <a:pPr algn="ctr" indent="0" marL="0">
              <a:buNone/>
            </a:pPr>
            <a:r>
              <a:rPr lang="en-US" sz="3000" b="1" dirty="0">
                <a:solidFill>
                  <a:srgbClr val="8A5A11"/>
                </a:solidFill>
                <a:latin typeface="Cambria" pitchFamily="34" charset="0"/>
                <a:ea typeface="Cambria" pitchFamily="34" charset="-122"/>
                <a:cs typeface="Cambria" pitchFamily="34" charset="-120"/>
              </a:rPr>
              <a:t>~$15M</a:t>
            </a:r>
            <a:endParaRPr lang="en-US" sz="3000" dirty="0"/>
          </a:p>
        </p:txBody>
      </p:sp>
      <p:sp>
        <p:nvSpPr>
          <p:cNvPr id="15" name="Text 13"/>
          <p:cNvSpPr/>
          <p:nvPr/>
        </p:nvSpPr>
        <p:spPr>
          <a:xfrm>
            <a:off x="8284464"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a year per point, at about</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$3,000 to replace each hire</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3401568"/>
          <a:ext cx="11055096" cy="914400"/>
        </p:xfrm>
        <a:graphic>
          <a:graphicData uri="http://schemas.openxmlformats.org/drawingml/2006/table">
            <a:tbl>
              <a:tblPr/>
              <a:tblGrid>
                <a:gridCol w="2377440"/>
                <a:gridCol w="2889504"/>
                <a:gridCol w="2898648"/>
                <a:gridCol w="2898648"/>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Sensitivity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$2,000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$3,000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$4,000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400K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$8M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$12M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$16M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500K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$10M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$15M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$20M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600K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$12M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$18M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$24M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17" name="Shape 14"/>
          <p:cNvSpPr/>
          <p:nvPr/>
        </p:nvSpPr>
        <p:spPr>
          <a:xfrm>
            <a:off x="566928" y="5120640"/>
            <a:ext cx="11055096" cy="914400"/>
          </a:xfrm>
          <a:prstGeom prst="roundRect">
            <a:avLst>
              <a:gd name="adj" fmla="val 12000"/>
            </a:avLst>
          </a:prstGeom>
          <a:solidFill>
            <a:srgbClr val="F1F5FA"/>
          </a:solidFill>
          <a:ln w="12700">
            <a:solidFill>
              <a:srgbClr val="F1F5FA"/>
            </a:solidFill>
            <a:prstDash val="solid"/>
          </a:ln>
        </p:spPr>
      </p:sp>
      <p:sp>
        <p:nvSpPr>
          <p:cNvPr id="18" name="Text 15"/>
          <p:cNvSpPr/>
          <p:nvPr/>
        </p:nvSpPr>
        <p:spPr>
          <a:xfrm>
            <a:off x="786384" y="5175504"/>
            <a:ext cx="10616184" cy="8229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a pilot lift under 1 point, or a true replacement cost below about $1,500. Measurement is matched pilot versus control stores, 20 each, with the north star pre-registered before the pilot opens and a scale or kill call at day 90.</a:t>
            </a:r>
            <a:endParaRPr lang="en-US" sz="1200" dirty="0"/>
          </a:p>
        </p:txBody>
      </p:sp>
      <p:sp>
        <p:nvSpPr>
          <p:cNvPr id="19" name="Text 16"/>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Order-of-magnitude model with stated assumptions, built to be interrogated in the room and then replaced by measured pilot data.</a:t>
            </a:r>
            <a:endParaRPr lang="en-US" sz="1050" dirty="0"/>
          </a:p>
        </p:txBody>
      </p:sp>
      <p:sp>
        <p:nvSpPr>
          <p:cNvPr id="20" name="Text 17"/>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A2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B ROI is a labor-minutes model, and the top clusters waste far more than a minute.</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About 1M store associates x 1 minute per shift x about $0.30 a minute loaded labor is roughly $300K a day, or $100M a year.</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Deflection is the second lever: fewer mid-task interruptions per team lead per shift, which the current dead-end pattern generates all day.</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Shift planning already fell from 90 minutes to 30 with agent help. That is the proof the mechanism works here.</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Measurement is task-level instrumentation: answer-to-action conversion, deflection rate, and time-to-resolution against a pre-pilot baseline.</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if the top clusters turn out to be genuinely low-frequency, or if action feasibility is blocked by systems of record we cannot write to.</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The sprint ranks every intent cluster by frequency x time-cost x feasibility before a single agent is built.</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A3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C pays back through targeting yield and through what it makes cheap later.</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Bandit targeting concentrates incentive spend on the arms that work per cohort, which is where the roughly 2x yield on the same dollar comes from. Holdout-proven, not asserted.</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Platform effect: a new intervention becomes config rather than code, so what took weeks takes days.</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It compounds A and B rather than competing with them. Their features become arms the engine keeps optimizing.</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Measurement is permanent long-horizon holdouts, incentive ROI per arm, and predicted versus actual lift with equity audits attached.</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if attrition drivers turn out to be uniform across cohorts, targeting has nothing to find and the platform spend is not justified yet.</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This is the slowest bet to a visible win, which is exactly why it is sequenced second rather than first.</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A4  ·  FOR FINANCE AND THE GM</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Measurement is designed before the build, so the day-90 call is arithmetic and not debate.</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Matched pairs: 20 pilot stores and 20 control stores matched on volume, region, tenure mix, and recent turnover.</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 north star is pre-registered before the pilot opens. No metric shopping after the read.</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C keeps permanent long-horizon holdout groups, so leading indicators stay honest against 90-day retention.</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plan ends in a scale or kill decision priced in CFO terms: cost per replaced associate against measured pilot lift.</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Scale at 2 points or better. Kill under 1 point, or on any sentiment drop in pilot stores.</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Pre-registration is what separates a pilot from a demo.</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A5  ·  FOR THE GM AND HIRING PRINCIPAL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Two weeks, four workstreams, and one question each has to answer.</a:t>
            </a:r>
            <a:endParaRPr lang="en-US" sz="2600" dirty="0"/>
          </a:p>
        </p:txBody>
      </p:sp>
      <p:sp>
        <p:nvSpPr>
          <p:cNvPr id="5" name="Shape 3"/>
          <p:cNvSpPr/>
          <p:nvPr/>
        </p:nvSpPr>
        <p:spPr>
          <a:xfrm>
            <a:off x="566928" y="1810512"/>
            <a:ext cx="2592324" cy="3566160"/>
          </a:xfrm>
          <a:prstGeom prst="roundRect">
            <a:avLst>
              <a:gd name="adj" fmla="val 4233"/>
            </a:avLst>
          </a:prstGeom>
          <a:solidFill>
            <a:srgbClr val="F1F5FA"/>
          </a:solidFill>
          <a:ln w="12700">
            <a:solidFill>
              <a:srgbClr val="F1F5FA"/>
            </a:solidFill>
            <a:prstDash val="solid"/>
          </a:ln>
        </p:spPr>
      </p:sp>
      <p:sp>
        <p:nvSpPr>
          <p:cNvPr id="6" name="Shape 4"/>
          <p:cNvSpPr/>
          <p:nvPr/>
        </p:nvSpPr>
        <p:spPr>
          <a:xfrm>
            <a:off x="749808" y="1993392"/>
            <a:ext cx="384048" cy="384048"/>
          </a:xfrm>
          <a:prstGeom prst="ellipse">
            <a:avLst/>
          </a:prstGeom>
          <a:solidFill>
            <a:srgbClr val="16233B"/>
          </a:solidFill>
          <a:ln w="12700">
            <a:solidFill>
              <a:srgbClr val="16233B"/>
            </a:solidFill>
            <a:prstDash val="solid"/>
          </a:ln>
        </p:spPr>
      </p:sp>
      <p:sp>
        <p:nvSpPr>
          <p:cNvPr id="7" name="Text 5"/>
          <p:cNvSpPr/>
          <p:nvPr/>
        </p:nvSpPr>
        <p:spPr>
          <a:xfrm>
            <a:off x="749808"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749808"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 to 5</a:t>
            </a:r>
            <a:endParaRPr lang="en-US" sz="1000" dirty="0"/>
          </a:p>
        </p:txBody>
      </p:sp>
      <p:sp>
        <p:nvSpPr>
          <p:cNvPr id="9" name="Text 7"/>
          <p:cNvSpPr/>
          <p:nvPr/>
        </p:nvSpPr>
        <p:spPr>
          <a:xfrm>
            <a:off x="749808"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Telemetry deep-dive</a:t>
            </a:r>
            <a:endParaRPr lang="en-US" sz="1450" dirty="0"/>
          </a:p>
        </p:txBody>
      </p:sp>
      <p:sp>
        <p:nvSpPr>
          <p:cNvPr id="10" name="Text 8"/>
          <p:cNvSpPr/>
          <p:nvPr/>
        </p:nvSpPr>
        <p:spPr>
          <a:xfrm>
            <a:off x="749808"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The 3M daily Sidekick questions clustered by intent. Feature engagement by role, tenure, shift, and region. Drop-off funnels.</a:t>
            </a:r>
            <a:endParaRPr lang="en-US" sz="1100" dirty="0"/>
          </a:p>
        </p:txBody>
      </p:sp>
      <p:sp>
        <p:nvSpPr>
          <p:cNvPr id="11" name="Shape 9"/>
          <p:cNvSpPr/>
          <p:nvPr/>
        </p:nvSpPr>
        <p:spPr>
          <a:xfrm>
            <a:off x="749808" y="4572000"/>
            <a:ext cx="2226564" cy="658368"/>
          </a:xfrm>
          <a:prstGeom prst="roundRect">
            <a:avLst>
              <a:gd name="adj" fmla="val 11111"/>
            </a:avLst>
          </a:prstGeom>
          <a:solidFill>
            <a:srgbClr val="FAECD4"/>
          </a:solidFill>
          <a:ln w="12700">
            <a:solidFill>
              <a:srgbClr val="FAECD4"/>
            </a:solidFill>
            <a:prstDash val="solid"/>
          </a:ln>
        </p:spPr>
      </p:sp>
      <p:sp>
        <p:nvSpPr>
          <p:cNvPr id="12" name="Text 10"/>
          <p:cNvSpPr/>
          <p:nvPr/>
        </p:nvSpPr>
        <p:spPr>
          <a:xfrm>
            <a:off x="859536"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Where do answers dead-end into manual work?</a:t>
            </a:r>
            <a:endParaRPr lang="en-US" sz="1000" dirty="0"/>
          </a:p>
        </p:txBody>
      </p:sp>
      <p:sp>
        <p:nvSpPr>
          <p:cNvPr id="13" name="Shape 11"/>
          <p:cNvSpPr/>
          <p:nvPr/>
        </p:nvSpPr>
        <p:spPr>
          <a:xfrm>
            <a:off x="3387852" y="1810512"/>
            <a:ext cx="2592324" cy="3566160"/>
          </a:xfrm>
          <a:prstGeom prst="roundRect">
            <a:avLst>
              <a:gd name="adj" fmla="val 4233"/>
            </a:avLst>
          </a:prstGeom>
          <a:solidFill>
            <a:srgbClr val="F1F5FA"/>
          </a:solidFill>
          <a:ln w="12700">
            <a:solidFill>
              <a:srgbClr val="F1F5FA"/>
            </a:solidFill>
            <a:prstDash val="solid"/>
          </a:ln>
        </p:spPr>
      </p:sp>
      <p:sp>
        <p:nvSpPr>
          <p:cNvPr id="14" name="Shape 12"/>
          <p:cNvSpPr/>
          <p:nvPr/>
        </p:nvSpPr>
        <p:spPr>
          <a:xfrm>
            <a:off x="3570732" y="1993392"/>
            <a:ext cx="384048" cy="384048"/>
          </a:xfrm>
          <a:prstGeom prst="ellipse">
            <a:avLst/>
          </a:prstGeom>
          <a:solidFill>
            <a:srgbClr val="16233B"/>
          </a:solidFill>
          <a:ln w="12700">
            <a:solidFill>
              <a:srgbClr val="16233B"/>
            </a:solidFill>
            <a:prstDash val="solid"/>
          </a:ln>
        </p:spPr>
      </p:sp>
      <p:sp>
        <p:nvSpPr>
          <p:cNvPr id="15" name="Text 13"/>
          <p:cNvSpPr/>
          <p:nvPr/>
        </p:nvSpPr>
        <p:spPr>
          <a:xfrm>
            <a:off x="357073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6" name="Text 14"/>
          <p:cNvSpPr/>
          <p:nvPr/>
        </p:nvSpPr>
        <p:spPr>
          <a:xfrm>
            <a:off x="3570732"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 to 5, parallel</a:t>
            </a:r>
            <a:endParaRPr lang="en-US" sz="1000" dirty="0"/>
          </a:p>
        </p:txBody>
      </p:sp>
      <p:sp>
        <p:nvSpPr>
          <p:cNvPr id="17" name="Text 15"/>
          <p:cNvSpPr/>
          <p:nvPr/>
        </p:nvSpPr>
        <p:spPr>
          <a:xfrm>
            <a:off x="3570732"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Voice-of-associate review</a:t>
            </a:r>
            <a:endParaRPr lang="en-US" sz="1450" dirty="0"/>
          </a:p>
        </p:txBody>
      </p:sp>
      <p:sp>
        <p:nvSpPr>
          <p:cNvPr id="18" name="Text 16"/>
          <p:cNvSpPr/>
          <p:nvPr/>
        </p:nvSpPr>
        <p:spPr>
          <a:xfrm>
            <a:off x="3570732"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In-app feedback, survey verbatims, app store reviews, thumbs-down transcripts, exit interview themes, coded against the telemetry clusters.</a:t>
            </a:r>
            <a:endParaRPr lang="en-US" sz="1100" dirty="0"/>
          </a:p>
        </p:txBody>
      </p:sp>
      <p:sp>
        <p:nvSpPr>
          <p:cNvPr id="19" name="Shape 17"/>
          <p:cNvSpPr/>
          <p:nvPr/>
        </p:nvSpPr>
        <p:spPr>
          <a:xfrm>
            <a:off x="3570732" y="4572000"/>
            <a:ext cx="2226564" cy="658368"/>
          </a:xfrm>
          <a:prstGeom prst="roundRect">
            <a:avLst>
              <a:gd name="adj" fmla="val 11111"/>
            </a:avLst>
          </a:prstGeom>
          <a:solidFill>
            <a:srgbClr val="FAECD4"/>
          </a:solidFill>
          <a:ln w="12700">
            <a:solidFill>
              <a:srgbClr val="FAECD4"/>
            </a:solidFill>
            <a:prstDash val="solid"/>
          </a:ln>
        </p:spPr>
      </p:sp>
      <p:sp>
        <p:nvSpPr>
          <p:cNvPr id="20" name="Text 18"/>
          <p:cNvSpPr/>
          <p:nvPr/>
        </p:nvSpPr>
        <p:spPr>
          <a:xfrm>
            <a:off x="3680460"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Where do associates say it hurts versus where the data shows it hurts?</a:t>
            </a:r>
            <a:endParaRPr lang="en-US" sz="1000" dirty="0"/>
          </a:p>
        </p:txBody>
      </p:sp>
      <p:sp>
        <p:nvSpPr>
          <p:cNvPr id="21" name="Shape 19"/>
          <p:cNvSpPr/>
          <p:nvPr/>
        </p:nvSpPr>
        <p:spPr>
          <a:xfrm>
            <a:off x="6208776" y="1810512"/>
            <a:ext cx="2592324" cy="3566160"/>
          </a:xfrm>
          <a:prstGeom prst="roundRect">
            <a:avLst>
              <a:gd name="adj" fmla="val 4233"/>
            </a:avLst>
          </a:prstGeom>
          <a:solidFill>
            <a:srgbClr val="F1F5FA"/>
          </a:solidFill>
          <a:ln w="12700">
            <a:solidFill>
              <a:srgbClr val="F1F5FA"/>
            </a:solidFill>
            <a:prstDash val="solid"/>
          </a:ln>
        </p:spPr>
      </p:sp>
      <p:sp>
        <p:nvSpPr>
          <p:cNvPr id="22" name="Shape 20"/>
          <p:cNvSpPr/>
          <p:nvPr/>
        </p:nvSpPr>
        <p:spPr>
          <a:xfrm>
            <a:off x="6391656" y="1993392"/>
            <a:ext cx="384048" cy="384048"/>
          </a:xfrm>
          <a:prstGeom prst="ellipse">
            <a:avLst/>
          </a:prstGeom>
          <a:solidFill>
            <a:srgbClr val="16233B"/>
          </a:solidFill>
          <a:ln w="12700">
            <a:solidFill>
              <a:srgbClr val="16233B"/>
            </a:solidFill>
            <a:prstDash val="solid"/>
          </a:ln>
        </p:spPr>
      </p:sp>
      <p:sp>
        <p:nvSpPr>
          <p:cNvPr id="23" name="Text 21"/>
          <p:cNvSpPr/>
          <p:nvPr/>
        </p:nvSpPr>
        <p:spPr>
          <a:xfrm>
            <a:off x="6391656"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4" name="Text 22"/>
          <p:cNvSpPr/>
          <p:nvPr/>
        </p:nvSpPr>
        <p:spPr>
          <a:xfrm>
            <a:off x="6391656"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6 to 12</a:t>
            </a:r>
            <a:endParaRPr lang="en-US" sz="1000" dirty="0"/>
          </a:p>
        </p:txBody>
      </p:sp>
      <p:sp>
        <p:nvSpPr>
          <p:cNvPr id="25" name="Text 23"/>
          <p:cNvSpPr/>
          <p:nvPr/>
        </p:nvSpPr>
        <p:spPr>
          <a:xfrm>
            <a:off x="6391656"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Work as a store associate</a:t>
            </a:r>
            <a:endParaRPr lang="en-US" sz="1450" dirty="0"/>
          </a:p>
        </p:txBody>
      </p:sp>
      <p:sp>
        <p:nvSpPr>
          <p:cNvPr id="26" name="Text 24"/>
          <p:cNvSpPr/>
          <p:nvPr/>
        </p:nvSpPr>
        <p:spPr>
          <a:xfrm>
            <a:off x="6391656"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Badge in. Overnight stocking and front-end shifts with real task assignments, on the same shared handhelds. Not a store tour.</a:t>
            </a:r>
            <a:endParaRPr lang="en-US" sz="1100" dirty="0"/>
          </a:p>
        </p:txBody>
      </p:sp>
      <p:sp>
        <p:nvSpPr>
          <p:cNvPr id="27" name="Shape 25"/>
          <p:cNvSpPr/>
          <p:nvPr/>
        </p:nvSpPr>
        <p:spPr>
          <a:xfrm>
            <a:off x="6391656" y="4572000"/>
            <a:ext cx="2226564" cy="658368"/>
          </a:xfrm>
          <a:prstGeom prst="roundRect">
            <a:avLst>
              <a:gd name="adj" fmla="val 11111"/>
            </a:avLst>
          </a:prstGeom>
          <a:solidFill>
            <a:srgbClr val="FAECD4"/>
          </a:solidFill>
          <a:ln w="12700">
            <a:solidFill>
              <a:srgbClr val="FAECD4"/>
            </a:solidFill>
            <a:prstDash val="solid"/>
          </a:ln>
        </p:spPr>
      </p:sp>
      <p:sp>
        <p:nvSpPr>
          <p:cNvPr id="28" name="Text 26"/>
          <p:cNvSpPr/>
          <p:nvPr/>
        </p:nvSpPr>
        <p:spPr>
          <a:xfrm>
            <a:off x="6501384"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What does the first shift feel like, and when is the app absent?</a:t>
            </a:r>
            <a:endParaRPr lang="en-US" sz="1000" dirty="0"/>
          </a:p>
        </p:txBody>
      </p:sp>
      <p:sp>
        <p:nvSpPr>
          <p:cNvPr id="29" name="Shape 27"/>
          <p:cNvSpPr/>
          <p:nvPr/>
        </p:nvSpPr>
        <p:spPr>
          <a:xfrm>
            <a:off x="9029700" y="1810512"/>
            <a:ext cx="2592324" cy="3566160"/>
          </a:xfrm>
          <a:prstGeom prst="roundRect">
            <a:avLst>
              <a:gd name="adj" fmla="val 4233"/>
            </a:avLst>
          </a:prstGeom>
          <a:solidFill>
            <a:srgbClr val="F1F5FA"/>
          </a:solidFill>
          <a:ln w="12700">
            <a:solidFill>
              <a:srgbClr val="F1F5FA"/>
            </a:solidFill>
            <a:prstDash val="solid"/>
          </a:ln>
        </p:spPr>
      </p:sp>
      <p:sp>
        <p:nvSpPr>
          <p:cNvPr id="30" name="Shape 28"/>
          <p:cNvSpPr/>
          <p:nvPr/>
        </p:nvSpPr>
        <p:spPr>
          <a:xfrm>
            <a:off x="9212580" y="1993392"/>
            <a:ext cx="384048" cy="384048"/>
          </a:xfrm>
          <a:prstGeom prst="ellipse">
            <a:avLst/>
          </a:prstGeom>
          <a:solidFill>
            <a:srgbClr val="16233B"/>
          </a:solidFill>
          <a:ln w="12700">
            <a:solidFill>
              <a:srgbClr val="16233B"/>
            </a:solidFill>
            <a:prstDash val="solid"/>
          </a:ln>
        </p:spPr>
      </p:sp>
      <p:sp>
        <p:nvSpPr>
          <p:cNvPr id="31" name="Text 29"/>
          <p:cNvSpPr/>
          <p:nvPr/>
        </p:nvSpPr>
        <p:spPr>
          <a:xfrm>
            <a:off x="9212580"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32" name="Text 30"/>
          <p:cNvSpPr/>
          <p:nvPr/>
        </p:nvSpPr>
        <p:spPr>
          <a:xfrm>
            <a:off x="9212580"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13 to 14</a:t>
            </a:r>
            <a:endParaRPr lang="en-US" sz="1000" dirty="0"/>
          </a:p>
        </p:txBody>
      </p:sp>
      <p:sp>
        <p:nvSpPr>
          <p:cNvPr id="33" name="Text 31"/>
          <p:cNvSpPr/>
          <p:nvPr/>
        </p:nvSpPr>
        <p:spPr>
          <a:xfrm>
            <a:off x="9212580"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Refresh the journey maps</a:t>
            </a:r>
            <a:endParaRPr lang="en-US" sz="1450" dirty="0"/>
          </a:p>
        </p:txBody>
      </p:sp>
      <p:sp>
        <p:nvSpPr>
          <p:cNvPr id="34" name="Text 32"/>
          <p:cNvSpPr/>
          <p:nvPr/>
        </p:nvSpPr>
        <p:spPr>
          <a:xfrm>
            <a:off x="9212580"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Synthesize all three inputs into evidence-based maps per persona: new associate, tenured associate, team lead.</a:t>
            </a:r>
            <a:endParaRPr lang="en-US" sz="1100" dirty="0"/>
          </a:p>
        </p:txBody>
      </p:sp>
      <p:sp>
        <p:nvSpPr>
          <p:cNvPr id="35" name="Shape 33"/>
          <p:cNvSpPr/>
          <p:nvPr/>
        </p:nvSpPr>
        <p:spPr>
          <a:xfrm>
            <a:off x="9212580" y="4572000"/>
            <a:ext cx="2226564" cy="658368"/>
          </a:xfrm>
          <a:prstGeom prst="roundRect">
            <a:avLst>
              <a:gd name="adj" fmla="val 11111"/>
            </a:avLst>
          </a:prstGeom>
          <a:solidFill>
            <a:srgbClr val="FAECD4"/>
          </a:solidFill>
          <a:ln w="12700">
            <a:solidFill>
              <a:srgbClr val="FAECD4"/>
            </a:solidFill>
            <a:prstDash val="solid"/>
          </a:ln>
        </p:spPr>
      </p:sp>
      <p:sp>
        <p:nvSpPr>
          <p:cNvPr id="36" name="Text 34"/>
          <p:cNvSpPr/>
          <p:nvPr/>
        </p:nvSpPr>
        <p:spPr>
          <a:xfrm>
            <a:off x="9322308"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What role does the app actually play in whether a new associate stays?</a:t>
            </a:r>
            <a:endParaRPr lang="en-US" sz="1000" dirty="0"/>
          </a:p>
        </p:txBody>
      </p:sp>
      <p:sp>
        <p:nvSpPr>
          <p:cNvPr id="37" name="Text 3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Triangulation by design: telemetry shows what associates do, voice-of-associate shows what they say, floor shifts show what it feels like. A pain point in all three is real. In one, it is a hypothesis.</a:t>
            </a:r>
            <a:endParaRPr lang="en-US" sz="1050" dirty="0"/>
          </a:p>
        </p:txBody>
      </p:sp>
      <p:sp>
        <p:nvSpPr>
          <p:cNvPr id="38" name="Text 3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A6  ·  FOR ENGINEERING</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This ships as nano-agents inside the four-super-agent architecture that already exists.</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Sparky, Marty, Associate, and Developer are the existing super-agents. Plan A's Onboarding Companion is a nano-agent under the Associate super-agent, not a new stack.</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matches the stated surgical agent philosophy: small, purpose-built agents over one general assistant asked to do everything.</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B's action agents are nano-agents per intent cluster, starting with schedule conflicts, each owning one complete loop.</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C adds no new surface. It adds the rails underneath: a feature store, versioned scores, and config-driven intervention arms.</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Nothing here asks for a rewrite. Every plan lands as an increment on shipped infrastructure.</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Reference: four-super-agent architecture with nano-agents, per CTO Hari Vasudev's stated agent philosophy.</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A7  ·  FOR ENGINEERING LEADS</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Writing to systems of record sets the trust bar, so accuracy is tiered by what a mistake costs.</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Strictest grounding tier covers pay, benefits, and scheduling. These actions double-check against the system of record before commit.</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 human approves the write: the schedule-swap loop proposes eligible takers and the lead approves with one tap.</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One wrong scheduling action costs more trust than 100 right answers earn. Reliability is the feature, not a follow-up.</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Graceful handoff is specified, not implied: when the agent cannot act it says who, why, and what happens next.</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of Plan B are reliability hardening. The agent has to be boringly dependable before it can be broadly loved.</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Trust telemetry runs alongside: accuracy, correction rate, and escalation quality, all read per cluster.</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A8  ·  FOR DATA SCIENCE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Exploration scales with uncertainty, which is the whole trick.</a:t>
            </a:r>
            <a:endParaRPr lang="en-US" sz="2600" dirty="0"/>
          </a:p>
        </p:txBody>
      </p:sp>
      <p:sp>
        <p:nvSpPr>
          <p:cNvPr id="5" name="Shape 3"/>
          <p:cNvSpPr/>
          <p:nvPr/>
        </p:nvSpPr>
        <p:spPr>
          <a:xfrm>
            <a:off x="566928" y="1892808"/>
            <a:ext cx="100584" cy="100584"/>
          </a:xfrm>
          <a:prstGeom prst="diamond">
            <a:avLst/>
          </a:prstGeom>
          <a:solidFill>
            <a:srgbClr val="D9922B"/>
          </a:solidFill>
          <a:ln w="12700">
            <a:solidFill>
              <a:srgbClr val="D9922B"/>
            </a:solidFill>
            <a:prstDash val="solid"/>
          </a:ln>
        </p:spPr>
      </p:sp>
      <p:sp>
        <p:nvSpPr>
          <p:cNvPr id="6" name="Text 4"/>
          <p:cNvSpPr/>
          <p:nvPr/>
        </p:nvSpPr>
        <p:spPr>
          <a:xfrm>
            <a:off x="786384" y="1783080"/>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For each cohort-context and each intervention arm, the bandit keeps a probability distribution over how well that arm works there.</a:t>
            </a:r>
            <a:endParaRPr lang="en-US" sz="1300" dirty="0"/>
          </a:p>
        </p:txBody>
      </p:sp>
      <p:sp>
        <p:nvSpPr>
          <p:cNvPr id="7" name="Shape 5"/>
          <p:cNvSpPr/>
          <p:nvPr/>
        </p:nvSpPr>
        <p:spPr>
          <a:xfrm>
            <a:off x="566928" y="2520696"/>
            <a:ext cx="100584" cy="100584"/>
          </a:xfrm>
          <a:prstGeom prst="diamond">
            <a:avLst/>
          </a:prstGeom>
          <a:solidFill>
            <a:srgbClr val="D9922B"/>
          </a:solidFill>
          <a:ln w="12700">
            <a:solidFill>
              <a:srgbClr val="D9922B"/>
            </a:solidFill>
            <a:prstDash val="solid"/>
          </a:ln>
        </p:spPr>
      </p:sp>
      <p:sp>
        <p:nvSpPr>
          <p:cNvPr id="8" name="Text 6"/>
          <p:cNvSpPr/>
          <p:nvPr/>
        </p:nvSpPr>
        <p:spPr>
          <a:xfrm>
            <a:off x="786384" y="2410968"/>
            <a:ext cx="5815584" cy="717804"/>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To choose, it samples from every distribution and plays the winner. An arm it is unsure about occasionally wins the sample, so exploration happens on its own.</a:t>
            </a:r>
            <a:endParaRPr lang="en-US" sz="1300" dirty="0"/>
          </a:p>
        </p:txBody>
      </p:sp>
      <p:sp>
        <p:nvSpPr>
          <p:cNvPr id="9" name="Shape 7"/>
          <p:cNvSpPr/>
          <p:nvPr/>
        </p:nvSpPr>
        <p:spPr>
          <a:xfrm>
            <a:off x="566928" y="3366516"/>
            <a:ext cx="100584" cy="100584"/>
          </a:xfrm>
          <a:prstGeom prst="diamond">
            <a:avLst/>
          </a:prstGeom>
          <a:solidFill>
            <a:srgbClr val="D9922B"/>
          </a:solidFill>
          <a:ln w="12700">
            <a:solidFill>
              <a:srgbClr val="D9922B"/>
            </a:solidFill>
            <a:prstDash val="solid"/>
          </a:ln>
        </p:spPr>
      </p:sp>
      <p:sp>
        <p:nvSpPr>
          <p:cNvPr id="10" name="Text 8"/>
          <p:cNvSpPr/>
          <p:nvPr/>
        </p:nvSpPr>
        <p:spPr>
          <a:xfrm>
            <a:off x="786384" y="3256788"/>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Persistently weak arms get sampled less and less. Nobody has to prune them by hand.</a:t>
            </a:r>
            <a:endParaRPr lang="en-US" sz="1300" dirty="0"/>
          </a:p>
        </p:txBody>
      </p:sp>
      <p:sp>
        <p:nvSpPr>
          <p:cNvPr id="11" name="Shape 9"/>
          <p:cNvSpPr/>
          <p:nvPr/>
        </p:nvSpPr>
        <p:spPr>
          <a:xfrm>
            <a:off x="566928" y="3994404"/>
            <a:ext cx="100584" cy="100584"/>
          </a:xfrm>
          <a:prstGeom prst="diamond">
            <a:avLst/>
          </a:prstGeom>
          <a:solidFill>
            <a:srgbClr val="D9922B"/>
          </a:solidFill>
          <a:ln w="12700">
            <a:solidFill>
              <a:srgbClr val="D9922B"/>
            </a:solidFill>
            <a:prstDash val="solid"/>
          </a:ln>
        </p:spPr>
      </p:sp>
      <p:sp>
        <p:nvSpPr>
          <p:cNvPr id="12" name="Text 10"/>
          <p:cNvSpPr/>
          <p:nvPr/>
        </p:nvSpPr>
        <p:spPr>
          <a:xfrm>
            <a:off x="786384" y="3884676"/>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Classic A/B is too slow here: dozens of cohorts times multiple arms wastes exposure on losing arms for weeks.</a:t>
            </a:r>
            <a:endParaRPr lang="en-US" sz="1300" dirty="0"/>
          </a:p>
        </p:txBody>
      </p:sp>
      <p:sp>
        <p:nvSpPr>
          <p:cNvPr id="13" name="Shape 11"/>
          <p:cNvSpPr/>
          <p:nvPr/>
        </p:nvSpPr>
        <p:spPr>
          <a:xfrm>
            <a:off x="6967728" y="1810512"/>
            <a:ext cx="4654296" cy="3566160"/>
          </a:xfrm>
          <a:prstGeom prst="roundRect">
            <a:avLst>
              <a:gd name="adj" fmla="val 3077"/>
            </a:avLst>
          </a:prstGeom>
          <a:solidFill>
            <a:srgbClr val="F1F5FA"/>
          </a:solidFill>
          <a:ln w="12700">
            <a:solidFill>
              <a:srgbClr val="F1F5FA"/>
            </a:solidFill>
            <a:prstDash val="solid"/>
          </a:ln>
        </p:spPr>
      </p:sp>
      <p:sp>
        <p:nvSpPr>
          <p:cNvPr id="14" name="Text 12"/>
          <p:cNvSpPr/>
          <p:nvPr/>
        </p:nvSpPr>
        <p:spPr>
          <a:xfrm>
            <a:off x="7205472" y="1956816"/>
            <a:ext cx="4178808"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Why a bandit and not A/B</a:t>
            </a:r>
            <a:endParaRPr lang="en-US" sz="1600" dirty="0"/>
          </a:p>
        </p:txBody>
      </p:sp>
      <p:sp>
        <p:nvSpPr>
          <p:cNvPr id="15" name="Shape 13"/>
          <p:cNvSpPr/>
          <p:nvPr/>
        </p:nvSpPr>
        <p:spPr>
          <a:xfrm>
            <a:off x="7205472" y="2514600"/>
            <a:ext cx="100584" cy="100584"/>
          </a:xfrm>
          <a:prstGeom prst="diamond">
            <a:avLst/>
          </a:prstGeom>
          <a:solidFill>
            <a:srgbClr val="D9922B"/>
          </a:solidFill>
          <a:ln w="12700">
            <a:solidFill>
              <a:srgbClr val="D9922B"/>
            </a:solidFill>
            <a:prstDash val="solid"/>
          </a:ln>
        </p:spPr>
      </p:sp>
      <p:sp>
        <p:nvSpPr>
          <p:cNvPr id="16" name="Text 14"/>
          <p:cNvSpPr/>
          <p:nvPr/>
        </p:nvSpPr>
        <p:spPr>
          <a:xfrm>
            <a:off x="7424928" y="2404872"/>
            <a:ext cx="3959352" cy="642366"/>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Reward type (cash, food, stock upside, giving) joins the context as its own factored dimension. The associate's own choices are the labels.</a:t>
            </a:r>
            <a:endParaRPr lang="en-US" sz="1150" dirty="0"/>
          </a:p>
        </p:txBody>
      </p:sp>
      <p:sp>
        <p:nvSpPr>
          <p:cNvPr id="17" name="Shape 15"/>
          <p:cNvSpPr/>
          <p:nvPr/>
        </p:nvSpPr>
        <p:spPr>
          <a:xfrm>
            <a:off x="7205472" y="3284982"/>
            <a:ext cx="100584" cy="100584"/>
          </a:xfrm>
          <a:prstGeom prst="diamond">
            <a:avLst/>
          </a:prstGeom>
          <a:solidFill>
            <a:srgbClr val="D9922B"/>
          </a:solidFill>
          <a:ln w="12700">
            <a:solidFill>
              <a:srgbClr val="D9922B"/>
            </a:solidFill>
            <a:prstDash val="solid"/>
          </a:ln>
        </p:spPr>
      </p:sp>
      <p:sp>
        <p:nvSpPr>
          <p:cNvPr id="18" name="Text 16"/>
          <p:cNvSpPr/>
          <p:nvPr/>
        </p:nvSpPr>
        <p:spPr>
          <a:xfrm>
            <a:off x="7424928" y="3175254"/>
            <a:ext cx="3959352" cy="449580"/>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Factoring intervention-family by reward-type keeps the arm space tractable instead of exploding combinatorially.</a:t>
            </a:r>
            <a:endParaRPr lang="en-US" sz="1150" dirty="0"/>
          </a:p>
        </p:txBody>
      </p:sp>
      <p:sp>
        <p:nvSpPr>
          <p:cNvPr id="19" name="Shape 17"/>
          <p:cNvSpPr/>
          <p:nvPr/>
        </p:nvSpPr>
        <p:spPr>
          <a:xfrm>
            <a:off x="7205472" y="3862578"/>
            <a:ext cx="100584" cy="100584"/>
          </a:xfrm>
          <a:prstGeom prst="diamond">
            <a:avLst/>
          </a:prstGeom>
          <a:solidFill>
            <a:srgbClr val="D9922B"/>
          </a:solidFill>
          <a:ln w="12700">
            <a:solidFill>
              <a:srgbClr val="D9922B"/>
            </a:solidFill>
            <a:prstDash val="solid"/>
          </a:ln>
        </p:spPr>
      </p:sp>
      <p:sp>
        <p:nvSpPr>
          <p:cNvPr id="20" name="Text 18"/>
          <p:cNvSpPr/>
          <p:nvPr/>
        </p:nvSpPr>
        <p:spPr>
          <a:xfrm>
            <a:off x="7424928" y="3752850"/>
            <a:ext cx="3959352" cy="449580"/>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Start reward-type learning inside the incentive family only, then widen.</a:t>
            </a:r>
            <a:endParaRPr lang="en-US" sz="1150" dirty="0"/>
          </a:p>
        </p:txBody>
      </p:sp>
      <p:sp>
        <p:nvSpPr>
          <p:cNvPr id="21" name="Shape 19"/>
          <p:cNvSpPr/>
          <p:nvPr/>
        </p:nvSpPr>
        <p:spPr>
          <a:xfrm>
            <a:off x="7205472" y="4440174"/>
            <a:ext cx="100584" cy="100584"/>
          </a:xfrm>
          <a:prstGeom prst="diamond">
            <a:avLst/>
          </a:prstGeom>
          <a:solidFill>
            <a:srgbClr val="D9922B"/>
          </a:solidFill>
          <a:ln w="12700">
            <a:solidFill>
              <a:srgbClr val="D9922B"/>
            </a:solidFill>
            <a:prstDash val="solid"/>
          </a:ln>
        </p:spPr>
      </p:sp>
      <p:sp>
        <p:nvSpPr>
          <p:cNvPr id="22" name="Text 20"/>
          <p:cNvSpPr/>
          <p:nvPr/>
        </p:nvSpPr>
        <p:spPr>
          <a:xfrm>
            <a:off x="7424928" y="4330446"/>
            <a:ext cx="3959352" cy="642366"/>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West-coast overnight stockers may respond differently from East-coast stockers. The bandit finds out and surfaces the pattern for humans to interrogate.</a:t>
            </a:r>
            <a:endParaRPr lang="en-US" sz="1150" dirty="0"/>
          </a:p>
        </p:txBody>
      </p:sp>
      <p:sp>
        <p:nvSpPr>
          <p:cNvPr id="23" name="Text 21"/>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Every learned policy exports as a readable sentence, so a People team reviews behaviour rather than weights.</a:t>
            </a:r>
            <a:endParaRPr lang="en-US" sz="1050" dirty="0"/>
          </a:p>
        </p:txBody>
      </p:sp>
      <p:sp>
        <p:nvSpPr>
          <p:cNvPr id="24" name="Text 2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A9  ·  FOR DATA SCIENCE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A bandit optimizes exactly what you feed it, so the reward is validated against 90-day retention.</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 reward fed to the learner is a leading indicator, for example week-4 engagement, never a click.</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leading indicator is itself validated against 90-day retention inside permanent holdout groups before it is trusted.</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If the reward were “clicked the nudge,” the engine would maximize clicks and could annoy people into quitting while the dashboard turned green.</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Holdouts are permanent, not a launch-phase courtesy. They are how the metric stays honest a year in.</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Trip wire on the risk register: engagement climbing while 90-day retention stays flat.</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This is the single most important line of defence against optimizing the wrong thing.</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A10  ·  FOR DATA SCIENCE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Six scores, computed per cohort and never per individual.</a:t>
            </a:r>
            <a:endParaRPr lang="en-US" sz="2600" dirty="0"/>
          </a:p>
        </p:txBody>
      </p:sp>
      <p:sp>
        <p:nvSpPr>
          <p:cNvPr id="5" name="Shape 3"/>
          <p:cNvSpPr/>
          <p:nvPr/>
        </p:nvSpPr>
        <p:spPr>
          <a:xfrm>
            <a:off x="566928" y="1810512"/>
            <a:ext cx="5390388" cy="987552"/>
          </a:xfrm>
          <a:prstGeom prst="roundRect">
            <a:avLst>
              <a:gd name="adj" fmla="val 9259"/>
            </a:avLst>
          </a:prstGeom>
          <a:solidFill>
            <a:srgbClr val="F1F5FA"/>
          </a:solidFill>
          <a:ln w="12700">
            <a:solidFill>
              <a:srgbClr val="F1F5FA"/>
            </a:solidFill>
            <a:prstDash val="solid"/>
          </a:ln>
        </p:spPr>
      </p:sp>
      <p:sp>
        <p:nvSpPr>
          <p:cNvPr id="6" name="Text 4"/>
          <p:cNvSpPr/>
          <p:nvPr/>
        </p:nvSpPr>
        <p:spPr>
          <a:xfrm>
            <a:off x="786384" y="1920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Friction</a:t>
            </a:r>
            <a:endParaRPr lang="en-US" sz="1500" dirty="0"/>
          </a:p>
        </p:txBody>
      </p:sp>
      <p:sp>
        <p:nvSpPr>
          <p:cNvPr id="7" name="Text 5"/>
          <p:cNvSpPr/>
          <p:nvPr/>
        </p:nvSpPr>
        <p:spPr>
          <a:xfrm>
            <a:off x="786384" y="2231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How often this cohort's journeys dead-end: abandoned flows, repeated questions, escalations.</a:t>
            </a:r>
            <a:endParaRPr lang="en-US" sz="1100" dirty="0"/>
          </a:p>
        </p:txBody>
      </p:sp>
      <p:sp>
        <p:nvSpPr>
          <p:cNvPr id="8" name="Shape 6"/>
          <p:cNvSpPr/>
          <p:nvPr/>
        </p:nvSpPr>
        <p:spPr>
          <a:xfrm>
            <a:off x="6231636" y="1810512"/>
            <a:ext cx="5390388" cy="987552"/>
          </a:xfrm>
          <a:prstGeom prst="roundRect">
            <a:avLst>
              <a:gd name="adj" fmla="val 9259"/>
            </a:avLst>
          </a:prstGeom>
          <a:solidFill>
            <a:srgbClr val="F1F5FA"/>
          </a:solidFill>
          <a:ln w="12700">
            <a:solidFill>
              <a:srgbClr val="F1F5FA"/>
            </a:solidFill>
            <a:prstDash val="solid"/>
          </a:ln>
        </p:spPr>
      </p:sp>
      <p:sp>
        <p:nvSpPr>
          <p:cNvPr id="9" name="Text 7"/>
          <p:cNvSpPr/>
          <p:nvPr/>
        </p:nvSpPr>
        <p:spPr>
          <a:xfrm>
            <a:off x="6451092" y="1920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Engagement</a:t>
            </a:r>
            <a:endParaRPr lang="en-US" sz="1500" dirty="0"/>
          </a:p>
        </p:txBody>
      </p:sp>
      <p:sp>
        <p:nvSpPr>
          <p:cNvPr id="10" name="Text 8"/>
          <p:cNvSpPr/>
          <p:nvPr/>
        </p:nvSpPr>
        <p:spPr>
          <a:xfrm>
            <a:off x="6451092" y="2231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Depth and breadth of app usage relative to the role baseline.</a:t>
            </a:r>
            <a:endParaRPr lang="en-US" sz="1100" dirty="0"/>
          </a:p>
        </p:txBody>
      </p:sp>
      <p:sp>
        <p:nvSpPr>
          <p:cNvPr id="11" name="Shape 9"/>
          <p:cNvSpPr/>
          <p:nvPr/>
        </p:nvSpPr>
        <p:spPr>
          <a:xfrm>
            <a:off x="566928" y="2953512"/>
            <a:ext cx="5390388" cy="987552"/>
          </a:xfrm>
          <a:prstGeom prst="roundRect">
            <a:avLst>
              <a:gd name="adj" fmla="val 9259"/>
            </a:avLst>
          </a:prstGeom>
          <a:solidFill>
            <a:srgbClr val="F1F5FA"/>
          </a:solidFill>
          <a:ln w="12700">
            <a:solidFill>
              <a:srgbClr val="F1F5FA"/>
            </a:solidFill>
            <a:prstDash val="solid"/>
          </a:ln>
        </p:spPr>
      </p:sp>
      <p:sp>
        <p:nvSpPr>
          <p:cNvPr id="12" name="Text 10"/>
          <p:cNvSpPr/>
          <p:nvPr/>
        </p:nvSpPr>
        <p:spPr>
          <a:xfrm>
            <a:off x="786384" y="3063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Retention-risk</a:t>
            </a:r>
            <a:endParaRPr lang="en-US" sz="1500" dirty="0"/>
          </a:p>
        </p:txBody>
      </p:sp>
      <p:sp>
        <p:nvSpPr>
          <p:cNvPr id="13" name="Text 11"/>
          <p:cNvSpPr/>
          <p:nvPr/>
        </p:nvSpPr>
        <p:spPr>
          <a:xfrm>
            <a:off x="786384" y="3374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Predicted attrition probability against baseline, from workforce and telemetry features.</a:t>
            </a:r>
            <a:endParaRPr lang="en-US" sz="1100" dirty="0"/>
          </a:p>
        </p:txBody>
      </p:sp>
      <p:sp>
        <p:nvSpPr>
          <p:cNvPr id="14" name="Shape 12"/>
          <p:cNvSpPr/>
          <p:nvPr/>
        </p:nvSpPr>
        <p:spPr>
          <a:xfrm>
            <a:off x="6231636" y="2953512"/>
            <a:ext cx="5390388" cy="987552"/>
          </a:xfrm>
          <a:prstGeom prst="roundRect">
            <a:avLst>
              <a:gd name="adj" fmla="val 9259"/>
            </a:avLst>
          </a:prstGeom>
          <a:solidFill>
            <a:srgbClr val="F1F5FA"/>
          </a:solidFill>
          <a:ln w="12700">
            <a:solidFill>
              <a:srgbClr val="F1F5FA"/>
            </a:solidFill>
            <a:prstDash val="solid"/>
          </a:ln>
        </p:spPr>
      </p:sp>
      <p:sp>
        <p:nvSpPr>
          <p:cNvPr id="15" name="Text 13"/>
          <p:cNvSpPr/>
          <p:nvPr/>
        </p:nvSpPr>
        <p:spPr>
          <a:xfrm>
            <a:off x="6451092" y="3063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Growth-readiness</a:t>
            </a:r>
            <a:endParaRPr lang="en-US" sz="1500" dirty="0"/>
          </a:p>
        </p:txBody>
      </p:sp>
      <p:sp>
        <p:nvSpPr>
          <p:cNvPr id="16" name="Text 14"/>
          <p:cNvSpPr/>
          <p:nvPr/>
        </p:nvSpPr>
        <p:spPr>
          <a:xfrm>
            <a:off x="6451092" y="3374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Advancement appetite: LBU activity, skill completions, questions about becoming a team lead.</a:t>
            </a:r>
            <a:endParaRPr lang="en-US" sz="1100" dirty="0"/>
          </a:p>
        </p:txBody>
      </p:sp>
      <p:sp>
        <p:nvSpPr>
          <p:cNvPr id="17" name="Shape 15"/>
          <p:cNvSpPr/>
          <p:nvPr/>
        </p:nvSpPr>
        <p:spPr>
          <a:xfrm>
            <a:off x="566928" y="4096512"/>
            <a:ext cx="5390388" cy="987552"/>
          </a:xfrm>
          <a:prstGeom prst="roundRect">
            <a:avLst>
              <a:gd name="adj" fmla="val 9259"/>
            </a:avLst>
          </a:prstGeom>
          <a:solidFill>
            <a:srgbClr val="F1F5FA"/>
          </a:solidFill>
          <a:ln w="12700">
            <a:solidFill>
              <a:srgbClr val="F1F5FA"/>
            </a:solidFill>
            <a:prstDash val="solid"/>
          </a:ln>
        </p:spPr>
      </p:sp>
      <p:sp>
        <p:nvSpPr>
          <p:cNvPr id="18" name="Text 16"/>
          <p:cNvSpPr/>
          <p:nvPr/>
        </p:nvSpPr>
        <p:spPr>
          <a:xfrm>
            <a:off x="786384" y="4206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Trust</a:t>
            </a:r>
            <a:endParaRPr lang="en-US" sz="1500" dirty="0"/>
          </a:p>
        </p:txBody>
      </p:sp>
      <p:sp>
        <p:nvSpPr>
          <p:cNvPr id="19" name="Text 17"/>
          <p:cNvSpPr/>
          <p:nvPr/>
        </p:nvSpPr>
        <p:spPr>
          <a:xfrm>
            <a:off x="786384" y="4517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Thumbs-down rate, correction rate, and reliance on workarounds after using Sidekick.</a:t>
            </a:r>
            <a:endParaRPr lang="en-US" sz="1100" dirty="0"/>
          </a:p>
        </p:txBody>
      </p:sp>
      <p:sp>
        <p:nvSpPr>
          <p:cNvPr id="20" name="Shape 18"/>
          <p:cNvSpPr/>
          <p:nvPr/>
        </p:nvSpPr>
        <p:spPr>
          <a:xfrm>
            <a:off x="6231636" y="4096512"/>
            <a:ext cx="5390388" cy="987552"/>
          </a:xfrm>
          <a:prstGeom prst="roundRect">
            <a:avLst>
              <a:gd name="adj" fmla="val 9259"/>
            </a:avLst>
          </a:prstGeom>
          <a:solidFill>
            <a:srgbClr val="FAECD4"/>
          </a:solidFill>
          <a:ln w="12700">
            <a:solidFill>
              <a:srgbClr val="FAECD4"/>
            </a:solidFill>
            <a:prstDash val="solid"/>
          </a:ln>
        </p:spPr>
      </p:sp>
      <p:sp>
        <p:nvSpPr>
          <p:cNvPr id="21" name="Text 19"/>
          <p:cNvSpPr/>
          <p:nvPr/>
        </p:nvSpPr>
        <p:spPr>
          <a:xfrm>
            <a:off x="6451092" y="4206240"/>
            <a:ext cx="4951476" cy="310896"/>
          </a:xfrm>
          <a:prstGeom prst="rect">
            <a:avLst/>
          </a:prstGeom>
          <a:noFill/>
          <a:ln/>
        </p:spPr>
        <p:txBody>
          <a:bodyPr wrap="square" lIns="0" tIns="0" rIns="0" bIns="0" rtlCol="0" anchor="ctr"/>
          <a:lstStyle/>
          <a:p>
            <a:pPr indent="0" marL="0">
              <a:buNone/>
            </a:pPr>
            <a:r>
              <a:rPr lang="en-US" sz="1500" b="1" dirty="0">
                <a:solidFill>
                  <a:srgbClr val="8A5A11"/>
                </a:solidFill>
                <a:latin typeface="Cambria" pitchFamily="34" charset="0"/>
                <a:ea typeface="Cambria" pitchFamily="34" charset="-122"/>
                <a:cs typeface="Cambria" pitchFamily="34" charset="-120"/>
              </a:rPr>
              <a:t>Wellbeing</a:t>
            </a:r>
            <a:endParaRPr lang="en-US" sz="1500" dirty="0"/>
          </a:p>
        </p:txBody>
      </p:sp>
      <p:sp>
        <p:nvSpPr>
          <p:cNvPr id="22" name="Text 20"/>
          <p:cNvSpPr/>
          <p:nvPr/>
        </p:nvSpPr>
        <p:spPr>
          <a:xfrm>
            <a:off x="6451092" y="4517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8A5A11"/>
                </a:solidFill>
                <a:latin typeface="Calibri" pitchFamily="34" charset="0"/>
                <a:ea typeface="Calibri" pitchFamily="34" charset="-122"/>
                <a:cs typeface="Calibri" pitchFamily="34" charset="-120"/>
              </a:rPr>
              <a:t>Operational rest and load signals only: schedule volatility, overtime density, break patterns, callout trends.</a:t>
            </a:r>
            <a:endParaRPr lang="en-US" sz="1100" dirty="0"/>
          </a:p>
        </p:txBody>
      </p:sp>
      <p:sp>
        <p:nvSpPr>
          <p:cNvPr id="23" name="Shape 21"/>
          <p:cNvSpPr/>
          <p:nvPr/>
        </p:nvSpPr>
        <p:spPr>
          <a:xfrm>
            <a:off x="566928" y="5394960"/>
            <a:ext cx="11055096" cy="713232"/>
          </a:xfrm>
          <a:prstGeom prst="roundRect">
            <a:avLst>
              <a:gd name="adj" fmla="val 15385"/>
            </a:avLst>
          </a:prstGeom>
          <a:solidFill>
            <a:srgbClr val="16233B"/>
          </a:solidFill>
          <a:ln w="12700">
            <a:solidFill>
              <a:srgbClr val="16233B"/>
            </a:solidFill>
            <a:prstDash val="solid"/>
          </a:ln>
        </p:spPr>
      </p:sp>
      <p:sp>
        <p:nvSpPr>
          <p:cNvPr id="24" name="Text 22"/>
          <p:cNvSpPr/>
          <p:nvPr/>
        </p:nvSpPr>
        <p:spPr>
          <a:xfrm>
            <a:off x="786384" y="5431536"/>
            <a:ext cx="10616184" cy="640080"/>
          </a:xfrm>
          <a:prstGeom prst="rect">
            <a:avLst/>
          </a:prstGeom>
          <a:noFill/>
          <a:ln/>
        </p:spPr>
        <p:txBody>
          <a:bodyPr wrap="square" lIns="0" tIns="0" rIns="0" bIns="0" rtlCol="0" anchor="ctr"/>
          <a:lstStyle/>
          <a:p>
            <a:pPr indent="0" marL="0">
              <a:lnSpc>
                <a:spcPts val="1500"/>
              </a:lnSpc>
              <a:buNone/>
            </a:pPr>
            <a:r>
              <a:rPr lang="en-US" sz="1200" dirty="0">
                <a:solidFill>
                  <a:srgbClr val="FFFFFF"/>
                </a:solidFill>
                <a:latin typeface="Calibri" pitchFamily="34" charset="0"/>
                <a:ea typeface="Calibri" pitchFamily="34" charset="-122"/>
                <a:cs typeface="Calibri" pitchFamily="34" charset="-120"/>
              </a:rPr>
              <a:t>Wellbeing is deliberately narrow. It reads operational signals only, never health data. The app offers resources and recovery options. It never infers, records, or diagnoses a health status.</a:t>
            </a:r>
            <a:endParaRPr lang="en-US" sz="1200" dirty="0"/>
          </a:p>
        </p:txBody>
      </p:sp>
      <p:sp>
        <p:nvSpPr>
          <p:cNvPr id="25" name="Text 23"/>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A11  ·  FOR PRODUCT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The decision layer is a readable threshold policy, auditable line by line.</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3200400"/>
                <a:gridCol w="2926080"/>
                <a:gridCol w="49286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Score pattern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Intervention family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looks like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Friction at 65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Proactive alerts and product fixes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Detect the schedule conflict before the associate does. Fix the top dead-end flow.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Engagement 40 or below, tenure under 90 days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Onboarding interventions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Companion nudges, buddy prompts, a day-30 check-in.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Retention-risk at 60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Rewards and recognition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Real rewards, associate's choice. Streaks feed bonus and merit nominations with evidence attached.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Growth-readiness at 60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Career pathing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“You are 2 certificates from team-lead eligibility,” with concrete next steps via Academies and LBU.</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Trust at 40 or below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FYIs, training, product hardening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Transparent what-it-can-and-cannot-do dialogue, targeted micro-training, grounding fixes.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Wellbeing at 40 or below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Rejuvenation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Recovery-day nudges when close-shift streaks stack up. Break protection. Offered, never prescribed.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Text 3"/>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Several families can fire at once. A struggling new hire trips both onboarding and rewards, and the intervention budget cap arbitrates so the engine competes for scarce attention instead of sending everything.</a:t>
            </a:r>
            <a:endParaRPr lang="en-US" sz="1050" dirty="0"/>
          </a:p>
        </p:txBody>
      </p:sp>
      <p:sp>
        <p:nvSpPr>
          <p:cNvPr id="7" name="Text 4"/>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A12  ·  FOR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Three reward tiers, three different grant mechanics.</a:t>
            </a:r>
            <a:endParaRPr lang="en-US" sz="2600" dirty="0"/>
          </a:p>
        </p:txBody>
      </p:sp>
      <p:sp>
        <p:nvSpPr>
          <p:cNvPr id="5" name="Shape 3"/>
          <p:cNvSpPr/>
          <p:nvPr/>
        </p:nvSpPr>
        <p:spPr>
          <a:xfrm>
            <a:off x="566928" y="1810512"/>
            <a:ext cx="3502152" cy="3200400"/>
          </a:xfrm>
          <a:prstGeom prst="roundRect">
            <a:avLst>
              <a:gd name="adj" fmla="val 3429"/>
            </a:avLst>
          </a:prstGeom>
          <a:solidFill>
            <a:srgbClr val="FAECD4"/>
          </a:solidFill>
          <a:ln w="12700">
            <a:solidFill>
              <a:srgbClr val="FAECD4"/>
            </a:solidFill>
            <a:prstDash val="solid"/>
          </a:ln>
        </p:spPr>
      </p:sp>
      <p:sp>
        <p:nvSpPr>
          <p:cNvPr id="6" name="Text 4"/>
          <p:cNvSpPr/>
          <p:nvPr/>
        </p:nvSpPr>
        <p:spPr>
          <a:xfrm>
            <a:off x="804672" y="1975104"/>
            <a:ext cx="3026664" cy="420624"/>
          </a:xfrm>
          <a:prstGeom prst="rect">
            <a:avLst/>
          </a:prstGeom>
          <a:noFill/>
          <a:ln/>
        </p:spPr>
        <p:txBody>
          <a:bodyPr wrap="square" lIns="0" tIns="0" rIns="0" bIns="0" rtlCol="0" anchor="ctr"/>
          <a:lstStyle/>
          <a:p>
            <a:pPr indent="0" marL="0">
              <a:buNone/>
            </a:pPr>
            <a:r>
              <a:rPr lang="en-US" sz="2000" b="1" dirty="0">
                <a:solidFill>
                  <a:srgbClr val="8A5A11"/>
                </a:solidFill>
                <a:latin typeface="Cambria" pitchFamily="34" charset="0"/>
                <a:ea typeface="Cambria" pitchFamily="34" charset="-122"/>
                <a:cs typeface="Cambria" pitchFamily="34" charset="-120"/>
              </a:rPr>
              <a:t>Everyday</a:t>
            </a:r>
            <a:endParaRPr lang="en-US" sz="2000" dirty="0"/>
          </a:p>
        </p:txBody>
      </p:sp>
      <p:sp>
        <p:nvSpPr>
          <p:cNvPr id="7" name="Text 5"/>
          <p:cNvSpPr/>
          <p:nvPr/>
        </p:nvSpPr>
        <p:spPr>
          <a:xfrm>
            <a:off x="804672"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8A5A11"/>
                </a:solidFill>
                <a:latin typeface="Calibri" pitchFamily="34" charset="0"/>
                <a:ea typeface="Calibri" pitchFamily="34" charset="-122"/>
                <a:cs typeface="Calibri" pitchFamily="34" charset="-120"/>
              </a:rPr>
              <a:t>SYSTEM-GRANTABLE, INSTANT</a:t>
            </a:r>
            <a:endParaRPr lang="en-US" sz="950" dirty="0"/>
          </a:p>
        </p:txBody>
      </p:sp>
      <p:sp>
        <p:nvSpPr>
          <p:cNvPr id="8" name="Text 6"/>
          <p:cNvSpPr/>
          <p:nvPr/>
        </p:nvSpPr>
        <p:spPr>
          <a:xfrm>
            <a:off x="804672"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Free lunch. Small gift card. Stock-sweepstake entries. A donation to a cause the associate picks.</a:t>
            </a:r>
            <a:endParaRPr lang="en-US" sz="1250" dirty="0"/>
          </a:p>
        </p:txBody>
      </p:sp>
      <p:sp>
        <p:nvSpPr>
          <p:cNvPr id="9" name="Text 7"/>
          <p:cNvSpPr/>
          <p:nvPr/>
        </p:nvSpPr>
        <p:spPr>
          <a:xfrm>
            <a:off x="804672"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8A5A11"/>
                </a:solidFill>
                <a:latin typeface="Calibri" pitchFamily="34" charset="0"/>
                <a:ea typeface="Calibri" pitchFamily="34" charset="-122"/>
                <a:cs typeface="Calibri" pitchFamily="34" charset="-120"/>
              </a:rPr>
              <a:t>The associate picks, and every choice teaches the engine what motivates that cohort.</a:t>
            </a:r>
            <a:endParaRPr lang="en-US" sz="1100" dirty="0"/>
          </a:p>
        </p:txBody>
      </p:sp>
      <p:sp>
        <p:nvSpPr>
          <p:cNvPr id="10" name="Shape 8"/>
          <p:cNvSpPr/>
          <p:nvPr/>
        </p:nvSpPr>
        <p:spPr>
          <a:xfrm>
            <a:off x="4343400" y="1810512"/>
            <a:ext cx="3502152" cy="3200400"/>
          </a:xfrm>
          <a:prstGeom prst="roundRect">
            <a:avLst>
              <a:gd name="adj" fmla="val 3429"/>
            </a:avLst>
          </a:prstGeom>
          <a:solidFill>
            <a:srgbClr val="DCE9F2"/>
          </a:solidFill>
          <a:ln w="12700">
            <a:solidFill>
              <a:srgbClr val="DCE9F2"/>
            </a:solidFill>
            <a:prstDash val="solid"/>
          </a:ln>
        </p:spPr>
      </p:sp>
      <p:sp>
        <p:nvSpPr>
          <p:cNvPr id="11" name="Text 9"/>
          <p:cNvSpPr/>
          <p:nvPr/>
        </p:nvSpPr>
        <p:spPr>
          <a:xfrm>
            <a:off x="4581144" y="1975104"/>
            <a:ext cx="3026664" cy="420624"/>
          </a:xfrm>
          <a:prstGeom prst="rect">
            <a:avLst/>
          </a:prstGeom>
          <a:noFill/>
          <a:ln/>
        </p:spPr>
        <p:txBody>
          <a:bodyPr wrap="square" lIns="0" tIns="0" rIns="0" bIns="0" rtlCol="0" anchor="ctr"/>
          <a:lstStyle/>
          <a:p>
            <a:pPr indent="0" marL="0">
              <a:buNone/>
            </a:pPr>
            <a:r>
              <a:rPr lang="en-US" sz="2000" b="1" dirty="0">
                <a:solidFill>
                  <a:srgbClr val="1E4E6B"/>
                </a:solidFill>
                <a:latin typeface="Cambria" pitchFamily="34" charset="0"/>
                <a:ea typeface="Cambria" pitchFamily="34" charset="-122"/>
                <a:cs typeface="Cambria" pitchFamily="34" charset="-120"/>
              </a:rPr>
              <a:t>Quarterly</a:t>
            </a:r>
            <a:endParaRPr lang="en-US" sz="2000" dirty="0"/>
          </a:p>
        </p:txBody>
      </p:sp>
      <p:sp>
        <p:nvSpPr>
          <p:cNvPr id="12" name="Text 10"/>
          <p:cNvSpPr/>
          <p:nvPr/>
        </p:nvSpPr>
        <p:spPr>
          <a:xfrm>
            <a:off x="4581144"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1E4E6B"/>
                </a:solidFill>
                <a:latin typeface="Calibri" pitchFamily="34" charset="0"/>
                <a:ea typeface="Calibri" pitchFamily="34" charset="-122"/>
                <a:cs typeface="Calibri" pitchFamily="34" charset="-120"/>
              </a:rPr>
              <a:t>MANAGER AND HR LOOP, FED BY STREAKS</a:t>
            </a:r>
            <a:endParaRPr lang="en-US" sz="950" dirty="0"/>
          </a:p>
        </p:txBody>
      </p:sp>
      <p:sp>
        <p:nvSpPr>
          <p:cNvPr id="13" name="Text 11"/>
          <p:cNvSpPr/>
          <p:nvPr/>
        </p:nvSpPr>
        <p:spPr>
          <a:xfrm>
            <a:off x="4581144"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Bonus. Merit-increase nomination. A larger stock sweepstake.</a:t>
            </a:r>
            <a:endParaRPr lang="en-US" sz="1250" dirty="0"/>
          </a:p>
        </p:txBody>
      </p:sp>
      <p:sp>
        <p:nvSpPr>
          <p:cNvPr id="14" name="Text 12"/>
          <p:cNvSpPr/>
          <p:nvPr/>
        </p:nvSpPr>
        <p:spPr>
          <a:xfrm>
            <a:off x="4581144"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1E4E6B"/>
                </a:solidFill>
                <a:latin typeface="Calibri" pitchFamily="34" charset="0"/>
                <a:ea typeface="Calibri" pitchFamily="34" charset="-122"/>
                <a:cs typeface="Calibri" pitchFamily="34" charset="-120"/>
              </a:rPr>
              <a:t>The app nominates with evidence. Humans decide inside existing HR calibration.</a:t>
            </a:r>
            <a:endParaRPr lang="en-US" sz="1100" dirty="0"/>
          </a:p>
        </p:txBody>
      </p:sp>
      <p:sp>
        <p:nvSpPr>
          <p:cNvPr id="15" name="Shape 13"/>
          <p:cNvSpPr/>
          <p:nvPr/>
        </p:nvSpPr>
        <p:spPr>
          <a:xfrm>
            <a:off x="8119872" y="1810512"/>
            <a:ext cx="3502152" cy="3200400"/>
          </a:xfrm>
          <a:prstGeom prst="roundRect">
            <a:avLst>
              <a:gd name="adj" fmla="val 3429"/>
            </a:avLst>
          </a:prstGeom>
          <a:solidFill>
            <a:srgbClr val="DDEAE1"/>
          </a:solidFill>
          <a:ln w="12700">
            <a:solidFill>
              <a:srgbClr val="DDEAE1"/>
            </a:solidFill>
            <a:prstDash val="solid"/>
          </a:ln>
        </p:spPr>
      </p:sp>
      <p:sp>
        <p:nvSpPr>
          <p:cNvPr id="16" name="Text 14"/>
          <p:cNvSpPr/>
          <p:nvPr/>
        </p:nvSpPr>
        <p:spPr>
          <a:xfrm>
            <a:off x="8357616" y="1975104"/>
            <a:ext cx="3026664" cy="420624"/>
          </a:xfrm>
          <a:prstGeom prst="rect">
            <a:avLst/>
          </a:prstGeom>
          <a:noFill/>
          <a:ln/>
        </p:spPr>
        <p:txBody>
          <a:bodyPr wrap="square" lIns="0" tIns="0" rIns="0" bIns="0" rtlCol="0" anchor="ctr"/>
          <a:lstStyle/>
          <a:p>
            <a:pPr indent="0" marL="0">
              <a:buNone/>
            </a:pPr>
            <a:r>
              <a:rPr lang="en-US" sz="2000" b="1" dirty="0">
                <a:solidFill>
                  <a:srgbClr val="2E5540"/>
                </a:solidFill>
                <a:latin typeface="Cambria" pitchFamily="34" charset="0"/>
                <a:ea typeface="Cambria" pitchFamily="34" charset="-122"/>
                <a:cs typeface="Cambria" pitchFamily="34" charset="-120"/>
              </a:rPr>
              <a:t>Career</a:t>
            </a:r>
            <a:endParaRPr lang="en-US" sz="2000" dirty="0"/>
          </a:p>
        </p:txBody>
      </p:sp>
      <p:sp>
        <p:nvSpPr>
          <p:cNvPr id="17" name="Text 15"/>
          <p:cNvSpPr/>
          <p:nvPr/>
        </p:nvSpPr>
        <p:spPr>
          <a:xfrm>
            <a:off x="8357616"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2E5540"/>
                </a:solidFill>
                <a:latin typeface="Calibri" pitchFamily="34" charset="0"/>
                <a:ea typeface="Calibri" pitchFamily="34" charset="-122"/>
                <a:cs typeface="Calibri" pitchFamily="34" charset="-120"/>
              </a:rPr>
              <a:t>HR PIPELINE, THE GROWTH PATH ITSELF</a:t>
            </a:r>
            <a:endParaRPr lang="en-US" sz="950" dirty="0"/>
          </a:p>
        </p:txBody>
      </p:sp>
      <p:sp>
        <p:nvSpPr>
          <p:cNvPr id="18" name="Text 16"/>
          <p:cNvSpPr/>
          <p:nvPr/>
        </p:nvSpPr>
        <p:spPr>
          <a:xfrm>
            <a:off x="8357616"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Stock grants. Team-lead track via Academies and Live Better U.</a:t>
            </a:r>
            <a:endParaRPr lang="en-US" sz="1250" dirty="0"/>
          </a:p>
        </p:txBody>
      </p:sp>
      <p:sp>
        <p:nvSpPr>
          <p:cNvPr id="19" name="Text 17"/>
          <p:cNvSpPr/>
          <p:nvPr/>
        </p:nvSpPr>
        <p:spPr>
          <a:xfrm>
            <a:off x="8357616"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2E5540"/>
                </a:solidFill>
                <a:latin typeface="Calibri" pitchFamily="34" charset="0"/>
                <a:ea typeface="Calibri" pitchFamily="34" charset="-122"/>
                <a:cs typeface="Calibri" pitchFamily="34" charset="-120"/>
              </a:rPr>
              <a:t>The reward is the path, surfaced as concrete next steps rather than a vague promise. 310K promoted in two years.</a:t>
            </a:r>
            <a:endParaRPr lang="en-US" sz="11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Rewards reach payroll. That is what separates this from a badge in an app, and it is also what makes compliance a day-one workstream.</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A13  ·  FOR LEGAL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Compliance is a day-one workstream, not a launch-week discovery.</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Gift cards, bonuses, and stock are taxable compensation. That means payroll integration, not an app feature.</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Sweepstakes carry their own legal regime: no-consideration entry and state-by-state rules.</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Merit and promotion nominations flow through existing HR calibration. The app brings evidence, humans decide.</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tier ships with an equity audit of realized rewards across cohorts.</a:t>
            </a:r>
            <a:endParaRPr lang="en-US" sz="1200" dirty="0"/>
          </a:p>
        </p:txBody>
      </p:sp>
      <p:sp>
        <p:nvSpPr>
          <p:cNvPr id="17" name="Shape 15"/>
          <p:cNvSpPr/>
          <p:nvPr/>
        </p:nvSpPr>
        <p:spPr>
          <a:xfrm>
            <a:off x="566928" y="4721352"/>
            <a:ext cx="5390388"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audit includes checking that rewarding drive never quietly disadvantages the associate who simply works their shift well.</a:t>
            </a:r>
            <a:endParaRPr lang="en-US" sz="1200" dirty="0"/>
          </a:p>
        </p:txBody>
      </p:sp>
      <p:sp>
        <p:nvSpPr>
          <p:cNvPr id="20" name="Shape 18"/>
          <p:cNvSpPr/>
          <p:nvPr/>
        </p:nvSpPr>
        <p:spPr>
          <a:xfrm>
            <a:off x="6231636" y="4721352"/>
            <a:ext cx="5390388" cy="1267968"/>
          </a:xfrm>
          <a:prstGeom prst="roundRect">
            <a:avLst>
              <a:gd name="adj" fmla="val 7212"/>
            </a:avLst>
          </a:prstGeom>
          <a:solidFill>
            <a:srgbClr val="F1F5FA"/>
          </a:solidFill>
          <a:ln w="12700">
            <a:solidFill>
              <a:srgbClr val="F1F5FA"/>
            </a:solidFill>
            <a:prstDash val="solid"/>
          </a:ln>
        </p:spPr>
      </p:sp>
      <p:sp>
        <p:nvSpPr>
          <p:cNvPr id="21" name="Shape 19"/>
          <p:cNvSpPr/>
          <p:nvPr/>
        </p:nvSpPr>
        <p:spPr>
          <a:xfrm>
            <a:off x="6487668" y="52913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867656"/>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Reward mechanics must never read as pay-for-surveillance. If a mechanic cannot survive being explained to the associate it applies to, it does not ship.</a:t>
            </a:r>
            <a:endParaRPr lang="en-US" sz="1200" dirty="0"/>
          </a:p>
        </p:txBody>
      </p:sp>
      <p:sp>
        <p:nvSpPr>
          <p:cNvPr id="23" name="Text 21"/>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Cleared with HR and legal inside days 31 to 60 of Plan C, before the first reward arm goes live.</a:t>
            </a:r>
            <a:endParaRPr lang="en-US" sz="1050" dirty="0"/>
          </a:p>
        </p:txBody>
      </p:sp>
      <p:sp>
        <p:nvSpPr>
          <p:cNvPr id="24" name="Text 2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A14  ·  FOR HR AND LEGAL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Four guardrails keep the learning layer honest.</a:t>
            </a:r>
            <a:endParaRPr lang="en-US" sz="2600" dirty="0"/>
          </a:p>
        </p:txBody>
      </p:sp>
      <p:sp>
        <p:nvSpPr>
          <p:cNvPr id="5" name="Shape 3"/>
          <p:cNvSpPr/>
          <p:nvPr/>
        </p:nvSpPr>
        <p:spPr>
          <a:xfrm>
            <a:off x="566928" y="1828800"/>
            <a:ext cx="5390388" cy="1691640"/>
          </a:xfrm>
          <a:prstGeom prst="roundRect">
            <a:avLst>
              <a:gd name="adj" fmla="val 6486"/>
            </a:avLst>
          </a:prstGeom>
          <a:solidFill>
            <a:srgbClr val="F1F5FA"/>
          </a:solidFill>
          <a:ln w="12700">
            <a:solidFill>
              <a:srgbClr val="F1F5FA"/>
            </a:solidFill>
            <a:prstDash val="solid"/>
          </a:ln>
        </p:spPr>
      </p:sp>
      <p:sp>
        <p:nvSpPr>
          <p:cNvPr id="6" name="Shape 4"/>
          <p:cNvSpPr/>
          <p:nvPr/>
        </p:nvSpPr>
        <p:spPr>
          <a:xfrm>
            <a:off x="804672" y="2103120"/>
            <a:ext cx="146304" cy="146304"/>
          </a:xfrm>
          <a:prstGeom prst="diamond">
            <a:avLst/>
          </a:prstGeom>
          <a:solidFill>
            <a:srgbClr val="D9922B"/>
          </a:solidFill>
          <a:ln w="12700">
            <a:solidFill>
              <a:srgbClr val="D9922B"/>
            </a:solidFill>
            <a:prstDash val="solid"/>
          </a:ln>
        </p:spPr>
      </p:sp>
      <p:sp>
        <p:nvSpPr>
          <p:cNvPr id="7" name="Text 5"/>
          <p:cNvSpPr/>
          <p:nvPr/>
        </p:nvSpPr>
        <p:spPr>
          <a:xfrm>
            <a:off x="1078992" y="201168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Long-horizon holdouts</a:t>
            </a:r>
            <a:endParaRPr lang="en-US" sz="1600" dirty="0"/>
          </a:p>
        </p:txBody>
      </p:sp>
      <p:sp>
        <p:nvSpPr>
          <p:cNvPr id="8" name="Text 6"/>
          <p:cNvSpPr/>
          <p:nvPr/>
        </p:nvSpPr>
        <p:spPr>
          <a:xfrm>
            <a:off x="804672" y="245059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Bandits optimize the reward you give them. Reward is a leading indicator validated against 90-day retention in permanent holdout groups.</a:t>
            </a:r>
            <a:endParaRPr lang="en-US" sz="1200" dirty="0"/>
          </a:p>
        </p:txBody>
      </p:sp>
      <p:sp>
        <p:nvSpPr>
          <p:cNvPr id="9" name="Shape 7"/>
          <p:cNvSpPr/>
          <p:nvPr/>
        </p:nvSpPr>
        <p:spPr>
          <a:xfrm>
            <a:off x="6231636" y="1828800"/>
            <a:ext cx="5390388" cy="1691640"/>
          </a:xfrm>
          <a:prstGeom prst="roundRect">
            <a:avLst>
              <a:gd name="adj" fmla="val 6486"/>
            </a:avLst>
          </a:prstGeom>
          <a:solidFill>
            <a:srgbClr val="F1F5FA"/>
          </a:solidFill>
          <a:ln w="12700">
            <a:solidFill>
              <a:srgbClr val="F1F5FA"/>
            </a:solidFill>
            <a:prstDash val="solid"/>
          </a:ln>
        </p:spPr>
      </p:sp>
      <p:sp>
        <p:nvSpPr>
          <p:cNvPr id="10" name="Shape 8"/>
          <p:cNvSpPr/>
          <p:nvPr/>
        </p:nvSpPr>
        <p:spPr>
          <a:xfrm>
            <a:off x="6469380" y="2103120"/>
            <a:ext cx="146304" cy="146304"/>
          </a:xfrm>
          <a:prstGeom prst="diamond">
            <a:avLst/>
          </a:prstGeom>
          <a:solidFill>
            <a:srgbClr val="D9922B"/>
          </a:solidFill>
          <a:ln w="12700">
            <a:solidFill>
              <a:srgbClr val="D9922B"/>
            </a:solidFill>
            <a:prstDash val="solid"/>
          </a:ln>
        </p:spPr>
      </p:sp>
      <p:sp>
        <p:nvSpPr>
          <p:cNvPr id="11" name="Text 9"/>
          <p:cNvSpPr/>
          <p:nvPr/>
        </p:nvSpPr>
        <p:spPr>
          <a:xfrm>
            <a:off x="6743700" y="201168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Fairness constraints</a:t>
            </a:r>
            <a:endParaRPr lang="en-US" sz="1600" dirty="0"/>
          </a:p>
        </p:txBody>
      </p:sp>
      <p:sp>
        <p:nvSpPr>
          <p:cNvPr id="12" name="Text 10"/>
          <p:cNvSpPr/>
          <p:nvPr/>
        </p:nvSpPr>
        <p:spPr>
          <a:xfrm>
            <a:off x="6469380" y="245059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Minimum exposure floors per arm and per cohort. No cohort is silently starved of a beneficial intervention, and realized rewards are audited for equity.</a:t>
            </a:r>
            <a:endParaRPr lang="en-US" sz="1200" dirty="0"/>
          </a:p>
        </p:txBody>
      </p:sp>
      <p:sp>
        <p:nvSpPr>
          <p:cNvPr id="13" name="Shape 11"/>
          <p:cNvSpPr/>
          <p:nvPr/>
        </p:nvSpPr>
        <p:spPr>
          <a:xfrm>
            <a:off x="566928" y="3749040"/>
            <a:ext cx="5390388" cy="1691640"/>
          </a:xfrm>
          <a:prstGeom prst="roundRect">
            <a:avLst>
              <a:gd name="adj" fmla="val 6486"/>
            </a:avLst>
          </a:prstGeom>
          <a:solidFill>
            <a:srgbClr val="F1F5FA"/>
          </a:solidFill>
          <a:ln w="12700">
            <a:solidFill>
              <a:srgbClr val="F1F5FA"/>
            </a:solidFill>
            <a:prstDash val="solid"/>
          </a:ln>
        </p:spPr>
      </p:sp>
      <p:sp>
        <p:nvSpPr>
          <p:cNvPr id="14" name="Shape 12"/>
          <p:cNvSpPr/>
          <p:nvPr/>
        </p:nvSpPr>
        <p:spPr>
          <a:xfrm>
            <a:off x="804672" y="4023360"/>
            <a:ext cx="146304" cy="146304"/>
          </a:xfrm>
          <a:prstGeom prst="diamond">
            <a:avLst/>
          </a:prstGeom>
          <a:solidFill>
            <a:srgbClr val="D9922B"/>
          </a:solidFill>
          <a:ln w="12700">
            <a:solidFill>
              <a:srgbClr val="D9922B"/>
            </a:solidFill>
            <a:prstDash val="solid"/>
          </a:ln>
        </p:spPr>
      </p:sp>
      <p:sp>
        <p:nvSpPr>
          <p:cNvPr id="15" name="Text 13"/>
          <p:cNvSpPr/>
          <p:nvPr/>
        </p:nvSpPr>
        <p:spPr>
          <a:xfrm>
            <a:off x="1078992" y="393192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Intervention budget caps</a:t>
            </a:r>
            <a:endParaRPr lang="en-US" sz="1600" dirty="0"/>
          </a:p>
        </p:txBody>
      </p:sp>
      <p:sp>
        <p:nvSpPr>
          <p:cNvPr id="16" name="Text 14"/>
          <p:cNvSpPr/>
          <p:nvPr/>
        </p:nvSpPr>
        <p:spPr>
          <a:xfrm>
            <a:off x="804672" y="437083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An associate sees at most N interventions a week. The engine competes for a scarce attention budget, which prevents nudge fatigue.</a:t>
            </a:r>
            <a:endParaRPr lang="en-US" sz="1200" dirty="0"/>
          </a:p>
        </p:txBody>
      </p:sp>
      <p:sp>
        <p:nvSpPr>
          <p:cNvPr id="17" name="Shape 15"/>
          <p:cNvSpPr/>
          <p:nvPr/>
        </p:nvSpPr>
        <p:spPr>
          <a:xfrm>
            <a:off x="6231636" y="3749040"/>
            <a:ext cx="5390388" cy="1691640"/>
          </a:xfrm>
          <a:prstGeom prst="roundRect">
            <a:avLst>
              <a:gd name="adj" fmla="val 6486"/>
            </a:avLst>
          </a:prstGeom>
          <a:solidFill>
            <a:srgbClr val="F1F5FA"/>
          </a:solidFill>
          <a:ln w="12700">
            <a:solidFill>
              <a:srgbClr val="F1F5FA"/>
            </a:solidFill>
            <a:prstDash val="solid"/>
          </a:ln>
        </p:spPr>
      </p:sp>
      <p:sp>
        <p:nvSpPr>
          <p:cNvPr id="18" name="Shape 16"/>
          <p:cNvSpPr/>
          <p:nvPr/>
        </p:nvSpPr>
        <p:spPr>
          <a:xfrm>
            <a:off x="6469380" y="4023360"/>
            <a:ext cx="146304" cy="146304"/>
          </a:xfrm>
          <a:prstGeom prst="diamond">
            <a:avLst/>
          </a:prstGeom>
          <a:solidFill>
            <a:srgbClr val="D9922B"/>
          </a:solidFill>
          <a:ln w="12700">
            <a:solidFill>
              <a:srgbClr val="D9922B"/>
            </a:solidFill>
            <a:prstDash val="solid"/>
          </a:ln>
        </p:spPr>
      </p:sp>
      <p:sp>
        <p:nvSpPr>
          <p:cNvPr id="19" name="Text 17"/>
          <p:cNvSpPr/>
          <p:nvPr/>
        </p:nvSpPr>
        <p:spPr>
          <a:xfrm>
            <a:off x="6743700" y="393192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Human-readable policies</a:t>
            </a:r>
            <a:endParaRPr lang="en-US" sz="1600" dirty="0"/>
          </a:p>
        </p:txBody>
      </p:sp>
      <p:sp>
        <p:nvSpPr>
          <p:cNvPr id="20" name="Text 18"/>
          <p:cNvSpPr/>
          <p:nvPr/>
        </p:nvSpPr>
        <p:spPr>
          <a:xfrm>
            <a:off x="6469380" y="437083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learned policy exports as “cohort X responds best to Y,” reviewable by People teams. Not a black box.</a:t>
            </a:r>
            <a:endParaRPr lang="en-US" sz="1200" dirty="0"/>
          </a:p>
        </p:txBody>
      </p:sp>
      <p:sp>
        <p:nvSpPr>
          <p:cNvPr id="21" name="Text 19"/>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Fairness floors are hard constraints in the sampler, not preferences applied afterwards in review.</a:t>
            </a:r>
            <a:endParaRPr lang="en-US" sz="1050" dirty="0"/>
          </a:p>
        </p:txBody>
      </p:sp>
      <p:sp>
        <p:nvSpPr>
          <p:cNvPr id="22" name="Text 20"/>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A15  ·  FOR ENGINEERING LEADS AND THE GM</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Eighteen capabilities, one scoring formula, placed on the associate journey.</a:t>
            </a:r>
            <a:endParaRPr lang="en-US" sz="2600" dirty="0"/>
          </a:p>
        </p:txBody>
      </p:sp>
      <p:sp>
        <p:nvSpPr>
          <p:cNvPr id="5" name="Shape 3"/>
          <p:cNvSpPr/>
          <p:nvPr/>
        </p:nvSpPr>
        <p:spPr>
          <a:xfrm>
            <a:off x="566928" y="1783080"/>
            <a:ext cx="11055096" cy="658368"/>
          </a:xfrm>
          <a:prstGeom prst="roundRect">
            <a:avLst>
              <a:gd name="adj" fmla="val 16667"/>
            </a:avLst>
          </a:prstGeom>
          <a:solidFill>
            <a:srgbClr val="16233B"/>
          </a:solidFill>
          <a:ln w="12700">
            <a:solidFill>
              <a:srgbClr val="16233B"/>
            </a:solidFill>
            <a:prstDash val="solid"/>
          </a:ln>
        </p:spPr>
      </p:sp>
      <p:sp>
        <p:nvSpPr>
          <p:cNvPr id="6" name="Text 4"/>
          <p:cNvSpPr/>
          <p:nvPr/>
        </p:nvSpPr>
        <p:spPr>
          <a:xfrm>
            <a:off x="786384" y="1819656"/>
            <a:ext cx="10616184" cy="58521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score  =  ( minutes returned x weight  +  retention lift x weight )  x  confidence  ÷  build cost</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2670048"/>
          <a:ext cx="11055096" cy="914400"/>
        </p:xfrm>
        <a:graphic>
          <a:graphicData uri="http://schemas.openxmlformats.org/drawingml/2006/table">
            <a:tbl>
              <a:tblPr/>
              <a:tblGrid>
                <a:gridCol w="3566160"/>
                <a:gridCol w="731520"/>
                <a:gridCol w="1828800"/>
                <a:gridCol w="1600200"/>
                <a:gridCol w="33284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Top-ranked capability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Journey lane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Horizon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ranks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Fix the top dead-end flow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Everyday work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1 to 30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 minutes, high confidence, low build cost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Schedule-conflict action 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Everyday work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Largest minutes return of any single capability</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Onboarding Companion nano-agent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First 90 days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Highest retention lift, moderate confidence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Day-1 orientation 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First shift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Strong retention lift at low build cost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Retention-risk score and two arms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 lift, low confidence until measured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Contextual bandit pilot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61 to 90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Highest cost, highest option value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8" name="Text 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Confidence multiplies rather than adds, so a large opportunity nobody believes in ranks like a modest one that is certain. Cost divides, which converts impact into impact per unit of effort. Swimlanes expose gaps: an empty lane is a journey milestone no plan is serving.</a:t>
            </a:r>
            <a:endParaRPr lang="en-US" sz="1050" dirty="0"/>
          </a:p>
        </p:txBody>
      </p:sp>
      <p:sp>
        <p:nvSpPr>
          <p:cNvPr id="9" name="Text 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A16  ·  PLAN B IN FULL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Answer to action: close the agentic gap on the highest-volume clusters.</a:t>
            </a:r>
            <a:endParaRPr lang="en-US" sz="2600" dirty="0"/>
          </a:p>
        </p:txBody>
      </p:sp>
      <p:sp>
        <p:nvSpPr>
          <p:cNvPr id="5" name="Shape 3"/>
          <p:cNvSpPr/>
          <p:nvPr/>
        </p:nvSpPr>
        <p:spPr>
          <a:xfrm>
            <a:off x="566928" y="1783080"/>
            <a:ext cx="5390388" cy="1313688"/>
          </a:xfrm>
          <a:prstGeom prst="roundRect">
            <a:avLst>
              <a:gd name="adj" fmla="val 6961"/>
            </a:avLst>
          </a:prstGeom>
          <a:solidFill>
            <a:srgbClr val="F1F5FA"/>
          </a:solidFill>
          <a:ln w="12700">
            <a:solidFill>
              <a:srgbClr val="F1F5FA"/>
            </a:solidFill>
            <a:prstDash val="solid"/>
          </a:ln>
        </p:spPr>
      </p:sp>
      <p:sp>
        <p:nvSpPr>
          <p:cNvPr id="6" name="Shape 4"/>
          <p:cNvSpPr/>
          <p:nvPr/>
        </p:nvSpPr>
        <p:spPr>
          <a:xfrm>
            <a:off x="822960" y="237591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Thesis: every question that ends in “go find your team lead” costs three people time. Moving the top clusters from explaining to doing returns minutes and removes daily friction.</a:t>
            </a:r>
            <a:endParaRPr lang="en-US" sz="1200" dirty="0"/>
          </a:p>
        </p:txBody>
      </p:sp>
      <p:sp>
        <p:nvSpPr>
          <p:cNvPr id="8" name="Shape 6"/>
          <p:cNvSpPr/>
          <p:nvPr/>
        </p:nvSpPr>
        <p:spPr>
          <a:xfrm>
            <a:off x="6231636" y="1783080"/>
            <a:ext cx="5390388" cy="1313688"/>
          </a:xfrm>
          <a:prstGeom prst="roundRect">
            <a:avLst>
              <a:gd name="adj" fmla="val 6961"/>
            </a:avLst>
          </a:prstGeom>
          <a:solidFill>
            <a:srgbClr val="F1F5FA"/>
          </a:solidFill>
          <a:ln w="12700">
            <a:solidFill>
              <a:srgbClr val="F1F5FA"/>
            </a:solidFill>
            <a:prstDash val="solid"/>
          </a:ln>
        </p:spPr>
      </p:sp>
      <p:sp>
        <p:nvSpPr>
          <p:cNvPr id="9" name="Shape 7"/>
          <p:cNvSpPr/>
          <p:nvPr/>
        </p:nvSpPr>
        <p:spPr>
          <a:xfrm>
            <a:off x="6487668" y="237591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1 to 30: cluster the 3M daily questions by intent and score each cluster by frequency x time-cost x feasibility. Hypothesis for the top three: scheduling, time off, task and equipment.</a:t>
            </a:r>
            <a:endParaRPr lang="en-US" sz="1200" dirty="0"/>
          </a:p>
        </p:txBody>
      </p:sp>
      <p:sp>
        <p:nvSpPr>
          <p:cNvPr id="11" name="Shape 9"/>
          <p:cNvSpPr/>
          <p:nvPr/>
        </p:nvSpPr>
        <p:spPr>
          <a:xfrm>
            <a:off x="566928" y="3297936"/>
            <a:ext cx="5390388" cy="1313688"/>
          </a:xfrm>
          <a:prstGeom prst="roundRect">
            <a:avLst>
              <a:gd name="adj" fmla="val 6961"/>
            </a:avLst>
          </a:prstGeom>
          <a:solidFill>
            <a:srgbClr val="F1F5FA"/>
          </a:solidFill>
          <a:ln w="12700">
            <a:solidFill>
              <a:srgbClr val="F1F5FA"/>
            </a:solidFill>
            <a:prstDash val="solid"/>
          </a:ln>
        </p:spPr>
      </p:sp>
      <p:sp>
        <p:nvSpPr>
          <p:cNvPr id="12" name="Shape 10"/>
          <p:cNvSpPr/>
          <p:nvPr/>
        </p:nvSpPr>
        <p:spPr>
          <a:xfrm>
            <a:off x="822960" y="389077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31 to 60: one nano-agent ships the complete loop for cluster one. Detect, propose takers, initiate the swap, escalate async to the lead, close the loop.</a:t>
            </a:r>
            <a:endParaRPr lang="en-US" sz="1200" dirty="0"/>
          </a:p>
        </p:txBody>
      </p:sp>
      <p:sp>
        <p:nvSpPr>
          <p:cNvPr id="14" name="Shape 12"/>
          <p:cNvSpPr/>
          <p:nvPr/>
        </p:nvSpPr>
        <p:spPr>
          <a:xfrm>
            <a:off x="6231636" y="3297936"/>
            <a:ext cx="5390388" cy="1313688"/>
          </a:xfrm>
          <a:prstGeom prst="roundRect">
            <a:avLst>
              <a:gd name="adj" fmla="val 6961"/>
            </a:avLst>
          </a:prstGeom>
          <a:solidFill>
            <a:srgbClr val="F1F5FA"/>
          </a:solidFill>
          <a:ln w="12700">
            <a:solidFill>
              <a:srgbClr val="F1F5FA"/>
            </a:solidFill>
            <a:prstDash val="solid"/>
          </a:ln>
        </p:spPr>
      </p:sp>
      <p:sp>
        <p:nvSpPr>
          <p:cNvPr id="15" name="Shape 13"/>
          <p:cNvSpPr/>
          <p:nvPr/>
        </p:nvSpPr>
        <p:spPr>
          <a:xfrm>
            <a:off x="6487668" y="389077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instrument task completion and deflection, harden reliability, spec cluster two, and institutionalize the experimentation cadence.</a:t>
            </a:r>
            <a:endParaRPr lang="en-US" sz="1200" dirty="0"/>
          </a:p>
        </p:txBody>
      </p:sp>
      <p:sp>
        <p:nvSpPr>
          <p:cNvPr id="17" name="Shape 15"/>
          <p:cNvSpPr/>
          <p:nvPr/>
        </p:nvSpPr>
        <p:spPr>
          <a:xfrm>
            <a:off x="566928" y="4812792"/>
            <a:ext cx="5390388" cy="1313688"/>
          </a:xfrm>
          <a:prstGeom prst="roundRect">
            <a:avLst>
              <a:gd name="adj" fmla="val 6961"/>
            </a:avLst>
          </a:prstGeom>
          <a:solidFill>
            <a:srgbClr val="F1F5FA"/>
          </a:solidFill>
          <a:ln w="12700">
            <a:solidFill>
              <a:srgbClr val="F1F5FA"/>
            </a:solidFill>
            <a:prstDash val="solid"/>
          </a:ln>
        </p:spPr>
      </p:sp>
      <p:sp>
        <p:nvSpPr>
          <p:cNvPr id="18" name="Shape 16"/>
          <p:cNvSpPr/>
          <p:nvPr/>
        </p:nvSpPr>
        <p:spPr>
          <a:xfrm>
            <a:off x="822960" y="54056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North star: minutes of associate time returned per week. Supporting: in-app task completion, manager-interruption deflection, answer-to-action conversion, and trust metrics.</a:t>
            </a:r>
            <a:endParaRPr lang="en-US" sz="1200" dirty="0"/>
          </a:p>
        </p:txBody>
      </p:sp>
      <p:sp>
        <p:nvSpPr>
          <p:cNvPr id="20" name="Shape 18"/>
          <p:cNvSpPr/>
          <p:nvPr/>
        </p:nvSpPr>
        <p:spPr>
          <a:xfrm>
            <a:off x="6231636" y="4812792"/>
            <a:ext cx="5390388" cy="1313688"/>
          </a:xfrm>
          <a:prstGeom prst="roundRect">
            <a:avLst>
              <a:gd name="adj" fmla="val 6961"/>
            </a:avLst>
          </a:prstGeom>
          <a:solidFill>
            <a:srgbClr val="F1F5FA"/>
          </a:solidFill>
          <a:ln w="12700">
            <a:solidFill>
              <a:srgbClr val="F1F5FA"/>
            </a:solidFill>
            <a:prstDash val="solid"/>
          </a:ln>
        </p:spPr>
      </p:sp>
      <p:sp>
        <p:nvSpPr>
          <p:cNvPr id="21" name="Shape 19"/>
          <p:cNvSpPr/>
          <p:nvPr/>
        </p:nvSpPr>
        <p:spPr>
          <a:xfrm>
            <a:off x="6487668" y="54056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Risks: action agents touch systems of record, so the integration and trust bar is high, and one wrong scheduling action costs more trust than 100 right answers earn.</a:t>
            </a:r>
            <a:endParaRPr lang="en-US" sz="120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A17  ·  PLAN C IN FULL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Signal Engine: sense each cohort's state, respond with the right intervention, learn what works.</a:t>
            </a:r>
            <a:endParaRPr lang="en-US" sz="2600" dirty="0"/>
          </a:p>
        </p:txBody>
      </p:sp>
      <p:sp>
        <p:nvSpPr>
          <p:cNvPr id="5" name="Shape 3"/>
          <p:cNvSpPr/>
          <p:nvPr/>
        </p:nvSpPr>
        <p:spPr>
          <a:xfrm>
            <a:off x="566928" y="1783080"/>
            <a:ext cx="5390388" cy="1313688"/>
          </a:xfrm>
          <a:prstGeom prst="roundRect">
            <a:avLst>
              <a:gd name="adj" fmla="val 6961"/>
            </a:avLst>
          </a:prstGeom>
          <a:solidFill>
            <a:srgbClr val="F1F5FA"/>
          </a:solidFill>
          <a:ln w="12700">
            <a:solidFill>
              <a:srgbClr val="F1F5FA"/>
            </a:solidFill>
            <a:prstDash val="solid"/>
          </a:ln>
        </p:spPr>
      </p:sp>
      <p:sp>
        <p:nvSpPr>
          <p:cNvPr id="6" name="Shape 4"/>
          <p:cNvSpPr/>
          <p:nvPr/>
        </p:nvSpPr>
        <p:spPr>
          <a:xfrm>
            <a:off x="822960" y="237591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Thesis: Walmart has 1.9M associates and treats them, product-wise, as one user. The durable advantage is a platform that senses cohort state and responds, not any single feature.</a:t>
            </a:r>
            <a:endParaRPr lang="en-US" sz="1200" dirty="0"/>
          </a:p>
        </p:txBody>
      </p:sp>
      <p:sp>
        <p:nvSpPr>
          <p:cNvPr id="8" name="Shape 6"/>
          <p:cNvSpPr/>
          <p:nvPr/>
        </p:nvSpPr>
        <p:spPr>
          <a:xfrm>
            <a:off x="6231636" y="1783080"/>
            <a:ext cx="5390388" cy="1313688"/>
          </a:xfrm>
          <a:prstGeom prst="roundRect">
            <a:avLst>
              <a:gd name="adj" fmla="val 6961"/>
            </a:avLst>
          </a:prstGeom>
          <a:solidFill>
            <a:srgbClr val="F1F5FA"/>
          </a:solidFill>
          <a:ln w="12700">
            <a:solidFill>
              <a:srgbClr val="F1F5FA"/>
            </a:solidFill>
            <a:prstDash val="solid"/>
          </a:ln>
        </p:spPr>
      </p:sp>
      <p:sp>
        <p:nvSpPr>
          <p:cNvPr id="9" name="Shape 7"/>
          <p:cNvSpPr/>
          <p:nvPr/>
        </p:nvSpPr>
        <p:spPr>
          <a:xfrm>
            <a:off x="6487668" y="237591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1 to 30: inventory every existing signal, define the cohort taxonomy (role x shift x region x tenure), and fit a scoring model v0 on historical data to test whether 90-day attrition is predictable from app signals.</a:t>
            </a:r>
            <a:endParaRPr lang="en-US" sz="1200" dirty="0"/>
          </a:p>
        </p:txBody>
      </p:sp>
      <p:sp>
        <p:nvSpPr>
          <p:cNvPr id="11" name="Shape 9"/>
          <p:cNvSpPr/>
          <p:nvPr/>
        </p:nvSpPr>
        <p:spPr>
          <a:xfrm>
            <a:off x="566928" y="3297936"/>
            <a:ext cx="5390388" cy="1313688"/>
          </a:xfrm>
          <a:prstGeom prst="roundRect">
            <a:avLst>
              <a:gd name="adj" fmla="val 6961"/>
            </a:avLst>
          </a:prstGeom>
          <a:solidFill>
            <a:srgbClr val="F1F5FA"/>
          </a:solidFill>
          <a:ln w="12700">
            <a:solidFill>
              <a:srgbClr val="F1F5FA"/>
            </a:solidFill>
            <a:prstDash val="solid"/>
          </a:ln>
        </p:spPr>
      </p:sp>
      <p:sp>
        <p:nvSpPr>
          <p:cNvPr id="12" name="Shape 10"/>
          <p:cNvSpPr/>
          <p:nvPr/>
        </p:nvSpPr>
        <p:spPr>
          <a:xfrm>
            <a:off x="822960" y="389077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31 to 60: retention-risk score live for new hires. Two arms A/B tested, proactive check-in against real-reward choice. Reward catalog v1 shipped with HR and legal clearance.</a:t>
            </a:r>
            <a:endParaRPr lang="en-US" sz="1200" dirty="0"/>
          </a:p>
        </p:txBody>
      </p:sp>
      <p:sp>
        <p:nvSpPr>
          <p:cNvPr id="14" name="Shape 12"/>
          <p:cNvSpPr/>
          <p:nvPr/>
        </p:nvSpPr>
        <p:spPr>
          <a:xfrm>
            <a:off x="6231636" y="3297936"/>
            <a:ext cx="5390388" cy="1313688"/>
          </a:xfrm>
          <a:prstGeom prst="roundRect">
            <a:avLst>
              <a:gd name="adj" fmla="val 6961"/>
            </a:avLst>
          </a:prstGeom>
          <a:solidFill>
            <a:srgbClr val="F1F5FA"/>
          </a:solidFill>
          <a:ln w="12700">
            <a:solidFill>
              <a:srgbClr val="F1F5FA"/>
            </a:solidFill>
            <a:prstDash val="solid"/>
          </a:ln>
        </p:spPr>
      </p:sp>
      <p:sp>
        <p:nvSpPr>
          <p:cNvPr id="15" name="Shape 13"/>
          <p:cNvSpPr/>
          <p:nvPr/>
        </p:nvSpPr>
        <p:spPr>
          <a:xfrm>
            <a:off x="6487668" y="389077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contextual bandit across 3 to 4 arms in pilot regions, cohort-level results, and an opportunity-scoring dashboard that turns signals into ranked roadmap input.</a:t>
            </a:r>
            <a:endParaRPr lang="en-US" sz="1200" dirty="0"/>
          </a:p>
        </p:txBody>
      </p:sp>
      <p:sp>
        <p:nvSpPr>
          <p:cNvPr id="17" name="Shape 15"/>
          <p:cNvSpPr/>
          <p:nvPr/>
        </p:nvSpPr>
        <p:spPr>
          <a:xfrm>
            <a:off x="566928" y="4812792"/>
            <a:ext cx="5390388" cy="1313688"/>
          </a:xfrm>
          <a:prstGeom prst="roundRect">
            <a:avLst>
              <a:gd name="adj" fmla="val 6961"/>
            </a:avLst>
          </a:prstGeom>
          <a:solidFill>
            <a:srgbClr val="F1F5FA"/>
          </a:solidFill>
          <a:ln w="12700">
            <a:solidFill>
              <a:srgbClr val="F1F5FA"/>
            </a:solidFill>
            <a:prstDash val="solid"/>
          </a:ln>
        </p:spPr>
      </p:sp>
      <p:sp>
        <p:nvSpPr>
          <p:cNvPr id="18" name="Shape 16"/>
          <p:cNvSpPr/>
          <p:nvPr/>
        </p:nvSpPr>
        <p:spPr>
          <a:xfrm>
            <a:off x="822960" y="54056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North star: predicted versus actual retention lift in bandit cohorts, with long-horizon holdouts. Supporting: score AUC, incentive ROI per arm, engagement lift per cohort.</a:t>
            </a:r>
            <a:endParaRPr lang="en-US" sz="1200" dirty="0"/>
          </a:p>
        </p:txBody>
      </p:sp>
      <p:sp>
        <p:nvSpPr>
          <p:cNvPr id="20" name="Shape 18"/>
          <p:cNvSpPr/>
          <p:nvPr/>
        </p:nvSpPr>
        <p:spPr>
          <a:xfrm>
            <a:off x="6231636" y="4812792"/>
            <a:ext cx="5390388" cy="1313688"/>
          </a:xfrm>
          <a:prstGeom prst="roundRect">
            <a:avLst>
              <a:gd name="adj" fmla="val 6961"/>
            </a:avLst>
          </a:prstGeom>
          <a:solidFill>
            <a:srgbClr val="F1F5FA"/>
          </a:solidFill>
          <a:ln w="12700">
            <a:solidFill>
              <a:srgbClr val="F1F5FA"/>
            </a:solidFill>
            <a:prstDash val="solid"/>
          </a:ln>
        </p:spPr>
      </p:sp>
      <p:sp>
        <p:nvSpPr>
          <p:cNvPr id="21" name="Shape 19"/>
          <p:cNvSpPr/>
          <p:nvPr/>
        </p:nvSpPr>
        <p:spPr>
          <a:xfrm>
            <a:off x="6487668" y="54056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Risks: scoring associates can read as surveillance, and this is the slowest path to a visible win. Mitigation is radical transparency plus dedicated data-science headcount.</a:t>
            </a:r>
            <a:endParaRPr lang="en-US" sz="120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A18  ·  FOR ENGINEERING</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What this needs to scale past the pilot.</a:t>
            </a:r>
            <a:endParaRPr lang="en-US" sz="2600" dirty="0"/>
          </a:p>
        </p:txBody>
      </p:sp>
      <p:sp>
        <p:nvSpPr>
          <p:cNvPr id="5" name="Shape 3"/>
          <p:cNvSpPr/>
          <p:nvPr/>
        </p:nvSpPr>
        <p:spPr>
          <a:xfrm>
            <a:off x="566928" y="1920240"/>
            <a:ext cx="2558034" cy="2651760"/>
          </a:xfrm>
          <a:prstGeom prst="roundRect">
            <a:avLst>
              <a:gd name="adj" fmla="val 4290"/>
            </a:avLst>
          </a:prstGeom>
          <a:solidFill>
            <a:srgbClr val="F1F5FA"/>
          </a:solidFill>
          <a:ln w="12700">
            <a:solidFill>
              <a:srgbClr val="F1F5FA"/>
            </a:solidFill>
            <a:prstDash val="solid"/>
          </a:ln>
        </p:spPr>
      </p:sp>
      <p:sp>
        <p:nvSpPr>
          <p:cNvPr id="6" name="Shape 4"/>
          <p:cNvSpPr/>
          <p:nvPr/>
        </p:nvSpPr>
        <p:spPr>
          <a:xfrm>
            <a:off x="804672" y="2157984"/>
            <a:ext cx="457200" cy="457200"/>
          </a:xfrm>
          <a:prstGeom prst="ellipse">
            <a:avLst/>
          </a:prstGeom>
          <a:solidFill>
            <a:srgbClr val="16233B"/>
          </a:solidFill>
          <a:ln w="12700">
            <a:solidFill>
              <a:srgbClr val="16233B"/>
            </a:solidFill>
            <a:prstDash val="solid"/>
          </a:ln>
        </p:spPr>
      </p:sp>
      <p:sp>
        <p:nvSpPr>
          <p:cNvPr id="7" name="Text 5"/>
          <p:cNvSpPr/>
          <p:nvPr/>
        </p:nvSpPr>
        <p:spPr>
          <a:xfrm>
            <a:off x="804672"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804672"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Feature store</a:t>
            </a:r>
            <a:endParaRPr lang="en-US" sz="1600" dirty="0"/>
          </a:p>
        </p:txBody>
      </p:sp>
      <p:sp>
        <p:nvSpPr>
          <p:cNvPr id="9" name="Text 7"/>
          <p:cNvSpPr/>
          <p:nvPr/>
        </p:nvSpPr>
        <p:spPr>
          <a:xfrm>
            <a:off x="804672"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Signals land in a shared feature store on the Element platform. Built to hand off, not to hoard.</a:t>
            </a:r>
            <a:endParaRPr lang="en-US" sz="1150" dirty="0"/>
          </a:p>
        </p:txBody>
      </p:sp>
      <p:sp>
        <p:nvSpPr>
          <p:cNvPr id="10" name="Shape 8"/>
          <p:cNvSpPr/>
          <p:nvPr/>
        </p:nvSpPr>
        <p:spPr>
          <a:xfrm>
            <a:off x="3399282" y="1920240"/>
            <a:ext cx="2558034" cy="2651760"/>
          </a:xfrm>
          <a:prstGeom prst="roundRect">
            <a:avLst>
              <a:gd name="adj" fmla="val 4290"/>
            </a:avLst>
          </a:prstGeom>
          <a:solidFill>
            <a:srgbClr val="F1F5FA"/>
          </a:solidFill>
          <a:ln w="12700">
            <a:solidFill>
              <a:srgbClr val="F1F5FA"/>
            </a:solidFill>
            <a:prstDash val="solid"/>
          </a:ln>
        </p:spPr>
      </p:sp>
      <p:sp>
        <p:nvSpPr>
          <p:cNvPr id="11" name="Shape 9"/>
          <p:cNvSpPr/>
          <p:nvPr/>
        </p:nvSpPr>
        <p:spPr>
          <a:xfrm>
            <a:off x="3637026" y="2157984"/>
            <a:ext cx="457200" cy="457200"/>
          </a:xfrm>
          <a:prstGeom prst="ellipse">
            <a:avLst/>
          </a:prstGeom>
          <a:solidFill>
            <a:srgbClr val="16233B"/>
          </a:solidFill>
          <a:ln w="12700">
            <a:solidFill>
              <a:srgbClr val="16233B"/>
            </a:solidFill>
            <a:prstDash val="solid"/>
          </a:ln>
        </p:spPr>
      </p:sp>
      <p:sp>
        <p:nvSpPr>
          <p:cNvPr id="12" name="Text 10"/>
          <p:cNvSpPr/>
          <p:nvPr/>
        </p:nvSpPr>
        <p:spPr>
          <a:xfrm>
            <a:off x="3637026"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3637026"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Versioned scores</a:t>
            </a:r>
            <a:endParaRPr lang="en-US" sz="1600" dirty="0"/>
          </a:p>
        </p:txBody>
      </p:sp>
      <p:sp>
        <p:nvSpPr>
          <p:cNvPr id="14" name="Text 12"/>
          <p:cNvSpPr/>
          <p:nvPr/>
        </p:nvSpPr>
        <p:spPr>
          <a:xfrm>
            <a:off x="3637026"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Scores are versioned models with monitoring owned by data science. Product owns the semantics.</a:t>
            </a:r>
            <a:endParaRPr lang="en-US" sz="1150" dirty="0"/>
          </a:p>
        </p:txBody>
      </p:sp>
      <p:sp>
        <p:nvSpPr>
          <p:cNvPr id="15" name="Shape 13"/>
          <p:cNvSpPr/>
          <p:nvPr/>
        </p:nvSpPr>
        <p:spPr>
          <a:xfrm>
            <a:off x="6231636" y="1920240"/>
            <a:ext cx="2558034" cy="2651760"/>
          </a:xfrm>
          <a:prstGeom prst="roundRect">
            <a:avLst>
              <a:gd name="adj" fmla="val 4290"/>
            </a:avLst>
          </a:prstGeom>
          <a:solidFill>
            <a:srgbClr val="F1F5FA"/>
          </a:solidFill>
          <a:ln w="12700">
            <a:solidFill>
              <a:srgbClr val="F1F5FA"/>
            </a:solidFill>
            <a:prstDash val="solid"/>
          </a:ln>
        </p:spPr>
      </p:sp>
      <p:sp>
        <p:nvSpPr>
          <p:cNvPr id="16" name="Shape 14"/>
          <p:cNvSpPr/>
          <p:nvPr/>
        </p:nvSpPr>
        <p:spPr>
          <a:xfrm>
            <a:off x="6469380" y="2157984"/>
            <a:ext cx="457200" cy="457200"/>
          </a:xfrm>
          <a:prstGeom prst="ellipse">
            <a:avLst/>
          </a:prstGeom>
          <a:solidFill>
            <a:srgbClr val="16233B"/>
          </a:solidFill>
          <a:ln w="12700">
            <a:solidFill>
              <a:srgbClr val="16233B"/>
            </a:solidFill>
            <a:prstDash val="solid"/>
          </a:ln>
        </p:spPr>
      </p:sp>
      <p:sp>
        <p:nvSpPr>
          <p:cNvPr id="17" name="Text 15"/>
          <p:cNvSpPr/>
          <p:nvPr/>
        </p:nvSpPr>
        <p:spPr>
          <a:xfrm>
            <a:off x="6469380"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6469380"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Config-driven arms</a:t>
            </a:r>
            <a:endParaRPr lang="en-US" sz="1600" dirty="0"/>
          </a:p>
        </p:txBody>
      </p:sp>
      <p:sp>
        <p:nvSpPr>
          <p:cNvPr id="19" name="Text 17"/>
          <p:cNvSpPr/>
          <p:nvPr/>
        </p:nvSpPr>
        <p:spPr>
          <a:xfrm>
            <a:off x="6469380"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Interventions are config-driven templates. A new arm is config, not code.</a:t>
            </a:r>
            <a:endParaRPr lang="en-US" sz="1150" dirty="0"/>
          </a:p>
        </p:txBody>
      </p:sp>
      <p:sp>
        <p:nvSpPr>
          <p:cNvPr id="20" name="Shape 18"/>
          <p:cNvSpPr/>
          <p:nvPr/>
        </p:nvSpPr>
        <p:spPr>
          <a:xfrm>
            <a:off x="9063990" y="1920240"/>
            <a:ext cx="2558034" cy="2651760"/>
          </a:xfrm>
          <a:prstGeom prst="roundRect">
            <a:avLst>
              <a:gd name="adj" fmla="val 4290"/>
            </a:avLst>
          </a:prstGeom>
          <a:solidFill>
            <a:srgbClr val="F1F5FA"/>
          </a:solidFill>
          <a:ln w="12700">
            <a:solidFill>
              <a:srgbClr val="F1F5FA"/>
            </a:solidFill>
            <a:prstDash val="solid"/>
          </a:ln>
        </p:spPr>
      </p:sp>
      <p:sp>
        <p:nvSpPr>
          <p:cNvPr id="21" name="Shape 19"/>
          <p:cNvSpPr/>
          <p:nvPr/>
        </p:nvSpPr>
        <p:spPr>
          <a:xfrm>
            <a:off x="9301734" y="2157984"/>
            <a:ext cx="457200" cy="457200"/>
          </a:xfrm>
          <a:prstGeom prst="ellipse">
            <a:avLst/>
          </a:prstGeom>
          <a:solidFill>
            <a:srgbClr val="16233B"/>
          </a:solidFill>
          <a:ln w="12700">
            <a:solidFill>
              <a:srgbClr val="16233B"/>
            </a:solidFill>
            <a:prstDash val="solid"/>
          </a:ln>
        </p:spPr>
      </p:sp>
      <p:sp>
        <p:nvSpPr>
          <p:cNvPr id="22" name="Text 20"/>
          <p:cNvSpPr/>
          <p:nvPr/>
        </p:nvSpPr>
        <p:spPr>
          <a:xfrm>
            <a:off x="9301734"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9301734"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Launch criteria</a:t>
            </a:r>
            <a:endParaRPr lang="en-US" sz="1600" dirty="0"/>
          </a:p>
        </p:txBody>
      </p:sp>
      <p:sp>
        <p:nvSpPr>
          <p:cNvPr id="24" name="Text 22"/>
          <p:cNvSpPr/>
          <p:nvPr/>
        </p:nvSpPr>
        <p:spPr>
          <a:xfrm>
            <a:off x="9301734"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WCAG 2.2 AA and 44-language coverage as launch gates, with associate co-design panels every field cycle.</a:t>
            </a:r>
            <a:endParaRPr lang="en-US" sz="1150" dirty="0"/>
          </a:p>
        </p:txBody>
      </p:sp>
      <p:sp>
        <p:nvSpPr>
          <p:cNvPr id="25" name="Text 23"/>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Accessibility and language coverage are launch criteria, not a later release. An associate app that only serves some associates is not shipped.</a:t>
            </a:r>
            <a:endParaRPr lang="en-US" sz="1050" dirty="0"/>
          </a:p>
        </p:txBody>
      </p:sp>
      <p:sp>
        <p:nvSpPr>
          <p:cNvPr id="26" name="Text 24"/>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A19  ·  GROUNDING FACTS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304"/>
              </a:lnSpc>
              <a:buNone/>
            </a:pPr>
            <a:r>
              <a:rPr lang="en-US" sz="2800" b="1" dirty="0">
                <a:solidFill>
                  <a:srgbClr val="FFFFFF"/>
                </a:solidFill>
                <a:latin typeface="Cambria" pitchFamily="34" charset="0"/>
                <a:ea typeface="Cambria" pitchFamily="34" charset="-122"/>
                <a:cs typeface="Cambria" pitchFamily="34" charset="-120"/>
              </a:rPr>
              <a:t>Numbers this deck rests on.</a:t>
            </a:r>
            <a:endParaRPr lang="en-US" sz="2800" dirty="0"/>
          </a:p>
        </p:txBody>
      </p:sp>
      <p:sp>
        <p:nvSpPr>
          <p:cNvPr id="5" name="Shape 3"/>
          <p:cNvSpPr/>
          <p:nvPr/>
        </p:nvSpPr>
        <p:spPr>
          <a:xfrm>
            <a:off x="566928" y="1965960"/>
            <a:ext cx="3502152" cy="1298448"/>
          </a:xfrm>
          <a:prstGeom prst="roundRect">
            <a:avLst>
              <a:gd name="adj" fmla="val 8451"/>
            </a:avLst>
          </a:prstGeom>
          <a:solidFill>
            <a:srgbClr val="223558"/>
          </a:solidFill>
          <a:ln w="12700">
            <a:solidFill>
              <a:srgbClr val="223558"/>
            </a:solidFill>
            <a:prstDash val="solid"/>
          </a:ln>
        </p:spPr>
      </p:sp>
      <p:sp>
        <p:nvSpPr>
          <p:cNvPr id="6" name="Text 4"/>
          <p:cNvSpPr/>
          <p:nvPr/>
        </p:nvSpPr>
        <p:spPr>
          <a:xfrm>
            <a:off x="731520"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~1.9M</a:t>
            </a:r>
            <a:endParaRPr lang="en-US" sz="3000" dirty="0"/>
          </a:p>
        </p:txBody>
      </p:sp>
      <p:sp>
        <p:nvSpPr>
          <p:cNvPr id="7" name="Text 5"/>
          <p:cNvSpPr/>
          <p:nvPr/>
        </p:nvSpPr>
        <p:spPr>
          <a:xfrm>
            <a:off x="731520"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global associates</a:t>
            </a:r>
            <a:endParaRPr lang="en-US" sz="1150" dirty="0"/>
          </a:p>
        </p:txBody>
      </p:sp>
      <p:sp>
        <p:nvSpPr>
          <p:cNvPr id="8" name="Shape 6"/>
          <p:cNvSpPr/>
          <p:nvPr/>
        </p:nvSpPr>
        <p:spPr>
          <a:xfrm>
            <a:off x="4343400" y="1965960"/>
            <a:ext cx="3502152" cy="1298448"/>
          </a:xfrm>
          <a:prstGeom prst="roundRect">
            <a:avLst>
              <a:gd name="adj" fmla="val 8451"/>
            </a:avLst>
          </a:prstGeom>
          <a:solidFill>
            <a:srgbClr val="223558"/>
          </a:solidFill>
          <a:ln w="12700">
            <a:solidFill>
              <a:srgbClr val="223558"/>
            </a:solidFill>
            <a:prstDash val="solid"/>
          </a:ln>
        </p:spPr>
      </p:sp>
      <p:sp>
        <p:nvSpPr>
          <p:cNvPr id="9" name="Text 7"/>
          <p:cNvSpPr/>
          <p:nvPr/>
        </p:nvSpPr>
        <p:spPr>
          <a:xfrm>
            <a:off x="4507992"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~3M</a:t>
            </a:r>
            <a:endParaRPr lang="en-US" sz="3000" dirty="0"/>
          </a:p>
        </p:txBody>
      </p:sp>
      <p:sp>
        <p:nvSpPr>
          <p:cNvPr id="10" name="Text 8"/>
          <p:cNvSpPr/>
          <p:nvPr/>
        </p:nvSpPr>
        <p:spPr>
          <a:xfrm>
            <a:off x="4507992"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Sidekick questions a day</a:t>
            </a:r>
            <a:endParaRPr lang="en-US" sz="1150" dirty="0"/>
          </a:p>
        </p:txBody>
      </p:sp>
      <p:sp>
        <p:nvSpPr>
          <p:cNvPr id="11" name="Shape 9"/>
          <p:cNvSpPr/>
          <p:nvPr/>
        </p:nvSpPr>
        <p:spPr>
          <a:xfrm>
            <a:off x="8119872" y="1965960"/>
            <a:ext cx="3502152" cy="1298448"/>
          </a:xfrm>
          <a:prstGeom prst="roundRect">
            <a:avLst>
              <a:gd name="adj" fmla="val 8451"/>
            </a:avLst>
          </a:prstGeom>
          <a:solidFill>
            <a:srgbClr val="223558"/>
          </a:solidFill>
          <a:ln w="12700">
            <a:solidFill>
              <a:srgbClr val="223558"/>
            </a:solidFill>
            <a:prstDash val="solid"/>
          </a:ln>
        </p:spPr>
      </p:sp>
      <p:sp>
        <p:nvSpPr>
          <p:cNvPr id="12" name="Text 10"/>
          <p:cNvSpPr/>
          <p:nvPr/>
        </p:nvSpPr>
        <p:spPr>
          <a:xfrm>
            <a:off x="8284464"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310K</a:t>
            </a:r>
            <a:endParaRPr lang="en-US" sz="3000" dirty="0"/>
          </a:p>
        </p:txBody>
      </p:sp>
      <p:sp>
        <p:nvSpPr>
          <p:cNvPr id="13" name="Text 11"/>
          <p:cNvSpPr/>
          <p:nvPr/>
        </p:nvSpPr>
        <p:spPr>
          <a:xfrm>
            <a:off x="8284464"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promoted in two years</a:t>
            </a:r>
            <a:endParaRPr lang="en-US" sz="1150" dirty="0"/>
          </a:p>
        </p:txBody>
      </p:sp>
      <p:sp>
        <p:nvSpPr>
          <p:cNvPr id="14" name="Shape 12"/>
          <p:cNvSpPr/>
          <p:nvPr/>
        </p:nvSpPr>
        <p:spPr>
          <a:xfrm>
            <a:off x="566928" y="3447288"/>
            <a:ext cx="3502152" cy="1298448"/>
          </a:xfrm>
          <a:prstGeom prst="roundRect">
            <a:avLst>
              <a:gd name="adj" fmla="val 8451"/>
            </a:avLst>
          </a:prstGeom>
          <a:solidFill>
            <a:srgbClr val="223558"/>
          </a:solidFill>
          <a:ln w="12700">
            <a:solidFill>
              <a:srgbClr val="223558"/>
            </a:solidFill>
            <a:prstDash val="solid"/>
          </a:ln>
        </p:spPr>
      </p:sp>
      <p:sp>
        <p:nvSpPr>
          <p:cNvPr id="15" name="Text 13"/>
          <p:cNvSpPr/>
          <p:nvPr/>
        </p:nvSpPr>
        <p:spPr>
          <a:xfrm>
            <a:off x="731520"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50+</a:t>
            </a:r>
            <a:endParaRPr lang="en-US" sz="3000" dirty="0"/>
          </a:p>
        </p:txBody>
      </p:sp>
      <p:sp>
        <p:nvSpPr>
          <p:cNvPr id="16" name="Text 14"/>
          <p:cNvSpPr/>
          <p:nvPr/>
        </p:nvSpPr>
        <p:spPr>
          <a:xfrm>
            <a:off x="731520"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Live Better U certificates, no cost</a:t>
            </a:r>
            <a:endParaRPr lang="en-US" sz="1150" dirty="0"/>
          </a:p>
        </p:txBody>
      </p:sp>
      <p:sp>
        <p:nvSpPr>
          <p:cNvPr id="17" name="Shape 15"/>
          <p:cNvSpPr/>
          <p:nvPr/>
        </p:nvSpPr>
        <p:spPr>
          <a:xfrm>
            <a:off x="4343400" y="3447288"/>
            <a:ext cx="3502152" cy="1298448"/>
          </a:xfrm>
          <a:prstGeom prst="roundRect">
            <a:avLst>
              <a:gd name="adj" fmla="val 8451"/>
            </a:avLst>
          </a:prstGeom>
          <a:solidFill>
            <a:srgbClr val="223558"/>
          </a:solidFill>
          <a:ln w="12700">
            <a:solidFill>
              <a:srgbClr val="223558"/>
            </a:solidFill>
            <a:prstDash val="solid"/>
          </a:ln>
        </p:spPr>
      </p:sp>
      <p:sp>
        <p:nvSpPr>
          <p:cNvPr id="18" name="Text 16"/>
          <p:cNvSpPr/>
          <p:nvPr/>
        </p:nvSpPr>
        <p:spPr>
          <a:xfrm>
            <a:off x="4507992"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$1B</a:t>
            </a:r>
            <a:endParaRPr lang="en-US" sz="3000" dirty="0"/>
          </a:p>
        </p:txBody>
      </p:sp>
      <p:sp>
        <p:nvSpPr>
          <p:cNvPr id="19" name="Text 17"/>
          <p:cNvSpPr/>
          <p:nvPr/>
        </p:nvSpPr>
        <p:spPr>
          <a:xfrm>
            <a:off x="4507992"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training investment by 2026</a:t>
            </a:r>
            <a:endParaRPr lang="en-US" sz="1150" dirty="0"/>
          </a:p>
        </p:txBody>
      </p:sp>
      <p:sp>
        <p:nvSpPr>
          <p:cNvPr id="20" name="Shape 18"/>
          <p:cNvSpPr/>
          <p:nvPr/>
        </p:nvSpPr>
        <p:spPr>
          <a:xfrm>
            <a:off x="8119872" y="3447288"/>
            <a:ext cx="3502152" cy="1298448"/>
          </a:xfrm>
          <a:prstGeom prst="roundRect">
            <a:avLst>
              <a:gd name="adj" fmla="val 8451"/>
            </a:avLst>
          </a:prstGeom>
          <a:solidFill>
            <a:srgbClr val="223558"/>
          </a:solidFill>
          <a:ln w="12700">
            <a:solidFill>
              <a:srgbClr val="223558"/>
            </a:solidFill>
            <a:prstDash val="solid"/>
          </a:ln>
        </p:spPr>
      </p:sp>
      <p:sp>
        <p:nvSpPr>
          <p:cNvPr id="21" name="Text 19"/>
          <p:cNvSpPr/>
          <p:nvPr/>
        </p:nvSpPr>
        <p:spPr>
          <a:xfrm>
            <a:off x="8284464"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90 to 30 min</a:t>
            </a:r>
            <a:endParaRPr lang="en-US" sz="3000" dirty="0"/>
          </a:p>
        </p:txBody>
      </p:sp>
      <p:sp>
        <p:nvSpPr>
          <p:cNvPr id="22" name="Text 20"/>
          <p:cNvSpPr/>
          <p:nvPr/>
        </p:nvSpPr>
        <p:spPr>
          <a:xfrm>
            <a:off x="8284464"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shift planning, already cut by agents</a:t>
            </a:r>
            <a:endParaRPr lang="en-US" sz="1150" dirty="0"/>
          </a:p>
        </p:txBody>
      </p:sp>
      <p:sp>
        <p:nvSpPr>
          <p:cNvPr id="23" name="Text 21"/>
          <p:cNvSpPr/>
          <p:nvPr/>
        </p:nvSpPr>
        <p:spPr>
          <a:xfrm>
            <a:off x="566928" y="5138928"/>
            <a:ext cx="11055096" cy="658368"/>
          </a:xfrm>
          <a:prstGeom prst="rect">
            <a:avLst/>
          </a:prstGeom>
          <a:noFill/>
          <a:ln/>
        </p:spPr>
        <p:txBody>
          <a:bodyPr wrap="square" lIns="0" tIns="0" rIns="0" bIns="0" rtlCol="0" anchor="t"/>
          <a:lstStyle/>
          <a:p>
            <a:pPr indent="0" marL="0">
              <a:lnSpc>
                <a:spcPts val="1700"/>
              </a:lnSpc>
              <a:buNone/>
            </a:pPr>
            <a:r>
              <a:rPr lang="en-US" sz="1250" dirty="0">
                <a:solidFill>
                  <a:srgbClr val="C9D4E6"/>
                </a:solidFill>
                <a:latin typeface="Calibri" pitchFamily="34" charset="0"/>
                <a:ea typeface="Calibri" pitchFamily="34" charset="-122"/>
                <a:cs typeface="Calibri" pitchFamily="34" charset="-120"/>
              </a:rPr>
              <a:t>Context: a four-super-agent architecture (Sparky, Marty, Associate, Developer) with nano-agents beneath, a stated surgical agent philosophy from CTO Hari Vasudev, and a 5-year average US associate tenure.</a:t>
            </a:r>
            <a:endParaRPr lang="en-US" sz="1250" dirty="0"/>
          </a:p>
        </p:txBody>
      </p:sp>
      <p:sp>
        <p:nvSpPr>
          <p:cNvPr id="24" name="Text 22"/>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Independent candidate work product. Not affiliated with or endorsed by Walmart Inc. Financial models are illustrative with stated assumptions.</a:t>
            </a:r>
            <a:endParaRPr lang="en-US" sz="1050" dirty="0"/>
          </a:p>
        </p:txBody>
      </p:sp>
      <p:sp>
        <p:nvSpPr>
          <p:cNvPr id="25" name="Text 23"/>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MyWalmart / Sidekick: first 90 days</dc:title>
  <dc:subject>PptxGenJS Presentation</dc:subject>
  <dc:creator>Allen Hoem</dc:creator>
  <cp:lastModifiedBy>Allen Hoem</cp:lastModifiedBy>
  <cp:revision>1</cp:revision>
  <dcterms:created xsi:type="dcterms:W3CDTF">2026-08-03T16:00:58Z</dcterms:created>
  <dcterms:modified xsi:type="dcterms:W3CDTF">2026-08-03T16:00:58Z</dcterms:modified>
</cp:coreProperties>
</file>