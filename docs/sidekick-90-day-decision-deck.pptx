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New hires still employed</c:v>
                </c:pt>
              </c:strCache>
            </c:strRef>
          </c:tx>
          <c:spPr>
            <a:solidFill>
              <a:srgbClr val="3B7EA8"/>
            </a:solidFill>
            <a:ln w="44450" cap="flat">
              <a:solidFill>
                <a:srgbClr val="3B7EA8"/>
              </a:solidFill>
              <a:prstDash val="solid"/>
              <a:round/>
            </a:ln>
            <a:effectLst/>
          </c:spPr>
          <c:invertIfNegative val="0"/>
          <c:dLbls>
            <c:numFmt formatCode="0&quot;%&quot;" sourceLinked="0"/>
            <c:txPr>
              <a:bodyPr/>
              <a:lstStyle/>
              <a:p>
                <a:pPr>
                  <a:defRPr b="0" i="0" strike="noStrike" sz="1000" u="none">
                    <a:solidFill>
                      <a:srgbClr val="5E6980"/>
                    </a:solidFill>
                    <a:latin typeface="Arial"/>
                  </a:defRPr>
                </a:pPr>
              </a:p>
            </c:txPr>
            <c:dLblPos val="t"/>
            <c:showLegendKey val="0"/>
            <c:showVal val="1"/>
            <c:showCatName val="0"/>
            <c:showSerName val="0"/>
            <c:showPercent val="0"/>
            <c:showBubbleSize val="0"/>
            <c:showLeaderLines val="0"/>
          </c:dLbls>
          <c:marker>
            <c:symbol val="circle"/>
            <c:size val="6"/>
            <c:spPr>
              <a:solidFill>
                <a:srgbClr val="3B7EA8"/>
              </a:solidFill>
              <a:ln w="9525" cap="flat">
                <a:solidFill>
                  <a:srgbClr val="3B7EA8"/>
                </a:solidFill>
                <a:prstDash val="solid"/>
                <a:round/>
              </a:ln>
              <a:effectLst/>
            </c:spPr>
          </c:marker>
          <c:cat>
            <c:multiLvlStrRef>
              <c:f>Sheet1!$A$2:$A$8</c:f>
              <c:multiLvlStrCache>
                <c:ptCount val="7"/>
                <c:lvl>
                  <c:pt idx="0">
                    <c:v>Day 0</c:v>
                  </c:pt>
                  <c:pt idx="1">
                    <c:v>Day 7</c:v>
                  </c:pt>
                  <c:pt idx="2">
                    <c:v>Day 14</c:v>
                  </c:pt>
                  <c:pt idx="3">
                    <c:v>Day 30</c:v>
                  </c:pt>
                  <c:pt idx="4">
                    <c:v>Day 45</c:v>
                  </c:pt>
                  <c:pt idx="5">
                    <c:v>Day 60</c:v>
                  </c:pt>
                  <c:pt idx="6">
                    <c:v>Day 90</c:v>
                  </c:pt>
                </c:lvl>
              </c:multiLvlStrCache>
            </c:multiLvlStrRef>
          </c:cat>
          <c:val>
            <c:numRef>
              <c:f>Sheet1!$B$2:$B$8</c:f>
              <c:numCache>
                <c:formatCode>General</c:formatCode>
                <c:ptCount val="7"/>
                <c:pt idx="0">
                  <c:v>100</c:v>
                </c:pt>
                <c:pt idx="1">
                  <c:v>94</c:v>
                </c:pt>
                <c:pt idx="2">
                  <c:v>88</c:v>
                </c:pt>
                <c:pt idx="3">
                  <c:v>81</c:v>
                </c:pt>
                <c:pt idx="4">
                  <c:v>78</c:v>
                </c:pt>
                <c:pt idx="5">
                  <c:v>75</c:v>
                </c:pt>
                <c:pt idx="6">
                  <c:v>72</c:v>
                </c:pt>
              </c:numCache>
            </c:numRef>
          </c:val>
          <c:smooth val="0"/>
        </c:ser>
        <c:dLbls>
          <c:numFmt formatCode="0&quot;%&quot;" sourceLinked="0"/>
          <c:txPr>
            <a:bodyPr/>
            <a:lstStyle/>
            <a:p>
              <a:pPr>
                <a:defRPr b="0" i="0" strike="noStrike" sz="1000" u="none">
                  <a:solidFill>
                    <a:srgbClr val="5E6980"/>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E2EAF4"/>
            </a:solidFill>
            <a:prstDash val="solid"/>
            <a:round/>
          </a:ln>
        </c:spPr>
        <c:txPr>
          <a:bodyPr/>
          <a:lstStyle/>
          <a:p>
            <a:pPr>
              <a:defRPr sz="1050" b="0" i="0" u="none" strike="noStrike">
                <a:solidFill>
                  <a:srgbClr val="5E6980"/>
                </a:solidFill>
                <a:latin typeface="Calibri"/>
              </a:defRPr>
            </a:pPr>
            <a:endParaRPr lang="en-US"/>
          </a:p>
        </c:txPr>
        <c:crossAx val="2094734552"/>
        <c:crosses val="autoZero"/>
        <c:auto val="1"/>
        <c:lblAlgn val="ctr"/>
        <c:noMultiLvlLbl val="1"/>
      </c:catAx>
      <c:valAx>
        <c:axId val="2094734552"/>
        <c:scaling>
          <c:orientation val="minMax"/>
          <c:max val="104"/>
          <c:min val="60"/>
        </c:scaling>
        <c:delete val="0"/>
        <c:axPos val="l"/>
        <c:majorGridlines>
          <c:spPr>
            <a:ln w="12700" cap="flat">
              <a:solidFill>
                <a:srgbClr val="E2EAF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50" b="0" i="0" u="none" strike="noStrike">
                <a:solidFill>
                  <a:srgbClr val="5E69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problem and price it. Retention and results are the two numbers we are short of, and doing nothing costs about $1.5B a year at these assumptions. Nothing is asked of the room on this slide. The curve shape is the point, not the exact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mark is the most important character on this slide. Every deck that has proposed a rewards program asserted this equation and then spent against it. This one puts the hypothesis on screen and says the pilot will try to break it. That is what makes two weeks worth funding, and it is a stronger position than certainty because it survives being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once and move on. Variation between associates is not noise to be averaged away, it is the thing worth designing for. The Meijer note is here because it is more useful evidence about disengagement than a survey, and because it makes the argument something I have lived rather than modelled.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Rewards means four different things to the four seats in this room, so define it before arguing about it. Extrinsic is the one every competitor already has and the one Walmart cannot win on per dollar. Intrinsic and instant both depend on noticing something at the moment it happens, and noticing at 1.9M scale is a software problem rather than a management problem. Wellness hours in the intrinsic column are the direct link back to rejuvenation.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question mark on slide 2. Rewards and rejuvenation run as distinct arms rather than one bundled treatment, so a lift can be attributed to one or the other instead of to the program as a whole. Rewards last is a sequencing decision, not a priority call: rewards without the signal layer underneath is a gift card lottery.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Sidekick is a strong answer engine and a weak action engine. The gap between answering and doing is where the minutes and the goodwill go. Devon's exchange is the everyday version of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bet is falsifiable: it states up front what the discovery data would have to show for it to be the right entry point. That makes the sprint output the decider rather than anyone's conviction in this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proves the retention thesis in one quarter on a footprint small enough to kill. C turns that proof into rails everything later ships on. B runs through both because its wins are immediate and it feeds the engine the intent data it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 is a day-3 overnight stocker. Skipping a training never costs her anything, which is what makes it safe to learn. The week-1 reward is chosen by her, and that choice is also the training signal Plan C learns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Cohorts, not individuals: larger samples make the scores stable, and it is the right privacy posture because the engine never carries a hidden label on a person. Wellbeing reads operational signals only. Never health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Surveillance perception is the risk that kills Plan C if it is handled late. The mitigation is radical transparency from the first release, not a comms plan bolted on after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then one honest sentence about motive and stop talking. Amount, owner, date, gate, and the fallback are all on one slide so the room can decide without a second meeting. Bracketed values need finance and staffing input before this deck is presented.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walk the appendix. Jump to the slide the question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cell in the sensitivity grid still clears the cost of the sprint. That is the point of showing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Bentonville makes the floor shifts a weekly habit rather than a one-time event. That is the difference between ethnography and a photo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why not A/B: exposure. A/B spends weeks paying losing arms while a bandit reallocates continuously and still explores.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Cohort-level scoring gives larger samples per estimate, so the scores are statistically stable, and it is the right privacy posture because no individual carries a hidden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production the thresholds come from score distributions, for example top-quartile friction. The policy stays human-readable on purpose so a People team can audit every trigger.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everyday tier is the only one the system grants on its own. Everything above it routes through a human decision inside processes HR already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what let a People team sign off on a learning system. Each one is testable and each one has an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not there to be obeyed. It makes overrides explicit: here is what the signals rank, here is where I am overriding,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handoff posture matters: product owns what a score means, data science owns how it is computed and monitored.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here is public or stated as illustrative. The sprint replaces the illustrative ones with measured internal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URLs. 1: pmc.ncbi.nlm.nih.gov/articles/PMC8319625/. 2: youtube.com/watch?v=UGVuDwgcxlc. 3: gallup.com/workplace/236441/employee-recognition-low-cost-high-impact.aspx. 4: theirf.org/research_post/the-value-and-roi-of-employee-recognition/. 5: rewardgateway.com/blog/point-reward-system-for-employees. 6: ijsmsjournal.org/2025/volume-8 issue-3/ijsms-v8i3p118.pdf. If anyone challenges the reward taxonomy, this is the slide to turn to, and the honest answer is that the mechanism claims rest on the two academic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ALLEN HOEM  ·  PRINCIPAL PM CANDIDATE  ·  MYWALMART / SIDEKICK  ·  R-2555971</a:t>
            </a:r>
            <a:endParaRPr lang="en-US" sz="1100" dirty="0"/>
          </a:p>
        </p:txBody>
      </p:sp>
      <p:sp>
        <p:nvSpPr>
          <p:cNvPr id="4" name="Text 2"/>
          <p:cNvSpPr/>
          <p:nvPr/>
        </p:nvSpPr>
        <p:spPr>
          <a:xfrm>
            <a:off x="566928" y="749808"/>
            <a:ext cx="11055096" cy="1024128"/>
          </a:xfrm>
          <a:prstGeom prst="rect">
            <a:avLst/>
          </a:prstGeom>
          <a:noFill/>
          <a:ln/>
        </p:spPr>
        <p:txBody>
          <a:bodyPr wrap="square" lIns="0" tIns="0" rIns="0" bIns="0" rtlCol="0" anchor="t"/>
          <a:lstStyle/>
          <a:p>
            <a:pPr indent="0" marL="0">
              <a:lnSpc>
                <a:spcPts val="3500"/>
              </a:lnSpc>
              <a:buNone/>
            </a:pPr>
            <a:r>
              <a:rPr lang="en-US" sz="3000" b="1" dirty="0">
                <a:solidFill>
                  <a:srgbClr val="1B2338"/>
                </a:solidFill>
                <a:latin typeface="Cambria" pitchFamily="34" charset="0"/>
                <a:ea typeface="Cambria" pitchFamily="34" charset="-122"/>
                <a:cs typeface="Cambria" pitchFamily="34" charset="-120"/>
              </a:rPr>
              <a:t>About $1.5B a year walks out the door, and most of it goes in the first 6 weeks.</a:t>
            </a:r>
            <a:endParaRPr lang="en-US" sz="3000" dirty="0"/>
          </a:p>
        </p:txBody>
      </p:sp>
      <p:sp>
        <p:nvSpPr>
          <p:cNvPr id="5" name="Text 3"/>
          <p:cNvSpPr/>
          <p:nvPr/>
        </p:nvSpPr>
        <p:spPr>
          <a:xfrm>
            <a:off x="566928" y="2048256"/>
            <a:ext cx="3611880" cy="457200"/>
          </a:xfrm>
          <a:prstGeom prst="rect">
            <a:avLst/>
          </a:prstGeom>
          <a:noFill/>
          <a:ln/>
        </p:spPr>
        <p:txBody>
          <a:bodyPr wrap="square" lIns="0" tIns="0" rIns="0" bIns="0" rtlCol="0" anchor="ctr"/>
          <a:lstStyle/>
          <a:p>
            <a:pPr indent="0" marL="0">
              <a:buNone/>
            </a:pPr>
            <a:r>
              <a:rPr lang="en-US" sz="2700" b="1" dirty="0">
                <a:solidFill>
                  <a:srgbClr val="16233B"/>
                </a:solidFill>
                <a:latin typeface="Cambria" pitchFamily="34" charset="0"/>
                <a:ea typeface="Cambria" pitchFamily="34" charset="-122"/>
                <a:cs typeface="Cambria" pitchFamily="34" charset="-120"/>
              </a:rPr>
              <a:t>RETENTION</a:t>
            </a:r>
            <a:endParaRPr lang="en-US" sz="2700" dirty="0"/>
          </a:p>
        </p:txBody>
      </p:sp>
      <p:sp>
        <p:nvSpPr>
          <p:cNvPr id="6" name="Text 4"/>
          <p:cNvSpPr/>
          <p:nvPr/>
        </p:nvSpPr>
        <p:spPr>
          <a:xfrm>
            <a:off x="566928" y="2523744"/>
            <a:ext cx="3611880" cy="457200"/>
          </a:xfrm>
          <a:prstGeom prst="rect">
            <a:avLst/>
          </a:prstGeom>
          <a:noFill/>
          <a:ln/>
        </p:spPr>
        <p:txBody>
          <a:bodyPr wrap="square" lIns="0" tIns="0" rIns="0" bIns="0" rtlCol="0" anchor="t"/>
          <a:lstStyle/>
          <a:p>
            <a:pPr indent="0" marL="0">
              <a:lnSpc>
                <a:spcPts val="1600"/>
              </a:lnSpc>
              <a:buNone/>
            </a:pPr>
            <a:r>
              <a:rPr lang="en-US" sz="1250" dirty="0">
                <a:solidFill>
                  <a:srgbClr val="5E6980"/>
                </a:solidFill>
                <a:latin typeface="Calibri" pitchFamily="34" charset="0"/>
                <a:ea typeface="Calibri" pitchFamily="34" charset="-122"/>
                <a:cs typeface="Calibri" pitchFamily="34" charset="-120"/>
              </a:rPr>
              <a:t>Past 90 days, and past 5 years.</a:t>
            </a:r>
            <a:endParaRPr lang="en-US" sz="1250" dirty="0"/>
          </a:p>
        </p:txBody>
      </p:sp>
      <p:sp>
        <p:nvSpPr>
          <p:cNvPr id="7" name="Text 5"/>
          <p:cNvSpPr/>
          <p:nvPr/>
        </p:nvSpPr>
        <p:spPr>
          <a:xfrm>
            <a:off x="566928" y="3054096"/>
            <a:ext cx="3611880" cy="365760"/>
          </a:xfrm>
          <a:prstGeom prst="rect">
            <a:avLst/>
          </a:prstGeom>
          <a:noFill/>
          <a:ln/>
        </p:spPr>
        <p:txBody>
          <a:bodyPr wrap="square" lIns="0" tIns="0" rIns="0" bIns="0" rtlCol="0" anchor="ctr"/>
          <a:lstStyle/>
          <a:p>
            <a:pPr indent="0" marL="0">
              <a:buNone/>
            </a:pPr>
            <a:r>
              <a:rPr lang="en-US" sz="2200" b="1" dirty="0">
                <a:solidFill>
                  <a:srgbClr val="D9922B"/>
                </a:solidFill>
                <a:latin typeface="Cambria" pitchFamily="34" charset="0"/>
                <a:ea typeface="Cambria" pitchFamily="34" charset="-122"/>
                <a:cs typeface="Cambria" pitchFamily="34" charset="-120"/>
              </a:rPr>
              <a:t>+</a:t>
            </a:r>
            <a:endParaRPr lang="en-US" sz="2200" dirty="0"/>
          </a:p>
        </p:txBody>
      </p:sp>
      <p:sp>
        <p:nvSpPr>
          <p:cNvPr id="8" name="Text 6"/>
          <p:cNvSpPr/>
          <p:nvPr/>
        </p:nvSpPr>
        <p:spPr>
          <a:xfrm>
            <a:off x="566928" y="3493008"/>
            <a:ext cx="3611880" cy="457200"/>
          </a:xfrm>
          <a:prstGeom prst="rect">
            <a:avLst/>
          </a:prstGeom>
          <a:noFill/>
          <a:ln/>
        </p:spPr>
        <p:txBody>
          <a:bodyPr wrap="square" lIns="0" tIns="0" rIns="0" bIns="0" rtlCol="0" anchor="ctr"/>
          <a:lstStyle/>
          <a:p>
            <a:pPr indent="0" marL="0">
              <a:buNone/>
            </a:pPr>
            <a:r>
              <a:rPr lang="en-US" sz="2700" b="1" dirty="0">
                <a:solidFill>
                  <a:srgbClr val="16233B"/>
                </a:solidFill>
                <a:latin typeface="Cambria" pitchFamily="34" charset="0"/>
                <a:ea typeface="Cambria" pitchFamily="34" charset="-122"/>
                <a:cs typeface="Cambria" pitchFamily="34" charset="-120"/>
              </a:rPr>
              <a:t>RESULTS</a:t>
            </a:r>
            <a:endParaRPr lang="en-US" sz="2700" dirty="0"/>
          </a:p>
        </p:txBody>
      </p:sp>
      <p:sp>
        <p:nvSpPr>
          <p:cNvPr id="9" name="Text 7"/>
          <p:cNvSpPr/>
          <p:nvPr/>
        </p:nvSpPr>
        <p:spPr>
          <a:xfrm>
            <a:off x="566928" y="3968496"/>
            <a:ext cx="3611880" cy="457200"/>
          </a:xfrm>
          <a:prstGeom prst="rect">
            <a:avLst/>
          </a:prstGeom>
          <a:noFill/>
          <a:ln/>
        </p:spPr>
        <p:txBody>
          <a:bodyPr wrap="square" lIns="0" tIns="0" rIns="0" bIns="0" rtlCol="0" anchor="t"/>
          <a:lstStyle/>
          <a:p>
            <a:pPr indent="0" marL="0">
              <a:lnSpc>
                <a:spcPts val="1600"/>
              </a:lnSpc>
              <a:buNone/>
            </a:pPr>
            <a:r>
              <a:rPr lang="en-US" sz="1250" dirty="0">
                <a:solidFill>
                  <a:srgbClr val="5E6980"/>
                </a:solidFill>
                <a:latin typeface="Calibri" pitchFamily="34" charset="0"/>
                <a:ea typeface="Calibri" pitchFamily="34" charset="-122"/>
                <a:cs typeface="Calibri" pitchFamily="34" charset="-120"/>
              </a:rPr>
              <a:t>Staffed shifts, and a full floor.</a:t>
            </a:r>
            <a:endParaRPr lang="en-US" sz="1250" dirty="0"/>
          </a:p>
        </p:txBody>
      </p:sp>
      <p:sp>
        <p:nvSpPr>
          <p:cNvPr id="10" name="Shape 8"/>
          <p:cNvSpPr/>
          <p:nvPr/>
        </p:nvSpPr>
        <p:spPr>
          <a:xfrm>
            <a:off x="566928" y="4681728"/>
            <a:ext cx="1005840" cy="32004"/>
          </a:xfrm>
          <a:prstGeom prst="rect">
            <a:avLst/>
          </a:prstGeom>
          <a:solidFill>
            <a:srgbClr val="D9922B"/>
          </a:solidFill>
          <a:ln w="12700">
            <a:solidFill>
              <a:srgbClr val="333333"/>
            </a:solidFill>
            <a:prstDash val="solid"/>
          </a:ln>
        </p:spPr>
      </p:sp>
      <p:sp>
        <p:nvSpPr>
          <p:cNvPr id="11" name="Text 9"/>
          <p:cNvSpPr/>
          <p:nvPr/>
        </p:nvSpPr>
        <p:spPr>
          <a:xfrm>
            <a:off x="566928" y="4846320"/>
            <a:ext cx="3611880" cy="1005840"/>
          </a:xfrm>
          <a:prstGeom prst="rect">
            <a:avLst/>
          </a:prstGeom>
          <a:noFill/>
          <a:ln/>
        </p:spPr>
        <p:txBody>
          <a:bodyPr wrap="square" lIns="0" tIns="0" rIns="0" bIns="0" rtlCol="0" anchor="t"/>
          <a:lstStyle/>
          <a:p>
            <a:pPr indent="0" marL="0">
              <a:lnSpc>
                <a:spcPts val="1700"/>
              </a:lnSpc>
              <a:buNone/>
            </a:pPr>
            <a:r>
              <a:rPr lang="en-US" sz="1300" i="1" dirty="0">
                <a:solidFill>
                  <a:srgbClr val="1B2338"/>
                </a:solidFill>
                <a:latin typeface="Calibri" pitchFamily="34" charset="0"/>
                <a:ea typeface="Calibri" pitchFamily="34" charset="-122"/>
                <a:cs typeface="Calibri" pitchFamily="34" charset="-120"/>
              </a:rPr>
              <a:t>These are the two numbers we are trying to move. Everything after this slide is an argument about how.</a:t>
            </a:r>
            <a:endParaRPr lang="en-US" sz="1300" dirty="0"/>
          </a:p>
        </p:txBody>
      </p:sp>
      <p:graphicFrame>
        <p:nvGraphicFramePr>
          <p:cNvPr id="12" name="Chart 0" descr=""/>
          <p:cNvGraphicFramePr/>
          <p:nvPr/>
        </p:nvGraphicFramePr>
        <p:xfrm>
          <a:off x="4590288" y="1883664"/>
          <a:ext cx="7031736" cy="2249424"/>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p:nvPr/>
        </p:nvSpPr>
        <p:spPr>
          <a:xfrm>
            <a:off x="4590288" y="4151376"/>
            <a:ext cx="7031736" cy="329184"/>
          </a:xfrm>
          <a:prstGeom prst="rect">
            <a:avLst/>
          </a:prstGeom>
          <a:noFill/>
          <a:ln/>
        </p:spPr>
        <p:txBody>
          <a:bodyPr wrap="square" lIns="0" tIns="0" rIns="0" bIns="0" rtlCol="0" anchor="t"/>
          <a:lstStyle/>
          <a:p>
            <a:pPr indent="0" marL="0">
              <a:buNone/>
            </a:pPr>
            <a:r>
              <a:rPr lang="en-US" sz="1100" i="1" dirty="0">
                <a:solidFill>
                  <a:srgbClr val="5E6980"/>
                </a:solidFill>
                <a:latin typeface="Calibri" pitchFamily="34" charset="0"/>
                <a:ea typeface="Calibri" pitchFamily="34" charset="-122"/>
                <a:cs typeface="Calibri" pitchFamily="34" charset="-120"/>
              </a:rPr>
              <a:t>New hires still employed. Steepest loss sits in the first 6 weeks, before most support programs reach anyone.</a:t>
            </a:r>
            <a:endParaRPr lang="en-US" sz="1100" dirty="0"/>
          </a:p>
        </p:txBody>
      </p:sp>
      <p:sp>
        <p:nvSpPr>
          <p:cNvPr id="14" name="Shape 11"/>
          <p:cNvSpPr/>
          <p:nvPr/>
        </p:nvSpPr>
        <p:spPr>
          <a:xfrm>
            <a:off x="4590288" y="4636008"/>
            <a:ext cx="100584" cy="100584"/>
          </a:xfrm>
          <a:prstGeom prst="diamond">
            <a:avLst/>
          </a:prstGeom>
          <a:solidFill>
            <a:srgbClr val="D9922B"/>
          </a:solidFill>
          <a:ln w="12700">
            <a:solidFill>
              <a:srgbClr val="D9922B"/>
            </a:solidFill>
            <a:prstDash val="solid"/>
          </a:ln>
        </p:spPr>
      </p:sp>
      <p:sp>
        <p:nvSpPr>
          <p:cNvPr id="15" name="Text 12"/>
          <p:cNvSpPr/>
          <p:nvPr/>
        </p:nvSpPr>
        <p:spPr>
          <a:xfrm>
            <a:off x="4809744" y="4526280"/>
            <a:ext cx="6812280" cy="265176"/>
          </a:xfrm>
          <a:prstGeom prst="rect">
            <a:avLst/>
          </a:prstGeom>
          <a:noFill/>
          <a:ln/>
        </p:spPr>
        <p:txBody>
          <a:bodyPr wrap="square" lIns="0" tIns="0" rIns="0" bIns="0" rtlCol="0" anchor="t"/>
          <a:lstStyle/>
          <a:p>
            <a:pPr indent="0" marL="0">
              <a:lnSpc>
                <a:spcPts val="1584"/>
              </a:lnSpc>
              <a:buNone/>
            </a:pPr>
            <a:r>
              <a:rPr lang="en-US" sz="1200" dirty="0">
                <a:solidFill>
                  <a:srgbClr val="1B2338"/>
                </a:solidFill>
                <a:latin typeface="Calibri" pitchFamily="34" charset="0"/>
                <a:ea typeface="Calibri" pitchFamily="34" charset="-122"/>
                <a:cs typeface="Calibri" pitchFamily="34" charset="-120"/>
              </a:rPr>
              <a:t>1.9M associates globally. About 500K new store hires a year.</a:t>
            </a:r>
            <a:endParaRPr lang="en-US" sz="1200" dirty="0"/>
          </a:p>
        </p:txBody>
      </p:sp>
      <p:sp>
        <p:nvSpPr>
          <p:cNvPr id="16" name="Shape 13"/>
          <p:cNvSpPr/>
          <p:nvPr/>
        </p:nvSpPr>
        <p:spPr>
          <a:xfrm>
            <a:off x="4590288" y="5029200"/>
            <a:ext cx="100584" cy="100584"/>
          </a:xfrm>
          <a:prstGeom prst="diamond">
            <a:avLst/>
          </a:prstGeom>
          <a:solidFill>
            <a:srgbClr val="D9922B"/>
          </a:solidFill>
          <a:ln w="12700">
            <a:solidFill>
              <a:srgbClr val="D9922B"/>
            </a:solidFill>
            <a:prstDash val="solid"/>
          </a:ln>
        </p:spPr>
      </p:sp>
      <p:sp>
        <p:nvSpPr>
          <p:cNvPr id="17" name="Text 14"/>
          <p:cNvSpPr/>
          <p:nvPr/>
        </p:nvSpPr>
        <p:spPr>
          <a:xfrm>
            <a:off x="4809744" y="4919472"/>
            <a:ext cx="6812280" cy="265176"/>
          </a:xfrm>
          <a:prstGeom prst="rect">
            <a:avLst/>
          </a:prstGeom>
          <a:noFill/>
          <a:ln/>
        </p:spPr>
        <p:txBody>
          <a:bodyPr wrap="square" lIns="0" tIns="0" rIns="0" bIns="0" rtlCol="0" anchor="t"/>
          <a:lstStyle/>
          <a:p>
            <a:pPr indent="0" marL="0">
              <a:lnSpc>
                <a:spcPts val="1584"/>
              </a:lnSpc>
              <a:buNone/>
            </a:pPr>
            <a:r>
              <a:rPr lang="en-US" sz="1200" dirty="0">
                <a:solidFill>
                  <a:srgbClr val="1B2338"/>
                </a:solidFill>
                <a:latin typeface="Calibri" pitchFamily="34" charset="0"/>
                <a:ea typeface="Calibri" pitchFamily="34" charset="-122"/>
                <a:cs typeface="Calibri" pitchFamily="34" charset="-120"/>
              </a:rPr>
              <a:t>About $3,000 to replace each early exit.</a:t>
            </a:r>
            <a:endParaRPr lang="en-US" sz="1200" dirty="0"/>
          </a:p>
        </p:txBody>
      </p:sp>
      <p:sp>
        <p:nvSpPr>
          <p:cNvPr id="18" name="Shape 15"/>
          <p:cNvSpPr/>
          <p:nvPr/>
        </p:nvSpPr>
        <p:spPr>
          <a:xfrm>
            <a:off x="4590288" y="5422392"/>
            <a:ext cx="100584" cy="100584"/>
          </a:xfrm>
          <a:prstGeom prst="diamond">
            <a:avLst/>
          </a:prstGeom>
          <a:solidFill>
            <a:srgbClr val="D9922B"/>
          </a:solidFill>
          <a:ln w="12700">
            <a:solidFill>
              <a:srgbClr val="D9922B"/>
            </a:solidFill>
            <a:prstDash val="solid"/>
          </a:ln>
        </p:spPr>
      </p:sp>
      <p:sp>
        <p:nvSpPr>
          <p:cNvPr id="19" name="Text 16"/>
          <p:cNvSpPr/>
          <p:nvPr/>
        </p:nvSpPr>
        <p:spPr>
          <a:xfrm>
            <a:off x="4809744" y="5312664"/>
            <a:ext cx="6812280" cy="265176"/>
          </a:xfrm>
          <a:prstGeom prst="rect">
            <a:avLst/>
          </a:prstGeom>
          <a:noFill/>
          <a:ln/>
        </p:spPr>
        <p:txBody>
          <a:bodyPr wrap="square" lIns="0" tIns="0" rIns="0" bIns="0" rtlCol="0" anchor="t"/>
          <a:lstStyle/>
          <a:p>
            <a:pPr indent="0" marL="0">
              <a:lnSpc>
                <a:spcPts val="1584"/>
              </a:lnSpc>
              <a:buNone/>
            </a:pPr>
            <a:r>
              <a:rPr lang="en-US" sz="1200" dirty="0">
                <a:solidFill>
                  <a:srgbClr val="1B2338"/>
                </a:solidFill>
                <a:latin typeface="Calibri" pitchFamily="34" charset="0"/>
                <a:ea typeface="Calibri" pitchFamily="34" charset="-122"/>
                <a:cs typeface="Calibri" pitchFamily="34" charset="-120"/>
              </a:rPr>
              <a:t>Exit themes read as confusion and isolation, not only wage competition.</a:t>
            </a:r>
            <a:endParaRPr lang="en-US" sz="1200" dirty="0"/>
          </a:p>
        </p:txBody>
      </p:sp>
      <p:sp>
        <p:nvSpPr>
          <p:cNvPr id="20" name="Shape 17"/>
          <p:cNvSpPr/>
          <p:nvPr/>
        </p:nvSpPr>
        <p:spPr>
          <a:xfrm>
            <a:off x="4590288" y="5815584"/>
            <a:ext cx="100584" cy="100584"/>
          </a:xfrm>
          <a:prstGeom prst="diamond">
            <a:avLst/>
          </a:prstGeom>
          <a:solidFill>
            <a:srgbClr val="D9922B"/>
          </a:solidFill>
          <a:ln w="12700">
            <a:solidFill>
              <a:srgbClr val="D9922B"/>
            </a:solidFill>
            <a:prstDash val="solid"/>
          </a:ln>
        </p:spPr>
      </p:sp>
      <p:sp>
        <p:nvSpPr>
          <p:cNvPr id="21" name="Text 18"/>
          <p:cNvSpPr/>
          <p:nvPr/>
        </p:nvSpPr>
        <p:spPr>
          <a:xfrm>
            <a:off x="4809744" y="5705856"/>
            <a:ext cx="6812280" cy="466344"/>
          </a:xfrm>
          <a:prstGeom prst="rect">
            <a:avLst/>
          </a:prstGeom>
          <a:noFill/>
          <a:ln/>
        </p:spPr>
        <p:txBody>
          <a:bodyPr wrap="square" lIns="0" tIns="0" rIns="0" bIns="0" rtlCol="0" anchor="t"/>
          <a:lstStyle/>
          <a:p>
            <a:pPr indent="0" marL="0">
              <a:lnSpc>
                <a:spcPts val="1584"/>
              </a:lnSpc>
              <a:buNone/>
            </a:pPr>
            <a:r>
              <a:rPr lang="en-US" sz="1200" dirty="0">
                <a:solidFill>
                  <a:srgbClr val="1B2338"/>
                </a:solidFill>
                <a:latin typeface="Calibri" pitchFamily="34" charset="0"/>
                <a:ea typeface="Calibri" pitchFamily="34" charset="-122"/>
                <a:cs typeface="Calibri" pitchFamily="34" charset="-120"/>
              </a:rPr>
              <a:t>The retention assets already exist and go unorchestrated: Academies, 50+ Live Better U certificates at no cost, 310K associates promoted in two years.</a:t>
            </a:r>
            <a:endParaRPr lang="en-US" sz="1200" dirty="0"/>
          </a:p>
        </p:txBody>
      </p:sp>
      <p:sp>
        <p:nvSpPr>
          <p:cNvPr id="22" name="Text 19"/>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Survival curve is illustrative. Days 1 to 30 of the sprint replace it with real 7/30/60/90-day curves by cohort.</a:t>
            </a:r>
            <a:endParaRPr lang="en-US" sz="1050" dirty="0"/>
          </a:p>
        </p:txBody>
      </p:sp>
      <p:sp>
        <p:nvSpPr>
          <p:cNvPr id="23" name="Text 20"/>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1</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233B"/>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9AA8C2"/>
                </a:solidFill>
                <a:latin typeface="Calibri" pitchFamily="34" charset="0"/>
                <a:ea typeface="Calibri" pitchFamily="34" charset="-122"/>
                <a:cs typeface="Calibri" pitchFamily="34" charset="-120"/>
              </a:rPr>
              <a:t>HYPOTHESIS, NOT CONCLUSION</a:t>
            </a:r>
            <a:endParaRPr lang="en-US" sz="1100" dirty="0"/>
          </a:p>
        </p:txBody>
      </p:sp>
      <p:sp>
        <p:nvSpPr>
          <p:cNvPr id="4" name="Text 2"/>
          <p:cNvSpPr/>
          <p:nvPr/>
        </p:nvSpPr>
        <p:spPr>
          <a:xfrm>
            <a:off x="566928" y="1298448"/>
            <a:ext cx="5116068" cy="566928"/>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REWARDS</a:t>
            </a:r>
            <a:endParaRPr lang="en-US" sz="3000" dirty="0"/>
          </a:p>
        </p:txBody>
      </p:sp>
      <p:sp>
        <p:nvSpPr>
          <p:cNvPr id="5" name="Text 3"/>
          <p:cNvSpPr/>
          <p:nvPr/>
        </p:nvSpPr>
        <p:spPr>
          <a:xfrm>
            <a:off x="932688" y="1901952"/>
            <a:ext cx="4384548" cy="603504"/>
          </a:xfrm>
          <a:prstGeom prst="rect">
            <a:avLst/>
          </a:prstGeom>
          <a:noFill/>
          <a:ln/>
        </p:spPr>
        <p:txBody>
          <a:bodyPr wrap="square" lIns="0" tIns="0" rIns="0" bIns="0" rtlCol="0" anchor="t"/>
          <a:lstStyle/>
          <a:p>
            <a:pPr algn="ctr" indent="0" marL="0">
              <a:lnSpc>
                <a:spcPts val="1700"/>
              </a:lnSpc>
              <a:buNone/>
            </a:pPr>
            <a:r>
              <a:rPr lang="en-US" sz="1300" dirty="0">
                <a:solidFill>
                  <a:srgbClr val="AEBFD8"/>
                </a:solidFill>
                <a:latin typeface="Calibri" pitchFamily="34" charset="0"/>
                <a:ea typeface="Calibri" pitchFamily="34" charset="-122"/>
                <a:cs typeface="Calibri" pitchFamily="34" charset="-120"/>
              </a:rPr>
              <a:t>Real currency for drive. The associate picks it.</a:t>
            </a:r>
            <a:endParaRPr lang="en-US" sz="1300" dirty="0"/>
          </a:p>
        </p:txBody>
      </p:sp>
      <p:sp>
        <p:nvSpPr>
          <p:cNvPr id="6" name="Text 4"/>
          <p:cNvSpPr/>
          <p:nvPr/>
        </p:nvSpPr>
        <p:spPr>
          <a:xfrm>
            <a:off x="5682996" y="1298448"/>
            <a:ext cx="822960" cy="566928"/>
          </a:xfrm>
          <a:prstGeom prst="rect">
            <a:avLst/>
          </a:prstGeom>
          <a:noFill/>
          <a:ln/>
        </p:spPr>
        <p:txBody>
          <a:bodyPr wrap="square" lIns="0" tIns="0" rIns="0" bIns="0" rtlCol="0" anchor="ctr"/>
          <a:lstStyle/>
          <a:p>
            <a:pPr algn="ctr" indent="0" marL="0">
              <a:buNone/>
            </a:pPr>
            <a:r>
              <a:rPr lang="en-US" sz="2600" b="1" dirty="0">
                <a:solidFill>
                  <a:srgbClr val="D9922B"/>
                </a:solidFill>
                <a:latin typeface="Cambria" pitchFamily="34" charset="0"/>
                <a:ea typeface="Cambria" pitchFamily="34" charset="-122"/>
                <a:cs typeface="Cambria" pitchFamily="34" charset="-120"/>
              </a:rPr>
              <a:t>+</a:t>
            </a:r>
            <a:endParaRPr lang="en-US" sz="2600" dirty="0"/>
          </a:p>
        </p:txBody>
      </p:sp>
      <p:sp>
        <p:nvSpPr>
          <p:cNvPr id="7" name="Text 5"/>
          <p:cNvSpPr/>
          <p:nvPr/>
        </p:nvSpPr>
        <p:spPr>
          <a:xfrm>
            <a:off x="6505956" y="1298448"/>
            <a:ext cx="5116068" cy="566928"/>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REJUVENATION</a:t>
            </a:r>
            <a:endParaRPr lang="en-US" sz="3000" dirty="0"/>
          </a:p>
        </p:txBody>
      </p:sp>
      <p:sp>
        <p:nvSpPr>
          <p:cNvPr id="8" name="Text 6"/>
          <p:cNvSpPr/>
          <p:nvPr/>
        </p:nvSpPr>
        <p:spPr>
          <a:xfrm>
            <a:off x="6871716" y="1901952"/>
            <a:ext cx="4384548" cy="603504"/>
          </a:xfrm>
          <a:prstGeom prst="rect">
            <a:avLst/>
          </a:prstGeom>
          <a:noFill/>
          <a:ln/>
        </p:spPr>
        <p:txBody>
          <a:bodyPr wrap="square" lIns="0" tIns="0" rIns="0" bIns="0" rtlCol="0" anchor="t"/>
          <a:lstStyle/>
          <a:p>
            <a:pPr algn="ctr" indent="0" marL="0">
              <a:lnSpc>
                <a:spcPts val="1700"/>
              </a:lnSpc>
              <a:buNone/>
            </a:pPr>
            <a:r>
              <a:rPr lang="en-US" sz="1300" dirty="0">
                <a:solidFill>
                  <a:srgbClr val="AEBFD8"/>
                </a:solidFill>
                <a:latin typeface="Calibri" pitchFamily="34" charset="0"/>
                <a:ea typeface="Calibri" pitchFamily="34" charset="-122"/>
                <a:cs typeface="Calibri" pitchFamily="34" charset="-120"/>
              </a:rPr>
              <a:t>Rest that is scheduled, not begged for.</a:t>
            </a:r>
            <a:endParaRPr lang="en-US" sz="1300" dirty="0"/>
          </a:p>
        </p:txBody>
      </p:sp>
      <p:sp>
        <p:nvSpPr>
          <p:cNvPr id="9" name="Text 7"/>
          <p:cNvSpPr/>
          <p:nvPr/>
        </p:nvSpPr>
        <p:spPr>
          <a:xfrm>
            <a:off x="566928" y="2889504"/>
            <a:ext cx="11055096" cy="822960"/>
          </a:xfrm>
          <a:prstGeom prst="rect">
            <a:avLst/>
          </a:prstGeom>
          <a:noFill/>
          <a:ln/>
        </p:spPr>
        <p:txBody>
          <a:bodyPr wrap="square" lIns="0" tIns="0" rIns="0" bIns="0" rtlCol="0" anchor="ctr"/>
          <a:lstStyle/>
          <a:p>
            <a:pPr algn="ctr" indent="0" marL="0">
              <a:buNone/>
            </a:pPr>
            <a:r>
              <a:rPr lang="en-US" sz="4000" b="1" dirty="0">
                <a:solidFill>
                  <a:srgbClr val="D9922B"/>
                </a:solidFill>
                <a:latin typeface="Cambria" pitchFamily="34" charset="0"/>
                <a:ea typeface="Cambria" pitchFamily="34" charset="-122"/>
                <a:cs typeface="Cambria" pitchFamily="34" charset="-120"/>
              </a:rPr>
              <a:t>=  ?</a:t>
            </a:r>
            <a:endParaRPr lang="en-US" sz="4000" dirty="0"/>
          </a:p>
        </p:txBody>
      </p:sp>
      <p:sp>
        <p:nvSpPr>
          <p:cNvPr id="10" name="Text 8"/>
          <p:cNvSpPr/>
          <p:nvPr/>
        </p:nvSpPr>
        <p:spPr>
          <a:xfrm>
            <a:off x="566928" y="3858768"/>
            <a:ext cx="5116068" cy="566928"/>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RETENTION</a:t>
            </a:r>
            <a:endParaRPr lang="en-US" sz="3000" dirty="0"/>
          </a:p>
        </p:txBody>
      </p:sp>
      <p:sp>
        <p:nvSpPr>
          <p:cNvPr id="11" name="Text 9"/>
          <p:cNvSpPr/>
          <p:nvPr/>
        </p:nvSpPr>
        <p:spPr>
          <a:xfrm>
            <a:off x="932688" y="4462272"/>
            <a:ext cx="4384548" cy="603504"/>
          </a:xfrm>
          <a:prstGeom prst="rect">
            <a:avLst/>
          </a:prstGeom>
          <a:noFill/>
          <a:ln/>
        </p:spPr>
        <p:txBody>
          <a:bodyPr wrap="square" lIns="0" tIns="0" rIns="0" bIns="0" rtlCol="0" anchor="t"/>
          <a:lstStyle/>
          <a:p>
            <a:pPr algn="ctr" indent="0" marL="0">
              <a:lnSpc>
                <a:spcPts val="1700"/>
              </a:lnSpc>
              <a:buNone/>
            </a:pPr>
            <a:r>
              <a:rPr lang="en-US" sz="1300" dirty="0">
                <a:solidFill>
                  <a:srgbClr val="AEBFD8"/>
                </a:solidFill>
                <a:latin typeface="Calibri" pitchFamily="34" charset="0"/>
                <a:ea typeface="Calibri" pitchFamily="34" charset="-122"/>
                <a:cs typeface="Calibri" pitchFamily="34" charset="-120"/>
              </a:rPr>
              <a:t>Past 90 days, and past 5 years.</a:t>
            </a:r>
            <a:endParaRPr lang="en-US" sz="1300" dirty="0"/>
          </a:p>
        </p:txBody>
      </p:sp>
      <p:sp>
        <p:nvSpPr>
          <p:cNvPr id="12" name="Text 10"/>
          <p:cNvSpPr/>
          <p:nvPr/>
        </p:nvSpPr>
        <p:spPr>
          <a:xfrm>
            <a:off x="5682996" y="3858768"/>
            <a:ext cx="822960" cy="566928"/>
          </a:xfrm>
          <a:prstGeom prst="rect">
            <a:avLst/>
          </a:prstGeom>
          <a:noFill/>
          <a:ln/>
        </p:spPr>
        <p:txBody>
          <a:bodyPr wrap="square" lIns="0" tIns="0" rIns="0" bIns="0" rtlCol="0" anchor="ctr"/>
          <a:lstStyle/>
          <a:p>
            <a:pPr algn="ctr" indent="0" marL="0">
              <a:buNone/>
            </a:pPr>
            <a:r>
              <a:rPr lang="en-US" sz="2600" b="1" dirty="0">
                <a:solidFill>
                  <a:srgbClr val="D9922B"/>
                </a:solidFill>
                <a:latin typeface="Cambria" pitchFamily="34" charset="0"/>
                <a:ea typeface="Cambria" pitchFamily="34" charset="-122"/>
                <a:cs typeface="Cambria" pitchFamily="34" charset="-120"/>
              </a:rPr>
              <a:t>+</a:t>
            </a:r>
            <a:endParaRPr lang="en-US" sz="2600" dirty="0"/>
          </a:p>
        </p:txBody>
      </p:sp>
      <p:sp>
        <p:nvSpPr>
          <p:cNvPr id="13" name="Text 11"/>
          <p:cNvSpPr/>
          <p:nvPr/>
        </p:nvSpPr>
        <p:spPr>
          <a:xfrm>
            <a:off x="6505956" y="3858768"/>
            <a:ext cx="5116068" cy="566928"/>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RESULTS</a:t>
            </a:r>
            <a:endParaRPr lang="en-US" sz="3000" dirty="0"/>
          </a:p>
        </p:txBody>
      </p:sp>
      <p:sp>
        <p:nvSpPr>
          <p:cNvPr id="14" name="Text 12"/>
          <p:cNvSpPr/>
          <p:nvPr/>
        </p:nvSpPr>
        <p:spPr>
          <a:xfrm>
            <a:off x="6871716" y="4462272"/>
            <a:ext cx="4384548" cy="603504"/>
          </a:xfrm>
          <a:prstGeom prst="rect">
            <a:avLst/>
          </a:prstGeom>
          <a:noFill/>
          <a:ln/>
        </p:spPr>
        <p:txBody>
          <a:bodyPr wrap="square" lIns="0" tIns="0" rIns="0" bIns="0" rtlCol="0" anchor="t"/>
          <a:lstStyle/>
          <a:p>
            <a:pPr algn="ctr" indent="0" marL="0">
              <a:lnSpc>
                <a:spcPts val="1700"/>
              </a:lnSpc>
              <a:buNone/>
            </a:pPr>
            <a:r>
              <a:rPr lang="en-US" sz="1300" dirty="0">
                <a:solidFill>
                  <a:srgbClr val="AEBFD8"/>
                </a:solidFill>
                <a:latin typeface="Calibri" pitchFamily="34" charset="0"/>
                <a:ea typeface="Calibri" pitchFamily="34" charset="-122"/>
                <a:cs typeface="Calibri" pitchFamily="34" charset="-120"/>
              </a:rPr>
              <a:t>Staffed shifts, and a full floor.</a:t>
            </a:r>
            <a:endParaRPr lang="en-US" sz="1300" dirty="0"/>
          </a:p>
        </p:txBody>
      </p:sp>
      <p:sp>
        <p:nvSpPr>
          <p:cNvPr id="15" name="Text 13"/>
          <p:cNvSpPr/>
          <p:nvPr/>
        </p:nvSpPr>
        <p:spPr>
          <a:xfrm>
            <a:off x="566928" y="5413248"/>
            <a:ext cx="11055096" cy="548640"/>
          </a:xfrm>
          <a:prstGeom prst="rect">
            <a:avLst/>
          </a:prstGeom>
          <a:noFill/>
          <a:ln/>
        </p:spPr>
        <p:txBody>
          <a:bodyPr wrap="square" lIns="0" tIns="0" rIns="0" bIns="0" rtlCol="0" anchor="ctr"/>
          <a:lstStyle/>
          <a:p>
            <a:pPr algn="ctr" indent="0" marL="0">
              <a:buNone/>
            </a:pPr>
            <a:r>
              <a:rPr lang="en-US" sz="1550" dirty="0">
                <a:solidFill>
                  <a:srgbClr val="D6DEEC"/>
                </a:solidFill>
                <a:latin typeface="Calibri" pitchFamily="34" charset="0"/>
                <a:ea typeface="Calibri" pitchFamily="34" charset="-122"/>
                <a:cs typeface="Calibri" pitchFamily="34" charset="-120"/>
              </a:rPr>
              <a:t>Which one moves the number, and for which associates? That is what the pilot is for.</a:t>
            </a:r>
            <a:endParaRPr lang="en-US" sz="1550" dirty="0"/>
          </a:p>
        </p:txBody>
      </p:sp>
      <p:sp>
        <p:nvSpPr>
          <p:cNvPr id="16" name="Text 14"/>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9AA8C2"/>
                </a:solidFill>
                <a:latin typeface="Calibri" pitchFamily="34" charset="0"/>
                <a:ea typeface="Calibri" pitchFamily="34" charset="-122"/>
                <a:cs typeface="Calibri" pitchFamily="34" charset="-120"/>
              </a:rPr>
              <a:t>Every point of 90-day retention is worth about $15M a year. Rewards reach payroll, not just a badge in an app.</a:t>
            </a:r>
            <a:endParaRPr lang="en-US" sz="1050" dirty="0"/>
          </a:p>
        </p:txBody>
      </p:sp>
      <p:sp>
        <p:nvSpPr>
          <p:cNvPr id="17" name="Text 15"/>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9AA8C2"/>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WHO THIS IS FOR</a:t>
            </a:r>
            <a:endParaRPr lang="en-US" sz="1100" dirty="0"/>
          </a:p>
        </p:txBody>
      </p:sp>
      <p:sp>
        <p:nvSpPr>
          <p:cNvPr id="4" name="Text 2"/>
          <p:cNvSpPr/>
          <p:nvPr/>
        </p:nvSpPr>
        <p:spPr>
          <a:xfrm>
            <a:off x="566928" y="749808"/>
            <a:ext cx="11055096" cy="1024128"/>
          </a:xfrm>
          <a:prstGeom prst="rect">
            <a:avLst/>
          </a:prstGeom>
          <a:noFill/>
          <a:ln/>
        </p:spPr>
        <p:txBody>
          <a:bodyPr wrap="square" lIns="0" tIns="0" rIns="0" bIns="0" rtlCol="0" anchor="t"/>
          <a:lstStyle/>
          <a:p>
            <a:pPr indent="0" marL="0">
              <a:lnSpc>
                <a:spcPts val="3500"/>
              </a:lnSpc>
              <a:buNone/>
            </a:pPr>
            <a:r>
              <a:rPr lang="en-US" sz="3000" b="1" dirty="0">
                <a:solidFill>
                  <a:srgbClr val="1B2338"/>
                </a:solidFill>
                <a:latin typeface="Cambria" pitchFamily="34" charset="0"/>
                <a:ea typeface="Cambria" pitchFamily="34" charset="-122"/>
                <a:cs typeface="Cambria" pitchFamily="34" charset="-120"/>
              </a:rPr>
              <a:t>No two associates are chasing the same thing, so one reward for everyone reaches almost no one.</a:t>
            </a:r>
            <a:endParaRPr lang="en-US" sz="3000" dirty="0"/>
          </a:p>
        </p:txBody>
      </p:sp>
      <p:sp>
        <p:nvSpPr>
          <p:cNvPr id="5" name="Shape 3"/>
          <p:cNvSpPr/>
          <p:nvPr/>
        </p:nvSpPr>
        <p:spPr>
          <a:xfrm>
            <a:off x="566928" y="1975104"/>
            <a:ext cx="3502152" cy="1371600"/>
          </a:xfrm>
          <a:prstGeom prst="roundRect">
            <a:avLst>
              <a:gd name="adj" fmla="val 8000"/>
            </a:avLst>
          </a:prstGeom>
          <a:solidFill>
            <a:srgbClr val="F1F5FA"/>
          </a:solidFill>
          <a:ln w="12700">
            <a:solidFill>
              <a:srgbClr val="F1F5FA"/>
            </a:solidFill>
            <a:prstDash val="solid"/>
          </a:ln>
        </p:spPr>
      </p:sp>
      <p:sp>
        <p:nvSpPr>
          <p:cNvPr id="6" name="Shape 4"/>
          <p:cNvSpPr/>
          <p:nvPr/>
        </p:nvSpPr>
        <p:spPr>
          <a:xfrm>
            <a:off x="566928" y="1975104"/>
            <a:ext cx="3502152" cy="50292"/>
          </a:xfrm>
          <a:prstGeom prst="rect">
            <a:avLst/>
          </a:prstGeom>
          <a:solidFill>
            <a:srgbClr val="1E4E6B"/>
          </a:solidFill>
          <a:ln w="12700">
            <a:solidFill>
              <a:srgbClr val="333333"/>
            </a:solidFill>
            <a:prstDash val="solid"/>
          </a:ln>
        </p:spPr>
      </p:sp>
      <p:sp>
        <p:nvSpPr>
          <p:cNvPr id="7" name="Text 5"/>
          <p:cNvSpPr/>
          <p:nvPr/>
        </p:nvSpPr>
        <p:spPr>
          <a:xfrm>
            <a:off x="768096" y="2139696"/>
            <a:ext cx="3099816" cy="274320"/>
          </a:xfrm>
          <a:prstGeom prst="rect">
            <a:avLst/>
          </a:prstGeom>
          <a:noFill/>
          <a:ln/>
        </p:spPr>
        <p:txBody>
          <a:bodyPr wrap="square" lIns="0" tIns="0" rIns="0" bIns="0" rtlCol="0" anchor="ctr"/>
          <a:lstStyle/>
          <a:p>
            <a:pPr indent="0" marL="0">
              <a:buNone/>
            </a:pPr>
            <a:r>
              <a:rPr lang="en-US" sz="1050" b="1" spc="120" kern="0" dirty="0">
                <a:solidFill>
                  <a:srgbClr val="1E4E6B"/>
                </a:solidFill>
                <a:latin typeface="Calibri" pitchFamily="34" charset="0"/>
                <a:ea typeface="Calibri" pitchFamily="34" charset="-122"/>
                <a:cs typeface="Calibri" pitchFamily="34" charset="-120"/>
              </a:rPr>
              <a:t>SECURITY</a:t>
            </a:r>
            <a:endParaRPr lang="en-US" sz="1050" dirty="0"/>
          </a:p>
        </p:txBody>
      </p:sp>
      <p:sp>
        <p:nvSpPr>
          <p:cNvPr id="8" name="Text 6"/>
          <p:cNvSpPr/>
          <p:nvPr/>
        </p:nvSpPr>
        <p:spPr>
          <a:xfrm>
            <a:off x="768096" y="2450592"/>
            <a:ext cx="3099816" cy="804672"/>
          </a:xfrm>
          <a:prstGeom prst="rect">
            <a:avLst/>
          </a:prstGeom>
          <a:noFill/>
          <a:ln/>
        </p:spPr>
        <p:txBody>
          <a:bodyPr wrap="square" lIns="0" tIns="0" rIns="0" bIns="0" rtlCol="0" anchor="t"/>
          <a:lstStyle/>
          <a:p>
            <a:pPr indent="0" marL="0">
              <a:lnSpc>
                <a:spcPts val="1700"/>
              </a:lnSpc>
              <a:buNone/>
            </a:pPr>
            <a:r>
              <a:rPr lang="en-US" sz="1300" dirty="0">
                <a:solidFill>
                  <a:srgbClr val="1B2338"/>
                </a:solidFill>
                <a:latin typeface="Calibri" pitchFamily="34" charset="0"/>
                <a:ea typeface="Calibri" pitchFamily="34" charset="-122"/>
                <a:cs typeface="Calibri" pitchFamily="34" charset="-120"/>
              </a:rPr>
              <a:t>Paying rent this month. Cash is the only signal that lands.</a:t>
            </a:r>
            <a:endParaRPr lang="en-US" sz="1300" dirty="0"/>
          </a:p>
        </p:txBody>
      </p:sp>
      <p:sp>
        <p:nvSpPr>
          <p:cNvPr id="9" name="Shape 7"/>
          <p:cNvSpPr/>
          <p:nvPr/>
        </p:nvSpPr>
        <p:spPr>
          <a:xfrm>
            <a:off x="4343400" y="1975104"/>
            <a:ext cx="3502152" cy="1371600"/>
          </a:xfrm>
          <a:prstGeom prst="roundRect">
            <a:avLst>
              <a:gd name="adj" fmla="val 8000"/>
            </a:avLst>
          </a:prstGeom>
          <a:solidFill>
            <a:srgbClr val="F1F5FA"/>
          </a:solidFill>
          <a:ln w="12700">
            <a:solidFill>
              <a:srgbClr val="F1F5FA"/>
            </a:solidFill>
            <a:prstDash val="solid"/>
          </a:ln>
        </p:spPr>
      </p:sp>
      <p:sp>
        <p:nvSpPr>
          <p:cNvPr id="10" name="Shape 8"/>
          <p:cNvSpPr/>
          <p:nvPr/>
        </p:nvSpPr>
        <p:spPr>
          <a:xfrm>
            <a:off x="4343400" y="1975104"/>
            <a:ext cx="3502152" cy="50292"/>
          </a:xfrm>
          <a:prstGeom prst="rect">
            <a:avLst/>
          </a:prstGeom>
          <a:solidFill>
            <a:srgbClr val="35604A"/>
          </a:solidFill>
          <a:ln w="12700">
            <a:solidFill>
              <a:srgbClr val="333333"/>
            </a:solidFill>
            <a:prstDash val="solid"/>
          </a:ln>
        </p:spPr>
      </p:sp>
      <p:sp>
        <p:nvSpPr>
          <p:cNvPr id="11" name="Text 9"/>
          <p:cNvSpPr/>
          <p:nvPr/>
        </p:nvSpPr>
        <p:spPr>
          <a:xfrm>
            <a:off x="4544568" y="2139696"/>
            <a:ext cx="3099816" cy="274320"/>
          </a:xfrm>
          <a:prstGeom prst="rect">
            <a:avLst/>
          </a:prstGeom>
          <a:noFill/>
          <a:ln/>
        </p:spPr>
        <p:txBody>
          <a:bodyPr wrap="square" lIns="0" tIns="0" rIns="0" bIns="0" rtlCol="0" anchor="ctr"/>
          <a:lstStyle/>
          <a:p>
            <a:pPr indent="0" marL="0">
              <a:buNone/>
            </a:pPr>
            <a:r>
              <a:rPr lang="en-US" sz="1050" b="1" spc="120" kern="0" dirty="0">
                <a:solidFill>
                  <a:srgbClr val="35604A"/>
                </a:solidFill>
                <a:latin typeface="Calibri" pitchFamily="34" charset="0"/>
                <a:ea typeface="Calibri" pitchFamily="34" charset="-122"/>
                <a:cs typeface="Calibri" pitchFamily="34" charset="-120"/>
              </a:rPr>
              <a:t>RECOGNITION</a:t>
            </a:r>
            <a:endParaRPr lang="en-US" sz="1050" dirty="0"/>
          </a:p>
        </p:txBody>
      </p:sp>
      <p:sp>
        <p:nvSpPr>
          <p:cNvPr id="12" name="Text 10"/>
          <p:cNvSpPr/>
          <p:nvPr/>
        </p:nvSpPr>
        <p:spPr>
          <a:xfrm>
            <a:off x="4544568" y="2450592"/>
            <a:ext cx="3099816" cy="804672"/>
          </a:xfrm>
          <a:prstGeom prst="rect">
            <a:avLst/>
          </a:prstGeom>
          <a:noFill/>
          <a:ln/>
        </p:spPr>
        <p:txBody>
          <a:bodyPr wrap="square" lIns="0" tIns="0" rIns="0" bIns="0" rtlCol="0" anchor="t"/>
          <a:lstStyle/>
          <a:p>
            <a:pPr indent="0" marL="0">
              <a:lnSpc>
                <a:spcPts val="1700"/>
              </a:lnSpc>
              <a:buNone/>
            </a:pPr>
            <a:r>
              <a:rPr lang="en-US" sz="1300" dirty="0">
                <a:solidFill>
                  <a:srgbClr val="1B2338"/>
                </a:solidFill>
                <a:latin typeface="Calibri" pitchFamily="34" charset="0"/>
                <a:ea typeface="Calibri" pitchFamily="34" charset="-122"/>
                <a:cs typeface="Calibri" pitchFamily="34" charset="-120"/>
              </a:rPr>
              <a:t>Wants to be good at this, and wants someone to notice they are.</a:t>
            </a:r>
            <a:endParaRPr lang="en-US" sz="1300" dirty="0"/>
          </a:p>
        </p:txBody>
      </p:sp>
      <p:sp>
        <p:nvSpPr>
          <p:cNvPr id="13" name="Shape 11"/>
          <p:cNvSpPr/>
          <p:nvPr/>
        </p:nvSpPr>
        <p:spPr>
          <a:xfrm>
            <a:off x="8119872" y="1975104"/>
            <a:ext cx="3502152" cy="1371600"/>
          </a:xfrm>
          <a:prstGeom prst="roundRect">
            <a:avLst>
              <a:gd name="adj" fmla="val 8000"/>
            </a:avLst>
          </a:prstGeom>
          <a:solidFill>
            <a:srgbClr val="F1F5FA"/>
          </a:solidFill>
          <a:ln w="12700">
            <a:solidFill>
              <a:srgbClr val="F1F5FA"/>
            </a:solidFill>
            <a:prstDash val="solid"/>
          </a:ln>
        </p:spPr>
      </p:sp>
      <p:sp>
        <p:nvSpPr>
          <p:cNvPr id="14" name="Shape 12"/>
          <p:cNvSpPr/>
          <p:nvPr/>
        </p:nvSpPr>
        <p:spPr>
          <a:xfrm>
            <a:off x="8119872" y="1975104"/>
            <a:ext cx="3502152" cy="50292"/>
          </a:xfrm>
          <a:prstGeom prst="rect">
            <a:avLst/>
          </a:prstGeom>
          <a:solidFill>
            <a:srgbClr val="8A5A11"/>
          </a:solidFill>
          <a:ln w="12700">
            <a:solidFill>
              <a:srgbClr val="333333"/>
            </a:solidFill>
            <a:prstDash val="solid"/>
          </a:ln>
        </p:spPr>
      </p:sp>
      <p:sp>
        <p:nvSpPr>
          <p:cNvPr id="15" name="Text 13"/>
          <p:cNvSpPr/>
          <p:nvPr/>
        </p:nvSpPr>
        <p:spPr>
          <a:xfrm>
            <a:off x="8321040" y="2139696"/>
            <a:ext cx="3099816" cy="274320"/>
          </a:xfrm>
          <a:prstGeom prst="rect">
            <a:avLst/>
          </a:prstGeom>
          <a:noFill/>
          <a:ln/>
        </p:spPr>
        <p:txBody>
          <a:bodyPr wrap="square" lIns="0" tIns="0" rIns="0" bIns="0" rtlCol="0" anchor="ctr"/>
          <a:lstStyle/>
          <a:p>
            <a:pPr indent="0" marL="0">
              <a:buNone/>
            </a:pPr>
            <a:r>
              <a:rPr lang="en-US" sz="1050" b="1" spc="120" kern="0" dirty="0">
                <a:solidFill>
                  <a:srgbClr val="8A5A11"/>
                </a:solidFill>
                <a:latin typeface="Calibri" pitchFamily="34" charset="0"/>
                <a:ea typeface="Calibri" pitchFamily="34" charset="-122"/>
                <a:cs typeface="Calibri" pitchFamily="34" charset="-120"/>
              </a:rPr>
              <a:t>TIME BACK</a:t>
            </a:r>
            <a:endParaRPr lang="en-US" sz="1050" dirty="0"/>
          </a:p>
        </p:txBody>
      </p:sp>
      <p:sp>
        <p:nvSpPr>
          <p:cNvPr id="16" name="Text 14"/>
          <p:cNvSpPr/>
          <p:nvPr/>
        </p:nvSpPr>
        <p:spPr>
          <a:xfrm>
            <a:off x="8321040" y="2450592"/>
            <a:ext cx="3099816" cy="804672"/>
          </a:xfrm>
          <a:prstGeom prst="rect">
            <a:avLst/>
          </a:prstGeom>
          <a:noFill/>
          <a:ln/>
        </p:spPr>
        <p:txBody>
          <a:bodyPr wrap="square" lIns="0" tIns="0" rIns="0" bIns="0" rtlCol="0" anchor="t"/>
          <a:lstStyle/>
          <a:p>
            <a:pPr indent="0" marL="0">
              <a:lnSpc>
                <a:spcPts val="1700"/>
              </a:lnSpc>
              <a:buNone/>
            </a:pPr>
            <a:r>
              <a:rPr lang="en-US" sz="1300" dirty="0">
                <a:solidFill>
                  <a:srgbClr val="1B2338"/>
                </a:solidFill>
                <a:latin typeface="Calibri" pitchFamily="34" charset="0"/>
                <a:ea typeface="Calibri" pitchFamily="34" charset="-122"/>
                <a:cs typeface="Calibri" pitchFamily="34" charset="-120"/>
              </a:rPr>
              <a:t>Wants the day to stop being a slog. An hour off beats a gift card.</a:t>
            </a:r>
            <a:endParaRPr lang="en-US" sz="1300" dirty="0"/>
          </a:p>
        </p:txBody>
      </p:sp>
      <p:sp>
        <p:nvSpPr>
          <p:cNvPr id="17" name="Shape 15"/>
          <p:cNvSpPr/>
          <p:nvPr/>
        </p:nvSpPr>
        <p:spPr>
          <a:xfrm>
            <a:off x="566928" y="3621024"/>
            <a:ext cx="11055096" cy="1572768"/>
          </a:xfrm>
          <a:prstGeom prst="roundRect">
            <a:avLst>
              <a:gd name="adj" fmla="val 6977"/>
            </a:avLst>
          </a:prstGeom>
          <a:solidFill>
            <a:srgbClr val="F1F5FA"/>
          </a:solidFill>
          <a:ln w="12700">
            <a:solidFill>
              <a:srgbClr val="F1F5FA"/>
            </a:solidFill>
            <a:prstDash val="solid"/>
          </a:ln>
        </p:spPr>
      </p:sp>
      <p:sp>
        <p:nvSpPr>
          <p:cNvPr id="18" name="Shape 16"/>
          <p:cNvSpPr/>
          <p:nvPr/>
        </p:nvSpPr>
        <p:spPr>
          <a:xfrm>
            <a:off x="566928" y="3621024"/>
            <a:ext cx="50292" cy="1572768"/>
          </a:xfrm>
          <a:prstGeom prst="rect">
            <a:avLst/>
          </a:prstGeom>
          <a:solidFill>
            <a:srgbClr val="D9922B"/>
          </a:solidFill>
          <a:ln w="12700">
            <a:solidFill>
              <a:srgbClr val="333333"/>
            </a:solidFill>
            <a:prstDash val="solid"/>
          </a:ln>
        </p:spPr>
      </p:sp>
      <p:sp>
        <p:nvSpPr>
          <p:cNvPr id="19" name="Text 17"/>
          <p:cNvSpPr/>
          <p:nvPr/>
        </p:nvSpPr>
        <p:spPr>
          <a:xfrm>
            <a:off x="877824" y="3767328"/>
            <a:ext cx="10433304" cy="1298448"/>
          </a:xfrm>
          <a:prstGeom prst="rect">
            <a:avLst/>
          </a:prstGeom>
          <a:noFill/>
          <a:ln/>
        </p:spPr>
        <p:txBody>
          <a:bodyPr wrap="square" lIns="0" tIns="0" rIns="0" bIns="0" rtlCol="0" anchor="t"/>
          <a:lstStyle/>
          <a:p>
            <a:pPr indent="0" marL="0">
              <a:lnSpc>
                <a:spcPts val="2100"/>
              </a:lnSpc>
              <a:buNone/>
            </a:pPr>
            <a:r>
              <a:rPr lang="en-US" sz="1400" dirty="0">
                <a:solidFill>
                  <a:srgbClr val="1B2338"/>
                </a:solidFill>
                <a:latin typeface="Calibri" pitchFamily="34" charset="0"/>
                <a:ea typeface="Calibri" pitchFamily="34" charset="-122"/>
                <a:cs typeface="Calibri" pitchFamily="34" charset="-120"/>
              </a:rPr>
              <a:t>I worked two summers at Meijer. It was boring, and I got good at wasting time. Nobody was measuring whether I was engaged, so I wasn't. My store was in a safe area. Plenty of associates do not get that. The difference between a job that empties you and one that gives something back is mostly whether the place notices you are in it.</a:t>
            </a:r>
            <a:endParaRPr lang="en-US" sz="1400" dirty="0"/>
          </a:p>
        </p:txBody>
      </p:sp>
      <p:sp>
        <p:nvSpPr>
          <p:cNvPr id="20" name="Text 18"/>
          <p:cNvSpPr/>
          <p:nvPr/>
        </p:nvSpPr>
        <p:spPr>
          <a:xfrm>
            <a:off x="566928" y="5431536"/>
            <a:ext cx="11055096" cy="502920"/>
          </a:xfrm>
          <a:prstGeom prst="rect">
            <a:avLst/>
          </a:prstGeom>
          <a:noFill/>
          <a:ln/>
        </p:spPr>
        <p:txBody>
          <a:bodyPr wrap="square" lIns="0" tIns="0" rIns="0" bIns="0" rtlCol="0" anchor="ctr"/>
          <a:lstStyle/>
          <a:p>
            <a:pPr indent="0" marL="0">
              <a:buNone/>
            </a:pPr>
            <a:r>
              <a:rPr lang="en-US" sz="1450" b="1" dirty="0">
                <a:solidFill>
                  <a:srgbClr val="16233B"/>
                </a:solidFill>
                <a:latin typeface="Calibri" pitchFamily="34" charset="0"/>
                <a:ea typeface="Calibri" pitchFamily="34" charset="-122"/>
                <a:cs typeface="Calibri" pitchFamily="34" charset="-120"/>
              </a:rPr>
              <a:t>So Sidekick should not average associates. It should learn what each cohort responds to, and give them that.</a:t>
            </a:r>
            <a:endParaRPr lang="en-US" sz="1450" dirty="0"/>
          </a:p>
        </p:txBody>
      </p:sp>
      <p:sp>
        <p:nvSpPr>
          <p:cNvPr id="21" name="Text 19"/>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Three motives, not three personas. No invented biographies. Each maps to one of the reward types on the next slide.</a:t>
            </a:r>
            <a:endParaRPr lang="en-US" sz="1050" dirty="0"/>
          </a:p>
        </p:txBody>
      </p:sp>
      <p:sp>
        <p:nvSpPr>
          <p:cNvPr id="22" name="Text 20"/>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REWARDS, DEFINED</a:t>
            </a:r>
            <a:endParaRPr lang="en-US" sz="1100" dirty="0"/>
          </a:p>
        </p:txBody>
      </p:sp>
      <p:sp>
        <p:nvSpPr>
          <p:cNvPr id="4" name="Text 2"/>
          <p:cNvSpPr/>
          <p:nvPr/>
        </p:nvSpPr>
        <p:spPr>
          <a:xfrm>
            <a:off x="566928" y="749808"/>
            <a:ext cx="11055096" cy="1024128"/>
          </a:xfrm>
          <a:prstGeom prst="rect">
            <a:avLst/>
          </a:prstGeom>
          <a:noFill/>
          <a:ln/>
        </p:spPr>
        <p:txBody>
          <a:bodyPr wrap="square" lIns="0" tIns="0" rIns="0" bIns="0" rtlCol="0" anchor="t"/>
          <a:lstStyle/>
          <a:p>
            <a:pPr indent="0" marL="0">
              <a:lnSpc>
                <a:spcPts val="3500"/>
              </a:lnSpc>
              <a:buNone/>
            </a:pPr>
            <a:r>
              <a:rPr lang="en-US" sz="3000" b="1" dirty="0">
                <a:solidFill>
                  <a:srgbClr val="1B2338"/>
                </a:solidFill>
                <a:latin typeface="Cambria" pitchFamily="34" charset="0"/>
                <a:ea typeface="Cambria" pitchFamily="34" charset="-122"/>
                <a:cs typeface="Cambria" pitchFamily="34" charset="-120"/>
              </a:rPr>
              <a:t>Three kinds of reward, and the two Sidekick delivers best are the cheap ones.</a:t>
            </a:r>
            <a:endParaRPr lang="en-US" sz="3000" dirty="0"/>
          </a:p>
        </p:txBody>
      </p:sp>
      <p:sp>
        <p:nvSpPr>
          <p:cNvPr id="5" name="Shape 3"/>
          <p:cNvSpPr/>
          <p:nvPr/>
        </p:nvSpPr>
        <p:spPr>
          <a:xfrm>
            <a:off x="566928" y="1938528"/>
            <a:ext cx="3502152" cy="457200"/>
          </a:xfrm>
          <a:prstGeom prst="roundRect">
            <a:avLst>
              <a:gd name="adj" fmla="val 20000"/>
            </a:avLst>
          </a:prstGeom>
          <a:solidFill>
            <a:srgbClr val="1E4E6B"/>
          </a:solidFill>
          <a:ln w="12700">
            <a:solidFill>
              <a:srgbClr val="1E4E6B"/>
            </a:solidFill>
            <a:prstDash val="solid"/>
          </a:ln>
        </p:spPr>
      </p:sp>
      <p:sp>
        <p:nvSpPr>
          <p:cNvPr id="6" name="Text 4"/>
          <p:cNvSpPr/>
          <p:nvPr/>
        </p:nvSpPr>
        <p:spPr>
          <a:xfrm>
            <a:off x="768096" y="1938528"/>
            <a:ext cx="3099816" cy="457200"/>
          </a:xfrm>
          <a:prstGeom prst="rect">
            <a:avLst/>
          </a:prstGeom>
          <a:noFill/>
          <a:ln/>
        </p:spPr>
        <p:txBody>
          <a:bodyPr wrap="square" lIns="0" tIns="0" rIns="0" bIns="0" rtlCol="0" anchor="ctr"/>
          <a:lstStyle/>
          <a:p>
            <a:pPr indent="0" marL="0">
              <a:buNone/>
            </a:pPr>
            <a:r>
              <a:rPr lang="en-US" sz="1250" b="1" spc="100" kern="0" dirty="0">
                <a:solidFill>
                  <a:srgbClr val="FFFFFF"/>
                </a:solidFill>
                <a:latin typeface="Calibri" pitchFamily="34" charset="0"/>
                <a:ea typeface="Calibri" pitchFamily="34" charset="-122"/>
                <a:cs typeface="Calibri" pitchFamily="34" charset="-120"/>
              </a:rPr>
              <a:t>EXTRINSIC</a:t>
            </a:r>
            <a:endParaRPr lang="en-US" sz="1250" dirty="0"/>
          </a:p>
        </p:txBody>
      </p:sp>
      <p:sp>
        <p:nvSpPr>
          <p:cNvPr id="7" name="Shape 5"/>
          <p:cNvSpPr/>
          <p:nvPr/>
        </p:nvSpPr>
        <p:spPr>
          <a:xfrm>
            <a:off x="566928" y="2468880"/>
            <a:ext cx="3502152" cy="1325880"/>
          </a:xfrm>
          <a:prstGeom prst="roundRect">
            <a:avLst>
              <a:gd name="adj" fmla="val 6897"/>
            </a:avLst>
          </a:prstGeom>
          <a:solidFill>
            <a:srgbClr val="F1F5FA"/>
          </a:solidFill>
          <a:ln w="12700">
            <a:solidFill>
              <a:srgbClr val="F1F5FA"/>
            </a:solidFill>
            <a:prstDash val="solid"/>
          </a:ln>
        </p:spPr>
      </p:sp>
      <p:sp>
        <p:nvSpPr>
          <p:cNvPr id="8" name="Text 6"/>
          <p:cNvSpPr/>
          <p:nvPr/>
        </p:nvSpPr>
        <p:spPr>
          <a:xfrm>
            <a:off x="768096" y="2596896"/>
            <a:ext cx="3099816" cy="1088136"/>
          </a:xfrm>
          <a:prstGeom prst="rect">
            <a:avLst/>
          </a:prstGeom>
          <a:noFill/>
          <a:ln/>
        </p:spPr>
        <p:txBody>
          <a:bodyPr wrap="square" lIns="0" tIns="0" rIns="0" bIns="0" rtlCol="0" anchor="t"/>
          <a:lstStyle/>
          <a:p>
            <a:pPr indent="0" marL="0">
              <a:lnSpc>
                <a:spcPts val="1650"/>
              </a:lnSpc>
              <a:buNone/>
            </a:pPr>
            <a:r>
              <a:rPr lang="en-US" sz="1250" dirty="0">
                <a:solidFill>
                  <a:srgbClr val="1B2338"/>
                </a:solidFill>
                <a:latin typeface="Calibri" pitchFamily="34" charset="0"/>
                <a:ea typeface="Calibri" pitchFamily="34" charset="-122"/>
                <a:cs typeface="Calibri" pitchFamily="34" charset="-120"/>
              </a:rPr>
              <a:t>Cash bonuses, pay increases, gift cards, benefits. Direct financial security.</a:t>
            </a:r>
            <a:endParaRPr lang="en-US" sz="1250" dirty="0"/>
          </a:p>
        </p:txBody>
      </p:sp>
      <p:sp>
        <p:nvSpPr>
          <p:cNvPr id="9" name="Shape 7"/>
          <p:cNvSpPr/>
          <p:nvPr/>
        </p:nvSpPr>
        <p:spPr>
          <a:xfrm>
            <a:off x="566928" y="3886200"/>
            <a:ext cx="3502152" cy="1143000"/>
          </a:xfrm>
          <a:prstGeom prst="roundRect">
            <a:avLst>
              <a:gd name="adj" fmla="val 8000"/>
            </a:avLst>
          </a:prstGeom>
          <a:solidFill>
            <a:srgbClr val="DCE9F2"/>
          </a:solidFill>
          <a:ln w="12700">
            <a:solidFill>
              <a:srgbClr val="DCE9F2"/>
            </a:solidFill>
            <a:prstDash val="solid"/>
          </a:ln>
        </p:spPr>
      </p:sp>
      <p:sp>
        <p:nvSpPr>
          <p:cNvPr id="10" name="Text 8"/>
          <p:cNvSpPr/>
          <p:nvPr/>
        </p:nvSpPr>
        <p:spPr>
          <a:xfrm>
            <a:off x="768096" y="4014216"/>
            <a:ext cx="3099816" cy="905256"/>
          </a:xfrm>
          <a:prstGeom prst="rect">
            <a:avLst/>
          </a:prstGeom>
          <a:noFill/>
          <a:ln/>
        </p:spPr>
        <p:txBody>
          <a:bodyPr wrap="square" lIns="0" tIns="0" rIns="0" bIns="0" rtlCol="0" anchor="t"/>
          <a:lstStyle/>
          <a:p>
            <a:pPr indent="0" marL="0">
              <a:lnSpc>
                <a:spcPts val="1600"/>
              </a:lnSpc>
              <a:buNone/>
            </a:pPr>
            <a:r>
              <a:rPr lang="en-US" sz="1200" dirty="0">
                <a:solidFill>
                  <a:srgbClr val="1E4E6B"/>
                </a:solidFill>
                <a:latin typeface="Calibri" pitchFamily="34" charset="0"/>
                <a:ea typeface="Calibri" pitchFamily="34" charset="-122"/>
                <a:cs typeface="Calibri" pitchFamily="34" charset="-120"/>
              </a:rPr>
              <a:t>Easiest for a competitor to match. Highest cost per point of retention.</a:t>
            </a:r>
            <a:endParaRPr lang="en-US" sz="1200" dirty="0"/>
          </a:p>
        </p:txBody>
      </p:sp>
      <p:sp>
        <p:nvSpPr>
          <p:cNvPr id="11" name="Shape 9"/>
          <p:cNvSpPr/>
          <p:nvPr/>
        </p:nvSpPr>
        <p:spPr>
          <a:xfrm>
            <a:off x="4343400" y="1938528"/>
            <a:ext cx="3502152" cy="457200"/>
          </a:xfrm>
          <a:prstGeom prst="roundRect">
            <a:avLst>
              <a:gd name="adj" fmla="val 20000"/>
            </a:avLst>
          </a:prstGeom>
          <a:solidFill>
            <a:srgbClr val="35604A"/>
          </a:solidFill>
          <a:ln w="12700">
            <a:solidFill>
              <a:srgbClr val="35604A"/>
            </a:solidFill>
            <a:prstDash val="solid"/>
          </a:ln>
        </p:spPr>
      </p:sp>
      <p:sp>
        <p:nvSpPr>
          <p:cNvPr id="12" name="Text 10"/>
          <p:cNvSpPr/>
          <p:nvPr/>
        </p:nvSpPr>
        <p:spPr>
          <a:xfrm>
            <a:off x="4544568" y="1938528"/>
            <a:ext cx="3099816" cy="457200"/>
          </a:xfrm>
          <a:prstGeom prst="rect">
            <a:avLst/>
          </a:prstGeom>
          <a:noFill/>
          <a:ln/>
        </p:spPr>
        <p:txBody>
          <a:bodyPr wrap="square" lIns="0" tIns="0" rIns="0" bIns="0" rtlCol="0" anchor="ctr"/>
          <a:lstStyle/>
          <a:p>
            <a:pPr indent="0" marL="0">
              <a:buNone/>
            </a:pPr>
            <a:r>
              <a:rPr lang="en-US" sz="1250" b="1" spc="100" kern="0" dirty="0">
                <a:solidFill>
                  <a:srgbClr val="FFFFFF"/>
                </a:solidFill>
                <a:latin typeface="Calibri" pitchFamily="34" charset="0"/>
                <a:ea typeface="Calibri" pitchFamily="34" charset="-122"/>
                <a:cs typeface="Calibri" pitchFamily="34" charset="-120"/>
              </a:rPr>
              <a:t>INTRINSIC</a:t>
            </a:r>
            <a:endParaRPr lang="en-US" sz="1250" dirty="0"/>
          </a:p>
        </p:txBody>
      </p:sp>
      <p:sp>
        <p:nvSpPr>
          <p:cNvPr id="13" name="Shape 11"/>
          <p:cNvSpPr/>
          <p:nvPr/>
        </p:nvSpPr>
        <p:spPr>
          <a:xfrm>
            <a:off x="4343400" y="2468880"/>
            <a:ext cx="3502152" cy="1325880"/>
          </a:xfrm>
          <a:prstGeom prst="roundRect">
            <a:avLst>
              <a:gd name="adj" fmla="val 6897"/>
            </a:avLst>
          </a:prstGeom>
          <a:solidFill>
            <a:srgbClr val="F1F5FA"/>
          </a:solidFill>
          <a:ln w="12700">
            <a:solidFill>
              <a:srgbClr val="F1F5FA"/>
            </a:solidFill>
            <a:prstDash val="solid"/>
          </a:ln>
        </p:spPr>
      </p:sp>
      <p:sp>
        <p:nvSpPr>
          <p:cNvPr id="14" name="Text 12"/>
          <p:cNvSpPr/>
          <p:nvPr/>
        </p:nvSpPr>
        <p:spPr>
          <a:xfrm>
            <a:off x="4544568" y="2596896"/>
            <a:ext cx="3099816" cy="1088136"/>
          </a:xfrm>
          <a:prstGeom prst="rect">
            <a:avLst/>
          </a:prstGeom>
          <a:noFill/>
          <a:ln/>
        </p:spPr>
        <p:txBody>
          <a:bodyPr wrap="square" lIns="0" tIns="0" rIns="0" bIns="0" rtlCol="0" anchor="t"/>
          <a:lstStyle/>
          <a:p>
            <a:pPr indent="0" marL="0">
              <a:lnSpc>
                <a:spcPts val="1650"/>
              </a:lnSpc>
              <a:buNone/>
            </a:pPr>
            <a:r>
              <a:rPr lang="en-US" sz="1250" dirty="0">
                <a:solidFill>
                  <a:srgbClr val="1B2338"/>
                </a:solidFill>
                <a:latin typeface="Calibri" pitchFamily="34" charset="0"/>
                <a:ea typeface="Calibri" pitchFamily="34" charset="-122"/>
                <a:cs typeface="Calibri" pitchFamily="34" charset="-120"/>
              </a:rPr>
              <a:t>Praise, public or private. Meaningful work, growth, respect. Wellness hours and wellness days.</a:t>
            </a:r>
            <a:endParaRPr lang="en-US" sz="1250" dirty="0"/>
          </a:p>
        </p:txBody>
      </p:sp>
      <p:sp>
        <p:nvSpPr>
          <p:cNvPr id="15" name="Shape 13"/>
          <p:cNvSpPr/>
          <p:nvPr/>
        </p:nvSpPr>
        <p:spPr>
          <a:xfrm>
            <a:off x="4343400" y="3886200"/>
            <a:ext cx="3502152" cy="1143000"/>
          </a:xfrm>
          <a:prstGeom prst="roundRect">
            <a:avLst>
              <a:gd name="adj" fmla="val 8000"/>
            </a:avLst>
          </a:prstGeom>
          <a:solidFill>
            <a:srgbClr val="DDEAE1"/>
          </a:solidFill>
          <a:ln w="12700">
            <a:solidFill>
              <a:srgbClr val="DDEAE1"/>
            </a:solidFill>
            <a:prstDash val="solid"/>
          </a:ln>
        </p:spPr>
      </p:sp>
      <p:sp>
        <p:nvSpPr>
          <p:cNvPr id="16" name="Text 14"/>
          <p:cNvSpPr/>
          <p:nvPr/>
        </p:nvSpPr>
        <p:spPr>
          <a:xfrm>
            <a:off x="4544568" y="4014216"/>
            <a:ext cx="3099816" cy="905256"/>
          </a:xfrm>
          <a:prstGeom prst="rect">
            <a:avLst/>
          </a:prstGeom>
          <a:noFill/>
          <a:ln/>
        </p:spPr>
        <p:txBody>
          <a:bodyPr wrap="square" lIns="0" tIns="0" rIns="0" bIns="0" rtlCol="0" anchor="t"/>
          <a:lstStyle/>
          <a:p>
            <a:pPr indent="0" marL="0">
              <a:lnSpc>
                <a:spcPts val="1600"/>
              </a:lnSpc>
              <a:buNone/>
            </a:pPr>
            <a:r>
              <a:rPr lang="en-US" sz="1200" dirty="0">
                <a:solidFill>
                  <a:srgbClr val="35604A"/>
                </a:solidFill>
                <a:latin typeface="Calibri" pitchFamily="34" charset="0"/>
                <a:ea typeface="Calibri" pitchFamily="34" charset="-122"/>
                <a:cs typeface="Calibri" pitchFamily="34" charset="-120"/>
              </a:rPr>
              <a:t>Cheapest to deliver and hardest to fake. Needs a system that actually noticed.</a:t>
            </a:r>
            <a:endParaRPr lang="en-US" sz="1200" dirty="0"/>
          </a:p>
        </p:txBody>
      </p:sp>
      <p:sp>
        <p:nvSpPr>
          <p:cNvPr id="17" name="Shape 15"/>
          <p:cNvSpPr/>
          <p:nvPr/>
        </p:nvSpPr>
        <p:spPr>
          <a:xfrm>
            <a:off x="8119872" y="1938528"/>
            <a:ext cx="3502152" cy="457200"/>
          </a:xfrm>
          <a:prstGeom prst="roundRect">
            <a:avLst>
              <a:gd name="adj" fmla="val 20000"/>
            </a:avLst>
          </a:prstGeom>
          <a:solidFill>
            <a:srgbClr val="8A5A11"/>
          </a:solidFill>
          <a:ln w="12700">
            <a:solidFill>
              <a:srgbClr val="8A5A11"/>
            </a:solidFill>
            <a:prstDash val="solid"/>
          </a:ln>
        </p:spPr>
      </p:sp>
      <p:sp>
        <p:nvSpPr>
          <p:cNvPr id="18" name="Text 16"/>
          <p:cNvSpPr/>
          <p:nvPr/>
        </p:nvSpPr>
        <p:spPr>
          <a:xfrm>
            <a:off x="8321040" y="1938528"/>
            <a:ext cx="3099816" cy="457200"/>
          </a:xfrm>
          <a:prstGeom prst="rect">
            <a:avLst/>
          </a:prstGeom>
          <a:noFill/>
          <a:ln/>
        </p:spPr>
        <p:txBody>
          <a:bodyPr wrap="square" lIns="0" tIns="0" rIns="0" bIns="0" rtlCol="0" anchor="ctr"/>
          <a:lstStyle/>
          <a:p>
            <a:pPr indent="0" marL="0">
              <a:buNone/>
            </a:pPr>
            <a:r>
              <a:rPr lang="en-US" sz="1250" b="1" spc="100" kern="0" dirty="0">
                <a:solidFill>
                  <a:srgbClr val="FFFFFF"/>
                </a:solidFill>
                <a:latin typeface="Calibri" pitchFamily="34" charset="0"/>
                <a:ea typeface="Calibri" pitchFamily="34" charset="-122"/>
                <a:cs typeface="Calibri" pitchFamily="34" charset="-120"/>
              </a:rPr>
              <a:t>INSTANT</a:t>
            </a:r>
            <a:endParaRPr lang="en-US" sz="1250" dirty="0"/>
          </a:p>
        </p:txBody>
      </p:sp>
      <p:sp>
        <p:nvSpPr>
          <p:cNvPr id="19" name="Shape 17"/>
          <p:cNvSpPr/>
          <p:nvPr/>
        </p:nvSpPr>
        <p:spPr>
          <a:xfrm>
            <a:off x="8119872" y="2468880"/>
            <a:ext cx="3502152" cy="1325880"/>
          </a:xfrm>
          <a:prstGeom prst="roundRect">
            <a:avLst>
              <a:gd name="adj" fmla="val 6897"/>
            </a:avLst>
          </a:prstGeom>
          <a:solidFill>
            <a:srgbClr val="F1F5FA"/>
          </a:solidFill>
          <a:ln w="12700">
            <a:solidFill>
              <a:srgbClr val="F1F5FA"/>
            </a:solidFill>
            <a:prstDash val="solid"/>
          </a:ln>
        </p:spPr>
      </p:sp>
      <p:sp>
        <p:nvSpPr>
          <p:cNvPr id="20" name="Text 18"/>
          <p:cNvSpPr/>
          <p:nvPr/>
        </p:nvSpPr>
        <p:spPr>
          <a:xfrm>
            <a:off x="8321040" y="2596896"/>
            <a:ext cx="3099816" cy="1088136"/>
          </a:xfrm>
          <a:prstGeom prst="rect">
            <a:avLst/>
          </a:prstGeom>
          <a:noFill/>
          <a:ln/>
        </p:spPr>
        <p:txBody>
          <a:bodyPr wrap="square" lIns="0" tIns="0" rIns="0" bIns="0" rtlCol="0" anchor="t"/>
          <a:lstStyle/>
          <a:p>
            <a:pPr indent="0" marL="0">
              <a:lnSpc>
                <a:spcPts val="1650"/>
              </a:lnSpc>
              <a:buNone/>
            </a:pPr>
            <a:r>
              <a:rPr lang="en-US" sz="1250" dirty="0">
                <a:solidFill>
                  <a:srgbClr val="1B2338"/>
                </a:solidFill>
                <a:latin typeface="Calibri" pitchFamily="34" charset="0"/>
                <a:ea typeface="Calibri" pitchFamily="34" charset="-122"/>
                <a:cs typeface="Calibri" pitchFamily="34" charset="-120"/>
              </a:rPr>
              <a:t>Real-time positive feedback. Points redeemed for something real. Reinforces good daily habits.</a:t>
            </a:r>
            <a:endParaRPr lang="en-US" sz="1250" dirty="0"/>
          </a:p>
        </p:txBody>
      </p:sp>
      <p:sp>
        <p:nvSpPr>
          <p:cNvPr id="21" name="Shape 19"/>
          <p:cNvSpPr/>
          <p:nvPr/>
        </p:nvSpPr>
        <p:spPr>
          <a:xfrm>
            <a:off x="8119872" y="3886200"/>
            <a:ext cx="3502152" cy="1143000"/>
          </a:xfrm>
          <a:prstGeom prst="roundRect">
            <a:avLst>
              <a:gd name="adj" fmla="val 8000"/>
            </a:avLst>
          </a:prstGeom>
          <a:solidFill>
            <a:srgbClr val="FAECD4"/>
          </a:solidFill>
          <a:ln w="12700">
            <a:solidFill>
              <a:srgbClr val="FAECD4"/>
            </a:solidFill>
            <a:prstDash val="solid"/>
          </a:ln>
        </p:spPr>
      </p:sp>
      <p:sp>
        <p:nvSpPr>
          <p:cNvPr id="22" name="Text 20"/>
          <p:cNvSpPr/>
          <p:nvPr/>
        </p:nvSpPr>
        <p:spPr>
          <a:xfrm>
            <a:off x="8321040" y="4014216"/>
            <a:ext cx="3099816" cy="905256"/>
          </a:xfrm>
          <a:prstGeom prst="rect">
            <a:avLst/>
          </a:prstGeom>
          <a:noFill/>
          <a:ln/>
        </p:spPr>
        <p:txBody>
          <a:bodyPr wrap="square" lIns="0" tIns="0" rIns="0" bIns="0" rtlCol="0" anchor="t"/>
          <a:lstStyle/>
          <a:p>
            <a:pPr indent="0" marL="0">
              <a:lnSpc>
                <a:spcPts val="1600"/>
              </a:lnSpc>
              <a:buNone/>
            </a:pPr>
            <a:r>
              <a:rPr lang="en-US" sz="1200" dirty="0">
                <a:solidFill>
                  <a:srgbClr val="8A5A11"/>
                </a:solidFill>
                <a:latin typeface="Calibri" pitchFamily="34" charset="0"/>
                <a:ea typeface="Calibri" pitchFamily="34" charset="-122"/>
                <a:cs typeface="Calibri" pitchFamily="34" charset="-120"/>
              </a:rPr>
              <a:t>Highest frequency, lowest unit cost. Shapes behavior in the moment, not at review time.</a:t>
            </a:r>
            <a:endParaRPr lang="en-US" sz="1200" dirty="0"/>
          </a:p>
        </p:txBody>
      </p:sp>
      <p:sp>
        <p:nvSpPr>
          <p:cNvPr id="23" name="Text 21"/>
          <p:cNvSpPr/>
          <p:nvPr/>
        </p:nvSpPr>
        <p:spPr>
          <a:xfrm>
            <a:off x="566928" y="5257800"/>
            <a:ext cx="11055096" cy="457200"/>
          </a:xfrm>
          <a:prstGeom prst="rect">
            <a:avLst/>
          </a:prstGeom>
          <a:noFill/>
          <a:ln/>
        </p:spPr>
        <p:txBody>
          <a:bodyPr wrap="square" lIns="0" tIns="0" rIns="0" bIns="0" rtlCol="0" anchor="ctr"/>
          <a:lstStyle/>
          <a:p>
            <a:pPr indent="0" marL="0">
              <a:buNone/>
            </a:pPr>
            <a:r>
              <a:rPr lang="en-US" sz="1450" b="1" dirty="0">
                <a:solidFill>
                  <a:srgbClr val="16233B"/>
                </a:solidFill>
                <a:latin typeface="Calibri" pitchFamily="34" charset="0"/>
                <a:ea typeface="Calibri" pitchFamily="34" charset="-122"/>
                <a:cs typeface="Calibri" pitchFamily="34" charset="-120"/>
              </a:rPr>
              <a:t>An app at 1.9M scale cannot out-spend anyone on cash. It can notice, at a scale no manager can.</a:t>
            </a:r>
            <a:endParaRPr lang="en-US" sz="1450" dirty="0"/>
          </a:p>
        </p:txBody>
      </p:sp>
      <p:sp>
        <p:nvSpPr>
          <p:cNvPr id="24" name="Text 22"/>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Sources: PMC8319625; Gallup on recognition; Incentive Research Foundation; Reward Gateway; IJSMS 8(3) 118. Full citations on A20.</a:t>
            </a:r>
            <a:endParaRPr lang="en-US" sz="1050" dirty="0"/>
          </a:p>
        </p:txBody>
      </p:sp>
      <p:sp>
        <p:nvSpPr>
          <p:cNvPr id="25" name="Text 23"/>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APPROACH</a:t>
            </a:r>
            <a:endParaRPr lang="en-US" sz="1100" dirty="0"/>
          </a:p>
        </p:txBody>
      </p:sp>
      <p:sp>
        <p:nvSpPr>
          <p:cNvPr id="4" name="Text 2"/>
          <p:cNvSpPr/>
          <p:nvPr/>
        </p:nvSpPr>
        <p:spPr>
          <a:xfrm>
            <a:off x="566928" y="749808"/>
            <a:ext cx="11055096" cy="1024128"/>
          </a:xfrm>
          <a:prstGeom prst="rect">
            <a:avLst/>
          </a:prstGeom>
          <a:noFill/>
          <a:ln/>
        </p:spPr>
        <p:txBody>
          <a:bodyPr wrap="square" lIns="0" tIns="0" rIns="0" bIns="0" rtlCol="0" anchor="t"/>
          <a:lstStyle/>
          <a:p>
            <a:pPr indent="0" marL="0">
              <a:lnSpc>
                <a:spcPts val="3500"/>
              </a:lnSpc>
              <a:buNone/>
            </a:pPr>
            <a:r>
              <a:rPr lang="en-US" sz="3000" b="1" dirty="0">
                <a:solidFill>
                  <a:srgbClr val="1B2338"/>
                </a:solidFill>
                <a:latin typeface="Cambria" pitchFamily="34" charset="0"/>
                <a:ea typeface="Cambria" pitchFamily="34" charset="-122"/>
                <a:cs typeface="Cambria" pitchFamily="34" charset="-120"/>
              </a:rPr>
              <a:t>Each tier is earned by the one below, so the base and middle start together.</a:t>
            </a:r>
            <a:endParaRPr lang="en-US" sz="3000" dirty="0"/>
          </a:p>
        </p:txBody>
      </p:sp>
      <p:sp>
        <p:nvSpPr>
          <p:cNvPr id="5" name="Shape 3"/>
          <p:cNvSpPr/>
          <p:nvPr/>
        </p:nvSpPr>
        <p:spPr>
          <a:xfrm>
            <a:off x="1923288" y="2084832"/>
            <a:ext cx="944880" cy="975360"/>
          </a:xfrm>
          <a:custGeom>
            <a:avLst/>
            <a:gdLst/>
            <a:ahLst/>
            <a:cxnLst/>
            <a:rect l="l" t="t" r="r" b="b"/>
            <a:pathLst>
              <a:path w="944880" h="975360">
                <a:moveTo>
                  <a:pt x="472440" y="0"/>
                </a:moveTo>
                <a:lnTo>
                  <a:pt x="944880" y="975360"/>
                </a:lnTo>
                <a:lnTo>
                  <a:pt x="0" y="975360"/>
                </a:lnTo>
                <a:close/>
              </a:path>
            </a:pathLst>
          </a:custGeom>
          <a:solidFill>
            <a:srgbClr val="8A5A11"/>
          </a:solidFill>
          <a:ln w="22225">
            <a:solidFill>
              <a:srgbClr val="FFFFFF"/>
            </a:solidFill>
            <a:prstDash val="solid"/>
          </a:ln>
        </p:spPr>
      </p:sp>
      <p:sp>
        <p:nvSpPr>
          <p:cNvPr id="6" name="Shape 4"/>
          <p:cNvSpPr/>
          <p:nvPr/>
        </p:nvSpPr>
        <p:spPr>
          <a:xfrm>
            <a:off x="1450848" y="3060192"/>
            <a:ext cx="1889760" cy="975360"/>
          </a:xfrm>
          <a:custGeom>
            <a:avLst/>
            <a:gdLst/>
            <a:ahLst/>
            <a:cxnLst/>
            <a:rect l="l" t="t" r="r" b="b"/>
            <a:pathLst>
              <a:path w="1889760" h="975360">
                <a:moveTo>
                  <a:pt x="472440" y="0"/>
                </a:moveTo>
                <a:lnTo>
                  <a:pt x="1417320" y="0"/>
                </a:lnTo>
                <a:lnTo>
                  <a:pt x="1889760" y="975360"/>
                </a:lnTo>
                <a:lnTo>
                  <a:pt x="0" y="975360"/>
                </a:lnTo>
                <a:close/>
              </a:path>
            </a:pathLst>
          </a:custGeom>
          <a:solidFill>
            <a:srgbClr val="35604A"/>
          </a:solidFill>
          <a:ln w="22225">
            <a:solidFill>
              <a:srgbClr val="FFFFFF"/>
            </a:solidFill>
            <a:prstDash val="solid"/>
          </a:ln>
        </p:spPr>
      </p:sp>
      <p:sp>
        <p:nvSpPr>
          <p:cNvPr id="7" name="Shape 5"/>
          <p:cNvSpPr/>
          <p:nvPr/>
        </p:nvSpPr>
        <p:spPr>
          <a:xfrm>
            <a:off x="978408" y="4035552"/>
            <a:ext cx="2834640" cy="975360"/>
          </a:xfrm>
          <a:custGeom>
            <a:avLst/>
            <a:gdLst/>
            <a:ahLst/>
            <a:cxnLst/>
            <a:rect l="l" t="t" r="r" b="b"/>
            <a:pathLst>
              <a:path w="2834640" h="975360">
                <a:moveTo>
                  <a:pt x="472440" y="0"/>
                </a:moveTo>
                <a:lnTo>
                  <a:pt x="2362200" y="0"/>
                </a:lnTo>
                <a:lnTo>
                  <a:pt x="2834640" y="975360"/>
                </a:lnTo>
                <a:lnTo>
                  <a:pt x="0" y="975360"/>
                </a:lnTo>
                <a:close/>
              </a:path>
            </a:pathLst>
          </a:custGeom>
          <a:solidFill>
            <a:srgbClr val="1E4E6B"/>
          </a:solidFill>
          <a:ln w="22225">
            <a:solidFill>
              <a:srgbClr val="FFFFFF"/>
            </a:solidFill>
            <a:prstDash val="solid"/>
          </a:ln>
        </p:spPr>
      </p:sp>
      <p:sp>
        <p:nvSpPr>
          <p:cNvPr id="8" name="Text 6"/>
          <p:cNvSpPr/>
          <p:nvPr/>
        </p:nvSpPr>
        <p:spPr>
          <a:xfrm>
            <a:off x="978408" y="2747467"/>
            <a:ext cx="28346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rewards</a:t>
            </a:r>
            <a:endParaRPr lang="en-US" sz="950" dirty="0"/>
          </a:p>
        </p:txBody>
      </p:sp>
      <p:sp>
        <p:nvSpPr>
          <p:cNvPr id="9" name="Text 7"/>
          <p:cNvSpPr/>
          <p:nvPr/>
        </p:nvSpPr>
        <p:spPr>
          <a:xfrm>
            <a:off x="978408" y="3527755"/>
            <a:ext cx="283464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rejuvenation</a:t>
            </a:r>
            <a:endParaRPr lang="en-US" sz="1150" dirty="0"/>
          </a:p>
        </p:txBody>
      </p:sp>
      <p:sp>
        <p:nvSpPr>
          <p:cNvPr id="10" name="Text 8"/>
          <p:cNvSpPr/>
          <p:nvPr/>
        </p:nvSpPr>
        <p:spPr>
          <a:xfrm>
            <a:off x="978408" y="4503115"/>
            <a:ext cx="283464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answers</a:t>
            </a:r>
            <a:endParaRPr lang="en-US" sz="1150" dirty="0"/>
          </a:p>
        </p:txBody>
      </p:sp>
      <p:sp>
        <p:nvSpPr>
          <p:cNvPr id="11" name="Text 9"/>
          <p:cNvSpPr/>
          <p:nvPr/>
        </p:nvSpPr>
        <p:spPr>
          <a:xfrm>
            <a:off x="566928" y="5138928"/>
            <a:ext cx="3657600" cy="402336"/>
          </a:xfrm>
          <a:prstGeom prst="rect">
            <a:avLst/>
          </a:prstGeom>
          <a:noFill/>
          <a:ln/>
        </p:spPr>
        <p:txBody>
          <a:bodyPr wrap="square" lIns="0" tIns="0" rIns="0" bIns="0" rtlCol="0" anchor="t"/>
          <a:lstStyle/>
          <a:p>
            <a:pPr indent="0" marL="0">
              <a:lnSpc>
                <a:spcPts val="1600"/>
              </a:lnSpc>
              <a:buNone/>
            </a:pPr>
            <a:r>
              <a:rPr lang="en-US" sz="1200" i="1" dirty="0">
                <a:solidFill>
                  <a:srgbClr val="5E6980"/>
                </a:solidFill>
                <a:latin typeface="Calibri" pitchFamily="34" charset="0"/>
                <a:ea typeface="Calibri" pitchFamily="34" charset="-122"/>
                <a:cs typeface="Calibri" pitchFamily="34" charset="-120"/>
              </a:rPr>
              <a:t>Each tier depends on the data the tier below produces.</a:t>
            </a:r>
            <a:endParaRPr lang="en-US" sz="1200" dirty="0"/>
          </a:p>
        </p:txBody>
      </p:sp>
      <p:sp>
        <p:nvSpPr>
          <p:cNvPr id="12" name="Shape 10"/>
          <p:cNvSpPr/>
          <p:nvPr/>
        </p:nvSpPr>
        <p:spPr>
          <a:xfrm>
            <a:off x="4407408" y="1938528"/>
            <a:ext cx="7214616" cy="1124712"/>
          </a:xfrm>
          <a:prstGeom prst="roundRect">
            <a:avLst>
              <a:gd name="adj" fmla="val 8130"/>
            </a:avLst>
          </a:prstGeom>
          <a:solidFill>
            <a:srgbClr val="FAECD4"/>
          </a:solidFill>
          <a:ln w="12700">
            <a:solidFill>
              <a:srgbClr val="FAECD4"/>
            </a:solidFill>
            <a:prstDash val="solid"/>
          </a:ln>
        </p:spPr>
      </p:sp>
      <p:sp>
        <p:nvSpPr>
          <p:cNvPr id="13" name="Shape 11"/>
          <p:cNvSpPr/>
          <p:nvPr/>
        </p:nvSpPr>
        <p:spPr>
          <a:xfrm>
            <a:off x="4407408" y="1938528"/>
            <a:ext cx="45720" cy="1124712"/>
          </a:xfrm>
          <a:prstGeom prst="rect">
            <a:avLst/>
          </a:prstGeom>
          <a:solidFill>
            <a:srgbClr val="8A5A11"/>
          </a:solidFill>
          <a:ln w="12700">
            <a:solidFill>
              <a:srgbClr val="333333"/>
            </a:solidFill>
            <a:prstDash val="solid"/>
          </a:ln>
        </p:spPr>
      </p:sp>
      <p:sp>
        <p:nvSpPr>
          <p:cNvPr id="14" name="Text 12"/>
          <p:cNvSpPr/>
          <p:nvPr/>
        </p:nvSpPr>
        <p:spPr>
          <a:xfrm>
            <a:off x="4608576" y="1993392"/>
            <a:ext cx="5385816" cy="219456"/>
          </a:xfrm>
          <a:prstGeom prst="rect">
            <a:avLst/>
          </a:prstGeom>
          <a:noFill/>
          <a:ln/>
        </p:spPr>
        <p:txBody>
          <a:bodyPr wrap="square" lIns="0" tIns="0" rIns="0" bIns="0" rtlCol="0" anchor="ctr"/>
          <a:lstStyle/>
          <a:p>
            <a:pPr indent="0" marL="0">
              <a:buNone/>
            </a:pPr>
            <a:r>
              <a:rPr lang="en-US" sz="1200" b="1" dirty="0">
                <a:solidFill>
                  <a:srgbClr val="8A5A11"/>
                </a:solidFill>
                <a:latin typeface="Calibri" pitchFamily="34" charset="0"/>
                <a:ea typeface="Calibri" pitchFamily="34" charset="-122"/>
                <a:cs typeface="Calibri" pitchFamily="34" charset="-120"/>
              </a:rPr>
              <a:t>REWARDS THE ASSOCIATE PICKS</a:t>
            </a:r>
            <a:endParaRPr lang="en-US" sz="1200" dirty="0"/>
          </a:p>
        </p:txBody>
      </p:sp>
      <p:sp>
        <p:nvSpPr>
          <p:cNvPr id="15" name="Text 13"/>
          <p:cNvSpPr/>
          <p:nvPr/>
        </p:nvSpPr>
        <p:spPr>
          <a:xfrm>
            <a:off x="9838944" y="1993392"/>
            <a:ext cx="1600200" cy="219456"/>
          </a:xfrm>
          <a:prstGeom prst="rect">
            <a:avLst/>
          </a:prstGeom>
          <a:noFill/>
          <a:ln/>
        </p:spPr>
        <p:txBody>
          <a:bodyPr wrap="square" lIns="0" tIns="0" rIns="0" bIns="0" rtlCol="0" anchor="ctr"/>
          <a:lstStyle/>
          <a:p>
            <a:pPr algn="r" indent="0" marL="0">
              <a:buNone/>
            </a:pPr>
            <a:r>
              <a:rPr lang="en-US" sz="950" b="1" spc="80" kern="0" dirty="0">
                <a:solidFill>
                  <a:srgbClr val="8A5A11"/>
                </a:solidFill>
                <a:latin typeface="Calibri" pitchFamily="34" charset="0"/>
                <a:ea typeface="Calibri" pitchFamily="34" charset="-122"/>
                <a:cs typeface="Calibri" pitchFamily="34" charset="-120"/>
              </a:rPr>
              <a:t>HARD TO COPY</a:t>
            </a:r>
            <a:endParaRPr lang="en-US" sz="950" dirty="0"/>
          </a:p>
        </p:txBody>
      </p:sp>
      <p:sp>
        <p:nvSpPr>
          <p:cNvPr id="16" name="Text 14"/>
          <p:cNvSpPr/>
          <p:nvPr/>
        </p:nvSpPr>
        <p:spPr>
          <a:xfrm>
            <a:off x="4608576" y="2231136"/>
            <a:ext cx="6812280" cy="201168"/>
          </a:xfrm>
          <a:prstGeom prst="rect">
            <a:avLst/>
          </a:prstGeom>
          <a:noFill/>
          <a:ln/>
        </p:spPr>
        <p:txBody>
          <a:bodyPr wrap="square" lIns="0" tIns="0" rIns="0" bIns="0" rtlCol="0" anchor="t"/>
          <a:lstStyle/>
          <a:p>
            <a:pPr indent="0" marL="0">
              <a:buNone/>
            </a:pPr>
            <a:r>
              <a:rPr lang="en-US" sz="1100" dirty="0">
                <a:solidFill>
                  <a:srgbClr val="1B2338"/>
                </a:solidFill>
                <a:latin typeface="Calibri" pitchFamily="34" charset="0"/>
                <a:ea typeface="Calibri" pitchFamily="34" charset="-122"/>
                <a:cs typeface="Calibri" pitchFamily="34" charset="-120"/>
              </a:rPr>
              <a:t>Real currency for initiative, paid through payroll. They choose it.</a:t>
            </a:r>
            <a:endParaRPr lang="en-US" sz="1100" dirty="0"/>
          </a:p>
        </p:txBody>
      </p:sp>
      <p:sp>
        <p:nvSpPr>
          <p:cNvPr id="17" name="Text 15"/>
          <p:cNvSpPr/>
          <p:nvPr/>
        </p:nvSpPr>
        <p:spPr>
          <a:xfrm>
            <a:off x="4608576" y="2450592"/>
            <a:ext cx="6812280" cy="384048"/>
          </a:xfrm>
          <a:prstGeom prst="rect">
            <a:avLst/>
          </a:prstGeom>
          <a:noFill/>
          <a:ln/>
        </p:spPr>
        <p:txBody>
          <a:bodyPr wrap="square" lIns="0" tIns="0" rIns="0" bIns="0" rtlCol="0" anchor="t"/>
          <a:lstStyle/>
          <a:p>
            <a:pPr indent="0" marL="0">
              <a:lnSpc>
                <a:spcPts val="1300"/>
              </a:lnSpc>
              <a:buNone/>
            </a:pPr>
            <a:r>
              <a:rPr lang="en-US" sz="1000" dirty="0">
                <a:solidFill>
                  <a:srgbClr val="2E4571"/>
                </a:solidFill>
                <a:latin typeface="Calibri" pitchFamily="34" charset="0"/>
                <a:ea typeface="Calibri" pitchFamily="34" charset="-122"/>
                <a:cs typeface="Calibri" pitchFamily="34" charset="-120"/>
              </a:rPr>
              <a:t>d1-30 inventory signals, fit score v0   ·   d31-60 catalog v1, HR and legal cleared   ·   d61-90 bandit across 3 to 4 arms</a:t>
            </a:r>
            <a:endParaRPr lang="en-US" sz="1000" dirty="0"/>
          </a:p>
        </p:txBody>
      </p:sp>
      <p:sp>
        <p:nvSpPr>
          <p:cNvPr id="18" name="Text 16"/>
          <p:cNvSpPr/>
          <p:nvPr/>
        </p:nvSpPr>
        <p:spPr>
          <a:xfrm>
            <a:off x="4608576" y="2852928"/>
            <a:ext cx="6812280" cy="182880"/>
          </a:xfrm>
          <a:prstGeom prst="rect">
            <a:avLst/>
          </a:prstGeom>
          <a:noFill/>
          <a:ln/>
        </p:spPr>
        <p:txBody>
          <a:bodyPr wrap="square" lIns="0" tIns="0" rIns="0" bIns="0" rtlCol="0" anchor="t"/>
          <a:lstStyle/>
          <a:p>
            <a:pPr indent="0" marL="0">
              <a:buNone/>
            </a:pPr>
            <a:r>
              <a:rPr lang="en-US" sz="950" i="1" dirty="0">
                <a:solidFill>
                  <a:srgbClr val="5E6980"/>
                </a:solidFill>
                <a:latin typeface="Calibri" pitchFamily="34" charset="0"/>
                <a:ea typeface="Calibri" pitchFamily="34" charset="-122"/>
                <a:cs typeface="Calibri" pitchFamily="34" charset="-120"/>
              </a:rPr>
              <a:t>Depends on: the cohort scores the two tiers below produce.</a:t>
            </a:r>
            <a:endParaRPr lang="en-US" sz="950" dirty="0"/>
          </a:p>
        </p:txBody>
      </p:sp>
      <p:sp>
        <p:nvSpPr>
          <p:cNvPr id="19" name="Shape 17"/>
          <p:cNvSpPr/>
          <p:nvPr/>
        </p:nvSpPr>
        <p:spPr>
          <a:xfrm>
            <a:off x="4407408" y="3136392"/>
            <a:ext cx="7214616" cy="1124712"/>
          </a:xfrm>
          <a:prstGeom prst="roundRect">
            <a:avLst>
              <a:gd name="adj" fmla="val 8130"/>
            </a:avLst>
          </a:prstGeom>
          <a:solidFill>
            <a:srgbClr val="DDEAE1"/>
          </a:solidFill>
          <a:ln w="12700">
            <a:solidFill>
              <a:srgbClr val="DDEAE1"/>
            </a:solidFill>
            <a:prstDash val="solid"/>
          </a:ln>
        </p:spPr>
      </p:sp>
      <p:sp>
        <p:nvSpPr>
          <p:cNvPr id="20" name="Shape 18"/>
          <p:cNvSpPr/>
          <p:nvPr/>
        </p:nvSpPr>
        <p:spPr>
          <a:xfrm>
            <a:off x="4407408" y="3136392"/>
            <a:ext cx="45720" cy="1124712"/>
          </a:xfrm>
          <a:prstGeom prst="rect">
            <a:avLst/>
          </a:prstGeom>
          <a:solidFill>
            <a:srgbClr val="35604A"/>
          </a:solidFill>
          <a:ln w="12700">
            <a:solidFill>
              <a:srgbClr val="333333"/>
            </a:solidFill>
            <a:prstDash val="solid"/>
          </a:ln>
        </p:spPr>
      </p:sp>
      <p:sp>
        <p:nvSpPr>
          <p:cNvPr id="21" name="Text 19"/>
          <p:cNvSpPr/>
          <p:nvPr/>
        </p:nvSpPr>
        <p:spPr>
          <a:xfrm>
            <a:off x="4608576" y="3191256"/>
            <a:ext cx="5385816" cy="219456"/>
          </a:xfrm>
          <a:prstGeom prst="rect">
            <a:avLst/>
          </a:prstGeom>
          <a:noFill/>
          <a:ln/>
        </p:spPr>
        <p:txBody>
          <a:bodyPr wrap="square" lIns="0" tIns="0" rIns="0" bIns="0" rtlCol="0" anchor="ctr"/>
          <a:lstStyle/>
          <a:p>
            <a:pPr indent="0" marL="0">
              <a:buNone/>
            </a:pPr>
            <a:r>
              <a:rPr lang="en-US" sz="1200" b="1" dirty="0">
                <a:solidFill>
                  <a:srgbClr val="35604A"/>
                </a:solidFill>
                <a:latin typeface="Calibri" pitchFamily="34" charset="0"/>
                <a:ea typeface="Calibri" pitchFamily="34" charset="-122"/>
                <a:cs typeface="Calibri" pitchFamily="34" charset="-120"/>
              </a:rPr>
              <a:t>REJUVENATION ON THE SCHEDULE</a:t>
            </a:r>
            <a:endParaRPr lang="en-US" sz="1200" dirty="0"/>
          </a:p>
        </p:txBody>
      </p:sp>
      <p:sp>
        <p:nvSpPr>
          <p:cNvPr id="22" name="Text 20"/>
          <p:cNvSpPr/>
          <p:nvPr/>
        </p:nvSpPr>
        <p:spPr>
          <a:xfrm>
            <a:off x="9838944" y="3191256"/>
            <a:ext cx="1600200" cy="219456"/>
          </a:xfrm>
          <a:prstGeom prst="rect">
            <a:avLst/>
          </a:prstGeom>
          <a:noFill/>
          <a:ln/>
        </p:spPr>
        <p:txBody>
          <a:bodyPr wrap="square" lIns="0" tIns="0" rIns="0" bIns="0" rtlCol="0" anchor="ctr"/>
          <a:lstStyle/>
          <a:p>
            <a:pPr algn="r" indent="0" marL="0">
              <a:buNone/>
            </a:pPr>
            <a:r>
              <a:rPr lang="en-US" sz="950" b="1" spc="80" kern="0" dirty="0">
                <a:solidFill>
                  <a:srgbClr val="35604A"/>
                </a:solidFill>
                <a:latin typeface="Calibri" pitchFamily="34" charset="0"/>
                <a:ea typeface="Calibri" pitchFamily="34" charset="-122"/>
                <a:cs typeface="Calibri" pitchFamily="34" charset="-120"/>
              </a:rPr>
              <a:t>DIFFERENTIATED</a:t>
            </a:r>
            <a:endParaRPr lang="en-US" sz="950" dirty="0"/>
          </a:p>
        </p:txBody>
      </p:sp>
      <p:sp>
        <p:nvSpPr>
          <p:cNvPr id="23" name="Text 21"/>
          <p:cNvSpPr/>
          <p:nvPr/>
        </p:nvSpPr>
        <p:spPr>
          <a:xfrm>
            <a:off x="4608576" y="3429000"/>
            <a:ext cx="6812280" cy="201168"/>
          </a:xfrm>
          <a:prstGeom prst="rect">
            <a:avLst/>
          </a:prstGeom>
          <a:noFill/>
          <a:ln/>
        </p:spPr>
        <p:txBody>
          <a:bodyPr wrap="square" lIns="0" tIns="0" rIns="0" bIns="0" rtlCol="0" anchor="t"/>
          <a:lstStyle/>
          <a:p>
            <a:pPr indent="0" marL="0">
              <a:buNone/>
            </a:pPr>
            <a:r>
              <a:rPr lang="en-US" sz="1100" dirty="0">
                <a:solidFill>
                  <a:srgbClr val="1B2338"/>
                </a:solidFill>
                <a:latin typeface="Calibri" pitchFamily="34" charset="0"/>
                <a:ea typeface="Calibri" pitchFamily="34" charset="-122"/>
                <a:cs typeface="Calibri" pitchFamily="34" charset="-120"/>
              </a:rPr>
              <a:t>Rest that is scheduled, not begged for. Safe to fail. Safe at work.</a:t>
            </a:r>
            <a:endParaRPr lang="en-US" sz="1100" dirty="0"/>
          </a:p>
        </p:txBody>
      </p:sp>
      <p:sp>
        <p:nvSpPr>
          <p:cNvPr id="24" name="Text 22"/>
          <p:cNvSpPr/>
          <p:nvPr/>
        </p:nvSpPr>
        <p:spPr>
          <a:xfrm>
            <a:off x="4608576" y="3648456"/>
            <a:ext cx="6812280" cy="384048"/>
          </a:xfrm>
          <a:prstGeom prst="rect">
            <a:avLst/>
          </a:prstGeom>
          <a:noFill/>
          <a:ln/>
        </p:spPr>
        <p:txBody>
          <a:bodyPr wrap="square" lIns="0" tIns="0" rIns="0" bIns="0" rtlCol="0" anchor="t"/>
          <a:lstStyle/>
          <a:p>
            <a:pPr indent="0" marL="0">
              <a:lnSpc>
                <a:spcPts val="1300"/>
              </a:lnSpc>
              <a:buNone/>
            </a:pPr>
            <a:r>
              <a:rPr lang="en-US" sz="1000" dirty="0">
                <a:solidFill>
                  <a:srgbClr val="2E4571"/>
                </a:solidFill>
                <a:latin typeface="Calibri" pitchFamily="34" charset="0"/>
                <a:ea typeface="Calibri" pitchFamily="34" charset="-122"/>
                <a:cs typeface="Calibri" pitchFamily="34" charset="-120"/>
              </a:rPr>
              <a:t>d1-30 map the first 90 days, pick 20 matched pairs   ·   d31-60 check-ins fire at day 7, 30, 60   ·   d61-90 read lift against control</a:t>
            </a:r>
            <a:endParaRPr lang="en-US" sz="1000" dirty="0"/>
          </a:p>
        </p:txBody>
      </p:sp>
      <p:sp>
        <p:nvSpPr>
          <p:cNvPr id="25" name="Text 23"/>
          <p:cNvSpPr/>
          <p:nvPr/>
        </p:nvSpPr>
        <p:spPr>
          <a:xfrm>
            <a:off x="4608576" y="4050792"/>
            <a:ext cx="6812280" cy="182880"/>
          </a:xfrm>
          <a:prstGeom prst="rect">
            <a:avLst/>
          </a:prstGeom>
          <a:noFill/>
          <a:ln/>
        </p:spPr>
        <p:txBody>
          <a:bodyPr wrap="square" lIns="0" tIns="0" rIns="0" bIns="0" rtlCol="0" anchor="t"/>
          <a:lstStyle/>
          <a:p>
            <a:pPr indent="0" marL="0">
              <a:buNone/>
            </a:pPr>
            <a:r>
              <a:rPr lang="en-US" sz="950" i="1" dirty="0">
                <a:solidFill>
                  <a:srgbClr val="5E6980"/>
                </a:solidFill>
                <a:latin typeface="Calibri" pitchFamily="34" charset="0"/>
                <a:ea typeface="Calibri" pitchFamily="34" charset="-122"/>
                <a:cs typeface="Calibri" pitchFamily="34" charset="-120"/>
              </a:rPr>
              <a:t>Depends on: knowing where each new hire sits in their first 90 days.</a:t>
            </a:r>
            <a:endParaRPr lang="en-US" sz="950" dirty="0"/>
          </a:p>
        </p:txBody>
      </p:sp>
      <p:sp>
        <p:nvSpPr>
          <p:cNvPr id="26" name="Shape 24"/>
          <p:cNvSpPr/>
          <p:nvPr/>
        </p:nvSpPr>
        <p:spPr>
          <a:xfrm>
            <a:off x="4407408" y="4334256"/>
            <a:ext cx="7214616" cy="1124712"/>
          </a:xfrm>
          <a:prstGeom prst="roundRect">
            <a:avLst>
              <a:gd name="adj" fmla="val 8130"/>
            </a:avLst>
          </a:prstGeom>
          <a:solidFill>
            <a:srgbClr val="DCE9F2"/>
          </a:solidFill>
          <a:ln w="12700">
            <a:solidFill>
              <a:srgbClr val="DCE9F2"/>
            </a:solidFill>
            <a:prstDash val="solid"/>
          </a:ln>
        </p:spPr>
      </p:sp>
      <p:sp>
        <p:nvSpPr>
          <p:cNvPr id="27" name="Shape 25"/>
          <p:cNvSpPr/>
          <p:nvPr/>
        </p:nvSpPr>
        <p:spPr>
          <a:xfrm>
            <a:off x="4407408" y="4334256"/>
            <a:ext cx="45720" cy="1124712"/>
          </a:xfrm>
          <a:prstGeom prst="rect">
            <a:avLst/>
          </a:prstGeom>
          <a:solidFill>
            <a:srgbClr val="1E4E6B"/>
          </a:solidFill>
          <a:ln w="12700">
            <a:solidFill>
              <a:srgbClr val="333333"/>
            </a:solidFill>
            <a:prstDash val="solid"/>
          </a:ln>
        </p:spPr>
      </p:sp>
      <p:sp>
        <p:nvSpPr>
          <p:cNvPr id="28" name="Text 26"/>
          <p:cNvSpPr/>
          <p:nvPr/>
        </p:nvSpPr>
        <p:spPr>
          <a:xfrm>
            <a:off x="4608576" y="4389120"/>
            <a:ext cx="5385816" cy="219456"/>
          </a:xfrm>
          <a:prstGeom prst="rect">
            <a:avLst/>
          </a:prstGeom>
          <a:noFill/>
          <a:ln/>
        </p:spPr>
        <p:txBody>
          <a:bodyPr wrap="square" lIns="0" tIns="0" rIns="0" bIns="0" rtlCol="0" anchor="ctr"/>
          <a:lstStyle/>
          <a:p>
            <a:pPr indent="0" marL="0">
              <a:buNone/>
            </a:pPr>
            <a:r>
              <a:rPr lang="en-US" sz="1200" b="1" dirty="0">
                <a:solidFill>
                  <a:srgbClr val="1E4E6B"/>
                </a:solidFill>
                <a:latin typeface="Calibri" pitchFamily="34" charset="0"/>
                <a:ea typeface="Calibri" pitchFamily="34" charset="-122"/>
                <a:cs typeface="Calibri" pitchFamily="34" charset="-120"/>
              </a:rPr>
              <a:t>ANSWERS THAT FINISH THE JOB</a:t>
            </a:r>
            <a:endParaRPr lang="en-US" sz="1200" dirty="0"/>
          </a:p>
        </p:txBody>
      </p:sp>
      <p:sp>
        <p:nvSpPr>
          <p:cNvPr id="29" name="Text 27"/>
          <p:cNvSpPr/>
          <p:nvPr/>
        </p:nvSpPr>
        <p:spPr>
          <a:xfrm>
            <a:off x="9838944" y="4389120"/>
            <a:ext cx="1600200" cy="219456"/>
          </a:xfrm>
          <a:prstGeom prst="rect">
            <a:avLst/>
          </a:prstGeom>
          <a:noFill/>
          <a:ln/>
        </p:spPr>
        <p:txBody>
          <a:bodyPr wrap="square" lIns="0" tIns="0" rIns="0" bIns="0" rtlCol="0" anchor="ctr"/>
          <a:lstStyle/>
          <a:p>
            <a:pPr algn="r" indent="0" marL="0">
              <a:buNone/>
            </a:pPr>
            <a:r>
              <a:rPr lang="en-US" sz="950" b="1" spc="80" kern="0" dirty="0">
                <a:solidFill>
                  <a:srgbClr val="1E4E6B"/>
                </a:solidFill>
                <a:latin typeface="Calibri" pitchFamily="34" charset="0"/>
                <a:ea typeface="Calibri" pitchFamily="34" charset="-122"/>
                <a:cs typeface="Calibri" pitchFamily="34" charset="-120"/>
              </a:rPr>
              <a:t>TABLE STAKES</a:t>
            </a:r>
            <a:endParaRPr lang="en-US" sz="950" dirty="0"/>
          </a:p>
        </p:txBody>
      </p:sp>
      <p:sp>
        <p:nvSpPr>
          <p:cNvPr id="30" name="Text 28"/>
          <p:cNvSpPr/>
          <p:nvPr/>
        </p:nvSpPr>
        <p:spPr>
          <a:xfrm>
            <a:off x="4608576" y="4626864"/>
            <a:ext cx="6812280" cy="201168"/>
          </a:xfrm>
          <a:prstGeom prst="rect">
            <a:avLst/>
          </a:prstGeom>
          <a:noFill/>
          <a:ln/>
        </p:spPr>
        <p:txBody>
          <a:bodyPr wrap="square" lIns="0" tIns="0" rIns="0" bIns="0" rtlCol="0" anchor="t"/>
          <a:lstStyle/>
          <a:p>
            <a:pPr indent="0" marL="0">
              <a:buNone/>
            </a:pPr>
            <a:r>
              <a:rPr lang="en-US" sz="1100" dirty="0">
                <a:solidFill>
                  <a:srgbClr val="1B2338"/>
                </a:solidFill>
                <a:latin typeface="Calibri" pitchFamily="34" charset="0"/>
                <a:ea typeface="Calibri" pitchFamily="34" charset="-122"/>
                <a:cs typeface="Calibri" pitchFamily="34" charset="-120"/>
              </a:rPr>
              <a:t>Ask once and the task completes. No “go ask your team lead.”</a:t>
            </a:r>
            <a:endParaRPr lang="en-US" sz="1100" dirty="0"/>
          </a:p>
        </p:txBody>
      </p:sp>
      <p:sp>
        <p:nvSpPr>
          <p:cNvPr id="31" name="Text 29"/>
          <p:cNvSpPr/>
          <p:nvPr/>
        </p:nvSpPr>
        <p:spPr>
          <a:xfrm>
            <a:off x="4608576" y="4846320"/>
            <a:ext cx="6812280" cy="384048"/>
          </a:xfrm>
          <a:prstGeom prst="rect">
            <a:avLst/>
          </a:prstGeom>
          <a:noFill/>
          <a:ln/>
        </p:spPr>
        <p:txBody>
          <a:bodyPr wrap="square" lIns="0" tIns="0" rIns="0" bIns="0" rtlCol="0" anchor="t"/>
          <a:lstStyle/>
          <a:p>
            <a:pPr indent="0" marL="0">
              <a:lnSpc>
                <a:spcPts val="1300"/>
              </a:lnSpc>
              <a:buNone/>
            </a:pPr>
            <a:r>
              <a:rPr lang="en-US" sz="1000" dirty="0">
                <a:solidFill>
                  <a:srgbClr val="2E4571"/>
                </a:solidFill>
                <a:latin typeface="Calibri" pitchFamily="34" charset="0"/>
                <a:ea typeface="Calibri" pitchFamily="34" charset="-122"/>
                <a:cs typeface="Calibri" pitchFamily="34" charset="-120"/>
              </a:rPr>
              <a:t>d1-30 cluster 3M questions by intent   ·   d31-60 one agent closes one loop end to end   ·   d61-90 deflection measured, cluster 2 spec</a:t>
            </a:r>
            <a:endParaRPr lang="en-US" sz="1000" dirty="0"/>
          </a:p>
        </p:txBody>
      </p:sp>
      <p:sp>
        <p:nvSpPr>
          <p:cNvPr id="32" name="Text 30"/>
          <p:cNvSpPr/>
          <p:nvPr/>
        </p:nvSpPr>
        <p:spPr>
          <a:xfrm>
            <a:off x="4608576" y="5248656"/>
            <a:ext cx="6812280" cy="182880"/>
          </a:xfrm>
          <a:prstGeom prst="rect">
            <a:avLst/>
          </a:prstGeom>
          <a:noFill/>
          <a:ln/>
        </p:spPr>
        <p:txBody>
          <a:bodyPr wrap="square" lIns="0" tIns="0" rIns="0" bIns="0" rtlCol="0" anchor="t"/>
          <a:lstStyle/>
          <a:p>
            <a:pPr indent="0" marL="0">
              <a:buNone/>
            </a:pPr>
            <a:r>
              <a:rPr lang="en-US" sz="950" i="1" dirty="0">
                <a:solidFill>
                  <a:srgbClr val="5E6980"/>
                </a:solidFill>
                <a:latin typeface="Calibri" pitchFamily="34" charset="0"/>
                <a:ea typeface="Calibri" pitchFamily="34" charset="-122"/>
                <a:cs typeface="Calibri" pitchFamily="34" charset="-120"/>
              </a:rPr>
              <a:t>Depends on: write access to systems of record, and the accuracy bar that guards it.</a:t>
            </a:r>
            <a:endParaRPr lang="en-US" sz="950" dirty="0"/>
          </a:p>
        </p:txBody>
      </p:sp>
      <p:sp>
        <p:nvSpPr>
          <p:cNvPr id="33" name="Shape 31"/>
          <p:cNvSpPr/>
          <p:nvPr/>
        </p:nvSpPr>
        <p:spPr>
          <a:xfrm>
            <a:off x="566928" y="5559552"/>
            <a:ext cx="11055096" cy="512064"/>
          </a:xfrm>
          <a:prstGeom prst="roundRect">
            <a:avLst>
              <a:gd name="adj" fmla="val 17857"/>
            </a:avLst>
          </a:prstGeom>
          <a:solidFill>
            <a:srgbClr val="16233B"/>
          </a:solidFill>
          <a:ln w="12700">
            <a:solidFill>
              <a:srgbClr val="16233B"/>
            </a:solidFill>
            <a:prstDash val="solid"/>
          </a:ln>
        </p:spPr>
      </p:sp>
      <p:sp>
        <p:nvSpPr>
          <p:cNvPr id="34" name="Text 32"/>
          <p:cNvSpPr/>
          <p:nvPr/>
        </p:nvSpPr>
        <p:spPr>
          <a:xfrm>
            <a:off x="786384" y="5559552"/>
            <a:ext cx="10616184" cy="51206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Rewards and rejuvenation ship as separate arms from day 31, so the pilot can tell which one moved the number, and for whom.</a:t>
            </a:r>
            <a:endParaRPr lang="en-US" sz="1250" dirty="0"/>
          </a:p>
        </p:txBody>
      </p:sp>
      <p:sp>
        <p:nvSpPr>
          <p:cNvPr id="35" name="Text 33"/>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INSIGHT FROM 3M QUESTIONS A DAY</a:t>
            </a:r>
            <a:endParaRPr lang="en-US" sz="1100" dirty="0"/>
          </a:p>
        </p:txBody>
      </p:sp>
      <p:sp>
        <p:nvSpPr>
          <p:cNvPr id="4" name="Text 2"/>
          <p:cNvSpPr/>
          <p:nvPr/>
        </p:nvSpPr>
        <p:spPr>
          <a:xfrm>
            <a:off x="566928" y="749808"/>
            <a:ext cx="11055096" cy="1024128"/>
          </a:xfrm>
          <a:prstGeom prst="rect">
            <a:avLst/>
          </a:prstGeom>
          <a:noFill/>
          <a:ln/>
        </p:spPr>
        <p:txBody>
          <a:bodyPr wrap="square" lIns="0" tIns="0" rIns="0" bIns="0" rtlCol="0" anchor="t"/>
          <a:lstStyle/>
          <a:p>
            <a:pPr indent="0" marL="0">
              <a:lnSpc>
                <a:spcPts val="3500"/>
              </a:lnSpc>
              <a:buNone/>
            </a:pPr>
            <a:r>
              <a:rPr lang="en-US" sz="3000" b="1" dirty="0">
                <a:solidFill>
                  <a:srgbClr val="1B2338"/>
                </a:solidFill>
                <a:latin typeface="Cambria" pitchFamily="34" charset="0"/>
                <a:ea typeface="Cambria" pitchFamily="34" charset="-122"/>
                <a:cs typeface="Cambria" pitchFamily="34" charset="-120"/>
              </a:rPr>
              <a:t>Sidekick answers 3M questions a day and can act on almost none of them.</a:t>
            </a:r>
            <a:endParaRPr lang="en-US" sz="3000" dirty="0"/>
          </a:p>
        </p:txBody>
      </p:sp>
      <p:sp>
        <p:nvSpPr>
          <p:cNvPr id="5" name="Shape 3"/>
          <p:cNvSpPr/>
          <p:nvPr/>
        </p:nvSpPr>
        <p:spPr>
          <a:xfrm>
            <a:off x="566928" y="1938528"/>
            <a:ext cx="5852160" cy="3246120"/>
          </a:xfrm>
          <a:prstGeom prst="roundRect">
            <a:avLst>
              <a:gd name="adj" fmla="val 3380"/>
            </a:avLst>
          </a:prstGeom>
          <a:solidFill>
            <a:srgbClr val="F1F5FA"/>
          </a:solidFill>
          <a:ln w="12700">
            <a:solidFill>
              <a:srgbClr val="F1F5FA"/>
            </a:solidFill>
            <a:prstDash val="solid"/>
          </a:ln>
        </p:spPr>
      </p:sp>
      <p:sp>
        <p:nvSpPr>
          <p:cNvPr id="6" name="Text 4"/>
          <p:cNvSpPr/>
          <p:nvPr/>
        </p:nvSpPr>
        <p:spPr>
          <a:xfrm>
            <a:off x="804672" y="2084832"/>
            <a:ext cx="5376672" cy="292608"/>
          </a:xfrm>
          <a:prstGeom prst="rect">
            <a:avLst/>
          </a:prstGeom>
          <a:noFill/>
          <a:ln/>
        </p:spPr>
        <p:txBody>
          <a:bodyPr wrap="square" lIns="0" tIns="0" rIns="0" bIns="0" rtlCol="0" anchor="ctr"/>
          <a:lstStyle/>
          <a:p>
            <a:pPr indent="0" marL="0">
              <a:buNone/>
            </a:pPr>
            <a:r>
              <a:rPr lang="en-US" sz="1100" b="1" dirty="0">
                <a:solidFill>
                  <a:srgbClr val="5E6980"/>
                </a:solidFill>
                <a:latin typeface="Calibri" pitchFamily="34" charset="0"/>
                <a:ea typeface="Calibri" pitchFamily="34" charset="-122"/>
                <a:cs typeface="Calibri" pitchFamily="34" charset="-120"/>
              </a:rPr>
              <a:t>Devon, front end, mid-shift. Today.</a:t>
            </a:r>
            <a:endParaRPr lang="en-US" sz="1100" dirty="0"/>
          </a:p>
        </p:txBody>
      </p:sp>
      <p:sp>
        <p:nvSpPr>
          <p:cNvPr id="7" name="Shape 5"/>
          <p:cNvSpPr/>
          <p:nvPr/>
        </p:nvSpPr>
        <p:spPr>
          <a:xfrm>
            <a:off x="804672" y="2450592"/>
            <a:ext cx="4480560" cy="566928"/>
          </a:xfrm>
          <a:prstGeom prst="roundRect">
            <a:avLst>
              <a:gd name="adj" fmla="val 16129"/>
            </a:avLst>
          </a:prstGeom>
          <a:solidFill>
            <a:srgbClr val="223558"/>
          </a:solidFill>
          <a:ln w="12700">
            <a:solidFill>
              <a:srgbClr val="223558"/>
            </a:solidFill>
            <a:prstDash val="solid"/>
          </a:ln>
        </p:spPr>
      </p:sp>
      <p:sp>
        <p:nvSpPr>
          <p:cNvPr id="8" name="Text 6"/>
          <p:cNvSpPr/>
          <p:nvPr/>
        </p:nvSpPr>
        <p:spPr>
          <a:xfrm>
            <a:off x="950976" y="2487168"/>
            <a:ext cx="4187952" cy="493776"/>
          </a:xfrm>
          <a:prstGeom prst="rect">
            <a:avLst/>
          </a:prstGeom>
          <a:noFill/>
          <a:ln/>
        </p:spPr>
        <p:txBody>
          <a:bodyPr wrap="square" lIns="0" tIns="0" rIns="0" bIns="0" rtlCol="0" anchor="ctr"/>
          <a:lstStyle/>
          <a:p>
            <a:pPr indent="0" marL="0">
              <a:lnSpc>
                <a:spcPts val="1400"/>
              </a:lnSpc>
              <a:buNone/>
            </a:pPr>
            <a:r>
              <a:rPr lang="en-US" sz="1150" dirty="0">
                <a:solidFill>
                  <a:srgbClr val="FFFFFF"/>
                </a:solidFill>
                <a:latin typeface="Calibri" pitchFamily="34" charset="0"/>
                <a:ea typeface="Calibri" pitchFamily="34" charset="-122"/>
                <a:cs typeface="Calibri" pitchFamily="34" charset="-120"/>
              </a:rPr>
              <a:t>I'm scheduled Saturday but I have a class conflict. What do I do?</a:t>
            </a:r>
            <a:endParaRPr lang="en-US" sz="1150" dirty="0"/>
          </a:p>
        </p:txBody>
      </p:sp>
      <p:sp>
        <p:nvSpPr>
          <p:cNvPr id="9" name="Shape 7"/>
          <p:cNvSpPr/>
          <p:nvPr/>
        </p:nvSpPr>
        <p:spPr>
          <a:xfrm>
            <a:off x="1700784" y="3127248"/>
            <a:ext cx="4480560" cy="566928"/>
          </a:xfrm>
          <a:prstGeom prst="roundRect">
            <a:avLst>
              <a:gd name="adj" fmla="val 16129"/>
            </a:avLst>
          </a:prstGeom>
          <a:solidFill>
            <a:srgbClr val="E2EAF4"/>
          </a:solidFill>
          <a:ln w="12700">
            <a:solidFill>
              <a:srgbClr val="E2EAF4"/>
            </a:solidFill>
            <a:prstDash val="solid"/>
          </a:ln>
        </p:spPr>
      </p:sp>
      <p:sp>
        <p:nvSpPr>
          <p:cNvPr id="10" name="Text 8"/>
          <p:cNvSpPr/>
          <p:nvPr/>
        </p:nvSpPr>
        <p:spPr>
          <a:xfrm>
            <a:off x="1847088" y="3163824"/>
            <a:ext cx="4187952" cy="493776"/>
          </a:xfrm>
          <a:prstGeom prst="rect">
            <a:avLst/>
          </a:prstGeom>
          <a:noFill/>
          <a:ln/>
        </p:spPr>
        <p:txBody>
          <a:bodyPr wrap="square" lIns="0" tIns="0" rIns="0" bIns="0" rtlCol="0" anchor="ctr"/>
          <a:lstStyle/>
          <a:p>
            <a:pPr indent="0" marL="0">
              <a:lnSpc>
                <a:spcPts val="1400"/>
              </a:lnSpc>
              <a:buNone/>
            </a:pPr>
            <a:r>
              <a:rPr lang="en-US" sz="1150" dirty="0">
                <a:solidFill>
                  <a:srgbClr val="1B2338"/>
                </a:solidFill>
                <a:latin typeface="Calibri" pitchFamily="34" charset="0"/>
                <a:ea typeface="Calibri" pitchFamily="34" charset="-122"/>
                <a:cs typeface="Calibri" pitchFamily="34" charset="-120"/>
              </a:rPr>
              <a:t>You can request a shift swap. Ask your team lead to start one in the scheduling system.</a:t>
            </a:r>
            <a:endParaRPr lang="en-US" sz="1150" dirty="0"/>
          </a:p>
        </p:txBody>
      </p:sp>
      <p:sp>
        <p:nvSpPr>
          <p:cNvPr id="11" name="Text 9"/>
          <p:cNvSpPr/>
          <p:nvPr/>
        </p:nvSpPr>
        <p:spPr>
          <a:xfrm>
            <a:off x="804672" y="3895344"/>
            <a:ext cx="5376672" cy="274320"/>
          </a:xfrm>
          <a:prstGeom prst="rect">
            <a:avLst/>
          </a:prstGeom>
          <a:noFill/>
          <a:ln/>
        </p:spPr>
        <p:txBody>
          <a:bodyPr wrap="square" lIns="0" tIns="0" rIns="0" bIns="0" rtlCol="0" anchor="ctr"/>
          <a:lstStyle/>
          <a:p>
            <a:pPr indent="0" marL="0">
              <a:buNone/>
            </a:pPr>
            <a:r>
              <a:rPr lang="en-US" sz="1150" b="1" dirty="0">
                <a:solidFill>
                  <a:srgbClr val="AE5348"/>
                </a:solidFill>
                <a:latin typeface="Calibri" pitchFamily="34" charset="0"/>
                <a:ea typeface="Calibri" pitchFamily="34" charset="-122"/>
                <a:cs typeface="Calibri" pitchFamily="34" charset="-120"/>
              </a:rPr>
              <a:t>Conversation ends.</a:t>
            </a:r>
            <a:endParaRPr lang="en-US" sz="1150" dirty="0"/>
          </a:p>
        </p:txBody>
      </p:sp>
      <p:sp>
        <p:nvSpPr>
          <p:cNvPr id="12" name="Text 10"/>
          <p:cNvSpPr/>
          <p:nvPr/>
        </p:nvSpPr>
        <p:spPr>
          <a:xfrm>
            <a:off x="804672" y="4206240"/>
            <a:ext cx="5376672" cy="841248"/>
          </a:xfrm>
          <a:prstGeom prst="rect">
            <a:avLst/>
          </a:prstGeom>
          <a:noFill/>
          <a:ln/>
        </p:spPr>
        <p:txBody>
          <a:bodyPr wrap="square" lIns="0" tIns="0" rIns="0" bIns="0" rtlCol="0" anchor="t"/>
          <a:lstStyle/>
          <a:p>
            <a:pPr indent="0" marL="0">
              <a:lnSpc>
                <a:spcPts val="1800"/>
              </a:lnSpc>
              <a:buNone/>
            </a:pPr>
            <a:r>
              <a:rPr lang="en-US" sz="1250" dirty="0">
                <a:solidFill>
                  <a:srgbClr val="1B2338"/>
                </a:solidFill>
                <a:latin typeface="Calibri" pitchFamily="34" charset="0"/>
                <a:ea typeface="Calibri" pitchFamily="34" charset="-122"/>
                <a:cs typeface="Calibri" pitchFamily="34" charset="-120"/>
              </a:rPr>
              <a:t>Devon walks the floor looking for the lead.</a:t>
            </a:r>
            <a:endParaRPr lang="en-US" sz="1250" dirty="0"/>
          </a:p>
          <a:p>
            <a:pPr indent="0" marL="0">
              <a:lnSpc>
                <a:spcPts val="1800"/>
              </a:lnSpc>
              <a:buNone/>
            </a:pPr>
            <a:r>
              <a:rPr lang="en-US" sz="1250" dirty="0">
                <a:solidFill>
                  <a:srgbClr val="1B2338"/>
                </a:solidFill>
                <a:latin typeface="Calibri" pitchFamily="34" charset="0"/>
                <a:ea typeface="Calibri" pitchFamily="34" charset="-122"/>
                <a:cs typeface="Calibri" pitchFamily="34" charset="-120"/>
              </a:rPr>
              <a:t>The lead stops mid-task.</a:t>
            </a:r>
            <a:endParaRPr lang="en-US" sz="1250" dirty="0"/>
          </a:p>
          <a:p>
            <a:pPr indent="0" marL="0">
              <a:lnSpc>
                <a:spcPts val="1800"/>
              </a:lnSpc>
              <a:buNone/>
            </a:pPr>
            <a:r>
              <a:rPr lang="en-US" sz="1250" dirty="0">
                <a:solidFill>
                  <a:srgbClr val="1B2338"/>
                </a:solidFill>
                <a:latin typeface="Calibri" pitchFamily="34" charset="0"/>
                <a:ea typeface="Calibri" pitchFamily="34" charset="-122"/>
                <a:cs typeface="Calibri" pitchFamily="34" charset="-120"/>
              </a:rPr>
              <a:t>A customer waits.</a:t>
            </a:r>
            <a:endParaRPr lang="en-US" sz="1250" dirty="0"/>
          </a:p>
        </p:txBody>
      </p:sp>
      <p:sp>
        <p:nvSpPr>
          <p:cNvPr id="13" name="Shape 11"/>
          <p:cNvSpPr/>
          <p:nvPr/>
        </p:nvSpPr>
        <p:spPr>
          <a:xfrm>
            <a:off x="6876288" y="2075688"/>
            <a:ext cx="100584" cy="100584"/>
          </a:xfrm>
          <a:prstGeom prst="diamond">
            <a:avLst/>
          </a:prstGeom>
          <a:solidFill>
            <a:srgbClr val="D9922B"/>
          </a:solidFill>
          <a:ln w="12700">
            <a:solidFill>
              <a:srgbClr val="D9922B"/>
            </a:solidFill>
            <a:prstDash val="solid"/>
          </a:ln>
        </p:spPr>
      </p:sp>
      <p:sp>
        <p:nvSpPr>
          <p:cNvPr id="14" name="Text 12"/>
          <p:cNvSpPr/>
          <p:nvPr/>
        </p:nvSpPr>
        <p:spPr>
          <a:xfrm>
            <a:off x="7095744" y="1965960"/>
            <a:ext cx="4526280" cy="742950"/>
          </a:xfrm>
          <a:prstGeom prst="rect">
            <a:avLst/>
          </a:prstGeom>
          <a:noFill/>
          <a:ln/>
        </p:spPr>
        <p:txBody>
          <a:bodyPr wrap="square" lIns="0" tIns="0" rIns="0" bIns="0" rtlCol="0" anchor="t"/>
          <a:lstStyle/>
          <a:p>
            <a:pPr indent="0" marL="0">
              <a:lnSpc>
                <a:spcPts val="1782"/>
              </a:lnSpc>
              <a:buNone/>
            </a:pPr>
            <a:r>
              <a:rPr lang="en-US" sz="1350" dirty="0">
                <a:solidFill>
                  <a:srgbClr val="1B2338"/>
                </a:solidFill>
                <a:latin typeface="Calibri" pitchFamily="34" charset="0"/>
                <a:ea typeface="Calibri" pitchFamily="34" charset="-122"/>
                <a:cs typeface="Calibri" pitchFamily="34" charset="-120"/>
              </a:rPr>
              <a:t>A correct answer that still costs three people time: the associate, the lead, and the customer standing there.</a:t>
            </a:r>
            <a:endParaRPr lang="en-US" sz="1350" dirty="0"/>
          </a:p>
        </p:txBody>
      </p:sp>
      <p:sp>
        <p:nvSpPr>
          <p:cNvPr id="15" name="Shape 13"/>
          <p:cNvSpPr/>
          <p:nvPr/>
        </p:nvSpPr>
        <p:spPr>
          <a:xfrm>
            <a:off x="6876288" y="2946654"/>
            <a:ext cx="100584" cy="100584"/>
          </a:xfrm>
          <a:prstGeom prst="diamond">
            <a:avLst/>
          </a:prstGeom>
          <a:solidFill>
            <a:srgbClr val="D9922B"/>
          </a:solidFill>
          <a:ln w="12700">
            <a:solidFill>
              <a:srgbClr val="D9922B"/>
            </a:solidFill>
            <a:prstDash val="solid"/>
          </a:ln>
        </p:spPr>
      </p:sp>
      <p:sp>
        <p:nvSpPr>
          <p:cNvPr id="16" name="Text 14"/>
          <p:cNvSpPr/>
          <p:nvPr/>
        </p:nvSpPr>
        <p:spPr>
          <a:xfrm>
            <a:off x="7095744" y="2836926"/>
            <a:ext cx="4526280" cy="516636"/>
          </a:xfrm>
          <a:prstGeom prst="rect">
            <a:avLst/>
          </a:prstGeom>
          <a:noFill/>
          <a:ln/>
        </p:spPr>
        <p:txBody>
          <a:bodyPr wrap="square" lIns="0" tIns="0" rIns="0" bIns="0" rtlCol="0" anchor="t"/>
          <a:lstStyle/>
          <a:p>
            <a:pPr indent="0" marL="0">
              <a:lnSpc>
                <a:spcPts val="1782"/>
              </a:lnSpc>
              <a:buNone/>
            </a:pPr>
            <a:r>
              <a:rPr lang="en-US" sz="1350" dirty="0">
                <a:solidFill>
                  <a:srgbClr val="1B2338"/>
                </a:solidFill>
                <a:latin typeface="Calibri" pitchFamily="34" charset="0"/>
                <a:ea typeface="Calibri" pitchFamily="34" charset="-122"/>
                <a:cs typeface="Calibri" pitchFamily="34" charset="-120"/>
              </a:rPr>
              <a:t>Every handoff is minutes off the floor and one more reason the day feels unsupported.</a:t>
            </a:r>
            <a:endParaRPr lang="en-US" sz="1350" dirty="0"/>
          </a:p>
        </p:txBody>
      </p:sp>
      <p:sp>
        <p:nvSpPr>
          <p:cNvPr id="17" name="Shape 15"/>
          <p:cNvSpPr/>
          <p:nvPr/>
        </p:nvSpPr>
        <p:spPr>
          <a:xfrm>
            <a:off x="6876288" y="3591306"/>
            <a:ext cx="100584" cy="100584"/>
          </a:xfrm>
          <a:prstGeom prst="diamond">
            <a:avLst/>
          </a:prstGeom>
          <a:solidFill>
            <a:srgbClr val="D9922B"/>
          </a:solidFill>
          <a:ln w="12700">
            <a:solidFill>
              <a:srgbClr val="D9922B"/>
            </a:solidFill>
            <a:prstDash val="solid"/>
          </a:ln>
        </p:spPr>
      </p:sp>
      <p:sp>
        <p:nvSpPr>
          <p:cNvPr id="18" name="Text 16"/>
          <p:cNvSpPr/>
          <p:nvPr/>
        </p:nvSpPr>
        <p:spPr>
          <a:xfrm>
            <a:off x="7095744" y="3481578"/>
            <a:ext cx="4526280" cy="516636"/>
          </a:xfrm>
          <a:prstGeom prst="rect">
            <a:avLst/>
          </a:prstGeom>
          <a:noFill/>
          <a:ln/>
        </p:spPr>
        <p:txBody>
          <a:bodyPr wrap="square" lIns="0" tIns="0" rIns="0" bIns="0" rtlCol="0" anchor="t"/>
          <a:lstStyle/>
          <a:p>
            <a:pPr indent="0" marL="0">
              <a:lnSpc>
                <a:spcPts val="1782"/>
              </a:lnSpc>
              <a:buNone/>
            </a:pPr>
            <a:r>
              <a:rPr lang="en-US" sz="1350" dirty="0">
                <a:solidFill>
                  <a:srgbClr val="1B2338"/>
                </a:solidFill>
                <a:latin typeface="Calibri" pitchFamily="34" charset="0"/>
                <a:ea typeface="Calibri" pitchFamily="34" charset="-122"/>
                <a:cs typeface="Calibri" pitchFamily="34" charset="-120"/>
              </a:rPr>
              <a:t>Turnover themes centre on daily friction, not one dramatic failure.</a:t>
            </a:r>
            <a:endParaRPr lang="en-US" sz="1350" dirty="0"/>
          </a:p>
        </p:txBody>
      </p:sp>
      <p:sp>
        <p:nvSpPr>
          <p:cNvPr id="19" name="Shape 17"/>
          <p:cNvSpPr/>
          <p:nvPr/>
        </p:nvSpPr>
        <p:spPr>
          <a:xfrm>
            <a:off x="6876288" y="4041648"/>
            <a:ext cx="4745736" cy="1170432"/>
          </a:xfrm>
          <a:prstGeom prst="roundRect">
            <a:avLst>
              <a:gd name="adj" fmla="val 9375"/>
            </a:avLst>
          </a:prstGeom>
          <a:solidFill>
            <a:srgbClr val="DCE9F2"/>
          </a:solidFill>
          <a:ln w="12700">
            <a:solidFill>
              <a:srgbClr val="DCE9F2"/>
            </a:solidFill>
            <a:prstDash val="solid"/>
          </a:ln>
        </p:spPr>
      </p:sp>
      <p:sp>
        <p:nvSpPr>
          <p:cNvPr id="20" name="Text 18"/>
          <p:cNvSpPr/>
          <p:nvPr/>
        </p:nvSpPr>
        <p:spPr>
          <a:xfrm>
            <a:off x="7077456" y="4151376"/>
            <a:ext cx="4343400" cy="548640"/>
          </a:xfrm>
          <a:prstGeom prst="rect">
            <a:avLst/>
          </a:prstGeom>
          <a:noFill/>
          <a:ln/>
        </p:spPr>
        <p:txBody>
          <a:bodyPr wrap="square" lIns="0" tIns="0" rIns="0" bIns="0" rtlCol="0" anchor="ctr"/>
          <a:lstStyle/>
          <a:p>
            <a:pPr indent="0" marL="0">
              <a:buNone/>
            </a:pPr>
            <a:r>
              <a:rPr lang="en-US" sz="3000" b="1" dirty="0">
                <a:solidFill>
                  <a:srgbClr val="1E4E6B"/>
                </a:solidFill>
                <a:latin typeface="Cambria" pitchFamily="34" charset="0"/>
                <a:ea typeface="Cambria" pitchFamily="34" charset="-122"/>
                <a:cs typeface="Cambria" pitchFamily="34" charset="-120"/>
              </a:rPr>
              <a:t>~$100M</a:t>
            </a:r>
            <a:endParaRPr lang="en-US" sz="3000" dirty="0"/>
          </a:p>
        </p:txBody>
      </p:sp>
      <p:sp>
        <p:nvSpPr>
          <p:cNvPr id="21" name="Text 19"/>
          <p:cNvSpPr/>
          <p:nvPr/>
        </p:nvSpPr>
        <p:spPr>
          <a:xfrm>
            <a:off x="7077456" y="4700016"/>
            <a:ext cx="4343400" cy="420624"/>
          </a:xfrm>
          <a:prstGeom prst="rect">
            <a:avLst/>
          </a:prstGeom>
          <a:noFill/>
          <a:ln/>
        </p:spPr>
        <p:txBody>
          <a:bodyPr wrap="square" lIns="0" tIns="0" rIns="0" bIns="0" rtlCol="0" anchor="t"/>
          <a:lstStyle/>
          <a:p>
            <a:pPr indent="0" marL="0">
              <a:buNone/>
            </a:pPr>
            <a:r>
              <a:rPr lang="en-US" sz="1200" dirty="0">
                <a:solidFill>
                  <a:srgbClr val="1E4E6B"/>
                </a:solidFill>
                <a:latin typeface="Calibri" pitchFamily="34" charset="0"/>
                <a:ea typeface="Calibri" pitchFamily="34" charset="-122"/>
                <a:cs typeface="Calibri" pitchFamily="34" charset="-120"/>
              </a:rPr>
              <a:t>a year for one minute returned per associate per shift</a:t>
            </a:r>
            <a:endParaRPr lang="en-US" sz="1200" dirty="0"/>
          </a:p>
        </p:txBody>
      </p:sp>
      <p:sp>
        <p:nvSpPr>
          <p:cNvPr id="22" name="Text 20"/>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Assumptions: about 1M store associates, 1 minute per shift, about $0.30 a minute loaded labor, roughly $300K a day. Top question clusters waste far more than a minute.</a:t>
            </a:r>
            <a:endParaRPr lang="en-US" sz="1050" dirty="0"/>
          </a:p>
        </p:txBody>
      </p:sp>
      <p:sp>
        <p:nvSpPr>
          <p:cNvPr id="23" name="Text 21"/>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THREE BETS, ONE DECISION RULE</a:t>
            </a:r>
            <a:endParaRPr lang="en-US" sz="1100" dirty="0"/>
          </a:p>
        </p:txBody>
      </p:sp>
      <p:sp>
        <p:nvSpPr>
          <p:cNvPr id="4" name="Text 2"/>
          <p:cNvSpPr/>
          <p:nvPr/>
        </p:nvSpPr>
        <p:spPr>
          <a:xfrm>
            <a:off x="566928" y="749808"/>
            <a:ext cx="11055096" cy="1024128"/>
          </a:xfrm>
          <a:prstGeom prst="rect">
            <a:avLst/>
          </a:prstGeom>
          <a:noFill/>
          <a:ln/>
        </p:spPr>
        <p:txBody>
          <a:bodyPr wrap="square" lIns="0" tIns="0" rIns="0" bIns="0" rtlCol="0" anchor="t"/>
          <a:lstStyle/>
          <a:p>
            <a:pPr indent="0" marL="0">
              <a:lnSpc>
                <a:spcPts val="3500"/>
              </a:lnSpc>
              <a:buNone/>
            </a:pPr>
            <a:r>
              <a:rPr lang="en-US" sz="3000" b="1" dirty="0">
                <a:solidFill>
                  <a:srgbClr val="1B2338"/>
                </a:solidFill>
                <a:latin typeface="Cambria" pitchFamily="34" charset="0"/>
                <a:ea typeface="Cambria" pitchFamily="34" charset="-122"/>
                <a:cs typeface="Cambria" pitchFamily="34" charset="-120"/>
              </a:rPr>
              <a:t>Discovery data picks the entry point, not conviction.</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55096" cy="914400"/>
        </p:xfrm>
        <a:graphic>
          <a:graphicData uri="http://schemas.openxmlformats.org/drawingml/2006/table">
            <a:tbl>
              <a:tblPr/>
              <a:tblGrid>
                <a:gridCol w="1417320"/>
                <a:gridCol w="3209544"/>
                <a:gridCol w="3209544"/>
                <a:gridCol w="3218688"/>
              </a:tblGrid>
              <a:tr h="0">
                <a:tc>
                  <a:txBody>
                    <a:bodyPr/>
                    <a:lstStyle/>
                    <a:p>
                      <a:pPr indent="0" marL="0">
                        <a:buNone/>
                      </a:pP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223558"/>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 · Own the first 90 days</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1623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 · Answer to action</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1623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 · Signal Engine</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16233B"/>
                    </a:solidFill>
                  </a:tcPr>
                </a:tc>
              </a:tr>
              <a:tr h="0">
                <a:tc>
                  <a:txBody>
                    <a:bodyPr/>
                    <a:lstStyle/>
                    <a:p>
                      <a:pPr indent="0" marL="0">
                        <a:buNone/>
                      </a:pPr>
                      <a:r>
                        <a:rPr lang="en-US" sz="1100" b="1" dirty="0">
                          <a:solidFill>
                            <a:srgbClr val="16233B"/>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F1F5FA"/>
                    </a:solidFill>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$15M a year for every 1 point gained in 90-day retention</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$100M a year for every 1 minute given back per shift</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About 2x the retention gain from the same incentive budget</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100" b="1" dirty="0">
                          <a:solidFill>
                            <a:srgbClr val="16233B"/>
                          </a:solidFill>
                          <a:latin typeface="Calibri" pitchFamily="34" charset="0"/>
                          <a:ea typeface="Calibri" pitchFamily="34" charset="-122"/>
                          <a:cs typeface="Calibri" pitchFamily="34" charset="-120"/>
                        </a:rPr>
                        <a:t>Key Metric Improved</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F1F5FA"/>
                    </a:solidFill>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90-day new-hire retention, pilot stores vs control stores</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Minutes of work time returned per associate per week</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Predicted vs actual retention lift, measured against holdouts</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100" b="1" dirty="0">
                          <a:solidFill>
                            <a:srgbClr val="16233B"/>
                          </a:solidFill>
                          <a:latin typeface="Calibri" pitchFamily="34" charset="0"/>
                          <a:ea typeface="Calibri" pitchFamily="34" charset="-122"/>
                          <a:cs typeface="Calibri" pitchFamily="34" charset="-120"/>
                        </a:rPr>
                        <a:t>Choose if</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F1F5FA"/>
                    </a:solidFill>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New hires quit early, and exit interviews blame confusion and isolation, not pay</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Associates ask the same questions constantly, and answers dead-end in a manual handoff</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Different groups quit for different reasons, and there is budget for a platform</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100" b="1" dirty="0">
                          <a:solidFill>
                            <a:srgbClr val="16233B"/>
                          </a:solidFill>
                          <a:latin typeface="Calibri" pitchFamily="34" charset="0"/>
                          <a:ea typeface="Calibri" pitchFamily="34" charset="-122"/>
                          <a:cs typeface="Calibri" pitchFamily="34" charset="-120"/>
                        </a:rPr>
                        <a:t>Risk</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F1F5FA"/>
                    </a:solidFill>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People quit for many reasons. An app only moves the ones it touches</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Agents write into scheduling and HR systems. One bad write undoes 100 right answers</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Scoring associates can feel like surveillance. Slowest bet to show a visible win</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bl>
          </a:graphicData>
        </a:graphic>
      </p:graphicFrame>
      <p:sp>
        <p:nvSpPr>
          <p:cNvPr id="6" name="Shape 3"/>
          <p:cNvSpPr/>
          <p:nvPr/>
        </p:nvSpPr>
        <p:spPr>
          <a:xfrm>
            <a:off x="566928" y="4892040"/>
            <a:ext cx="11055096" cy="694944"/>
          </a:xfrm>
          <a:prstGeom prst="roundRect">
            <a:avLst>
              <a:gd name="adj" fmla="val 15789"/>
            </a:avLst>
          </a:prstGeom>
          <a:solidFill>
            <a:srgbClr val="FAECD4"/>
          </a:solidFill>
          <a:ln w="12700">
            <a:solidFill>
              <a:srgbClr val="FAECD4"/>
            </a:solidFill>
            <a:prstDash val="solid"/>
          </a:ln>
        </p:spPr>
      </p:sp>
      <p:sp>
        <p:nvSpPr>
          <p:cNvPr id="7" name="Text 4"/>
          <p:cNvSpPr/>
          <p:nvPr/>
        </p:nvSpPr>
        <p:spPr>
          <a:xfrm>
            <a:off x="786384" y="4928616"/>
            <a:ext cx="10616184" cy="621792"/>
          </a:xfrm>
          <a:prstGeom prst="rect">
            <a:avLst/>
          </a:prstGeom>
          <a:noFill/>
          <a:ln/>
        </p:spPr>
        <p:txBody>
          <a:bodyPr wrap="square" lIns="0" tIns="0" rIns="0" bIns="0" rtlCol="0" anchor="ctr"/>
          <a:lstStyle/>
          <a:p>
            <a:pPr indent="0" marL="0">
              <a:buNone/>
            </a:pPr>
            <a:r>
              <a:rPr lang="en-US" sz="1300" b="1" dirty="0">
                <a:solidFill>
                  <a:srgbClr val="8A5A11"/>
                </a:solidFill>
                <a:latin typeface="Calibri" pitchFamily="34" charset="0"/>
                <a:ea typeface="Calibri" pitchFamily="34" charset="-122"/>
                <a:cs typeface="Calibri" pitchFamily="34" charset="-120"/>
              </a:rPr>
              <a:t>Do nothing and about $1.5B a year in replacement spend continues. That is the fourth option, and the one I would kill first.</a:t>
            </a:r>
            <a:endParaRPr lang="en-US" sz="1300" dirty="0"/>
          </a:p>
        </p:txBody>
      </p:sp>
      <p:sp>
        <p:nvSpPr>
          <p:cNvPr id="8" name="Text 5"/>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RECOMMENDED SEQUENCE</a:t>
            </a:r>
            <a:endParaRPr lang="en-US" sz="1100" dirty="0"/>
          </a:p>
        </p:txBody>
      </p:sp>
      <p:sp>
        <p:nvSpPr>
          <p:cNvPr id="4" name="Text 2"/>
          <p:cNvSpPr/>
          <p:nvPr/>
        </p:nvSpPr>
        <p:spPr>
          <a:xfrm>
            <a:off x="566928" y="749808"/>
            <a:ext cx="11055096" cy="914400"/>
          </a:xfrm>
          <a:prstGeom prst="rect">
            <a:avLst/>
          </a:prstGeom>
          <a:noFill/>
          <a:ln/>
        </p:spPr>
        <p:txBody>
          <a:bodyPr wrap="square" lIns="0" tIns="0" rIns="0" bIns="0" rtlCol="0" anchor="t"/>
          <a:lstStyle/>
          <a:p>
            <a:pPr indent="0" marL="0">
              <a:lnSpc>
                <a:spcPts val="3186"/>
              </a:lnSpc>
              <a:buNone/>
            </a:pPr>
            <a:r>
              <a:rPr lang="en-US" sz="2700" b="1" dirty="0">
                <a:solidFill>
                  <a:srgbClr val="1B2338"/>
                </a:solidFill>
                <a:latin typeface="Cambria" pitchFamily="34" charset="0"/>
                <a:ea typeface="Cambria" pitchFamily="34" charset="-122"/>
                <a:cs typeface="Cambria" pitchFamily="34" charset="-120"/>
              </a:rPr>
              <a:t>Sequence A then C, with B woven through: a visible win in one quarter that becomes the platform.</a:t>
            </a:r>
            <a:endParaRPr lang="en-US" sz="2700" dirty="0"/>
          </a:p>
        </p:txBody>
      </p:sp>
      <p:sp>
        <p:nvSpPr>
          <p:cNvPr id="5" name="Text 3"/>
          <p:cNvSpPr/>
          <p:nvPr/>
        </p:nvSpPr>
        <p:spPr>
          <a:xfrm>
            <a:off x="1801368" y="1847088"/>
            <a:ext cx="3121152" cy="310896"/>
          </a:xfrm>
          <a:prstGeom prst="rect">
            <a:avLst/>
          </a:prstGeom>
          <a:noFill/>
          <a:ln/>
        </p:spPr>
        <p:txBody>
          <a:bodyPr wrap="square" lIns="0" tIns="0" rIns="0" bIns="0" rtlCol="0" anchor="ctr"/>
          <a:lstStyle/>
          <a:p>
            <a:pPr indent="0" marL="0">
              <a:buNone/>
            </a:pPr>
            <a:r>
              <a:rPr lang="en-US" sz="1150" b="1" dirty="0">
                <a:solidFill>
                  <a:srgbClr val="5E6980"/>
                </a:solidFill>
                <a:latin typeface="Calibri" pitchFamily="34" charset="0"/>
                <a:ea typeface="Calibri" pitchFamily="34" charset="-122"/>
                <a:cs typeface="Calibri" pitchFamily="34" charset="-120"/>
              </a:rPr>
              <a:t>Days 1 to 30  ·  Discover</a:t>
            </a:r>
            <a:endParaRPr lang="en-US" sz="1150" dirty="0"/>
          </a:p>
        </p:txBody>
      </p:sp>
      <p:sp>
        <p:nvSpPr>
          <p:cNvPr id="6" name="Text 4"/>
          <p:cNvSpPr/>
          <p:nvPr/>
        </p:nvSpPr>
        <p:spPr>
          <a:xfrm>
            <a:off x="5151120" y="1847088"/>
            <a:ext cx="3121152" cy="310896"/>
          </a:xfrm>
          <a:prstGeom prst="rect">
            <a:avLst/>
          </a:prstGeom>
          <a:noFill/>
          <a:ln/>
        </p:spPr>
        <p:txBody>
          <a:bodyPr wrap="square" lIns="0" tIns="0" rIns="0" bIns="0" rtlCol="0" anchor="ctr"/>
          <a:lstStyle/>
          <a:p>
            <a:pPr indent="0" marL="0">
              <a:buNone/>
            </a:pPr>
            <a:r>
              <a:rPr lang="en-US" sz="1150" b="1" dirty="0">
                <a:solidFill>
                  <a:srgbClr val="5E6980"/>
                </a:solidFill>
                <a:latin typeface="Calibri" pitchFamily="34" charset="0"/>
                <a:ea typeface="Calibri" pitchFamily="34" charset="-122"/>
                <a:cs typeface="Calibri" pitchFamily="34" charset="-120"/>
              </a:rPr>
              <a:t>Days 31 to 60  ·  MVP</a:t>
            </a:r>
            <a:endParaRPr lang="en-US" sz="1150" dirty="0"/>
          </a:p>
        </p:txBody>
      </p:sp>
      <p:sp>
        <p:nvSpPr>
          <p:cNvPr id="7" name="Text 5"/>
          <p:cNvSpPr/>
          <p:nvPr/>
        </p:nvSpPr>
        <p:spPr>
          <a:xfrm>
            <a:off x="8500872" y="1847088"/>
            <a:ext cx="3121152" cy="310896"/>
          </a:xfrm>
          <a:prstGeom prst="rect">
            <a:avLst/>
          </a:prstGeom>
          <a:noFill/>
          <a:ln/>
        </p:spPr>
        <p:txBody>
          <a:bodyPr wrap="square" lIns="0" tIns="0" rIns="0" bIns="0" rtlCol="0" anchor="ctr"/>
          <a:lstStyle/>
          <a:p>
            <a:pPr indent="0" marL="0">
              <a:buNone/>
            </a:pPr>
            <a:r>
              <a:rPr lang="en-US" sz="1150" b="1" dirty="0">
                <a:solidFill>
                  <a:srgbClr val="5E6980"/>
                </a:solidFill>
                <a:latin typeface="Calibri" pitchFamily="34" charset="0"/>
                <a:ea typeface="Calibri" pitchFamily="34" charset="-122"/>
                <a:cs typeface="Calibri" pitchFamily="34" charset="-120"/>
              </a:rPr>
              <a:t>Days 61 to 90  ·  Prove</a:t>
            </a:r>
            <a:endParaRPr lang="en-US" sz="1150" dirty="0"/>
          </a:p>
        </p:txBody>
      </p:sp>
      <p:sp>
        <p:nvSpPr>
          <p:cNvPr id="8" name="Shape 6"/>
          <p:cNvSpPr/>
          <p:nvPr/>
        </p:nvSpPr>
        <p:spPr>
          <a:xfrm>
            <a:off x="566928" y="2542032"/>
            <a:ext cx="402336" cy="402336"/>
          </a:xfrm>
          <a:prstGeom prst="ellipse">
            <a:avLst/>
          </a:prstGeom>
          <a:solidFill>
            <a:srgbClr val="D9922B"/>
          </a:solidFill>
          <a:ln w="12700">
            <a:solidFill>
              <a:srgbClr val="D9922B"/>
            </a:solidFill>
            <a:prstDash val="solid"/>
          </a:ln>
        </p:spPr>
      </p:sp>
      <p:sp>
        <p:nvSpPr>
          <p:cNvPr id="9" name="Text 7"/>
          <p:cNvSpPr/>
          <p:nvPr/>
        </p:nvSpPr>
        <p:spPr>
          <a:xfrm>
            <a:off x="566928" y="254203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10" name="Text 8"/>
          <p:cNvSpPr/>
          <p:nvPr/>
        </p:nvSpPr>
        <p:spPr>
          <a:xfrm>
            <a:off x="1042416" y="2487168"/>
            <a:ext cx="731520" cy="548640"/>
          </a:xfrm>
          <a:prstGeom prst="rect">
            <a:avLst/>
          </a:prstGeom>
          <a:noFill/>
          <a:ln/>
        </p:spPr>
        <p:txBody>
          <a:bodyPr wrap="square" lIns="0" tIns="0" rIns="0" bIns="0" rtlCol="0" anchor="ctr"/>
          <a:lstStyle/>
          <a:p>
            <a:pPr indent="0" marL="0">
              <a:lnSpc>
                <a:spcPts val="1200"/>
              </a:lnSpc>
              <a:buNone/>
            </a:pPr>
            <a:r>
              <a:rPr lang="en-US" sz="1050" b="1" dirty="0">
                <a:solidFill>
                  <a:srgbClr val="1B2338"/>
                </a:solidFill>
                <a:latin typeface="Calibri" pitchFamily="34" charset="0"/>
                <a:ea typeface="Calibri" pitchFamily="34" charset="-122"/>
                <a:cs typeface="Calibri" pitchFamily="34" charset="-120"/>
              </a:rPr>
              <a:t>Own the first</a:t>
            </a:r>
            <a:endParaRPr lang="en-US" sz="1050" dirty="0"/>
          </a:p>
          <a:p>
            <a:pPr indent="0" marL="0">
              <a:lnSpc>
                <a:spcPts val="1200"/>
              </a:lnSpc>
              <a:buNone/>
            </a:pPr>
            <a:r>
              <a:rPr lang="en-US" sz="1050" b="1" dirty="0">
                <a:solidFill>
                  <a:srgbClr val="1B2338"/>
                </a:solidFill>
                <a:latin typeface="Calibri" pitchFamily="34" charset="0"/>
                <a:ea typeface="Calibri" pitchFamily="34" charset="-122"/>
                <a:cs typeface="Calibri" pitchFamily="34" charset="-120"/>
              </a:rPr>
              <a:t>90 days</a:t>
            </a:r>
            <a:endParaRPr lang="en-US" sz="1050" dirty="0"/>
          </a:p>
        </p:txBody>
      </p:sp>
      <p:sp>
        <p:nvSpPr>
          <p:cNvPr id="11" name="Shape 9"/>
          <p:cNvSpPr/>
          <p:nvPr/>
        </p:nvSpPr>
        <p:spPr>
          <a:xfrm>
            <a:off x="1801368" y="2286000"/>
            <a:ext cx="3121152" cy="914400"/>
          </a:xfrm>
          <a:prstGeom prst="roundRect">
            <a:avLst>
              <a:gd name="adj" fmla="val 10000"/>
            </a:avLst>
          </a:prstGeom>
          <a:solidFill>
            <a:srgbClr val="FAECD4"/>
          </a:solidFill>
          <a:ln w="12700">
            <a:solidFill>
              <a:srgbClr val="FAECD4"/>
            </a:solidFill>
            <a:prstDash val="solid"/>
          </a:ln>
        </p:spPr>
      </p:sp>
      <p:sp>
        <p:nvSpPr>
          <p:cNvPr id="12" name="Text 10"/>
          <p:cNvSpPr/>
          <p:nvPr/>
        </p:nvSpPr>
        <p:spPr>
          <a:xfrm>
            <a:off x="1965960" y="2377440"/>
            <a:ext cx="2791968" cy="731520"/>
          </a:xfrm>
          <a:prstGeom prst="rect">
            <a:avLst/>
          </a:prstGeom>
          <a:noFill/>
          <a:ln/>
        </p:spPr>
        <p:txBody>
          <a:bodyPr wrap="square" lIns="0" tIns="0" rIns="0" bIns="0" rtlCol="0" anchor="ctr"/>
          <a:lstStyle/>
          <a:p>
            <a:pPr indent="0" marL="0">
              <a:lnSpc>
                <a:spcPts val="1500"/>
              </a:lnSpc>
              <a:buNone/>
            </a:pPr>
            <a:r>
              <a:rPr lang="en-US" sz="1150" dirty="0">
                <a:solidFill>
                  <a:srgbClr val="8A5A11"/>
                </a:solidFill>
                <a:latin typeface="Calibri" pitchFamily="34" charset="0"/>
                <a:ea typeface="Calibri" pitchFamily="34" charset="-122"/>
                <a:cs typeface="Calibri" pitchFamily="34" charset="-120"/>
              </a:rPr>
              <a:t>Retention baselines and journey maps</a:t>
            </a:r>
            <a:endParaRPr lang="en-US" sz="1150" dirty="0"/>
          </a:p>
        </p:txBody>
      </p:sp>
      <p:sp>
        <p:nvSpPr>
          <p:cNvPr id="13" name="Shape 11"/>
          <p:cNvSpPr/>
          <p:nvPr/>
        </p:nvSpPr>
        <p:spPr>
          <a:xfrm>
            <a:off x="5151120" y="2286000"/>
            <a:ext cx="3121152" cy="914400"/>
          </a:xfrm>
          <a:prstGeom prst="roundRect">
            <a:avLst>
              <a:gd name="adj" fmla="val 10000"/>
            </a:avLst>
          </a:prstGeom>
          <a:solidFill>
            <a:srgbClr val="FAECD4"/>
          </a:solidFill>
          <a:ln w="12700">
            <a:solidFill>
              <a:srgbClr val="FAECD4"/>
            </a:solidFill>
            <a:prstDash val="solid"/>
          </a:ln>
        </p:spPr>
      </p:sp>
      <p:sp>
        <p:nvSpPr>
          <p:cNvPr id="14" name="Text 12"/>
          <p:cNvSpPr/>
          <p:nvPr/>
        </p:nvSpPr>
        <p:spPr>
          <a:xfrm>
            <a:off x="5315712" y="2377440"/>
            <a:ext cx="2791968" cy="731520"/>
          </a:xfrm>
          <a:prstGeom prst="rect">
            <a:avLst/>
          </a:prstGeom>
          <a:noFill/>
          <a:ln/>
        </p:spPr>
        <p:txBody>
          <a:bodyPr wrap="square" lIns="0" tIns="0" rIns="0" bIns="0" rtlCol="0" anchor="ctr"/>
          <a:lstStyle/>
          <a:p>
            <a:pPr indent="0" marL="0">
              <a:lnSpc>
                <a:spcPts val="1500"/>
              </a:lnSpc>
              <a:buNone/>
            </a:pPr>
            <a:r>
              <a:rPr lang="en-US" sz="1150" dirty="0">
                <a:solidFill>
                  <a:srgbClr val="8A5A11"/>
                </a:solidFill>
                <a:latin typeface="Calibri" pitchFamily="34" charset="0"/>
                <a:ea typeface="Calibri" pitchFamily="34" charset="-122"/>
                <a:cs typeface="Calibri" pitchFamily="34" charset="-120"/>
              </a:rPr>
              <a:t>Onboarding Companion live in 20 stores</a:t>
            </a:r>
            <a:endParaRPr lang="en-US" sz="1150" dirty="0"/>
          </a:p>
        </p:txBody>
      </p:sp>
      <p:sp>
        <p:nvSpPr>
          <p:cNvPr id="15" name="Shape 13"/>
          <p:cNvSpPr/>
          <p:nvPr/>
        </p:nvSpPr>
        <p:spPr>
          <a:xfrm>
            <a:off x="8500872" y="2286000"/>
            <a:ext cx="3121152" cy="914400"/>
          </a:xfrm>
          <a:prstGeom prst="roundRect">
            <a:avLst>
              <a:gd name="adj" fmla="val 10000"/>
            </a:avLst>
          </a:prstGeom>
          <a:solidFill>
            <a:srgbClr val="FAECD4"/>
          </a:solidFill>
          <a:ln w="12700">
            <a:solidFill>
              <a:srgbClr val="FAECD4"/>
            </a:solidFill>
            <a:prstDash val="solid"/>
          </a:ln>
        </p:spPr>
      </p:sp>
      <p:sp>
        <p:nvSpPr>
          <p:cNvPr id="16" name="Text 14"/>
          <p:cNvSpPr/>
          <p:nvPr/>
        </p:nvSpPr>
        <p:spPr>
          <a:xfrm>
            <a:off x="8665464" y="2377440"/>
            <a:ext cx="2791968" cy="731520"/>
          </a:xfrm>
          <a:prstGeom prst="rect">
            <a:avLst/>
          </a:prstGeom>
          <a:noFill/>
          <a:ln/>
        </p:spPr>
        <p:txBody>
          <a:bodyPr wrap="square" lIns="0" tIns="0" rIns="0" bIns="0" rtlCol="0" anchor="ctr"/>
          <a:lstStyle/>
          <a:p>
            <a:pPr indent="0" marL="0">
              <a:lnSpc>
                <a:spcPts val="1500"/>
              </a:lnSpc>
              <a:buNone/>
            </a:pPr>
            <a:r>
              <a:rPr lang="en-US" sz="1150" dirty="0">
                <a:solidFill>
                  <a:srgbClr val="8A5A11"/>
                </a:solidFill>
                <a:latin typeface="Calibri" pitchFamily="34" charset="0"/>
                <a:ea typeface="Calibri" pitchFamily="34" charset="-122"/>
                <a:cs typeface="Calibri" pitchFamily="34" charset="-120"/>
              </a:rPr>
              <a:t>Pilot vs control read. Scale or kill.</a:t>
            </a:r>
            <a:endParaRPr lang="en-US" sz="1150" dirty="0"/>
          </a:p>
        </p:txBody>
      </p:sp>
      <p:sp>
        <p:nvSpPr>
          <p:cNvPr id="17" name="Shape 15"/>
          <p:cNvSpPr/>
          <p:nvPr/>
        </p:nvSpPr>
        <p:spPr>
          <a:xfrm>
            <a:off x="566928" y="3712464"/>
            <a:ext cx="402336" cy="402336"/>
          </a:xfrm>
          <a:prstGeom prst="ellipse">
            <a:avLst/>
          </a:prstGeom>
          <a:solidFill>
            <a:srgbClr val="3B7EA8"/>
          </a:solidFill>
          <a:ln w="12700">
            <a:solidFill>
              <a:srgbClr val="3B7EA8"/>
            </a:solidFill>
            <a:prstDash val="solid"/>
          </a:ln>
        </p:spPr>
      </p:sp>
      <p:sp>
        <p:nvSpPr>
          <p:cNvPr id="18" name="Text 16"/>
          <p:cNvSpPr/>
          <p:nvPr/>
        </p:nvSpPr>
        <p:spPr>
          <a:xfrm>
            <a:off x="566928" y="371246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9" name="Text 17"/>
          <p:cNvSpPr/>
          <p:nvPr/>
        </p:nvSpPr>
        <p:spPr>
          <a:xfrm>
            <a:off x="1042416" y="3657600"/>
            <a:ext cx="731520" cy="548640"/>
          </a:xfrm>
          <a:prstGeom prst="rect">
            <a:avLst/>
          </a:prstGeom>
          <a:noFill/>
          <a:ln/>
        </p:spPr>
        <p:txBody>
          <a:bodyPr wrap="square" lIns="0" tIns="0" rIns="0" bIns="0" rtlCol="0" anchor="ctr"/>
          <a:lstStyle/>
          <a:p>
            <a:pPr indent="0" marL="0">
              <a:lnSpc>
                <a:spcPts val="1200"/>
              </a:lnSpc>
              <a:buNone/>
            </a:pPr>
            <a:r>
              <a:rPr lang="en-US" sz="1050" b="1" dirty="0">
                <a:solidFill>
                  <a:srgbClr val="1B2338"/>
                </a:solidFill>
                <a:latin typeface="Calibri" pitchFamily="34" charset="0"/>
                <a:ea typeface="Calibri" pitchFamily="34" charset="-122"/>
                <a:cs typeface="Calibri" pitchFamily="34" charset="-120"/>
              </a:rPr>
              <a:t>Answer to</a:t>
            </a:r>
            <a:endParaRPr lang="en-US" sz="1050" dirty="0"/>
          </a:p>
          <a:p>
            <a:pPr indent="0" marL="0">
              <a:lnSpc>
                <a:spcPts val="1200"/>
              </a:lnSpc>
              <a:buNone/>
            </a:pPr>
            <a:r>
              <a:rPr lang="en-US" sz="1050" b="1" dirty="0">
                <a:solidFill>
                  <a:srgbClr val="1B2338"/>
                </a:solidFill>
                <a:latin typeface="Calibri" pitchFamily="34" charset="0"/>
                <a:ea typeface="Calibri" pitchFamily="34" charset="-122"/>
                <a:cs typeface="Calibri" pitchFamily="34" charset="-120"/>
              </a:rPr>
              <a:t>action</a:t>
            </a:r>
            <a:endParaRPr lang="en-US" sz="1050" dirty="0"/>
          </a:p>
        </p:txBody>
      </p:sp>
      <p:sp>
        <p:nvSpPr>
          <p:cNvPr id="20" name="Shape 18"/>
          <p:cNvSpPr/>
          <p:nvPr/>
        </p:nvSpPr>
        <p:spPr>
          <a:xfrm>
            <a:off x="1801368" y="3456432"/>
            <a:ext cx="3121152" cy="914400"/>
          </a:xfrm>
          <a:prstGeom prst="roundRect">
            <a:avLst>
              <a:gd name="adj" fmla="val 10000"/>
            </a:avLst>
          </a:prstGeom>
          <a:solidFill>
            <a:srgbClr val="DCE9F2"/>
          </a:solidFill>
          <a:ln w="12700">
            <a:solidFill>
              <a:srgbClr val="DCE9F2"/>
            </a:solidFill>
            <a:prstDash val="solid"/>
          </a:ln>
        </p:spPr>
      </p:sp>
      <p:sp>
        <p:nvSpPr>
          <p:cNvPr id="21" name="Text 19"/>
          <p:cNvSpPr/>
          <p:nvPr/>
        </p:nvSpPr>
        <p:spPr>
          <a:xfrm>
            <a:off x="1965960" y="3547872"/>
            <a:ext cx="2791968" cy="731520"/>
          </a:xfrm>
          <a:prstGeom prst="rect">
            <a:avLst/>
          </a:prstGeom>
          <a:noFill/>
          <a:ln/>
        </p:spPr>
        <p:txBody>
          <a:bodyPr wrap="square" lIns="0" tIns="0" rIns="0" bIns="0" rtlCol="0" anchor="ctr"/>
          <a:lstStyle/>
          <a:p>
            <a:pPr indent="0" marL="0">
              <a:lnSpc>
                <a:spcPts val="1500"/>
              </a:lnSpc>
              <a:buNone/>
            </a:pPr>
            <a:r>
              <a:rPr lang="en-US" sz="1150" dirty="0">
                <a:solidFill>
                  <a:srgbClr val="1E4E6B"/>
                </a:solidFill>
                <a:latin typeface="Calibri" pitchFamily="34" charset="0"/>
                <a:ea typeface="Calibri" pitchFamily="34" charset="-122"/>
                <a:cs typeface="Calibri" pitchFamily="34" charset="-120"/>
              </a:rPr>
              <a:t>Cluster the 3M questions by intent</a:t>
            </a:r>
            <a:endParaRPr lang="en-US" sz="1150" dirty="0"/>
          </a:p>
        </p:txBody>
      </p:sp>
      <p:sp>
        <p:nvSpPr>
          <p:cNvPr id="22" name="Shape 20"/>
          <p:cNvSpPr/>
          <p:nvPr/>
        </p:nvSpPr>
        <p:spPr>
          <a:xfrm>
            <a:off x="5151120" y="3456432"/>
            <a:ext cx="3121152" cy="914400"/>
          </a:xfrm>
          <a:prstGeom prst="roundRect">
            <a:avLst>
              <a:gd name="adj" fmla="val 10000"/>
            </a:avLst>
          </a:prstGeom>
          <a:solidFill>
            <a:srgbClr val="DCE9F2"/>
          </a:solidFill>
          <a:ln w="12700">
            <a:solidFill>
              <a:srgbClr val="DCE9F2"/>
            </a:solidFill>
            <a:prstDash val="solid"/>
          </a:ln>
        </p:spPr>
      </p:sp>
      <p:sp>
        <p:nvSpPr>
          <p:cNvPr id="23" name="Text 21"/>
          <p:cNvSpPr/>
          <p:nvPr/>
        </p:nvSpPr>
        <p:spPr>
          <a:xfrm>
            <a:off x="5315712" y="3547872"/>
            <a:ext cx="2791968" cy="731520"/>
          </a:xfrm>
          <a:prstGeom prst="rect">
            <a:avLst/>
          </a:prstGeom>
          <a:noFill/>
          <a:ln/>
        </p:spPr>
        <p:txBody>
          <a:bodyPr wrap="square" lIns="0" tIns="0" rIns="0" bIns="0" rtlCol="0" anchor="ctr"/>
          <a:lstStyle/>
          <a:p>
            <a:pPr indent="0" marL="0">
              <a:lnSpc>
                <a:spcPts val="1500"/>
              </a:lnSpc>
              <a:buNone/>
            </a:pPr>
            <a:r>
              <a:rPr lang="en-US" sz="1150" dirty="0">
                <a:solidFill>
                  <a:srgbClr val="1E4E6B"/>
                </a:solidFill>
                <a:latin typeface="Calibri" pitchFamily="34" charset="0"/>
                <a:ea typeface="Calibri" pitchFamily="34" charset="-122"/>
                <a:cs typeface="Calibri" pitchFamily="34" charset="-120"/>
              </a:rPr>
              <a:t>Schedule-conflict action agent, full loop</a:t>
            </a:r>
            <a:endParaRPr lang="en-US" sz="1150" dirty="0"/>
          </a:p>
        </p:txBody>
      </p:sp>
      <p:sp>
        <p:nvSpPr>
          <p:cNvPr id="24" name="Shape 22"/>
          <p:cNvSpPr/>
          <p:nvPr/>
        </p:nvSpPr>
        <p:spPr>
          <a:xfrm>
            <a:off x="8500872" y="3456432"/>
            <a:ext cx="3121152" cy="914400"/>
          </a:xfrm>
          <a:prstGeom prst="roundRect">
            <a:avLst>
              <a:gd name="adj" fmla="val 10000"/>
            </a:avLst>
          </a:prstGeom>
          <a:solidFill>
            <a:srgbClr val="DCE9F2"/>
          </a:solidFill>
          <a:ln w="12700">
            <a:solidFill>
              <a:srgbClr val="DCE9F2"/>
            </a:solidFill>
            <a:prstDash val="solid"/>
          </a:ln>
        </p:spPr>
      </p:sp>
      <p:sp>
        <p:nvSpPr>
          <p:cNvPr id="25" name="Text 23"/>
          <p:cNvSpPr/>
          <p:nvPr/>
        </p:nvSpPr>
        <p:spPr>
          <a:xfrm>
            <a:off x="8665464" y="3547872"/>
            <a:ext cx="2791968" cy="731520"/>
          </a:xfrm>
          <a:prstGeom prst="rect">
            <a:avLst/>
          </a:prstGeom>
          <a:noFill/>
          <a:ln/>
        </p:spPr>
        <p:txBody>
          <a:bodyPr wrap="square" lIns="0" tIns="0" rIns="0" bIns="0" rtlCol="0" anchor="ctr"/>
          <a:lstStyle/>
          <a:p>
            <a:pPr indent="0" marL="0">
              <a:lnSpc>
                <a:spcPts val="1500"/>
              </a:lnSpc>
              <a:buNone/>
            </a:pPr>
            <a:r>
              <a:rPr lang="en-US" sz="1150" dirty="0">
                <a:solidFill>
                  <a:srgbClr val="1E4E6B"/>
                </a:solidFill>
                <a:latin typeface="Calibri" pitchFamily="34" charset="0"/>
                <a:ea typeface="Calibri" pitchFamily="34" charset="-122"/>
                <a:cs typeface="Calibri" pitchFamily="34" charset="-120"/>
              </a:rPr>
              <a:t>Harden reliability. Spec cluster two.</a:t>
            </a:r>
            <a:endParaRPr lang="en-US" sz="1150" dirty="0"/>
          </a:p>
        </p:txBody>
      </p:sp>
      <p:sp>
        <p:nvSpPr>
          <p:cNvPr id="26" name="Shape 24"/>
          <p:cNvSpPr/>
          <p:nvPr/>
        </p:nvSpPr>
        <p:spPr>
          <a:xfrm>
            <a:off x="566928" y="4882896"/>
            <a:ext cx="402336" cy="402336"/>
          </a:xfrm>
          <a:prstGeom prst="ellipse">
            <a:avLst/>
          </a:prstGeom>
          <a:solidFill>
            <a:srgbClr val="44795A"/>
          </a:solidFill>
          <a:ln w="12700">
            <a:solidFill>
              <a:srgbClr val="44795A"/>
            </a:solidFill>
            <a:prstDash val="solid"/>
          </a:ln>
        </p:spPr>
      </p:sp>
      <p:sp>
        <p:nvSpPr>
          <p:cNvPr id="27" name="Text 25"/>
          <p:cNvSpPr/>
          <p:nvPr/>
        </p:nvSpPr>
        <p:spPr>
          <a:xfrm>
            <a:off x="566928" y="48828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28" name="Text 26"/>
          <p:cNvSpPr/>
          <p:nvPr/>
        </p:nvSpPr>
        <p:spPr>
          <a:xfrm>
            <a:off x="1042416" y="4828032"/>
            <a:ext cx="731520" cy="548640"/>
          </a:xfrm>
          <a:prstGeom prst="rect">
            <a:avLst/>
          </a:prstGeom>
          <a:noFill/>
          <a:ln/>
        </p:spPr>
        <p:txBody>
          <a:bodyPr wrap="square" lIns="0" tIns="0" rIns="0" bIns="0" rtlCol="0" anchor="ctr"/>
          <a:lstStyle/>
          <a:p>
            <a:pPr indent="0" marL="0">
              <a:lnSpc>
                <a:spcPts val="1200"/>
              </a:lnSpc>
              <a:buNone/>
            </a:pPr>
            <a:r>
              <a:rPr lang="en-US" sz="1050" b="1" dirty="0">
                <a:solidFill>
                  <a:srgbClr val="1B2338"/>
                </a:solidFill>
                <a:latin typeface="Calibri" pitchFamily="34" charset="0"/>
                <a:ea typeface="Calibri" pitchFamily="34" charset="-122"/>
                <a:cs typeface="Calibri" pitchFamily="34" charset="-120"/>
              </a:rPr>
              <a:t>Signal</a:t>
            </a:r>
            <a:endParaRPr lang="en-US" sz="1050" dirty="0"/>
          </a:p>
          <a:p>
            <a:pPr indent="0" marL="0">
              <a:lnSpc>
                <a:spcPts val="1200"/>
              </a:lnSpc>
              <a:buNone/>
            </a:pPr>
            <a:r>
              <a:rPr lang="en-US" sz="1050" b="1" dirty="0">
                <a:solidFill>
                  <a:srgbClr val="1B2338"/>
                </a:solidFill>
                <a:latin typeface="Calibri" pitchFamily="34" charset="0"/>
                <a:ea typeface="Calibri" pitchFamily="34" charset="-122"/>
                <a:cs typeface="Calibri" pitchFamily="34" charset="-120"/>
              </a:rPr>
              <a:t>Engine</a:t>
            </a:r>
            <a:endParaRPr lang="en-US" sz="1050" dirty="0"/>
          </a:p>
        </p:txBody>
      </p:sp>
      <p:sp>
        <p:nvSpPr>
          <p:cNvPr id="29" name="Shape 27"/>
          <p:cNvSpPr/>
          <p:nvPr/>
        </p:nvSpPr>
        <p:spPr>
          <a:xfrm>
            <a:off x="1801368" y="4626864"/>
            <a:ext cx="3121152" cy="914400"/>
          </a:xfrm>
          <a:prstGeom prst="roundRect">
            <a:avLst>
              <a:gd name="adj" fmla="val 10000"/>
            </a:avLst>
          </a:prstGeom>
          <a:solidFill>
            <a:srgbClr val="DDEAE1"/>
          </a:solidFill>
          <a:ln w="12700">
            <a:solidFill>
              <a:srgbClr val="DDEAE1"/>
            </a:solidFill>
            <a:prstDash val="solid"/>
          </a:ln>
        </p:spPr>
      </p:sp>
      <p:sp>
        <p:nvSpPr>
          <p:cNvPr id="30" name="Text 28"/>
          <p:cNvSpPr/>
          <p:nvPr/>
        </p:nvSpPr>
        <p:spPr>
          <a:xfrm>
            <a:off x="1965960" y="4718304"/>
            <a:ext cx="2791968" cy="731520"/>
          </a:xfrm>
          <a:prstGeom prst="rect">
            <a:avLst/>
          </a:prstGeom>
          <a:noFill/>
          <a:ln/>
        </p:spPr>
        <p:txBody>
          <a:bodyPr wrap="square" lIns="0" tIns="0" rIns="0" bIns="0" rtlCol="0" anchor="ctr"/>
          <a:lstStyle/>
          <a:p>
            <a:pPr indent="0" marL="0">
              <a:lnSpc>
                <a:spcPts val="1500"/>
              </a:lnSpc>
              <a:buNone/>
            </a:pPr>
            <a:r>
              <a:rPr lang="en-US" sz="1150" dirty="0">
                <a:solidFill>
                  <a:srgbClr val="2E5540"/>
                </a:solidFill>
                <a:latin typeface="Calibri" pitchFamily="34" charset="0"/>
                <a:ea typeface="Calibri" pitchFamily="34" charset="-122"/>
                <a:cs typeface="Calibri" pitchFamily="34" charset="-120"/>
              </a:rPr>
              <a:t>Signal audit and cohort taxonomy</a:t>
            </a:r>
            <a:endParaRPr lang="en-US" sz="1150" dirty="0"/>
          </a:p>
        </p:txBody>
      </p:sp>
      <p:sp>
        <p:nvSpPr>
          <p:cNvPr id="31" name="Shape 29"/>
          <p:cNvSpPr/>
          <p:nvPr/>
        </p:nvSpPr>
        <p:spPr>
          <a:xfrm>
            <a:off x="5151120" y="4626864"/>
            <a:ext cx="3121152" cy="914400"/>
          </a:xfrm>
          <a:prstGeom prst="roundRect">
            <a:avLst>
              <a:gd name="adj" fmla="val 10000"/>
            </a:avLst>
          </a:prstGeom>
          <a:solidFill>
            <a:srgbClr val="DDEAE1"/>
          </a:solidFill>
          <a:ln w="12700">
            <a:solidFill>
              <a:srgbClr val="DDEAE1"/>
            </a:solidFill>
            <a:prstDash val="solid"/>
          </a:ln>
        </p:spPr>
      </p:sp>
      <p:sp>
        <p:nvSpPr>
          <p:cNvPr id="32" name="Text 30"/>
          <p:cNvSpPr/>
          <p:nvPr/>
        </p:nvSpPr>
        <p:spPr>
          <a:xfrm>
            <a:off x="5315712" y="4718304"/>
            <a:ext cx="2791968" cy="731520"/>
          </a:xfrm>
          <a:prstGeom prst="rect">
            <a:avLst/>
          </a:prstGeom>
          <a:noFill/>
          <a:ln/>
        </p:spPr>
        <p:txBody>
          <a:bodyPr wrap="square" lIns="0" tIns="0" rIns="0" bIns="0" rtlCol="0" anchor="ctr"/>
          <a:lstStyle/>
          <a:p>
            <a:pPr indent="0" marL="0">
              <a:lnSpc>
                <a:spcPts val="1500"/>
              </a:lnSpc>
              <a:buNone/>
            </a:pPr>
            <a:r>
              <a:rPr lang="en-US" sz="1150" dirty="0">
                <a:solidFill>
                  <a:srgbClr val="2E5540"/>
                </a:solidFill>
                <a:latin typeface="Calibri" pitchFamily="34" charset="0"/>
                <a:ea typeface="Calibri" pitchFamily="34" charset="-122"/>
                <a:cs typeface="Calibri" pitchFamily="34" charset="-120"/>
              </a:rPr>
              <a:t>One score live, two intervention arms</a:t>
            </a:r>
            <a:endParaRPr lang="en-US" sz="1150" dirty="0"/>
          </a:p>
        </p:txBody>
      </p:sp>
      <p:sp>
        <p:nvSpPr>
          <p:cNvPr id="33" name="Shape 31"/>
          <p:cNvSpPr/>
          <p:nvPr/>
        </p:nvSpPr>
        <p:spPr>
          <a:xfrm>
            <a:off x="8500872" y="4626864"/>
            <a:ext cx="3121152" cy="914400"/>
          </a:xfrm>
          <a:prstGeom prst="roundRect">
            <a:avLst>
              <a:gd name="adj" fmla="val 10000"/>
            </a:avLst>
          </a:prstGeom>
          <a:solidFill>
            <a:srgbClr val="DDEAE1"/>
          </a:solidFill>
          <a:ln w="12700">
            <a:solidFill>
              <a:srgbClr val="DDEAE1"/>
            </a:solidFill>
            <a:prstDash val="solid"/>
          </a:ln>
        </p:spPr>
      </p:sp>
      <p:sp>
        <p:nvSpPr>
          <p:cNvPr id="34" name="Text 32"/>
          <p:cNvSpPr/>
          <p:nvPr/>
        </p:nvSpPr>
        <p:spPr>
          <a:xfrm>
            <a:off x="8665464" y="4718304"/>
            <a:ext cx="2791968" cy="731520"/>
          </a:xfrm>
          <a:prstGeom prst="rect">
            <a:avLst/>
          </a:prstGeom>
          <a:noFill/>
          <a:ln/>
        </p:spPr>
        <p:txBody>
          <a:bodyPr wrap="square" lIns="0" tIns="0" rIns="0" bIns="0" rtlCol="0" anchor="ctr"/>
          <a:lstStyle/>
          <a:p>
            <a:pPr indent="0" marL="0">
              <a:lnSpc>
                <a:spcPts val="1500"/>
              </a:lnSpc>
              <a:buNone/>
            </a:pPr>
            <a:r>
              <a:rPr lang="en-US" sz="1150" dirty="0">
                <a:solidFill>
                  <a:srgbClr val="2E5540"/>
                </a:solidFill>
                <a:latin typeface="Calibri" pitchFamily="34" charset="0"/>
                <a:ea typeface="Calibri" pitchFamily="34" charset="-122"/>
                <a:cs typeface="Calibri" pitchFamily="34" charset="-120"/>
              </a:rPr>
              <a:t>Contextual bandit across 3 to 4 arms</a:t>
            </a:r>
            <a:endParaRPr lang="en-US" sz="1150" dirty="0"/>
          </a:p>
        </p:txBody>
      </p:sp>
      <p:sp>
        <p:nvSpPr>
          <p:cNvPr id="35" name="Shape 33"/>
          <p:cNvSpPr/>
          <p:nvPr/>
        </p:nvSpPr>
        <p:spPr>
          <a:xfrm>
            <a:off x="11722608" y="2212848"/>
            <a:ext cx="0" cy="3657600"/>
          </a:xfrm>
          <a:prstGeom prst="line">
            <a:avLst/>
          </a:prstGeom>
          <a:noFill/>
          <a:ln w="25400">
            <a:solidFill>
              <a:srgbClr val="AE5348"/>
            </a:solidFill>
            <a:prstDash val="dash"/>
          </a:ln>
        </p:spPr>
      </p:sp>
      <p:sp>
        <p:nvSpPr>
          <p:cNvPr id="36" name="Text 34"/>
          <p:cNvSpPr/>
          <p:nvPr/>
        </p:nvSpPr>
        <p:spPr>
          <a:xfrm>
            <a:off x="10570464" y="5852160"/>
            <a:ext cx="1097280" cy="274320"/>
          </a:xfrm>
          <a:prstGeom prst="rect">
            <a:avLst/>
          </a:prstGeom>
          <a:noFill/>
          <a:ln/>
        </p:spPr>
        <p:txBody>
          <a:bodyPr wrap="square" lIns="0" tIns="0" rIns="0" bIns="0" rtlCol="0" anchor="ctr"/>
          <a:lstStyle/>
          <a:p>
            <a:pPr algn="r" indent="0" marL="0">
              <a:buNone/>
            </a:pPr>
            <a:r>
              <a:rPr lang="en-US" sz="1050" b="1" dirty="0">
                <a:solidFill>
                  <a:srgbClr val="AE5348"/>
                </a:solidFill>
                <a:latin typeface="Calibri" pitchFamily="34" charset="0"/>
                <a:ea typeface="Calibri" pitchFamily="34" charset="-122"/>
                <a:cs typeface="Calibri" pitchFamily="34" charset="-120"/>
              </a:rPr>
              <a:t>Day-90 gate</a:t>
            </a:r>
            <a:endParaRPr lang="en-US" sz="1050" dirty="0"/>
          </a:p>
        </p:txBody>
      </p:sp>
      <p:sp>
        <p:nvSpPr>
          <p:cNvPr id="37" name="Text 35"/>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Cost of this order: the platform starts slower. Benefit: a measured retention number in hand before anyone is asked to fund platform headcount.</a:t>
            </a:r>
            <a:endParaRPr lang="en-US" sz="1050" dirty="0"/>
          </a:p>
        </p:txBody>
      </p:sp>
      <p:sp>
        <p:nvSpPr>
          <p:cNvPr id="38" name="Text 36"/>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PLAN A, SEEN FROM THE FLOOR</a:t>
            </a:r>
            <a:endParaRPr lang="en-US" sz="1100" dirty="0"/>
          </a:p>
        </p:txBody>
      </p:sp>
      <p:sp>
        <p:nvSpPr>
          <p:cNvPr id="4" name="Text 2"/>
          <p:cNvSpPr/>
          <p:nvPr/>
        </p:nvSpPr>
        <p:spPr>
          <a:xfrm>
            <a:off x="566928" y="749808"/>
            <a:ext cx="11055096" cy="1024128"/>
          </a:xfrm>
          <a:prstGeom prst="rect">
            <a:avLst/>
          </a:prstGeom>
          <a:noFill/>
          <a:ln/>
        </p:spPr>
        <p:txBody>
          <a:bodyPr wrap="square" lIns="0" tIns="0" rIns="0" bIns="0" rtlCol="0" anchor="t"/>
          <a:lstStyle/>
          <a:p>
            <a:pPr indent="0" marL="0">
              <a:lnSpc>
                <a:spcPts val="3500"/>
              </a:lnSpc>
              <a:buNone/>
            </a:pPr>
            <a:r>
              <a:rPr lang="en-US" sz="3000" b="1" dirty="0">
                <a:solidFill>
                  <a:srgbClr val="1B2338"/>
                </a:solidFill>
                <a:latin typeface="Cambria" pitchFamily="34" charset="0"/>
                <a:ea typeface="Cambria" pitchFamily="34" charset="-122"/>
                <a:cs typeface="Cambria" pitchFamily="34" charset="-120"/>
              </a:rPr>
              <a:t>Day 1 stops being "nobody told me anything."</a:t>
            </a:r>
            <a:endParaRPr lang="en-US" sz="3000" dirty="0"/>
          </a:p>
        </p:txBody>
      </p:sp>
      <p:sp>
        <p:nvSpPr>
          <p:cNvPr id="5" name="Shape 3"/>
          <p:cNvSpPr/>
          <p:nvPr/>
        </p:nvSpPr>
        <p:spPr>
          <a:xfrm>
            <a:off x="566928" y="1920240"/>
            <a:ext cx="2592324" cy="2926080"/>
          </a:xfrm>
          <a:prstGeom prst="roundRect">
            <a:avLst>
              <a:gd name="adj" fmla="val 4233"/>
            </a:avLst>
          </a:prstGeom>
          <a:solidFill>
            <a:srgbClr val="DCE9F2"/>
          </a:solidFill>
          <a:ln w="12700">
            <a:solidFill>
              <a:srgbClr val="DCE9F2"/>
            </a:solidFill>
            <a:prstDash val="solid"/>
          </a:ln>
        </p:spPr>
      </p:sp>
      <p:sp>
        <p:nvSpPr>
          <p:cNvPr id="6" name="Shape 4"/>
          <p:cNvSpPr/>
          <p:nvPr/>
        </p:nvSpPr>
        <p:spPr>
          <a:xfrm>
            <a:off x="731520" y="2103120"/>
            <a:ext cx="1298448" cy="274320"/>
          </a:xfrm>
          <a:prstGeom prst="roundRect">
            <a:avLst>
              <a:gd name="adj" fmla="val 50000"/>
            </a:avLst>
          </a:prstGeom>
          <a:solidFill>
            <a:srgbClr val="3B7EA8"/>
          </a:solidFill>
          <a:ln w="12700">
            <a:solidFill>
              <a:srgbClr val="3B7EA8"/>
            </a:solidFill>
            <a:prstDash val="solid"/>
          </a:ln>
        </p:spPr>
      </p:sp>
      <p:sp>
        <p:nvSpPr>
          <p:cNvPr id="7" name="Text 5"/>
          <p:cNvSpPr/>
          <p:nvPr/>
        </p:nvSpPr>
        <p:spPr>
          <a:xfrm>
            <a:off x="731520" y="2103120"/>
            <a:ext cx="1298448"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Proactive</a:t>
            </a:r>
            <a:endParaRPr lang="en-US" sz="950" dirty="0"/>
          </a:p>
        </p:txBody>
      </p:sp>
      <p:sp>
        <p:nvSpPr>
          <p:cNvPr id="8" name="Text 6"/>
          <p:cNvSpPr/>
          <p:nvPr/>
        </p:nvSpPr>
        <p:spPr>
          <a:xfrm>
            <a:off x="731520" y="2487168"/>
            <a:ext cx="2263140" cy="256032"/>
          </a:xfrm>
          <a:prstGeom prst="rect">
            <a:avLst/>
          </a:prstGeom>
          <a:noFill/>
          <a:ln/>
        </p:spPr>
        <p:txBody>
          <a:bodyPr wrap="square" lIns="0" tIns="0" rIns="0" bIns="0" rtlCol="0" anchor="ctr"/>
          <a:lstStyle/>
          <a:p>
            <a:pPr indent="0" marL="0">
              <a:buNone/>
            </a:pPr>
            <a:r>
              <a:rPr lang="en-US" sz="1050" b="1" dirty="0">
                <a:solidFill>
                  <a:srgbClr val="5E6980"/>
                </a:solidFill>
                <a:latin typeface="Calibri" pitchFamily="34" charset="0"/>
                <a:ea typeface="Calibri" pitchFamily="34" charset="-122"/>
                <a:cs typeface="Calibri" pitchFamily="34" charset="-120"/>
              </a:rPr>
              <a:t>Day 1  ·  6:55am</a:t>
            </a:r>
            <a:endParaRPr lang="en-US" sz="1050" dirty="0"/>
          </a:p>
        </p:txBody>
      </p:sp>
      <p:sp>
        <p:nvSpPr>
          <p:cNvPr id="9" name="Text 7"/>
          <p:cNvSpPr/>
          <p:nvPr/>
        </p:nvSpPr>
        <p:spPr>
          <a:xfrm>
            <a:off x="731520" y="2761488"/>
            <a:ext cx="2263140" cy="603504"/>
          </a:xfrm>
          <a:prstGeom prst="rect">
            <a:avLst/>
          </a:prstGeom>
          <a:noFill/>
          <a:ln/>
        </p:spPr>
        <p:txBody>
          <a:bodyPr wrap="square" lIns="0" tIns="0" rIns="0" bIns="0" rtlCol="0" anchor="t"/>
          <a:lstStyle/>
          <a:p>
            <a:pPr indent="0" marL="0">
              <a:lnSpc>
                <a:spcPts val="1900"/>
              </a:lnSpc>
              <a:buNone/>
            </a:pPr>
            <a:r>
              <a:rPr lang="en-US" sz="1550" b="1" dirty="0">
                <a:solidFill>
                  <a:srgbClr val="1E4E6B"/>
                </a:solidFill>
                <a:latin typeface="Cambria" pitchFamily="34" charset="0"/>
                <a:ea typeface="Cambria" pitchFamily="34" charset="-122"/>
                <a:cs typeface="Cambria" pitchFamily="34" charset="-120"/>
              </a:rPr>
              <a:t>The app speaks first</a:t>
            </a:r>
            <a:endParaRPr lang="en-US" sz="1550" dirty="0"/>
          </a:p>
        </p:txBody>
      </p:sp>
      <p:sp>
        <p:nvSpPr>
          <p:cNvPr id="10" name="Text 8"/>
          <p:cNvSpPr/>
          <p:nvPr/>
        </p:nvSpPr>
        <p:spPr>
          <a:xfrm>
            <a:off x="731520" y="3401568"/>
            <a:ext cx="2263140" cy="1280160"/>
          </a:xfrm>
          <a:prstGeom prst="rect">
            <a:avLst/>
          </a:prstGeom>
          <a:noFill/>
          <a:ln/>
        </p:spPr>
        <p:txBody>
          <a:bodyPr wrap="square" lIns="0" tIns="0" rIns="0" bIns="0" rtlCol="0" anchor="t"/>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First shift today, Maya. Badge and locker first, then meet Dee, your buddy, aisle 12. I will guide each step when you arrive.</a:t>
            </a:r>
            <a:endParaRPr lang="en-US" sz="1200" dirty="0"/>
          </a:p>
        </p:txBody>
      </p:sp>
      <p:sp>
        <p:nvSpPr>
          <p:cNvPr id="11" name="Shape 9"/>
          <p:cNvSpPr/>
          <p:nvPr/>
        </p:nvSpPr>
        <p:spPr>
          <a:xfrm>
            <a:off x="3387852" y="1920240"/>
            <a:ext cx="2592324" cy="2926080"/>
          </a:xfrm>
          <a:prstGeom prst="roundRect">
            <a:avLst>
              <a:gd name="adj" fmla="val 4233"/>
            </a:avLst>
          </a:prstGeom>
          <a:solidFill>
            <a:srgbClr val="E2EAF4"/>
          </a:solidFill>
          <a:ln w="12700">
            <a:solidFill>
              <a:srgbClr val="E2EAF4"/>
            </a:solidFill>
            <a:prstDash val="solid"/>
          </a:ln>
        </p:spPr>
      </p:sp>
      <p:sp>
        <p:nvSpPr>
          <p:cNvPr id="12" name="Shape 10"/>
          <p:cNvSpPr/>
          <p:nvPr/>
        </p:nvSpPr>
        <p:spPr>
          <a:xfrm>
            <a:off x="3552444" y="2103120"/>
            <a:ext cx="1298448" cy="274320"/>
          </a:xfrm>
          <a:prstGeom prst="roundRect">
            <a:avLst>
              <a:gd name="adj" fmla="val 50000"/>
            </a:avLst>
          </a:prstGeom>
          <a:solidFill>
            <a:srgbClr val="2E4571"/>
          </a:solidFill>
          <a:ln w="12700">
            <a:solidFill>
              <a:srgbClr val="2E4571"/>
            </a:solidFill>
            <a:prstDash val="solid"/>
          </a:ln>
        </p:spPr>
      </p:sp>
      <p:sp>
        <p:nvSpPr>
          <p:cNvPr id="13" name="Text 11"/>
          <p:cNvSpPr/>
          <p:nvPr/>
        </p:nvSpPr>
        <p:spPr>
          <a:xfrm>
            <a:off x="3552444" y="2103120"/>
            <a:ext cx="1298448"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Conversational</a:t>
            </a:r>
            <a:endParaRPr lang="en-US" sz="950" dirty="0"/>
          </a:p>
        </p:txBody>
      </p:sp>
      <p:sp>
        <p:nvSpPr>
          <p:cNvPr id="14" name="Text 12"/>
          <p:cNvSpPr/>
          <p:nvPr/>
        </p:nvSpPr>
        <p:spPr>
          <a:xfrm>
            <a:off x="3552444" y="2487168"/>
            <a:ext cx="2263140" cy="256032"/>
          </a:xfrm>
          <a:prstGeom prst="rect">
            <a:avLst/>
          </a:prstGeom>
          <a:noFill/>
          <a:ln/>
        </p:spPr>
        <p:txBody>
          <a:bodyPr wrap="square" lIns="0" tIns="0" rIns="0" bIns="0" rtlCol="0" anchor="ctr"/>
          <a:lstStyle/>
          <a:p>
            <a:pPr indent="0" marL="0">
              <a:buNone/>
            </a:pPr>
            <a:r>
              <a:rPr lang="en-US" sz="1050" b="1" dirty="0">
                <a:solidFill>
                  <a:srgbClr val="5E6980"/>
                </a:solidFill>
                <a:latin typeface="Calibri" pitchFamily="34" charset="0"/>
                <a:ea typeface="Calibri" pitchFamily="34" charset="-122"/>
                <a:cs typeface="Calibri" pitchFamily="34" charset="-120"/>
              </a:rPr>
              <a:t>Shift 1</a:t>
            </a:r>
            <a:endParaRPr lang="en-US" sz="1050" dirty="0"/>
          </a:p>
        </p:txBody>
      </p:sp>
      <p:sp>
        <p:nvSpPr>
          <p:cNvPr id="15" name="Text 13"/>
          <p:cNvSpPr/>
          <p:nvPr/>
        </p:nvSpPr>
        <p:spPr>
          <a:xfrm>
            <a:off x="3552444" y="2761488"/>
            <a:ext cx="2263140" cy="603504"/>
          </a:xfrm>
          <a:prstGeom prst="rect">
            <a:avLst/>
          </a:prstGeom>
          <a:noFill/>
          <a:ln/>
        </p:spPr>
        <p:txBody>
          <a:bodyPr wrap="square" lIns="0" tIns="0" rIns="0" bIns="0" rtlCol="0" anchor="t"/>
          <a:lstStyle/>
          <a:p>
            <a:pPr indent="0" marL="0">
              <a:lnSpc>
                <a:spcPts val="1900"/>
              </a:lnSpc>
              <a:buNone/>
            </a:pPr>
            <a:r>
              <a:rPr lang="en-US" sz="1550" b="1" dirty="0">
                <a:solidFill>
                  <a:srgbClr val="16233B"/>
                </a:solidFill>
                <a:latin typeface="Cambria" pitchFamily="34" charset="0"/>
                <a:ea typeface="Cambria" pitchFamily="34" charset="-122"/>
                <a:cs typeface="Cambria" pitchFamily="34" charset="-120"/>
              </a:rPr>
              <a:t>Zero-tenure vocabulary</a:t>
            </a:r>
            <a:endParaRPr lang="en-US" sz="1550" dirty="0"/>
          </a:p>
        </p:txBody>
      </p:sp>
      <p:sp>
        <p:nvSpPr>
          <p:cNvPr id="16" name="Text 14"/>
          <p:cNvSpPr/>
          <p:nvPr/>
        </p:nvSpPr>
        <p:spPr>
          <a:xfrm>
            <a:off x="3552444" y="3401568"/>
            <a:ext cx="2263140" cy="1280160"/>
          </a:xfrm>
          <a:prstGeom prst="rect">
            <a:avLst/>
          </a:prstGeom>
          <a:noFill/>
          <a:ln/>
        </p:spPr>
        <p:txBody>
          <a:bodyPr wrap="square" lIns="0" tIns="0" rIns="0" bIns="0" rtlCol="0" anchor="t"/>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“What's a zone?”  Your assigned section for the night. Yours is GM-3, aisles 10 to 14. Dee walks the first pass with you.</a:t>
            </a:r>
            <a:endParaRPr lang="en-US" sz="1200" dirty="0"/>
          </a:p>
        </p:txBody>
      </p:sp>
      <p:sp>
        <p:nvSpPr>
          <p:cNvPr id="17" name="Shape 15"/>
          <p:cNvSpPr/>
          <p:nvPr/>
        </p:nvSpPr>
        <p:spPr>
          <a:xfrm>
            <a:off x="6208776" y="1920240"/>
            <a:ext cx="2592324" cy="2926080"/>
          </a:xfrm>
          <a:prstGeom prst="roundRect">
            <a:avLst>
              <a:gd name="adj" fmla="val 4233"/>
            </a:avLst>
          </a:prstGeom>
          <a:solidFill>
            <a:srgbClr val="FAECD4"/>
          </a:solidFill>
          <a:ln w="12700">
            <a:solidFill>
              <a:srgbClr val="FAECD4"/>
            </a:solidFill>
            <a:prstDash val="solid"/>
          </a:ln>
        </p:spPr>
      </p:sp>
      <p:sp>
        <p:nvSpPr>
          <p:cNvPr id="18" name="Shape 16"/>
          <p:cNvSpPr/>
          <p:nvPr/>
        </p:nvSpPr>
        <p:spPr>
          <a:xfrm>
            <a:off x="6373368" y="2103120"/>
            <a:ext cx="1298448" cy="274320"/>
          </a:xfrm>
          <a:prstGeom prst="roundRect">
            <a:avLst>
              <a:gd name="adj" fmla="val 50000"/>
            </a:avLst>
          </a:prstGeom>
          <a:solidFill>
            <a:srgbClr val="D9922B"/>
          </a:solidFill>
          <a:ln w="12700">
            <a:solidFill>
              <a:srgbClr val="D9922B"/>
            </a:solidFill>
            <a:prstDash val="solid"/>
          </a:ln>
        </p:spPr>
      </p:sp>
      <p:sp>
        <p:nvSpPr>
          <p:cNvPr id="19" name="Text 17"/>
          <p:cNvSpPr/>
          <p:nvPr/>
        </p:nvSpPr>
        <p:spPr>
          <a:xfrm>
            <a:off x="6373368" y="2103120"/>
            <a:ext cx="1298448"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Reward</a:t>
            </a:r>
            <a:endParaRPr lang="en-US" sz="950" dirty="0"/>
          </a:p>
        </p:txBody>
      </p:sp>
      <p:sp>
        <p:nvSpPr>
          <p:cNvPr id="20" name="Text 18"/>
          <p:cNvSpPr/>
          <p:nvPr/>
        </p:nvSpPr>
        <p:spPr>
          <a:xfrm>
            <a:off x="6373368" y="2487168"/>
            <a:ext cx="2263140" cy="256032"/>
          </a:xfrm>
          <a:prstGeom prst="rect">
            <a:avLst/>
          </a:prstGeom>
          <a:noFill/>
          <a:ln/>
        </p:spPr>
        <p:txBody>
          <a:bodyPr wrap="square" lIns="0" tIns="0" rIns="0" bIns="0" rtlCol="0" anchor="ctr"/>
          <a:lstStyle/>
          <a:p>
            <a:pPr indent="0" marL="0">
              <a:buNone/>
            </a:pPr>
            <a:r>
              <a:rPr lang="en-US" sz="1050" b="1" dirty="0">
                <a:solidFill>
                  <a:srgbClr val="5E6980"/>
                </a:solidFill>
                <a:latin typeface="Calibri" pitchFamily="34" charset="0"/>
                <a:ea typeface="Calibri" pitchFamily="34" charset="-122"/>
                <a:cs typeface="Calibri" pitchFamily="34" charset="-120"/>
              </a:rPr>
              <a:t>Week 1</a:t>
            </a:r>
            <a:endParaRPr lang="en-US" sz="1050" dirty="0"/>
          </a:p>
        </p:txBody>
      </p:sp>
      <p:sp>
        <p:nvSpPr>
          <p:cNvPr id="21" name="Text 19"/>
          <p:cNvSpPr/>
          <p:nvPr/>
        </p:nvSpPr>
        <p:spPr>
          <a:xfrm>
            <a:off x="6373368" y="2761488"/>
            <a:ext cx="2263140" cy="603504"/>
          </a:xfrm>
          <a:prstGeom prst="rect">
            <a:avLst/>
          </a:prstGeom>
          <a:noFill/>
          <a:ln/>
        </p:spPr>
        <p:txBody>
          <a:bodyPr wrap="square" lIns="0" tIns="0" rIns="0" bIns="0" rtlCol="0" anchor="t"/>
          <a:lstStyle/>
          <a:p>
            <a:pPr indent="0" marL="0">
              <a:lnSpc>
                <a:spcPts val="1900"/>
              </a:lnSpc>
              <a:buNone/>
            </a:pPr>
            <a:r>
              <a:rPr lang="en-US" sz="1550" b="1" dirty="0">
                <a:solidFill>
                  <a:srgbClr val="8A5A11"/>
                </a:solidFill>
                <a:latin typeface="Cambria" pitchFamily="34" charset="0"/>
                <a:ea typeface="Cambria" pitchFamily="34" charset="-122"/>
                <a:cs typeface="Cambria" pitchFamily="34" charset="-120"/>
              </a:rPr>
              <a:t>Real reward, her choice</a:t>
            </a:r>
            <a:endParaRPr lang="en-US" sz="1550" dirty="0"/>
          </a:p>
        </p:txBody>
      </p:sp>
      <p:sp>
        <p:nvSpPr>
          <p:cNvPr id="22" name="Text 20"/>
          <p:cNvSpPr/>
          <p:nvPr/>
        </p:nvSpPr>
        <p:spPr>
          <a:xfrm>
            <a:off x="6373368" y="3401568"/>
            <a:ext cx="2263140" cy="1280160"/>
          </a:xfrm>
          <a:prstGeom prst="rect">
            <a:avLst/>
          </a:prstGeom>
          <a:noFill/>
          <a:ln/>
        </p:spPr>
        <p:txBody>
          <a:bodyPr wrap="square" lIns="0" tIns="0" rIns="0" bIns="0" rtlCol="0" anchor="t"/>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Five shifts, all trainings done. Pick one: $15 gift card, free lunch, 5 stock-sweepstake entries, or $15 to a cause you choose.</a:t>
            </a:r>
            <a:endParaRPr lang="en-US" sz="1200" dirty="0"/>
          </a:p>
        </p:txBody>
      </p:sp>
      <p:sp>
        <p:nvSpPr>
          <p:cNvPr id="23" name="Shape 21"/>
          <p:cNvSpPr/>
          <p:nvPr/>
        </p:nvSpPr>
        <p:spPr>
          <a:xfrm>
            <a:off x="9029700" y="1920240"/>
            <a:ext cx="2592324" cy="2926080"/>
          </a:xfrm>
          <a:prstGeom prst="roundRect">
            <a:avLst>
              <a:gd name="adj" fmla="val 4233"/>
            </a:avLst>
          </a:prstGeom>
          <a:solidFill>
            <a:srgbClr val="DDEAE1"/>
          </a:solidFill>
          <a:ln w="12700">
            <a:solidFill>
              <a:srgbClr val="DDEAE1"/>
            </a:solidFill>
            <a:prstDash val="solid"/>
          </a:ln>
        </p:spPr>
      </p:sp>
      <p:sp>
        <p:nvSpPr>
          <p:cNvPr id="24" name="Shape 22"/>
          <p:cNvSpPr/>
          <p:nvPr/>
        </p:nvSpPr>
        <p:spPr>
          <a:xfrm>
            <a:off x="9194292" y="2103120"/>
            <a:ext cx="1298448" cy="274320"/>
          </a:xfrm>
          <a:prstGeom prst="roundRect">
            <a:avLst>
              <a:gd name="adj" fmla="val 50000"/>
            </a:avLst>
          </a:prstGeom>
          <a:solidFill>
            <a:srgbClr val="44795A"/>
          </a:solidFill>
          <a:ln w="12700">
            <a:solidFill>
              <a:srgbClr val="44795A"/>
            </a:solidFill>
            <a:prstDash val="solid"/>
          </a:ln>
        </p:spPr>
      </p:sp>
      <p:sp>
        <p:nvSpPr>
          <p:cNvPr id="25" name="Text 23"/>
          <p:cNvSpPr/>
          <p:nvPr/>
        </p:nvSpPr>
        <p:spPr>
          <a:xfrm>
            <a:off x="9194292" y="2103120"/>
            <a:ext cx="1298448"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Growth path</a:t>
            </a:r>
            <a:endParaRPr lang="en-US" sz="950" dirty="0"/>
          </a:p>
        </p:txBody>
      </p:sp>
      <p:sp>
        <p:nvSpPr>
          <p:cNvPr id="26" name="Text 24"/>
          <p:cNvSpPr/>
          <p:nvPr/>
        </p:nvSpPr>
        <p:spPr>
          <a:xfrm>
            <a:off x="9194292" y="2487168"/>
            <a:ext cx="2263140" cy="256032"/>
          </a:xfrm>
          <a:prstGeom prst="rect">
            <a:avLst/>
          </a:prstGeom>
          <a:noFill/>
          <a:ln/>
        </p:spPr>
        <p:txBody>
          <a:bodyPr wrap="square" lIns="0" tIns="0" rIns="0" bIns="0" rtlCol="0" anchor="ctr"/>
          <a:lstStyle/>
          <a:p>
            <a:pPr indent="0" marL="0">
              <a:buNone/>
            </a:pPr>
            <a:r>
              <a:rPr lang="en-US" sz="1050" b="1" dirty="0">
                <a:solidFill>
                  <a:srgbClr val="5E6980"/>
                </a:solidFill>
                <a:latin typeface="Calibri" pitchFamily="34" charset="0"/>
                <a:ea typeface="Calibri" pitchFamily="34" charset="-122"/>
                <a:cs typeface="Calibri" pitchFamily="34" charset="-120"/>
              </a:rPr>
              <a:t>Day 30</a:t>
            </a:r>
            <a:endParaRPr lang="en-US" sz="1050" dirty="0"/>
          </a:p>
        </p:txBody>
      </p:sp>
      <p:sp>
        <p:nvSpPr>
          <p:cNvPr id="27" name="Text 25"/>
          <p:cNvSpPr/>
          <p:nvPr/>
        </p:nvSpPr>
        <p:spPr>
          <a:xfrm>
            <a:off x="9194292" y="2761488"/>
            <a:ext cx="2263140" cy="603504"/>
          </a:xfrm>
          <a:prstGeom prst="rect">
            <a:avLst/>
          </a:prstGeom>
          <a:noFill/>
          <a:ln/>
        </p:spPr>
        <p:txBody>
          <a:bodyPr wrap="square" lIns="0" tIns="0" rIns="0" bIns="0" rtlCol="0" anchor="t"/>
          <a:lstStyle/>
          <a:p>
            <a:pPr indent="0" marL="0">
              <a:lnSpc>
                <a:spcPts val="1900"/>
              </a:lnSpc>
              <a:buNone/>
            </a:pPr>
            <a:r>
              <a:rPr lang="en-US" sz="1550" b="1" dirty="0">
                <a:solidFill>
                  <a:srgbClr val="2E5540"/>
                </a:solidFill>
                <a:latin typeface="Cambria" pitchFamily="34" charset="0"/>
                <a:ea typeface="Cambria" pitchFamily="34" charset="-122"/>
                <a:cs typeface="Cambria" pitchFamily="34" charset="-120"/>
              </a:rPr>
              <a:t>A visible road</a:t>
            </a:r>
            <a:endParaRPr lang="en-US" sz="1550" dirty="0"/>
          </a:p>
        </p:txBody>
      </p:sp>
      <p:sp>
        <p:nvSpPr>
          <p:cNvPr id="28" name="Text 26"/>
          <p:cNvSpPr/>
          <p:nvPr/>
        </p:nvSpPr>
        <p:spPr>
          <a:xfrm>
            <a:off x="9194292" y="3401568"/>
            <a:ext cx="2263140" cy="1280160"/>
          </a:xfrm>
          <a:prstGeom prst="rect">
            <a:avLst/>
          </a:prstGeom>
          <a:noFill/>
          <a:ln/>
        </p:spPr>
        <p:txBody>
          <a:bodyPr wrap="square" lIns="0" tIns="0" rIns="0" bIns="0" rtlCol="0" anchor="t"/>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Day-30 check-in tomorrow. Day 60 cross-training choice. Day 90 milestone and path picker. Two recovery days a week held.</a:t>
            </a:r>
            <a:endParaRPr lang="en-US" sz="1200" dirty="0"/>
          </a:p>
        </p:txBody>
      </p:sp>
      <p:sp>
        <p:nvSpPr>
          <p:cNvPr id="29" name="Text 27"/>
          <p:cNvSpPr/>
          <p:nvPr/>
        </p:nvSpPr>
        <p:spPr>
          <a:xfrm>
            <a:off x="566928" y="5138928"/>
            <a:ext cx="11055096" cy="457200"/>
          </a:xfrm>
          <a:prstGeom prst="rect">
            <a:avLst/>
          </a:prstGeom>
          <a:noFill/>
          <a:ln/>
        </p:spPr>
        <p:txBody>
          <a:bodyPr wrap="square" lIns="0" tIns="0" rIns="0" bIns="0" rtlCol="0" anchor="ctr"/>
          <a:lstStyle/>
          <a:p>
            <a:pPr indent="0" marL="0">
              <a:buNone/>
            </a:pPr>
            <a:r>
              <a:rPr lang="en-US" sz="1300" dirty="0">
                <a:solidFill>
                  <a:srgbClr val="1B2338"/>
                </a:solidFill>
                <a:latin typeface="Calibri" pitchFamily="34" charset="0"/>
                <a:ea typeface="Calibri" pitchFamily="34" charset="-122"/>
                <a:cs typeface="Calibri" pitchFamily="34" charset="-120"/>
              </a:rPr>
              <a:t>Four surfaces, one associate. Every plan in this deck is drawn the same way, so the room compares experiences and not adjectives.</a:t>
            </a:r>
            <a:endParaRPr lang="en-US" sz="1300" dirty="0"/>
          </a:p>
        </p:txBody>
      </p:sp>
      <p:sp>
        <p:nvSpPr>
          <p:cNvPr id="30" name="Text 28"/>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Illustrative dialogue, drafted to show intent. Not shipped UX copy.</a:t>
            </a:r>
            <a:endParaRPr lang="en-US" sz="1050" dirty="0"/>
          </a:p>
        </p:txBody>
      </p:sp>
      <p:sp>
        <p:nvSpPr>
          <p:cNvPr id="31" name="Text 29"/>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33B"/>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9AA8C2"/>
                </a:solidFill>
                <a:latin typeface="Calibri" pitchFamily="34" charset="0"/>
                <a:ea typeface="Calibri" pitchFamily="34" charset="-122"/>
                <a:cs typeface="Calibri" pitchFamily="34" charset="-120"/>
              </a:rPr>
              <a:t>HOW IT SENSES AND LEARNS</a:t>
            </a:r>
            <a:endParaRPr lang="en-US" sz="1100" dirty="0"/>
          </a:p>
        </p:txBody>
      </p:sp>
      <p:sp>
        <p:nvSpPr>
          <p:cNvPr id="4" name="Text 2"/>
          <p:cNvSpPr/>
          <p:nvPr/>
        </p:nvSpPr>
        <p:spPr>
          <a:xfrm>
            <a:off x="566928" y="749808"/>
            <a:ext cx="11055096" cy="1024128"/>
          </a:xfrm>
          <a:prstGeom prst="rect">
            <a:avLst/>
          </a:prstGeom>
          <a:noFill/>
          <a:ln/>
        </p:spPr>
        <p:txBody>
          <a:bodyPr wrap="square" lIns="0" tIns="0" rIns="0" bIns="0" rtlCol="0" anchor="t"/>
          <a:lstStyle/>
          <a:p>
            <a:pPr indent="0" marL="0">
              <a:lnSpc>
                <a:spcPts val="3304"/>
              </a:lnSpc>
              <a:buNone/>
            </a:pPr>
            <a:r>
              <a:rPr lang="en-US" sz="2800" b="1" dirty="0">
                <a:solidFill>
                  <a:srgbClr val="FFFFFF"/>
                </a:solidFill>
                <a:latin typeface="Cambria" pitchFamily="34" charset="0"/>
                <a:ea typeface="Cambria" pitchFamily="34" charset="-122"/>
                <a:cs typeface="Cambria" pitchFamily="34" charset="-120"/>
              </a:rPr>
              <a:t>Six cohort scores decide what fires, and a bandit learns what works per cohort.</a:t>
            </a:r>
            <a:endParaRPr lang="en-US" sz="2800" dirty="0"/>
          </a:p>
        </p:txBody>
      </p:sp>
      <p:sp>
        <p:nvSpPr>
          <p:cNvPr id="5" name="Shape 3"/>
          <p:cNvSpPr/>
          <p:nvPr/>
        </p:nvSpPr>
        <p:spPr>
          <a:xfrm>
            <a:off x="566928" y="1938528"/>
            <a:ext cx="11055096" cy="621792"/>
          </a:xfrm>
          <a:prstGeom prst="roundRect">
            <a:avLst>
              <a:gd name="adj" fmla="val 14706"/>
            </a:avLst>
          </a:prstGeom>
          <a:solidFill>
            <a:srgbClr val="2E4571"/>
          </a:solidFill>
          <a:ln w="12700">
            <a:solidFill>
              <a:srgbClr val="2E4571"/>
            </a:solidFill>
            <a:prstDash val="solid"/>
          </a:ln>
        </p:spPr>
      </p:sp>
      <p:sp>
        <p:nvSpPr>
          <p:cNvPr id="6" name="Shape 4"/>
          <p:cNvSpPr/>
          <p:nvPr/>
        </p:nvSpPr>
        <p:spPr>
          <a:xfrm>
            <a:off x="749808" y="2084832"/>
            <a:ext cx="475488" cy="329184"/>
          </a:xfrm>
          <a:prstGeom prst="roundRect">
            <a:avLst>
              <a:gd name="adj" fmla="val 22222"/>
            </a:avLst>
          </a:prstGeom>
          <a:solidFill>
            <a:srgbClr val="D9922B"/>
          </a:solidFill>
          <a:ln w="12700">
            <a:solidFill>
              <a:srgbClr val="D9922B"/>
            </a:solidFill>
            <a:prstDash val="solid"/>
          </a:ln>
        </p:spPr>
      </p:sp>
      <p:sp>
        <p:nvSpPr>
          <p:cNvPr id="7" name="Text 5"/>
          <p:cNvSpPr/>
          <p:nvPr/>
        </p:nvSpPr>
        <p:spPr>
          <a:xfrm>
            <a:off x="749808" y="2084832"/>
            <a:ext cx="475488" cy="329184"/>
          </a:xfrm>
          <a:prstGeom prst="rect">
            <a:avLst/>
          </a:prstGeom>
          <a:noFill/>
          <a:ln/>
        </p:spPr>
        <p:txBody>
          <a:bodyPr wrap="square" lIns="0" tIns="0" rIns="0" bIns="0" rtlCol="0" anchor="ctr"/>
          <a:lstStyle/>
          <a:p>
            <a:pPr algn="ctr" indent="0" marL="0">
              <a:buNone/>
            </a:pPr>
            <a:r>
              <a:rPr lang="en-US" sz="1100" b="1" dirty="0">
                <a:solidFill>
                  <a:srgbClr val="16233B"/>
                </a:solidFill>
                <a:latin typeface="Calibri" pitchFamily="34" charset="0"/>
                <a:ea typeface="Calibri" pitchFamily="34" charset="-122"/>
                <a:cs typeface="Calibri" pitchFamily="34" charset="-120"/>
              </a:rPr>
              <a:t>L5</a:t>
            </a:r>
            <a:endParaRPr lang="en-US" sz="1100" dirty="0"/>
          </a:p>
        </p:txBody>
      </p:sp>
      <p:sp>
        <p:nvSpPr>
          <p:cNvPr id="8" name="Text 6"/>
          <p:cNvSpPr/>
          <p:nvPr/>
        </p:nvSpPr>
        <p:spPr>
          <a:xfrm>
            <a:off x="1371600" y="2066544"/>
            <a:ext cx="265176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Roadmapping surface</a:t>
            </a:r>
            <a:endParaRPr lang="en-US" sz="1450" dirty="0"/>
          </a:p>
        </p:txBody>
      </p:sp>
      <p:sp>
        <p:nvSpPr>
          <p:cNvPr id="9" name="Text 7"/>
          <p:cNvSpPr/>
          <p:nvPr/>
        </p:nvSpPr>
        <p:spPr>
          <a:xfrm>
            <a:off x="4087368" y="2066544"/>
            <a:ext cx="7351776" cy="365760"/>
          </a:xfrm>
          <a:prstGeom prst="rect">
            <a:avLst/>
          </a:prstGeom>
          <a:noFill/>
          <a:ln/>
        </p:spPr>
        <p:txBody>
          <a:bodyPr wrap="square" lIns="0" tIns="0" rIns="0" bIns="0" rtlCol="0" anchor="ctr"/>
          <a:lstStyle/>
          <a:p>
            <a:pPr indent="0" marL="0">
              <a:buNone/>
            </a:pPr>
            <a:r>
              <a:rPr lang="en-US" sz="1150" dirty="0">
                <a:solidFill>
                  <a:srgbClr val="C9D4E6"/>
                </a:solidFill>
                <a:latin typeface="Calibri" pitchFamily="34" charset="0"/>
                <a:ea typeface="Calibri" pitchFamily="34" charset="-122"/>
                <a:cs typeface="Calibri" pitchFamily="34" charset="-120"/>
              </a:rPr>
              <a:t>Score, rank, and sequence every candidate against build cost</a:t>
            </a:r>
            <a:endParaRPr lang="en-US" sz="1150" dirty="0"/>
          </a:p>
        </p:txBody>
      </p:sp>
      <p:sp>
        <p:nvSpPr>
          <p:cNvPr id="10" name="Shape 8"/>
          <p:cNvSpPr/>
          <p:nvPr/>
        </p:nvSpPr>
        <p:spPr>
          <a:xfrm>
            <a:off x="566928" y="2660904"/>
            <a:ext cx="11055096" cy="621792"/>
          </a:xfrm>
          <a:prstGeom prst="roundRect">
            <a:avLst>
              <a:gd name="adj" fmla="val 14706"/>
            </a:avLst>
          </a:prstGeom>
          <a:solidFill>
            <a:srgbClr val="223558"/>
          </a:solidFill>
          <a:ln w="12700">
            <a:solidFill>
              <a:srgbClr val="223558"/>
            </a:solidFill>
            <a:prstDash val="solid"/>
          </a:ln>
        </p:spPr>
      </p:sp>
      <p:sp>
        <p:nvSpPr>
          <p:cNvPr id="11" name="Shape 9"/>
          <p:cNvSpPr/>
          <p:nvPr/>
        </p:nvSpPr>
        <p:spPr>
          <a:xfrm>
            <a:off x="749808" y="2807208"/>
            <a:ext cx="475488" cy="329184"/>
          </a:xfrm>
          <a:prstGeom prst="roundRect">
            <a:avLst>
              <a:gd name="adj" fmla="val 22222"/>
            </a:avLst>
          </a:prstGeom>
          <a:solidFill>
            <a:srgbClr val="D9922B"/>
          </a:solidFill>
          <a:ln w="12700">
            <a:solidFill>
              <a:srgbClr val="D9922B"/>
            </a:solidFill>
            <a:prstDash val="solid"/>
          </a:ln>
        </p:spPr>
      </p:sp>
      <p:sp>
        <p:nvSpPr>
          <p:cNvPr id="12" name="Text 10"/>
          <p:cNvSpPr/>
          <p:nvPr/>
        </p:nvSpPr>
        <p:spPr>
          <a:xfrm>
            <a:off x="749808" y="2807208"/>
            <a:ext cx="475488" cy="329184"/>
          </a:xfrm>
          <a:prstGeom prst="rect">
            <a:avLst/>
          </a:prstGeom>
          <a:noFill/>
          <a:ln/>
        </p:spPr>
        <p:txBody>
          <a:bodyPr wrap="square" lIns="0" tIns="0" rIns="0" bIns="0" rtlCol="0" anchor="ctr"/>
          <a:lstStyle/>
          <a:p>
            <a:pPr algn="ctr" indent="0" marL="0">
              <a:buNone/>
            </a:pPr>
            <a:r>
              <a:rPr lang="en-US" sz="1100" b="1" dirty="0">
                <a:solidFill>
                  <a:srgbClr val="16233B"/>
                </a:solidFill>
                <a:latin typeface="Calibri" pitchFamily="34" charset="0"/>
                <a:ea typeface="Calibri" pitchFamily="34" charset="-122"/>
                <a:cs typeface="Calibri" pitchFamily="34" charset="-120"/>
              </a:rPr>
              <a:t>L4</a:t>
            </a:r>
            <a:endParaRPr lang="en-US" sz="1100" dirty="0"/>
          </a:p>
        </p:txBody>
      </p:sp>
      <p:sp>
        <p:nvSpPr>
          <p:cNvPr id="13" name="Text 11"/>
          <p:cNvSpPr/>
          <p:nvPr/>
        </p:nvSpPr>
        <p:spPr>
          <a:xfrm>
            <a:off x="1371600" y="2788920"/>
            <a:ext cx="265176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Learning layer</a:t>
            </a:r>
            <a:endParaRPr lang="en-US" sz="1450" dirty="0"/>
          </a:p>
        </p:txBody>
      </p:sp>
      <p:sp>
        <p:nvSpPr>
          <p:cNvPr id="14" name="Text 12"/>
          <p:cNvSpPr/>
          <p:nvPr/>
        </p:nvSpPr>
        <p:spPr>
          <a:xfrm>
            <a:off x="4087368" y="2788920"/>
            <a:ext cx="7351776" cy="365760"/>
          </a:xfrm>
          <a:prstGeom prst="rect">
            <a:avLst/>
          </a:prstGeom>
          <a:noFill/>
          <a:ln/>
        </p:spPr>
        <p:txBody>
          <a:bodyPr wrap="square" lIns="0" tIns="0" rIns="0" bIns="0" rtlCol="0" anchor="ctr"/>
          <a:lstStyle/>
          <a:p>
            <a:pPr indent="0" marL="0">
              <a:buNone/>
            </a:pPr>
            <a:r>
              <a:rPr lang="en-US" sz="1150" dirty="0">
                <a:solidFill>
                  <a:srgbClr val="C9D4E6"/>
                </a:solidFill>
                <a:latin typeface="Calibri" pitchFamily="34" charset="0"/>
                <a:ea typeface="Calibri" pitchFamily="34" charset="-122"/>
                <a:cs typeface="Calibri" pitchFamily="34" charset="-120"/>
              </a:rPr>
              <a:t>Contextual bandit, Thompson sampling. Exploration scales with uncertainty</a:t>
            </a:r>
            <a:endParaRPr lang="en-US" sz="1150" dirty="0"/>
          </a:p>
        </p:txBody>
      </p:sp>
      <p:sp>
        <p:nvSpPr>
          <p:cNvPr id="15" name="Shape 13"/>
          <p:cNvSpPr/>
          <p:nvPr/>
        </p:nvSpPr>
        <p:spPr>
          <a:xfrm>
            <a:off x="566928" y="3383280"/>
            <a:ext cx="11055096" cy="621792"/>
          </a:xfrm>
          <a:prstGeom prst="roundRect">
            <a:avLst>
              <a:gd name="adj" fmla="val 14706"/>
            </a:avLst>
          </a:prstGeom>
          <a:solidFill>
            <a:srgbClr val="1F3050"/>
          </a:solidFill>
          <a:ln w="12700">
            <a:solidFill>
              <a:srgbClr val="1F3050"/>
            </a:solidFill>
            <a:prstDash val="solid"/>
          </a:ln>
        </p:spPr>
      </p:sp>
      <p:sp>
        <p:nvSpPr>
          <p:cNvPr id="16" name="Shape 14"/>
          <p:cNvSpPr/>
          <p:nvPr/>
        </p:nvSpPr>
        <p:spPr>
          <a:xfrm>
            <a:off x="749808" y="3529584"/>
            <a:ext cx="475488" cy="329184"/>
          </a:xfrm>
          <a:prstGeom prst="roundRect">
            <a:avLst>
              <a:gd name="adj" fmla="val 22222"/>
            </a:avLst>
          </a:prstGeom>
          <a:solidFill>
            <a:srgbClr val="D9922B"/>
          </a:solidFill>
          <a:ln w="12700">
            <a:solidFill>
              <a:srgbClr val="D9922B"/>
            </a:solidFill>
            <a:prstDash val="solid"/>
          </a:ln>
        </p:spPr>
      </p:sp>
      <p:sp>
        <p:nvSpPr>
          <p:cNvPr id="17" name="Text 15"/>
          <p:cNvSpPr/>
          <p:nvPr/>
        </p:nvSpPr>
        <p:spPr>
          <a:xfrm>
            <a:off x="749808" y="3529584"/>
            <a:ext cx="475488" cy="329184"/>
          </a:xfrm>
          <a:prstGeom prst="rect">
            <a:avLst/>
          </a:prstGeom>
          <a:noFill/>
          <a:ln/>
        </p:spPr>
        <p:txBody>
          <a:bodyPr wrap="square" lIns="0" tIns="0" rIns="0" bIns="0" rtlCol="0" anchor="ctr"/>
          <a:lstStyle/>
          <a:p>
            <a:pPr algn="ctr" indent="0" marL="0">
              <a:buNone/>
            </a:pPr>
            <a:r>
              <a:rPr lang="en-US" sz="1100" b="1" dirty="0">
                <a:solidFill>
                  <a:srgbClr val="16233B"/>
                </a:solidFill>
                <a:latin typeface="Calibri" pitchFamily="34" charset="0"/>
                <a:ea typeface="Calibri" pitchFamily="34" charset="-122"/>
                <a:cs typeface="Calibri" pitchFamily="34" charset="-120"/>
              </a:rPr>
              <a:t>L3</a:t>
            </a:r>
            <a:endParaRPr lang="en-US" sz="1100" dirty="0"/>
          </a:p>
        </p:txBody>
      </p:sp>
      <p:sp>
        <p:nvSpPr>
          <p:cNvPr id="18" name="Text 16"/>
          <p:cNvSpPr/>
          <p:nvPr/>
        </p:nvSpPr>
        <p:spPr>
          <a:xfrm>
            <a:off x="1371600" y="3511296"/>
            <a:ext cx="265176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Decision layer</a:t>
            </a:r>
            <a:endParaRPr lang="en-US" sz="1450" dirty="0"/>
          </a:p>
        </p:txBody>
      </p:sp>
      <p:sp>
        <p:nvSpPr>
          <p:cNvPr id="19" name="Text 17"/>
          <p:cNvSpPr/>
          <p:nvPr/>
        </p:nvSpPr>
        <p:spPr>
          <a:xfrm>
            <a:off x="4087368" y="3511296"/>
            <a:ext cx="7351776" cy="365760"/>
          </a:xfrm>
          <a:prstGeom prst="rect">
            <a:avLst/>
          </a:prstGeom>
          <a:noFill/>
          <a:ln/>
        </p:spPr>
        <p:txBody>
          <a:bodyPr wrap="square" lIns="0" tIns="0" rIns="0" bIns="0" rtlCol="0" anchor="ctr"/>
          <a:lstStyle/>
          <a:p>
            <a:pPr indent="0" marL="0">
              <a:buNone/>
            </a:pPr>
            <a:r>
              <a:rPr lang="en-US" sz="1150" dirty="0">
                <a:solidFill>
                  <a:srgbClr val="C9D4E6"/>
                </a:solidFill>
                <a:latin typeface="Calibri" pitchFamily="34" charset="0"/>
                <a:ea typeface="Calibri" pitchFamily="34" charset="-122"/>
                <a:cs typeface="Calibri" pitchFamily="34" charset="-120"/>
              </a:rPr>
              <a:t>Friction 65 or higher fires alerts. Wellbeing 40 or lower offers recovery</a:t>
            </a:r>
            <a:endParaRPr lang="en-US" sz="1150" dirty="0"/>
          </a:p>
        </p:txBody>
      </p:sp>
      <p:sp>
        <p:nvSpPr>
          <p:cNvPr id="20" name="Shape 18"/>
          <p:cNvSpPr/>
          <p:nvPr/>
        </p:nvSpPr>
        <p:spPr>
          <a:xfrm>
            <a:off x="566928" y="4105656"/>
            <a:ext cx="11055096" cy="621792"/>
          </a:xfrm>
          <a:prstGeom prst="roundRect">
            <a:avLst>
              <a:gd name="adj" fmla="val 14706"/>
            </a:avLst>
          </a:prstGeom>
          <a:solidFill>
            <a:srgbClr val="223558"/>
          </a:solidFill>
          <a:ln w="12700">
            <a:solidFill>
              <a:srgbClr val="223558"/>
            </a:solidFill>
            <a:prstDash val="solid"/>
          </a:ln>
        </p:spPr>
      </p:sp>
      <p:sp>
        <p:nvSpPr>
          <p:cNvPr id="21" name="Shape 19"/>
          <p:cNvSpPr/>
          <p:nvPr/>
        </p:nvSpPr>
        <p:spPr>
          <a:xfrm>
            <a:off x="749808" y="4251960"/>
            <a:ext cx="475488" cy="329184"/>
          </a:xfrm>
          <a:prstGeom prst="roundRect">
            <a:avLst>
              <a:gd name="adj" fmla="val 22222"/>
            </a:avLst>
          </a:prstGeom>
          <a:solidFill>
            <a:srgbClr val="D9922B"/>
          </a:solidFill>
          <a:ln w="12700">
            <a:solidFill>
              <a:srgbClr val="D9922B"/>
            </a:solidFill>
            <a:prstDash val="solid"/>
          </a:ln>
        </p:spPr>
      </p:sp>
      <p:sp>
        <p:nvSpPr>
          <p:cNvPr id="22" name="Text 20"/>
          <p:cNvSpPr/>
          <p:nvPr/>
        </p:nvSpPr>
        <p:spPr>
          <a:xfrm>
            <a:off x="749808" y="4251960"/>
            <a:ext cx="475488" cy="329184"/>
          </a:xfrm>
          <a:prstGeom prst="rect">
            <a:avLst/>
          </a:prstGeom>
          <a:noFill/>
          <a:ln/>
        </p:spPr>
        <p:txBody>
          <a:bodyPr wrap="square" lIns="0" tIns="0" rIns="0" bIns="0" rtlCol="0" anchor="ctr"/>
          <a:lstStyle/>
          <a:p>
            <a:pPr algn="ctr" indent="0" marL="0">
              <a:buNone/>
            </a:pPr>
            <a:r>
              <a:rPr lang="en-US" sz="1100" b="1" dirty="0">
                <a:solidFill>
                  <a:srgbClr val="16233B"/>
                </a:solidFill>
                <a:latin typeface="Calibri" pitchFamily="34" charset="0"/>
                <a:ea typeface="Calibri" pitchFamily="34" charset="-122"/>
                <a:cs typeface="Calibri" pitchFamily="34" charset="-120"/>
              </a:rPr>
              <a:t>L2</a:t>
            </a:r>
            <a:endParaRPr lang="en-US" sz="1100" dirty="0"/>
          </a:p>
        </p:txBody>
      </p:sp>
      <p:sp>
        <p:nvSpPr>
          <p:cNvPr id="23" name="Text 21"/>
          <p:cNvSpPr/>
          <p:nvPr/>
        </p:nvSpPr>
        <p:spPr>
          <a:xfrm>
            <a:off x="1371600" y="4233672"/>
            <a:ext cx="265176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Cohort scores</a:t>
            </a:r>
            <a:endParaRPr lang="en-US" sz="1450" dirty="0"/>
          </a:p>
        </p:txBody>
      </p:sp>
      <p:sp>
        <p:nvSpPr>
          <p:cNvPr id="24" name="Text 22"/>
          <p:cNvSpPr/>
          <p:nvPr/>
        </p:nvSpPr>
        <p:spPr>
          <a:xfrm>
            <a:off x="4087368" y="4233672"/>
            <a:ext cx="7351776" cy="365760"/>
          </a:xfrm>
          <a:prstGeom prst="rect">
            <a:avLst/>
          </a:prstGeom>
          <a:noFill/>
          <a:ln/>
        </p:spPr>
        <p:txBody>
          <a:bodyPr wrap="square" lIns="0" tIns="0" rIns="0" bIns="0" rtlCol="0" anchor="ctr"/>
          <a:lstStyle/>
          <a:p>
            <a:pPr indent="0" marL="0">
              <a:buNone/>
            </a:pPr>
            <a:r>
              <a:rPr lang="en-US" sz="1150" dirty="0">
                <a:solidFill>
                  <a:srgbClr val="C9D4E6"/>
                </a:solidFill>
                <a:latin typeface="Calibri" pitchFamily="34" charset="0"/>
                <a:ea typeface="Calibri" pitchFamily="34" charset="-122"/>
                <a:cs typeface="Calibri" pitchFamily="34" charset="-120"/>
              </a:rPr>
              <a:t>Friction · engagement · retention-risk · growth-readiness · trust · wellbeing</a:t>
            </a:r>
            <a:endParaRPr lang="en-US" sz="1150" dirty="0"/>
          </a:p>
        </p:txBody>
      </p:sp>
      <p:sp>
        <p:nvSpPr>
          <p:cNvPr id="25" name="Shape 23"/>
          <p:cNvSpPr/>
          <p:nvPr/>
        </p:nvSpPr>
        <p:spPr>
          <a:xfrm>
            <a:off x="566928" y="4828032"/>
            <a:ext cx="11055096" cy="621792"/>
          </a:xfrm>
          <a:prstGeom prst="roundRect">
            <a:avLst>
              <a:gd name="adj" fmla="val 14706"/>
            </a:avLst>
          </a:prstGeom>
          <a:solidFill>
            <a:srgbClr val="1F3050"/>
          </a:solidFill>
          <a:ln w="12700">
            <a:solidFill>
              <a:srgbClr val="1F3050"/>
            </a:solidFill>
            <a:prstDash val="solid"/>
          </a:ln>
        </p:spPr>
      </p:sp>
      <p:sp>
        <p:nvSpPr>
          <p:cNvPr id="26" name="Shape 24"/>
          <p:cNvSpPr/>
          <p:nvPr/>
        </p:nvSpPr>
        <p:spPr>
          <a:xfrm>
            <a:off x="749808" y="4974336"/>
            <a:ext cx="475488" cy="329184"/>
          </a:xfrm>
          <a:prstGeom prst="roundRect">
            <a:avLst>
              <a:gd name="adj" fmla="val 22222"/>
            </a:avLst>
          </a:prstGeom>
          <a:solidFill>
            <a:srgbClr val="D9922B"/>
          </a:solidFill>
          <a:ln w="12700">
            <a:solidFill>
              <a:srgbClr val="D9922B"/>
            </a:solidFill>
            <a:prstDash val="solid"/>
          </a:ln>
        </p:spPr>
      </p:sp>
      <p:sp>
        <p:nvSpPr>
          <p:cNvPr id="27" name="Text 25"/>
          <p:cNvSpPr/>
          <p:nvPr/>
        </p:nvSpPr>
        <p:spPr>
          <a:xfrm>
            <a:off x="749808" y="4974336"/>
            <a:ext cx="475488" cy="329184"/>
          </a:xfrm>
          <a:prstGeom prst="rect">
            <a:avLst/>
          </a:prstGeom>
          <a:noFill/>
          <a:ln/>
        </p:spPr>
        <p:txBody>
          <a:bodyPr wrap="square" lIns="0" tIns="0" rIns="0" bIns="0" rtlCol="0" anchor="ctr"/>
          <a:lstStyle/>
          <a:p>
            <a:pPr algn="ctr" indent="0" marL="0">
              <a:buNone/>
            </a:pPr>
            <a:r>
              <a:rPr lang="en-US" sz="1100" b="1" dirty="0">
                <a:solidFill>
                  <a:srgbClr val="16233B"/>
                </a:solidFill>
                <a:latin typeface="Calibri" pitchFamily="34" charset="0"/>
                <a:ea typeface="Calibri" pitchFamily="34" charset="-122"/>
                <a:cs typeface="Calibri" pitchFamily="34" charset="-120"/>
              </a:rPr>
              <a:t>L1</a:t>
            </a:r>
            <a:endParaRPr lang="en-US" sz="1100" dirty="0"/>
          </a:p>
        </p:txBody>
      </p:sp>
      <p:sp>
        <p:nvSpPr>
          <p:cNvPr id="28" name="Text 26"/>
          <p:cNvSpPr/>
          <p:nvPr/>
        </p:nvSpPr>
        <p:spPr>
          <a:xfrm>
            <a:off x="1371600" y="4956048"/>
            <a:ext cx="265176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Data inputs</a:t>
            </a:r>
            <a:endParaRPr lang="en-US" sz="1450" dirty="0"/>
          </a:p>
        </p:txBody>
      </p:sp>
      <p:sp>
        <p:nvSpPr>
          <p:cNvPr id="29" name="Text 27"/>
          <p:cNvSpPr/>
          <p:nvPr/>
        </p:nvSpPr>
        <p:spPr>
          <a:xfrm>
            <a:off x="4087368" y="4956048"/>
            <a:ext cx="7351776" cy="365760"/>
          </a:xfrm>
          <a:prstGeom prst="rect">
            <a:avLst/>
          </a:prstGeom>
          <a:noFill/>
          <a:ln/>
        </p:spPr>
        <p:txBody>
          <a:bodyPr wrap="square" lIns="0" tIns="0" rIns="0" bIns="0" rtlCol="0" anchor="ctr"/>
          <a:lstStyle/>
          <a:p>
            <a:pPr indent="0" marL="0">
              <a:buNone/>
            </a:pPr>
            <a:r>
              <a:rPr lang="en-US" sz="1150" dirty="0">
                <a:solidFill>
                  <a:srgbClr val="C9D4E6"/>
                </a:solidFill>
                <a:latin typeface="Calibri" pitchFamily="34" charset="0"/>
                <a:ea typeface="Calibri" pitchFamily="34" charset="-122"/>
                <a:cs typeface="Calibri" pitchFamily="34" charset="-120"/>
              </a:rPr>
              <a:t>Telemetry · voice of associate · field shifts · workforce · operational · competitive</a:t>
            </a:r>
            <a:endParaRPr lang="en-US" sz="1150" dirty="0"/>
          </a:p>
        </p:txBody>
      </p:sp>
      <p:sp>
        <p:nvSpPr>
          <p:cNvPr id="30" name="Text 28"/>
          <p:cNvSpPr/>
          <p:nvPr/>
        </p:nvSpPr>
        <p:spPr>
          <a:xfrm>
            <a:off x="566928" y="5596128"/>
            <a:ext cx="11055096" cy="566928"/>
          </a:xfrm>
          <a:prstGeom prst="rect">
            <a:avLst/>
          </a:prstGeom>
          <a:noFill/>
          <a:ln/>
        </p:spPr>
        <p:txBody>
          <a:bodyPr wrap="square" lIns="0" tIns="0" rIns="0" bIns="0" rtlCol="0" anchor="t"/>
          <a:lstStyle/>
          <a:p>
            <a:pPr indent="0" marL="0">
              <a:lnSpc>
                <a:spcPts val="1600"/>
              </a:lnSpc>
              <a:buNone/>
            </a:pPr>
            <a:r>
              <a:rPr lang="en-US" sz="1250" dirty="0">
                <a:solidFill>
                  <a:srgbClr val="D6DEEC"/>
                </a:solidFill>
                <a:latin typeface="Calibri" pitchFamily="34" charset="0"/>
                <a:ea typeface="Calibri" pitchFamily="34" charset="-122"/>
                <a:cs typeface="Calibri" pitchFamily="34" charset="-120"/>
              </a:rPr>
              <a:t>Scores are computed per cohort (role x shift x region x tenure), never per individual. Every learned policy exports in plain language: “cohort X responds best to Y,” reviewable by People teams.</a:t>
            </a:r>
            <a:endParaRPr lang="en-US" sz="1250" dirty="0"/>
          </a:p>
        </p:txBody>
      </p:sp>
      <p:sp>
        <p:nvSpPr>
          <p:cNvPr id="31" name="Text 29"/>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9AA8C2"/>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WHAT WOULD SINK THIS</a:t>
            </a:r>
            <a:endParaRPr lang="en-US" sz="1100" dirty="0"/>
          </a:p>
        </p:txBody>
      </p:sp>
      <p:sp>
        <p:nvSpPr>
          <p:cNvPr id="4" name="Text 2"/>
          <p:cNvSpPr/>
          <p:nvPr/>
        </p:nvSpPr>
        <p:spPr>
          <a:xfrm>
            <a:off x="566928" y="749808"/>
            <a:ext cx="11055096" cy="1024128"/>
          </a:xfrm>
          <a:prstGeom prst="rect">
            <a:avLst/>
          </a:prstGeom>
          <a:noFill/>
          <a:ln/>
        </p:spPr>
        <p:txBody>
          <a:bodyPr wrap="square" lIns="0" tIns="0" rIns="0" bIns="0" rtlCol="0" anchor="t"/>
          <a:lstStyle/>
          <a:p>
            <a:pPr indent="0" marL="0">
              <a:lnSpc>
                <a:spcPts val="3500"/>
              </a:lnSpc>
              <a:buNone/>
            </a:pPr>
            <a:r>
              <a:rPr lang="en-US" sz="3000" b="1" dirty="0">
                <a:solidFill>
                  <a:srgbClr val="1B2338"/>
                </a:solidFill>
                <a:latin typeface="Cambria" pitchFamily="34" charset="0"/>
                <a:ea typeface="Cambria" pitchFamily="34" charset="-122"/>
                <a:cs typeface="Cambria" pitchFamily="34" charset="-120"/>
              </a:rPr>
              <a:t>Four risks can sink this, and each has an owner and a trip wire.</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55096" cy="914400"/>
        </p:xfrm>
        <a:graphic>
          <a:graphicData uri="http://schemas.openxmlformats.org/drawingml/2006/table">
            <a:tbl>
              <a:tblPr/>
              <a:tblGrid>
                <a:gridCol w="2514600"/>
                <a:gridCol w="1371600"/>
                <a:gridCol w="2926080"/>
                <a:gridCol w="4242816"/>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Risk</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223558"/>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1623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Trip wire to watch</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1623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Mitigation</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16233B"/>
                    </a:solidFill>
                  </a:tcPr>
                </a:tc>
              </a:tr>
              <a:tr h="0">
                <a:tc>
                  <a:txBody>
                    <a:bodyPr/>
                    <a:lstStyle/>
                    <a:p>
                      <a:pPr indent="0" marL="0">
                        <a:buNone/>
                      </a:pPr>
                      <a:r>
                        <a:rPr lang="en-US" sz="1100" b="1" dirty="0">
                          <a:solidFill>
                            <a:srgbClr val="1B2338"/>
                          </a:solidFill>
                          <a:latin typeface="Calibri" pitchFamily="34" charset="0"/>
                          <a:ea typeface="Calibri" pitchFamily="34" charset="-122"/>
                          <a:cs typeface="Calibri" pitchFamily="34" charset="-120"/>
                        </a:rPr>
                        <a:t>Scoring reads as surveillance</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Product + HR</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Associate sentiment drops in pilot stores versus control</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Associates see their own signals, framed as growth, never as a hidden risk label. Opt-out available.</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100" b="1" dirty="0">
                          <a:solidFill>
                            <a:srgbClr val="1B2338"/>
                          </a:solidFill>
                          <a:latin typeface="Calibri" pitchFamily="34" charset="0"/>
                          <a:ea typeface="Calibri" pitchFamily="34" charset="-122"/>
                          <a:cs typeface="Calibri" pitchFamily="34" charset="-120"/>
                        </a:rPr>
                        <a:t>Bandit optimizes its own metric</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Data science</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Engagement climbs while 90-day retention stays flat</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Reward is a leading indicator validated against 90-day retention in permanent holdout groups.</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100" b="1" dirty="0">
                          <a:solidFill>
                            <a:srgbClr val="1B2338"/>
                          </a:solidFill>
                          <a:latin typeface="Calibri" pitchFamily="34" charset="0"/>
                          <a:ea typeface="Calibri" pitchFamily="34" charset="-122"/>
                          <a:cs typeface="Calibri" pitchFamily="34" charset="-120"/>
                        </a:rPr>
                        <a:t>Retention is multi-causal</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Product</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Control stores move with the pilot stores</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Claim only the app's share. Matched pairs and a pre-registered north star.</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100" b="1" dirty="0">
                          <a:solidFill>
                            <a:srgbClr val="1B2338"/>
                          </a:solidFill>
                          <a:latin typeface="Calibri" pitchFamily="34" charset="0"/>
                          <a:ea typeface="Calibri" pitchFamily="34" charset="-122"/>
                          <a:cs typeface="Calibri" pitchFamily="34" charset="-120"/>
                        </a:rPr>
                        <a:t>Wrong write to a system of record</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Engineering</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Any incorrect scheduling or pay action, at any volume</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Strictest grounding tier on pay, benefits, and scheduling. A lead approves before commit.</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bl>
          </a:graphicData>
        </a:graphic>
      </p:graphicFrame>
      <p:sp>
        <p:nvSpPr>
          <p:cNvPr id="6" name="Shape 3"/>
          <p:cNvSpPr/>
          <p:nvPr/>
        </p:nvSpPr>
        <p:spPr>
          <a:xfrm>
            <a:off x="566928" y="4645152"/>
            <a:ext cx="11055096" cy="749808"/>
          </a:xfrm>
          <a:prstGeom prst="roundRect">
            <a:avLst>
              <a:gd name="adj" fmla="val 14634"/>
            </a:avLst>
          </a:prstGeom>
          <a:solidFill>
            <a:srgbClr val="F5E2DF"/>
          </a:solidFill>
          <a:ln w="12700">
            <a:solidFill>
              <a:srgbClr val="F5E2DF"/>
            </a:solidFill>
            <a:prstDash val="solid"/>
          </a:ln>
        </p:spPr>
      </p:sp>
      <p:sp>
        <p:nvSpPr>
          <p:cNvPr id="7" name="Text 4"/>
          <p:cNvSpPr/>
          <p:nvPr/>
        </p:nvSpPr>
        <p:spPr>
          <a:xfrm>
            <a:off x="786384" y="4681728"/>
            <a:ext cx="10616184" cy="676656"/>
          </a:xfrm>
          <a:prstGeom prst="rect">
            <a:avLst/>
          </a:prstGeom>
          <a:noFill/>
          <a:ln/>
        </p:spPr>
        <p:txBody>
          <a:bodyPr wrap="square" lIns="0" tIns="0" rIns="0" bIns="0" rtlCol="0" anchor="ctr"/>
          <a:lstStyle/>
          <a:p>
            <a:pPr indent="0" marL="0">
              <a:lnSpc>
                <a:spcPts val="1500"/>
              </a:lnSpc>
              <a:buNone/>
            </a:pPr>
            <a:r>
              <a:rPr lang="en-US" sz="1200" dirty="0">
                <a:solidFill>
                  <a:srgbClr val="7A322A"/>
                </a:solidFill>
                <a:latin typeface="Calibri" pitchFamily="34" charset="0"/>
                <a:ea typeface="Calibri" pitchFamily="34" charset="-122"/>
                <a:cs typeface="Calibri" pitchFamily="34" charset="-120"/>
              </a:rPr>
              <a:t>Said out loud: gift cards, bonuses, and stock are taxable compensation. That is payroll integration, not an app feature. Sweepstakes carry their own legal regime, and every reward tier ships with an equity audit.</a:t>
            </a:r>
            <a:endParaRPr lang="en-US" sz="1200" dirty="0"/>
          </a:p>
        </p:txBody>
      </p:sp>
      <p:sp>
        <p:nvSpPr>
          <p:cNvPr id="8" name="Text 5"/>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33B"/>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9AA8C2"/>
                </a:solidFill>
                <a:latin typeface="Calibri" pitchFamily="34" charset="0"/>
                <a:ea typeface="Calibri" pitchFamily="34" charset="-122"/>
                <a:cs typeface="Calibri" pitchFamily="34" charset="-120"/>
              </a:rPr>
              <a:t>DECISION REQUESTED TODAY</a:t>
            </a:r>
            <a:endParaRPr lang="en-US" sz="1100" dirty="0"/>
          </a:p>
        </p:txBody>
      </p:sp>
      <p:sp>
        <p:nvSpPr>
          <p:cNvPr id="4" name="Text 2"/>
          <p:cNvSpPr/>
          <p:nvPr/>
        </p:nvSpPr>
        <p:spPr>
          <a:xfrm>
            <a:off x="566928" y="749808"/>
            <a:ext cx="11055096" cy="1024128"/>
          </a:xfrm>
          <a:prstGeom prst="rect">
            <a:avLst/>
          </a:prstGeom>
          <a:noFill/>
          <a:ln/>
        </p:spPr>
        <p:txBody>
          <a:bodyPr wrap="square" lIns="0" tIns="0" rIns="0" bIns="0" rtlCol="0" anchor="t"/>
          <a:lstStyle/>
          <a:p>
            <a:pPr indent="0" marL="0">
              <a:lnSpc>
                <a:spcPts val="3540"/>
              </a:lnSpc>
              <a:buNone/>
            </a:pPr>
            <a:r>
              <a:rPr lang="en-US" sz="3000" b="1" dirty="0">
                <a:solidFill>
                  <a:srgbClr val="FFFFFF"/>
                </a:solidFill>
                <a:latin typeface="Cambria" pitchFamily="34" charset="0"/>
                <a:ea typeface="Cambria" pitchFamily="34" charset="-122"/>
                <a:cs typeface="Cambria" pitchFamily="34" charset="-120"/>
              </a:rPr>
              <a:t>Two weeks, 40 stores, one pod, and a date on the calendar.</a:t>
            </a:r>
            <a:endParaRPr lang="en-US" sz="3000" dirty="0"/>
          </a:p>
        </p:txBody>
      </p:sp>
      <p:sp>
        <p:nvSpPr>
          <p:cNvPr id="5" name="Shape 3"/>
          <p:cNvSpPr/>
          <p:nvPr/>
        </p:nvSpPr>
        <p:spPr>
          <a:xfrm>
            <a:off x="566928" y="1874520"/>
            <a:ext cx="11055096" cy="2084832"/>
          </a:xfrm>
          <a:prstGeom prst="roundRect">
            <a:avLst>
              <a:gd name="adj" fmla="val 5263"/>
            </a:avLst>
          </a:prstGeom>
          <a:solidFill>
            <a:srgbClr val="223558"/>
          </a:solidFill>
          <a:ln w="12700">
            <a:solidFill>
              <a:srgbClr val="223558"/>
            </a:solidFill>
            <a:prstDash val="solid"/>
          </a:ln>
        </p:spPr>
      </p:sp>
      <p:sp>
        <p:nvSpPr>
          <p:cNvPr id="6" name="Text 4"/>
          <p:cNvSpPr/>
          <p:nvPr/>
        </p:nvSpPr>
        <p:spPr>
          <a:xfrm>
            <a:off x="841248" y="2029968"/>
            <a:ext cx="1828800" cy="292608"/>
          </a:xfrm>
          <a:prstGeom prst="rect">
            <a:avLst/>
          </a:prstGeom>
          <a:noFill/>
          <a:ln/>
        </p:spPr>
        <p:txBody>
          <a:bodyPr wrap="square" lIns="0" tIns="0" rIns="0" bIns="0" rtlCol="0" anchor="ctr"/>
          <a:lstStyle/>
          <a:p>
            <a:pPr indent="0" marL="0">
              <a:buNone/>
            </a:pPr>
            <a:r>
              <a:rPr lang="en-US" sz="1100" b="1" spc="160" kern="0" dirty="0">
                <a:solidFill>
                  <a:srgbClr val="D9922B"/>
                </a:solidFill>
                <a:latin typeface="Calibri" pitchFamily="34" charset="0"/>
                <a:ea typeface="Calibri" pitchFamily="34" charset="-122"/>
                <a:cs typeface="Calibri" pitchFamily="34" charset="-120"/>
              </a:rPr>
              <a:t>APPROVE</a:t>
            </a:r>
            <a:endParaRPr lang="en-US" sz="1100" dirty="0"/>
          </a:p>
        </p:txBody>
      </p:sp>
      <p:sp>
        <p:nvSpPr>
          <p:cNvPr id="7" name="Text 5"/>
          <p:cNvSpPr/>
          <p:nvPr/>
        </p:nvSpPr>
        <p:spPr>
          <a:xfrm>
            <a:off x="841248" y="2322576"/>
            <a:ext cx="10506456" cy="420624"/>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 2-week discovery sprint, then a 90-day pilot.</a:t>
            </a:r>
            <a:endParaRPr lang="en-US" sz="2100" dirty="0"/>
          </a:p>
        </p:txBody>
      </p:sp>
      <p:sp>
        <p:nvSpPr>
          <p:cNvPr id="8" name="Text 6"/>
          <p:cNvSpPr/>
          <p:nvPr/>
        </p:nvSpPr>
        <p:spPr>
          <a:xfrm>
            <a:off x="841248" y="2834640"/>
            <a:ext cx="3319272" cy="256032"/>
          </a:xfrm>
          <a:prstGeom prst="rect">
            <a:avLst/>
          </a:prstGeom>
          <a:noFill/>
          <a:ln/>
        </p:spPr>
        <p:txBody>
          <a:bodyPr wrap="square" lIns="0" tIns="0" rIns="0" bIns="0" rtlCol="0" anchor="ctr"/>
          <a:lstStyle/>
          <a:p>
            <a:pPr indent="0" marL="0">
              <a:buNone/>
            </a:pPr>
            <a:r>
              <a:rPr lang="en-US" sz="950" b="1" spc="120" kern="0" dirty="0">
                <a:solidFill>
                  <a:srgbClr val="9AA8C2"/>
                </a:solidFill>
                <a:latin typeface="Calibri" pitchFamily="34" charset="0"/>
                <a:ea typeface="Calibri" pitchFamily="34" charset="-122"/>
                <a:cs typeface="Calibri" pitchFamily="34" charset="-120"/>
              </a:rPr>
              <a:t>FOOTPRINT</a:t>
            </a:r>
            <a:endParaRPr lang="en-US" sz="950" dirty="0"/>
          </a:p>
        </p:txBody>
      </p:sp>
      <p:sp>
        <p:nvSpPr>
          <p:cNvPr id="9" name="Text 7"/>
          <p:cNvSpPr/>
          <p:nvPr/>
        </p:nvSpPr>
        <p:spPr>
          <a:xfrm>
            <a:off x="841248" y="3090672"/>
            <a:ext cx="3319272" cy="731520"/>
          </a:xfrm>
          <a:prstGeom prst="rect">
            <a:avLst/>
          </a:prstGeom>
          <a:noFill/>
          <a:ln/>
        </p:spPr>
        <p:txBody>
          <a:bodyPr wrap="square" lIns="0" tIns="0" rIns="0" bIns="0" rtlCol="0" anchor="t"/>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20 pilot stores and 20 matched control stores</a:t>
            </a:r>
            <a:endParaRPr lang="en-US" sz="1300" dirty="0"/>
          </a:p>
        </p:txBody>
      </p:sp>
      <p:sp>
        <p:nvSpPr>
          <p:cNvPr id="10" name="Text 8"/>
          <p:cNvSpPr/>
          <p:nvPr/>
        </p:nvSpPr>
        <p:spPr>
          <a:xfrm>
            <a:off x="4434840" y="2834640"/>
            <a:ext cx="3319272" cy="256032"/>
          </a:xfrm>
          <a:prstGeom prst="rect">
            <a:avLst/>
          </a:prstGeom>
          <a:noFill/>
          <a:ln/>
        </p:spPr>
        <p:txBody>
          <a:bodyPr wrap="square" lIns="0" tIns="0" rIns="0" bIns="0" rtlCol="0" anchor="ctr"/>
          <a:lstStyle/>
          <a:p>
            <a:pPr indent="0" marL="0">
              <a:buNone/>
            </a:pPr>
            <a:r>
              <a:rPr lang="en-US" sz="950" b="1" spc="120" kern="0" dirty="0">
                <a:solidFill>
                  <a:srgbClr val="9AA8C2"/>
                </a:solidFill>
                <a:latin typeface="Calibri" pitchFamily="34" charset="0"/>
                <a:ea typeface="Calibri" pitchFamily="34" charset="-122"/>
                <a:cs typeface="Calibri" pitchFamily="34" charset="-120"/>
              </a:rPr>
              <a:t>TEAM</a:t>
            </a:r>
            <a:endParaRPr lang="en-US" sz="950" dirty="0"/>
          </a:p>
        </p:txBody>
      </p:sp>
      <p:sp>
        <p:nvSpPr>
          <p:cNvPr id="11" name="Text 9"/>
          <p:cNvSpPr/>
          <p:nvPr/>
        </p:nvSpPr>
        <p:spPr>
          <a:xfrm>
            <a:off x="4434840" y="3090672"/>
            <a:ext cx="3319272" cy="731520"/>
          </a:xfrm>
          <a:prstGeom prst="rect">
            <a:avLst/>
          </a:prstGeom>
          <a:noFill/>
          <a:ln/>
        </p:spPr>
        <p:txBody>
          <a:bodyPr wrap="square" lIns="0" tIns="0" rIns="0" bIns="0" rtlCol="0" anchor="t"/>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1 data-science pod, [N] engineers.</a:t>
            </a:r>
            <a:endParaRPr lang="en-US" sz="1300" dirty="0"/>
          </a:p>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Owner: [PM name]</a:t>
            </a:r>
            <a:endParaRPr lang="en-US" sz="1300" dirty="0"/>
          </a:p>
        </p:txBody>
      </p:sp>
      <p:sp>
        <p:nvSpPr>
          <p:cNvPr id="12" name="Text 10"/>
          <p:cNvSpPr/>
          <p:nvPr/>
        </p:nvSpPr>
        <p:spPr>
          <a:xfrm>
            <a:off x="8028432" y="2834640"/>
            <a:ext cx="3319272" cy="256032"/>
          </a:xfrm>
          <a:prstGeom prst="rect">
            <a:avLst/>
          </a:prstGeom>
          <a:noFill/>
          <a:ln/>
        </p:spPr>
        <p:txBody>
          <a:bodyPr wrap="square" lIns="0" tIns="0" rIns="0" bIns="0" rtlCol="0" anchor="ctr"/>
          <a:lstStyle/>
          <a:p>
            <a:pPr indent="0" marL="0">
              <a:buNone/>
            </a:pPr>
            <a:r>
              <a:rPr lang="en-US" sz="950" b="1" spc="120" kern="0" dirty="0">
                <a:solidFill>
                  <a:srgbClr val="9AA8C2"/>
                </a:solidFill>
                <a:latin typeface="Calibri" pitchFamily="34" charset="0"/>
                <a:ea typeface="Calibri" pitchFamily="34" charset="-122"/>
                <a:cs typeface="Calibri" pitchFamily="34" charset="-120"/>
              </a:rPr>
              <a:t>MONEY AND DATES</a:t>
            </a:r>
            <a:endParaRPr lang="en-US" sz="950" dirty="0"/>
          </a:p>
        </p:txBody>
      </p:sp>
      <p:sp>
        <p:nvSpPr>
          <p:cNvPr id="13" name="Text 11"/>
          <p:cNvSpPr/>
          <p:nvPr/>
        </p:nvSpPr>
        <p:spPr>
          <a:xfrm>
            <a:off x="8028432" y="3090672"/>
            <a:ext cx="3319272" cy="731520"/>
          </a:xfrm>
          <a:prstGeom prst="rect">
            <a:avLst/>
          </a:prstGeom>
          <a:noFill/>
          <a:ln/>
        </p:spPr>
        <p:txBody>
          <a:bodyPr wrap="square" lIns="0" tIns="0" rIns="0" bIns="0" rtlCol="0" anchor="t"/>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Budget: $[amount]</a:t>
            </a:r>
            <a:endParaRPr lang="en-US" sz="1300" dirty="0"/>
          </a:p>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Start: [date]   Gate: day 90</a:t>
            </a:r>
            <a:endParaRPr lang="en-US" sz="1300" dirty="0"/>
          </a:p>
        </p:txBody>
      </p:sp>
      <p:sp>
        <p:nvSpPr>
          <p:cNvPr id="14" name="Shape 12"/>
          <p:cNvSpPr/>
          <p:nvPr/>
        </p:nvSpPr>
        <p:spPr>
          <a:xfrm>
            <a:off x="566928" y="4160520"/>
            <a:ext cx="3502152" cy="1371600"/>
          </a:xfrm>
          <a:prstGeom prst="roundRect">
            <a:avLst>
              <a:gd name="adj" fmla="val 8000"/>
            </a:avLst>
          </a:prstGeom>
          <a:solidFill>
            <a:srgbClr val="1F3050"/>
          </a:solidFill>
          <a:ln w="12700">
            <a:solidFill>
              <a:srgbClr val="1F3050"/>
            </a:solidFill>
            <a:prstDash val="solid"/>
          </a:ln>
        </p:spPr>
      </p:sp>
      <p:sp>
        <p:nvSpPr>
          <p:cNvPr id="15" name="Shape 13"/>
          <p:cNvSpPr/>
          <p:nvPr/>
        </p:nvSpPr>
        <p:spPr>
          <a:xfrm>
            <a:off x="786384" y="4379976"/>
            <a:ext cx="182880" cy="182880"/>
          </a:xfrm>
          <a:prstGeom prst="ellipse">
            <a:avLst/>
          </a:prstGeom>
          <a:solidFill>
            <a:srgbClr val="44795A"/>
          </a:solidFill>
          <a:ln w="12700">
            <a:solidFill>
              <a:srgbClr val="44795A"/>
            </a:solidFill>
            <a:prstDash val="solid"/>
          </a:ln>
        </p:spPr>
      </p:sp>
      <p:sp>
        <p:nvSpPr>
          <p:cNvPr id="16" name="Text 14"/>
          <p:cNvSpPr/>
          <p:nvPr/>
        </p:nvSpPr>
        <p:spPr>
          <a:xfrm>
            <a:off x="1060704" y="4325112"/>
            <a:ext cx="278892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Scale if</a:t>
            </a:r>
            <a:endParaRPr lang="en-US" sz="1500" dirty="0"/>
          </a:p>
        </p:txBody>
      </p:sp>
      <p:sp>
        <p:nvSpPr>
          <p:cNvPr id="17" name="Text 15"/>
          <p:cNvSpPr/>
          <p:nvPr/>
        </p:nvSpPr>
        <p:spPr>
          <a:xfrm>
            <a:off x="786384" y="4727448"/>
            <a:ext cx="3063240" cy="749808"/>
          </a:xfrm>
          <a:prstGeom prst="rect">
            <a:avLst/>
          </a:prstGeom>
          <a:noFill/>
          <a:ln/>
        </p:spPr>
        <p:txBody>
          <a:bodyPr wrap="square" lIns="0" tIns="0" rIns="0" bIns="0" rtlCol="0" anchor="t"/>
          <a:lstStyle/>
          <a:p>
            <a:pPr indent="0" marL="0">
              <a:lnSpc>
                <a:spcPts val="1500"/>
              </a:lnSpc>
              <a:buNone/>
            </a:pPr>
            <a:r>
              <a:rPr lang="en-US" sz="1150" dirty="0">
                <a:solidFill>
                  <a:srgbClr val="C9D4E6"/>
                </a:solidFill>
                <a:latin typeface="Calibri" pitchFamily="34" charset="0"/>
                <a:ea typeface="Calibri" pitchFamily="34" charset="-122"/>
                <a:cs typeface="Calibri" pitchFamily="34" charset="-120"/>
              </a:rPr>
              <a:t>90-day retention in pilot stores beats matched controls by 2 points or more, on the pre-registered north star.</a:t>
            </a:r>
            <a:endParaRPr lang="en-US" sz="1150" dirty="0"/>
          </a:p>
        </p:txBody>
      </p:sp>
      <p:sp>
        <p:nvSpPr>
          <p:cNvPr id="18" name="Shape 16"/>
          <p:cNvSpPr/>
          <p:nvPr/>
        </p:nvSpPr>
        <p:spPr>
          <a:xfrm>
            <a:off x="4343400" y="4160520"/>
            <a:ext cx="3502152" cy="1371600"/>
          </a:xfrm>
          <a:prstGeom prst="roundRect">
            <a:avLst>
              <a:gd name="adj" fmla="val 8000"/>
            </a:avLst>
          </a:prstGeom>
          <a:solidFill>
            <a:srgbClr val="1F3050"/>
          </a:solidFill>
          <a:ln w="12700">
            <a:solidFill>
              <a:srgbClr val="1F3050"/>
            </a:solidFill>
            <a:prstDash val="solid"/>
          </a:ln>
        </p:spPr>
      </p:sp>
      <p:sp>
        <p:nvSpPr>
          <p:cNvPr id="19" name="Shape 17"/>
          <p:cNvSpPr/>
          <p:nvPr/>
        </p:nvSpPr>
        <p:spPr>
          <a:xfrm>
            <a:off x="4562856" y="4379976"/>
            <a:ext cx="182880" cy="182880"/>
          </a:xfrm>
          <a:prstGeom prst="ellipse">
            <a:avLst/>
          </a:prstGeom>
          <a:solidFill>
            <a:srgbClr val="AE5348"/>
          </a:solidFill>
          <a:ln w="12700">
            <a:solidFill>
              <a:srgbClr val="AE5348"/>
            </a:solidFill>
            <a:prstDash val="solid"/>
          </a:ln>
        </p:spPr>
      </p:sp>
      <p:sp>
        <p:nvSpPr>
          <p:cNvPr id="20" name="Text 18"/>
          <p:cNvSpPr/>
          <p:nvPr/>
        </p:nvSpPr>
        <p:spPr>
          <a:xfrm>
            <a:off x="4837176" y="4325112"/>
            <a:ext cx="278892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Kill if</a:t>
            </a:r>
            <a:endParaRPr lang="en-US" sz="1500" dirty="0"/>
          </a:p>
        </p:txBody>
      </p:sp>
      <p:sp>
        <p:nvSpPr>
          <p:cNvPr id="21" name="Text 19"/>
          <p:cNvSpPr/>
          <p:nvPr/>
        </p:nvSpPr>
        <p:spPr>
          <a:xfrm>
            <a:off x="4562856" y="4727448"/>
            <a:ext cx="3063240" cy="749808"/>
          </a:xfrm>
          <a:prstGeom prst="rect">
            <a:avLst/>
          </a:prstGeom>
          <a:noFill/>
          <a:ln/>
        </p:spPr>
        <p:txBody>
          <a:bodyPr wrap="square" lIns="0" tIns="0" rIns="0" bIns="0" rtlCol="0" anchor="t"/>
          <a:lstStyle/>
          <a:p>
            <a:pPr indent="0" marL="0">
              <a:lnSpc>
                <a:spcPts val="1500"/>
              </a:lnSpc>
              <a:buNone/>
            </a:pPr>
            <a:r>
              <a:rPr lang="en-US" sz="1150" dirty="0">
                <a:solidFill>
                  <a:srgbClr val="C9D4E6"/>
                </a:solidFill>
                <a:latin typeface="Calibri" pitchFamily="34" charset="0"/>
                <a:ea typeface="Calibri" pitchFamily="34" charset="-122"/>
                <a:cs typeface="Calibri" pitchFamily="34" charset="-120"/>
              </a:rPr>
              <a:t>Lift comes in under 1 point, or associate sentiment drops in pilot stores. No renegotiation.</a:t>
            </a:r>
            <a:endParaRPr lang="en-US" sz="1150" dirty="0"/>
          </a:p>
        </p:txBody>
      </p:sp>
      <p:sp>
        <p:nvSpPr>
          <p:cNvPr id="22" name="Shape 20"/>
          <p:cNvSpPr/>
          <p:nvPr/>
        </p:nvSpPr>
        <p:spPr>
          <a:xfrm>
            <a:off x="8119872" y="4160520"/>
            <a:ext cx="3502152" cy="1371600"/>
          </a:xfrm>
          <a:prstGeom prst="roundRect">
            <a:avLst>
              <a:gd name="adj" fmla="val 8000"/>
            </a:avLst>
          </a:prstGeom>
          <a:solidFill>
            <a:srgbClr val="1F3050"/>
          </a:solidFill>
          <a:ln w="12700">
            <a:solidFill>
              <a:srgbClr val="1F3050"/>
            </a:solidFill>
            <a:prstDash val="solid"/>
          </a:ln>
        </p:spPr>
      </p:sp>
      <p:sp>
        <p:nvSpPr>
          <p:cNvPr id="23" name="Shape 21"/>
          <p:cNvSpPr/>
          <p:nvPr/>
        </p:nvSpPr>
        <p:spPr>
          <a:xfrm>
            <a:off x="8339328" y="4379976"/>
            <a:ext cx="182880" cy="182880"/>
          </a:xfrm>
          <a:prstGeom prst="ellipse">
            <a:avLst/>
          </a:prstGeom>
          <a:solidFill>
            <a:srgbClr val="D9922B"/>
          </a:solidFill>
          <a:ln w="12700">
            <a:solidFill>
              <a:srgbClr val="D9922B"/>
            </a:solidFill>
            <a:prstDash val="solid"/>
          </a:ln>
        </p:spPr>
      </p:sp>
      <p:sp>
        <p:nvSpPr>
          <p:cNvPr id="24" name="Text 22"/>
          <p:cNvSpPr/>
          <p:nvPr/>
        </p:nvSpPr>
        <p:spPr>
          <a:xfrm>
            <a:off x="8613648" y="4325112"/>
            <a:ext cx="278892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Fallback if declined</a:t>
            </a:r>
            <a:endParaRPr lang="en-US" sz="1500" dirty="0"/>
          </a:p>
        </p:txBody>
      </p:sp>
      <p:sp>
        <p:nvSpPr>
          <p:cNvPr id="25" name="Text 23"/>
          <p:cNvSpPr/>
          <p:nvPr/>
        </p:nvSpPr>
        <p:spPr>
          <a:xfrm>
            <a:off x="8339328" y="4727448"/>
            <a:ext cx="3063240" cy="749808"/>
          </a:xfrm>
          <a:prstGeom prst="rect">
            <a:avLst/>
          </a:prstGeom>
          <a:noFill/>
          <a:ln/>
        </p:spPr>
        <p:txBody>
          <a:bodyPr wrap="square" lIns="0" tIns="0" rIns="0" bIns="0" rtlCol="0" anchor="t"/>
          <a:lstStyle/>
          <a:p>
            <a:pPr indent="0" marL="0">
              <a:lnSpc>
                <a:spcPts val="1500"/>
              </a:lnSpc>
              <a:buNone/>
            </a:pPr>
            <a:r>
              <a:rPr lang="en-US" sz="1150" dirty="0">
                <a:solidFill>
                  <a:srgbClr val="C9D4E6"/>
                </a:solidFill>
                <a:latin typeface="Calibri" pitchFamily="34" charset="0"/>
                <a:ea typeface="Calibri" pitchFamily="34" charset="-122"/>
                <a:cs typeface="Calibri" pitchFamily="34" charset="-120"/>
              </a:rPr>
              <a:t>Telemetry and survey baseline only, at roughly a tenth the cost. Weaker evidence. Revisit in Q3.</a:t>
            </a:r>
            <a:endParaRPr lang="en-US" sz="1150" dirty="0"/>
          </a:p>
        </p:txBody>
      </p:sp>
      <p:sp>
        <p:nvSpPr>
          <p:cNvPr id="26" name="Shape 24"/>
          <p:cNvSpPr/>
          <p:nvPr/>
        </p:nvSpPr>
        <p:spPr>
          <a:xfrm>
            <a:off x="566928" y="5705856"/>
            <a:ext cx="41148" cy="512064"/>
          </a:xfrm>
          <a:prstGeom prst="rect">
            <a:avLst/>
          </a:prstGeom>
          <a:solidFill>
            <a:srgbClr val="D9922B"/>
          </a:solidFill>
          <a:ln w="12700">
            <a:solidFill>
              <a:srgbClr val="333333"/>
            </a:solidFill>
            <a:prstDash val="solid"/>
          </a:ln>
        </p:spPr>
      </p:sp>
      <p:sp>
        <p:nvSpPr>
          <p:cNvPr id="27" name="Text 25"/>
          <p:cNvSpPr/>
          <p:nvPr/>
        </p:nvSpPr>
        <p:spPr>
          <a:xfrm>
            <a:off x="804672" y="5705856"/>
            <a:ext cx="10049256" cy="512064"/>
          </a:xfrm>
          <a:prstGeom prst="rect">
            <a:avLst/>
          </a:prstGeom>
          <a:noFill/>
          <a:ln/>
        </p:spPr>
        <p:txBody>
          <a:bodyPr wrap="square" lIns="0" tIns="0" rIns="0" bIns="0" rtlCol="0" anchor="ctr"/>
          <a:lstStyle/>
          <a:p>
            <a:pPr indent="0" marL="0">
              <a:lnSpc>
                <a:spcPts val="1600"/>
              </a:lnSpc>
              <a:buNone/>
            </a:pPr>
            <a:r>
              <a:rPr lang="en-US" sz="1200" i="1" dirty="0">
                <a:solidFill>
                  <a:srgbClr val="AEBFD8"/>
                </a:solidFill>
                <a:latin typeface="Calibri" pitchFamily="34" charset="0"/>
                <a:ea typeface="Calibri" pitchFamily="34" charset="-122"/>
                <a:cs typeface="Calibri" pitchFamily="34" charset="-120"/>
              </a:rPr>
              <a:t>Digital channels beat paper because the information mattered. Promotions are just one more reason to spend. This is the first kind. That is why I want to work on it.</a:t>
            </a:r>
            <a:endParaRPr lang="en-US" sz="1200" dirty="0"/>
          </a:p>
        </p:txBody>
      </p:sp>
      <p:sp>
        <p:nvSpPr>
          <p:cNvPr id="28" name="Text 26"/>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9AA8C2"/>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566928" y="2377440"/>
            <a:ext cx="11055096"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Appendix</a:t>
            </a:r>
            <a:endParaRPr lang="en-US" sz="4200" dirty="0"/>
          </a:p>
        </p:txBody>
      </p:sp>
      <p:sp>
        <p:nvSpPr>
          <p:cNvPr id="3" name="Text 1"/>
          <p:cNvSpPr/>
          <p:nvPr/>
        </p:nvSpPr>
        <p:spPr>
          <a:xfrm>
            <a:off x="566928" y="3383280"/>
            <a:ext cx="8129016" cy="1097280"/>
          </a:xfrm>
          <a:prstGeom prst="rect">
            <a:avLst/>
          </a:prstGeom>
          <a:noFill/>
          <a:ln/>
        </p:spPr>
        <p:txBody>
          <a:bodyPr wrap="square" lIns="0" tIns="0" rIns="0" bIns="0" rtlCol="0" anchor="t"/>
          <a:lstStyle/>
          <a:p>
            <a:pPr indent="0" marL="0">
              <a:lnSpc>
                <a:spcPts val="2100"/>
              </a:lnSpc>
              <a:buNone/>
            </a:pPr>
            <a:r>
              <a:rPr lang="en-US" sz="1500" dirty="0">
                <a:solidFill>
                  <a:srgbClr val="C9D4E6"/>
                </a:solidFill>
                <a:latin typeface="Calibri" pitchFamily="34" charset="0"/>
                <a:ea typeface="Calibri" pitchFamily="34" charset="-122"/>
                <a:cs typeface="Calibri" pitchFamily="34" charset="-120"/>
              </a:rPr>
              <a:t>Twenty slides, indexed by the seat that asks. ROI models and measurement design for finance. Architecture, integration, and bandit mechanics for engineering and data science. Reward ladder, compliance, guardrails, and reward-science sources for HR and legal.</a:t>
            </a:r>
            <a:endParaRPr lang="en-US" sz="1500" dirty="0"/>
          </a:p>
        </p:txBody>
      </p:sp>
      <p:sp>
        <p:nvSpPr>
          <p:cNvPr id="4" name="Text 2"/>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9AA8C2"/>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A1  ·  FOR FINANCE</a:t>
            </a:r>
            <a:endParaRPr lang="en-US" sz="1100" dirty="0"/>
          </a:p>
        </p:txBody>
      </p:sp>
      <p:sp>
        <p:nvSpPr>
          <p:cNvPr id="4" name="Text 2"/>
          <p:cNvSpPr/>
          <p:nvPr/>
        </p:nvSpPr>
        <p:spPr>
          <a:xfrm>
            <a:off x="566928" y="749808"/>
            <a:ext cx="11055096" cy="822960"/>
          </a:xfrm>
          <a:prstGeom prst="rect">
            <a:avLst/>
          </a:prstGeom>
          <a:noFill/>
          <a:ln/>
        </p:spPr>
        <p:txBody>
          <a:bodyPr wrap="square" lIns="0" tIns="0" rIns="0" bIns="0" rtlCol="0" anchor="t"/>
          <a:lstStyle/>
          <a:p>
            <a:pPr indent="0" marL="0">
              <a:lnSpc>
                <a:spcPts val="3068"/>
              </a:lnSpc>
              <a:buNone/>
            </a:pPr>
            <a:r>
              <a:rPr lang="en-US" sz="2600" b="1" dirty="0">
                <a:solidFill>
                  <a:srgbClr val="1B2338"/>
                </a:solidFill>
                <a:latin typeface="Cambria" pitchFamily="34" charset="0"/>
                <a:ea typeface="Cambria" pitchFamily="34" charset="-122"/>
                <a:cs typeface="Cambria" pitchFamily="34" charset="-120"/>
              </a:rPr>
              <a:t>Plan A ROI rests on two inputs, and both are testable in the pilot.</a:t>
            </a:r>
            <a:endParaRPr lang="en-US" sz="2600" dirty="0"/>
          </a:p>
        </p:txBody>
      </p:sp>
      <p:sp>
        <p:nvSpPr>
          <p:cNvPr id="5" name="Shape 3"/>
          <p:cNvSpPr/>
          <p:nvPr/>
        </p:nvSpPr>
        <p:spPr>
          <a:xfrm>
            <a:off x="566928" y="1783080"/>
            <a:ext cx="3502152" cy="1371600"/>
          </a:xfrm>
          <a:prstGeom prst="roundRect">
            <a:avLst>
              <a:gd name="adj" fmla="val 8000"/>
            </a:avLst>
          </a:prstGeom>
          <a:solidFill>
            <a:srgbClr val="F1F5FA"/>
          </a:solidFill>
          <a:ln w="12700">
            <a:solidFill>
              <a:srgbClr val="F1F5FA"/>
            </a:solidFill>
            <a:prstDash val="solid"/>
          </a:ln>
        </p:spPr>
      </p:sp>
      <p:sp>
        <p:nvSpPr>
          <p:cNvPr id="6" name="Text 4"/>
          <p:cNvSpPr/>
          <p:nvPr/>
        </p:nvSpPr>
        <p:spPr>
          <a:xfrm>
            <a:off x="731520" y="1965960"/>
            <a:ext cx="3172968" cy="685800"/>
          </a:xfrm>
          <a:prstGeom prst="rect">
            <a:avLst/>
          </a:prstGeom>
          <a:noFill/>
          <a:ln/>
        </p:spPr>
        <p:txBody>
          <a:bodyPr wrap="square" lIns="0" tIns="0" rIns="0" bIns="0" rtlCol="0" anchor="ctr"/>
          <a:lstStyle/>
          <a:p>
            <a:pPr algn="ctr" indent="0" marL="0">
              <a:buNone/>
            </a:pPr>
            <a:r>
              <a:rPr lang="en-US" sz="3000" b="1" dirty="0">
                <a:solidFill>
                  <a:srgbClr val="1B2338"/>
                </a:solidFill>
                <a:latin typeface="Cambria" pitchFamily="34" charset="0"/>
                <a:ea typeface="Cambria" pitchFamily="34" charset="-122"/>
                <a:cs typeface="Cambria" pitchFamily="34" charset="-120"/>
              </a:rPr>
              <a:t>~500K</a:t>
            </a:r>
            <a:endParaRPr lang="en-US" sz="3000" dirty="0"/>
          </a:p>
        </p:txBody>
      </p:sp>
      <p:sp>
        <p:nvSpPr>
          <p:cNvPr id="7" name="Text 5"/>
          <p:cNvSpPr/>
          <p:nvPr/>
        </p:nvSpPr>
        <p:spPr>
          <a:xfrm>
            <a:off x="731520" y="2633472"/>
            <a:ext cx="3172968" cy="438912"/>
          </a:xfrm>
          <a:prstGeom prst="rect">
            <a:avLst/>
          </a:prstGeom>
          <a:noFill/>
          <a:ln/>
        </p:spPr>
        <p:txBody>
          <a:bodyPr wrap="square" lIns="0" tIns="0" rIns="0" bIns="0" rtlCol="0" anchor="t"/>
          <a:lstStyle/>
          <a:p>
            <a:pPr algn="ctr" indent="0" marL="0">
              <a:lnSpc>
                <a:spcPts val="1400"/>
              </a:lnSpc>
              <a:buNone/>
            </a:pPr>
            <a:r>
              <a:rPr lang="en-US" sz="1150" dirty="0">
                <a:solidFill>
                  <a:srgbClr val="5E6980"/>
                </a:solidFill>
                <a:latin typeface="Calibri" pitchFamily="34" charset="0"/>
                <a:ea typeface="Calibri" pitchFamily="34" charset="-122"/>
                <a:cs typeface="Calibri" pitchFamily="34" charset="-120"/>
              </a:rPr>
              <a:t>new store hires a year</a:t>
            </a:r>
            <a:endParaRPr lang="en-US" sz="1150" dirty="0"/>
          </a:p>
          <a:p>
            <a:pPr algn="ctr" indent="0" marL="0">
              <a:lnSpc>
                <a:spcPts val="1400"/>
              </a:lnSpc>
              <a:buNone/>
            </a:pPr>
            <a:r>
              <a:rPr lang="en-US" sz="1150" dirty="0">
                <a:solidFill>
                  <a:srgbClr val="5E6980"/>
                </a:solidFill>
                <a:latin typeface="Calibri" pitchFamily="34" charset="0"/>
                <a:ea typeface="Calibri" pitchFamily="34" charset="-122"/>
                <a:cs typeface="Calibri" pitchFamily="34" charset="-120"/>
              </a:rPr>
              <a:t>(illustrative)</a:t>
            </a:r>
            <a:endParaRPr lang="en-US" sz="1150" dirty="0"/>
          </a:p>
        </p:txBody>
      </p:sp>
      <p:sp>
        <p:nvSpPr>
          <p:cNvPr id="8" name="Text 6"/>
          <p:cNvSpPr/>
          <p:nvPr/>
        </p:nvSpPr>
        <p:spPr>
          <a:xfrm>
            <a:off x="4087368" y="2194560"/>
            <a:ext cx="237744" cy="548640"/>
          </a:xfrm>
          <a:prstGeom prst="rect">
            <a:avLst/>
          </a:prstGeom>
          <a:noFill/>
          <a:ln/>
        </p:spPr>
        <p:txBody>
          <a:bodyPr wrap="square" lIns="0" tIns="0" rIns="0" bIns="0" rtlCol="0" anchor="ctr"/>
          <a:lstStyle/>
          <a:p>
            <a:pPr algn="ctr" indent="0" marL="0">
              <a:buNone/>
            </a:pPr>
            <a:r>
              <a:rPr lang="en-US" sz="2200" b="1" dirty="0">
                <a:solidFill>
                  <a:srgbClr val="D9922B"/>
                </a:solidFill>
                <a:latin typeface="Cambria" pitchFamily="34" charset="0"/>
                <a:ea typeface="Cambria" pitchFamily="34" charset="-122"/>
                <a:cs typeface="Cambria" pitchFamily="34" charset="-120"/>
              </a:rPr>
              <a:t>›</a:t>
            </a:r>
            <a:endParaRPr lang="en-US" sz="2200" dirty="0"/>
          </a:p>
        </p:txBody>
      </p:sp>
      <p:sp>
        <p:nvSpPr>
          <p:cNvPr id="9" name="Shape 7"/>
          <p:cNvSpPr/>
          <p:nvPr/>
        </p:nvSpPr>
        <p:spPr>
          <a:xfrm>
            <a:off x="4343400" y="1783080"/>
            <a:ext cx="3502152" cy="1371600"/>
          </a:xfrm>
          <a:prstGeom prst="roundRect">
            <a:avLst>
              <a:gd name="adj" fmla="val 8000"/>
            </a:avLst>
          </a:prstGeom>
          <a:solidFill>
            <a:srgbClr val="F1F5FA"/>
          </a:solidFill>
          <a:ln w="12700">
            <a:solidFill>
              <a:srgbClr val="F1F5FA"/>
            </a:solidFill>
            <a:prstDash val="solid"/>
          </a:ln>
        </p:spPr>
      </p:sp>
      <p:sp>
        <p:nvSpPr>
          <p:cNvPr id="10" name="Text 8"/>
          <p:cNvSpPr/>
          <p:nvPr/>
        </p:nvSpPr>
        <p:spPr>
          <a:xfrm>
            <a:off x="4507992" y="1965960"/>
            <a:ext cx="3172968" cy="685800"/>
          </a:xfrm>
          <a:prstGeom prst="rect">
            <a:avLst/>
          </a:prstGeom>
          <a:noFill/>
          <a:ln/>
        </p:spPr>
        <p:txBody>
          <a:bodyPr wrap="square" lIns="0" tIns="0" rIns="0" bIns="0" rtlCol="0" anchor="ctr"/>
          <a:lstStyle/>
          <a:p>
            <a:pPr algn="ctr" indent="0" marL="0">
              <a:buNone/>
            </a:pPr>
            <a:r>
              <a:rPr lang="en-US" sz="3000" b="1" dirty="0">
                <a:solidFill>
                  <a:srgbClr val="1B2338"/>
                </a:solidFill>
                <a:latin typeface="Cambria" pitchFamily="34" charset="0"/>
                <a:ea typeface="Cambria" pitchFamily="34" charset="-122"/>
                <a:cs typeface="Cambria" pitchFamily="34" charset="-120"/>
              </a:rPr>
              <a:t>+1 point</a:t>
            </a:r>
            <a:endParaRPr lang="en-US" sz="3000" dirty="0"/>
          </a:p>
        </p:txBody>
      </p:sp>
      <p:sp>
        <p:nvSpPr>
          <p:cNvPr id="11" name="Text 9"/>
          <p:cNvSpPr/>
          <p:nvPr/>
        </p:nvSpPr>
        <p:spPr>
          <a:xfrm>
            <a:off x="4507992" y="2633472"/>
            <a:ext cx="3172968" cy="438912"/>
          </a:xfrm>
          <a:prstGeom prst="rect">
            <a:avLst/>
          </a:prstGeom>
          <a:noFill/>
          <a:ln/>
        </p:spPr>
        <p:txBody>
          <a:bodyPr wrap="square" lIns="0" tIns="0" rIns="0" bIns="0" rtlCol="0" anchor="t"/>
          <a:lstStyle/>
          <a:p>
            <a:pPr algn="ctr" indent="0" marL="0">
              <a:lnSpc>
                <a:spcPts val="1400"/>
              </a:lnSpc>
              <a:buNone/>
            </a:pPr>
            <a:r>
              <a:rPr lang="en-US" sz="1150" dirty="0">
                <a:solidFill>
                  <a:srgbClr val="5E6980"/>
                </a:solidFill>
                <a:latin typeface="Calibri" pitchFamily="34" charset="0"/>
                <a:ea typeface="Calibri" pitchFamily="34" charset="-122"/>
                <a:cs typeface="Calibri" pitchFamily="34" charset="-120"/>
              </a:rPr>
              <a:t>of 90-day retention is about</a:t>
            </a:r>
            <a:endParaRPr lang="en-US" sz="1150" dirty="0"/>
          </a:p>
          <a:p>
            <a:pPr algn="ctr" indent="0" marL="0">
              <a:lnSpc>
                <a:spcPts val="1400"/>
              </a:lnSpc>
              <a:buNone/>
            </a:pPr>
            <a:r>
              <a:rPr lang="en-US" sz="1150" dirty="0">
                <a:solidFill>
                  <a:srgbClr val="5E6980"/>
                </a:solidFill>
                <a:latin typeface="Calibri" pitchFamily="34" charset="0"/>
                <a:ea typeface="Calibri" pitchFamily="34" charset="-122"/>
                <a:cs typeface="Calibri" pitchFamily="34" charset="-120"/>
              </a:rPr>
              <a:t>5,000 fewer replacements</a:t>
            </a:r>
            <a:endParaRPr lang="en-US" sz="1150" dirty="0"/>
          </a:p>
        </p:txBody>
      </p:sp>
      <p:sp>
        <p:nvSpPr>
          <p:cNvPr id="12" name="Text 10"/>
          <p:cNvSpPr/>
          <p:nvPr/>
        </p:nvSpPr>
        <p:spPr>
          <a:xfrm>
            <a:off x="7863840" y="2194560"/>
            <a:ext cx="237744" cy="548640"/>
          </a:xfrm>
          <a:prstGeom prst="rect">
            <a:avLst/>
          </a:prstGeom>
          <a:noFill/>
          <a:ln/>
        </p:spPr>
        <p:txBody>
          <a:bodyPr wrap="square" lIns="0" tIns="0" rIns="0" bIns="0" rtlCol="0" anchor="ctr"/>
          <a:lstStyle/>
          <a:p>
            <a:pPr algn="ctr" indent="0" marL="0">
              <a:buNone/>
            </a:pPr>
            <a:r>
              <a:rPr lang="en-US" sz="2200" b="1" dirty="0">
                <a:solidFill>
                  <a:srgbClr val="D9922B"/>
                </a:solidFill>
                <a:latin typeface="Cambria" pitchFamily="34" charset="0"/>
                <a:ea typeface="Cambria" pitchFamily="34" charset="-122"/>
                <a:cs typeface="Cambria" pitchFamily="34" charset="-120"/>
              </a:rPr>
              <a:t>›</a:t>
            </a:r>
            <a:endParaRPr lang="en-US" sz="2200" dirty="0"/>
          </a:p>
        </p:txBody>
      </p:sp>
      <p:sp>
        <p:nvSpPr>
          <p:cNvPr id="13" name="Shape 11"/>
          <p:cNvSpPr/>
          <p:nvPr/>
        </p:nvSpPr>
        <p:spPr>
          <a:xfrm>
            <a:off x="8119872" y="1783080"/>
            <a:ext cx="3502152" cy="1371600"/>
          </a:xfrm>
          <a:prstGeom prst="roundRect">
            <a:avLst>
              <a:gd name="adj" fmla="val 8000"/>
            </a:avLst>
          </a:prstGeom>
          <a:solidFill>
            <a:srgbClr val="F1F5FA"/>
          </a:solidFill>
          <a:ln w="12700">
            <a:solidFill>
              <a:srgbClr val="F1F5FA"/>
            </a:solidFill>
            <a:prstDash val="solid"/>
          </a:ln>
        </p:spPr>
      </p:sp>
      <p:sp>
        <p:nvSpPr>
          <p:cNvPr id="14" name="Text 12"/>
          <p:cNvSpPr/>
          <p:nvPr/>
        </p:nvSpPr>
        <p:spPr>
          <a:xfrm>
            <a:off x="8284464" y="1965960"/>
            <a:ext cx="3172968" cy="685800"/>
          </a:xfrm>
          <a:prstGeom prst="rect">
            <a:avLst/>
          </a:prstGeom>
          <a:noFill/>
          <a:ln/>
        </p:spPr>
        <p:txBody>
          <a:bodyPr wrap="square" lIns="0" tIns="0" rIns="0" bIns="0" rtlCol="0" anchor="ctr"/>
          <a:lstStyle/>
          <a:p>
            <a:pPr algn="ctr" indent="0" marL="0">
              <a:buNone/>
            </a:pPr>
            <a:r>
              <a:rPr lang="en-US" sz="3000" b="1" dirty="0">
                <a:solidFill>
                  <a:srgbClr val="8A5A11"/>
                </a:solidFill>
                <a:latin typeface="Cambria" pitchFamily="34" charset="0"/>
                <a:ea typeface="Cambria" pitchFamily="34" charset="-122"/>
                <a:cs typeface="Cambria" pitchFamily="34" charset="-120"/>
              </a:rPr>
              <a:t>~$15M</a:t>
            </a:r>
            <a:endParaRPr lang="en-US" sz="3000" dirty="0"/>
          </a:p>
        </p:txBody>
      </p:sp>
      <p:sp>
        <p:nvSpPr>
          <p:cNvPr id="15" name="Text 13"/>
          <p:cNvSpPr/>
          <p:nvPr/>
        </p:nvSpPr>
        <p:spPr>
          <a:xfrm>
            <a:off x="8284464" y="2633472"/>
            <a:ext cx="3172968" cy="438912"/>
          </a:xfrm>
          <a:prstGeom prst="rect">
            <a:avLst/>
          </a:prstGeom>
          <a:noFill/>
          <a:ln/>
        </p:spPr>
        <p:txBody>
          <a:bodyPr wrap="square" lIns="0" tIns="0" rIns="0" bIns="0" rtlCol="0" anchor="t"/>
          <a:lstStyle/>
          <a:p>
            <a:pPr algn="ctr" indent="0" marL="0">
              <a:lnSpc>
                <a:spcPts val="1400"/>
              </a:lnSpc>
              <a:buNone/>
            </a:pPr>
            <a:r>
              <a:rPr lang="en-US" sz="1150" dirty="0">
                <a:solidFill>
                  <a:srgbClr val="5E6980"/>
                </a:solidFill>
                <a:latin typeface="Calibri" pitchFamily="34" charset="0"/>
                <a:ea typeface="Calibri" pitchFamily="34" charset="-122"/>
                <a:cs typeface="Calibri" pitchFamily="34" charset="-120"/>
              </a:rPr>
              <a:t>a year per point, at about</a:t>
            </a:r>
            <a:endParaRPr lang="en-US" sz="1150" dirty="0"/>
          </a:p>
          <a:p>
            <a:pPr algn="ctr" indent="0" marL="0">
              <a:lnSpc>
                <a:spcPts val="1400"/>
              </a:lnSpc>
              <a:buNone/>
            </a:pPr>
            <a:r>
              <a:rPr lang="en-US" sz="1150" dirty="0">
                <a:solidFill>
                  <a:srgbClr val="5E6980"/>
                </a:solidFill>
                <a:latin typeface="Calibri" pitchFamily="34" charset="0"/>
                <a:ea typeface="Calibri" pitchFamily="34" charset="-122"/>
                <a:cs typeface="Calibri" pitchFamily="34" charset="-120"/>
              </a:rPr>
              <a:t>$3,000 to replace each hire</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3401568"/>
          <a:ext cx="11055096" cy="914400"/>
        </p:xfrm>
        <a:graphic>
          <a:graphicData uri="http://schemas.openxmlformats.org/drawingml/2006/table">
            <a:tbl>
              <a:tblPr/>
              <a:tblGrid>
                <a:gridCol w="2377440"/>
                <a:gridCol w="2889504"/>
                <a:gridCol w="2898648"/>
                <a:gridCol w="2898648"/>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Sensitivity</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223558"/>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$2,000 to replace</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1623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$3,000 to replace</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1623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$4,000 to replace</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16233B"/>
                    </a:solidFill>
                  </a:tcPr>
                </a:tc>
              </a:tr>
              <a:tr h="0">
                <a:tc>
                  <a:txBody>
                    <a:bodyPr/>
                    <a:lstStyle/>
                    <a:p>
                      <a:pPr indent="0" marL="0">
                        <a:buNone/>
                      </a:pPr>
                      <a:r>
                        <a:rPr lang="en-US" sz="1150" b="1" dirty="0">
                          <a:solidFill>
                            <a:srgbClr val="16233B"/>
                          </a:solidFill>
                          <a:latin typeface="Calibri" pitchFamily="34" charset="0"/>
                          <a:ea typeface="Calibri" pitchFamily="34" charset="-122"/>
                          <a:cs typeface="Calibri" pitchFamily="34" charset="-120"/>
                        </a:rPr>
                        <a:t>400K hires</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F1F5FA"/>
                    </a:solidFill>
                  </a:tcPr>
                </a:tc>
                <a:tc>
                  <a:txBody>
                    <a:bodyPr/>
                    <a:lstStyle/>
                    <a:p>
                      <a:pPr indent="0" marL="0">
                        <a:buNone/>
                      </a:pPr>
                      <a:r>
                        <a:rPr lang="en-US" sz="1150" dirty="0">
                          <a:solidFill>
                            <a:srgbClr val="1B2338"/>
                          </a:solidFill>
                          <a:latin typeface="Calibri" pitchFamily="34" charset="0"/>
                          <a:ea typeface="Calibri" pitchFamily="34" charset="-122"/>
                          <a:cs typeface="Calibri" pitchFamily="34" charset="-120"/>
                        </a:rPr>
                        <a:t>$8M per point</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50" dirty="0">
                          <a:solidFill>
                            <a:srgbClr val="1B2338"/>
                          </a:solidFill>
                          <a:latin typeface="Calibri" pitchFamily="34" charset="0"/>
                          <a:ea typeface="Calibri" pitchFamily="34" charset="-122"/>
                          <a:cs typeface="Calibri" pitchFamily="34" charset="-120"/>
                        </a:rPr>
                        <a:t>$12M per point</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50" dirty="0">
                          <a:solidFill>
                            <a:srgbClr val="1B2338"/>
                          </a:solidFill>
                          <a:latin typeface="Calibri" pitchFamily="34" charset="0"/>
                          <a:ea typeface="Calibri" pitchFamily="34" charset="-122"/>
                          <a:cs typeface="Calibri" pitchFamily="34" charset="-120"/>
                        </a:rPr>
                        <a:t>$16M per point</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150" b="1" dirty="0">
                          <a:solidFill>
                            <a:srgbClr val="16233B"/>
                          </a:solidFill>
                          <a:latin typeface="Calibri" pitchFamily="34" charset="0"/>
                          <a:ea typeface="Calibri" pitchFamily="34" charset="-122"/>
                          <a:cs typeface="Calibri" pitchFamily="34" charset="-120"/>
                        </a:rPr>
                        <a:t>500K hires</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F1F5FA"/>
                    </a:solidFill>
                  </a:tcPr>
                </a:tc>
                <a:tc>
                  <a:txBody>
                    <a:bodyPr/>
                    <a:lstStyle/>
                    <a:p>
                      <a:pPr indent="0" marL="0">
                        <a:buNone/>
                      </a:pPr>
                      <a:r>
                        <a:rPr lang="en-US" sz="1150" dirty="0">
                          <a:solidFill>
                            <a:srgbClr val="1B2338"/>
                          </a:solidFill>
                          <a:latin typeface="Calibri" pitchFamily="34" charset="0"/>
                          <a:ea typeface="Calibri" pitchFamily="34" charset="-122"/>
                          <a:cs typeface="Calibri" pitchFamily="34" charset="-120"/>
                        </a:rPr>
                        <a:t>$10M per point</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50" dirty="0">
                          <a:solidFill>
                            <a:srgbClr val="1B2338"/>
                          </a:solidFill>
                          <a:latin typeface="Calibri" pitchFamily="34" charset="0"/>
                          <a:ea typeface="Calibri" pitchFamily="34" charset="-122"/>
                          <a:cs typeface="Calibri" pitchFamily="34" charset="-120"/>
                        </a:rPr>
                        <a:t>$15M per point</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50" dirty="0">
                          <a:solidFill>
                            <a:srgbClr val="1B2338"/>
                          </a:solidFill>
                          <a:latin typeface="Calibri" pitchFamily="34" charset="0"/>
                          <a:ea typeface="Calibri" pitchFamily="34" charset="-122"/>
                          <a:cs typeface="Calibri" pitchFamily="34" charset="-120"/>
                        </a:rPr>
                        <a:t>$20M per point</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150" b="1" dirty="0">
                          <a:solidFill>
                            <a:srgbClr val="16233B"/>
                          </a:solidFill>
                          <a:latin typeface="Calibri" pitchFamily="34" charset="0"/>
                          <a:ea typeface="Calibri" pitchFamily="34" charset="-122"/>
                          <a:cs typeface="Calibri" pitchFamily="34" charset="-120"/>
                        </a:rPr>
                        <a:t>600K hires</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F1F5FA"/>
                    </a:solidFill>
                  </a:tcPr>
                </a:tc>
                <a:tc>
                  <a:txBody>
                    <a:bodyPr/>
                    <a:lstStyle/>
                    <a:p>
                      <a:pPr indent="0" marL="0">
                        <a:buNone/>
                      </a:pPr>
                      <a:r>
                        <a:rPr lang="en-US" sz="1150" dirty="0">
                          <a:solidFill>
                            <a:srgbClr val="1B2338"/>
                          </a:solidFill>
                          <a:latin typeface="Calibri" pitchFamily="34" charset="0"/>
                          <a:ea typeface="Calibri" pitchFamily="34" charset="-122"/>
                          <a:cs typeface="Calibri" pitchFamily="34" charset="-120"/>
                        </a:rPr>
                        <a:t>$12M per point</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50" dirty="0">
                          <a:solidFill>
                            <a:srgbClr val="1B2338"/>
                          </a:solidFill>
                          <a:latin typeface="Calibri" pitchFamily="34" charset="0"/>
                          <a:ea typeface="Calibri" pitchFamily="34" charset="-122"/>
                          <a:cs typeface="Calibri" pitchFamily="34" charset="-120"/>
                        </a:rPr>
                        <a:t>$18M per point</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50" dirty="0">
                          <a:solidFill>
                            <a:srgbClr val="1B2338"/>
                          </a:solidFill>
                          <a:latin typeface="Calibri" pitchFamily="34" charset="0"/>
                          <a:ea typeface="Calibri" pitchFamily="34" charset="-122"/>
                          <a:cs typeface="Calibri" pitchFamily="34" charset="-120"/>
                        </a:rPr>
                        <a:t>$24M per point</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bl>
          </a:graphicData>
        </a:graphic>
      </p:graphicFrame>
      <p:sp>
        <p:nvSpPr>
          <p:cNvPr id="17" name="Shape 14"/>
          <p:cNvSpPr/>
          <p:nvPr/>
        </p:nvSpPr>
        <p:spPr>
          <a:xfrm>
            <a:off x="566928" y="5120640"/>
            <a:ext cx="11055096" cy="914400"/>
          </a:xfrm>
          <a:prstGeom prst="roundRect">
            <a:avLst>
              <a:gd name="adj" fmla="val 12000"/>
            </a:avLst>
          </a:prstGeom>
          <a:solidFill>
            <a:srgbClr val="F1F5FA"/>
          </a:solidFill>
          <a:ln w="12700">
            <a:solidFill>
              <a:srgbClr val="F1F5FA"/>
            </a:solidFill>
            <a:prstDash val="solid"/>
          </a:ln>
        </p:spPr>
      </p:sp>
      <p:sp>
        <p:nvSpPr>
          <p:cNvPr id="18" name="Text 15"/>
          <p:cNvSpPr/>
          <p:nvPr/>
        </p:nvSpPr>
        <p:spPr>
          <a:xfrm>
            <a:off x="786384" y="5175504"/>
            <a:ext cx="10616184" cy="8229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What kills this model: a pilot lift under 1 point, or a true replacement cost below about $1,500. Measurement is matched pilot versus control stores, 20 each, with the north star pre-registered before the pilot opens and a scale or kill call at day 90.</a:t>
            </a:r>
            <a:endParaRPr lang="en-US" sz="1200" dirty="0"/>
          </a:p>
        </p:txBody>
      </p:sp>
      <p:sp>
        <p:nvSpPr>
          <p:cNvPr id="19" name="Text 16"/>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Order-of-magnitude model with stated assumptions, built to be interrogated in the room and then replaced by measured pilot data.</a:t>
            </a:r>
            <a:endParaRPr lang="en-US" sz="1050" dirty="0"/>
          </a:p>
        </p:txBody>
      </p:sp>
      <p:sp>
        <p:nvSpPr>
          <p:cNvPr id="20" name="Text 17"/>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A2  ·  FOR FINANCE</a:t>
            </a:r>
            <a:endParaRPr lang="en-US" sz="1100" dirty="0"/>
          </a:p>
        </p:txBody>
      </p:sp>
      <p:sp>
        <p:nvSpPr>
          <p:cNvPr id="4" name="Text 2"/>
          <p:cNvSpPr/>
          <p:nvPr/>
        </p:nvSpPr>
        <p:spPr>
          <a:xfrm>
            <a:off x="566928" y="749808"/>
            <a:ext cx="11055096" cy="822960"/>
          </a:xfrm>
          <a:prstGeom prst="rect">
            <a:avLst/>
          </a:prstGeom>
          <a:noFill/>
          <a:ln/>
        </p:spPr>
        <p:txBody>
          <a:bodyPr wrap="square" lIns="0" tIns="0" rIns="0" bIns="0" rtlCol="0" anchor="t"/>
          <a:lstStyle/>
          <a:p>
            <a:pPr indent="0" marL="0">
              <a:lnSpc>
                <a:spcPts val="3068"/>
              </a:lnSpc>
              <a:buNone/>
            </a:pPr>
            <a:r>
              <a:rPr lang="en-US" sz="2600" b="1" dirty="0">
                <a:solidFill>
                  <a:srgbClr val="1B2338"/>
                </a:solidFill>
                <a:latin typeface="Cambria" pitchFamily="34" charset="0"/>
                <a:ea typeface="Cambria" pitchFamily="34" charset="-122"/>
                <a:cs typeface="Cambria" pitchFamily="34" charset="-120"/>
              </a:rPr>
              <a:t>Plan B ROI is a labor-minutes model, and the top clusters waste far more than a minute.</a:t>
            </a:r>
            <a:endParaRPr lang="en-US" sz="2600" dirty="0"/>
          </a:p>
        </p:txBody>
      </p:sp>
      <p:sp>
        <p:nvSpPr>
          <p:cNvPr id="5" name="Shape 3"/>
          <p:cNvSpPr/>
          <p:nvPr/>
        </p:nvSpPr>
        <p:spPr>
          <a:xfrm>
            <a:off x="566928" y="1783080"/>
            <a:ext cx="5390388" cy="1267968"/>
          </a:xfrm>
          <a:prstGeom prst="roundRect">
            <a:avLst>
              <a:gd name="adj" fmla="val 7212"/>
            </a:avLst>
          </a:prstGeom>
          <a:solidFill>
            <a:srgbClr val="F1F5FA"/>
          </a:solidFill>
          <a:ln w="12700">
            <a:solidFill>
              <a:srgbClr val="F1F5FA"/>
            </a:solidFill>
            <a:prstDash val="solid"/>
          </a:ln>
        </p:spPr>
      </p:sp>
      <p:sp>
        <p:nvSpPr>
          <p:cNvPr id="6" name="Shape 4"/>
          <p:cNvSpPr/>
          <p:nvPr/>
        </p:nvSpPr>
        <p:spPr>
          <a:xfrm>
            <a:off x="822960" y="2353056"/>
            <a:ext cx="128016" cy="128016"/>
          </a:xfrm>
          <a:prstGeom prst="diamond">
            <a:avLst/>
          </a:prstGeom>
          <a:solidFill>
            <a:srgbClr val="D9922B"/>
          </a:solidFill>
          <a:ln w="12700">
            <a:solidFill>
              <a:srgbClr val="D9922B"/>
            </a:solidFill>
            <a:prstDash val="solid"/>
          </a:ln>
        </p:spPr>
      </p:sp>
      <p:sp>
        <p:nvSpPr>
          <p:cNvPr id="7" name="Text 5"/>
          <p:cNvSpPr/>
          <p:nvPr/>
        </p:nvSpPr>
        <p:spPr>
          <a:xfrm>
            <a:off x="1097280" y="1929384"/>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About 1M store associates x 1 minute per shift x about $0.30 a minute loaded labor is roughly $300K a day, or $100M a year.</a:t>
            </a:r>
            <a:endParaRPr lang="en-US" sz="1200" dirty="0"/>
          </a:p>
        </p:txBody>
      </p:sp>
      <p:sp>
        <p:nvSpPr>
          <p:cNvPr id="8" name="Shape 6"/>
          <p:cNvSpPr/>
          <p:nvPr/>
        </p:nvSpPr>
        <p:spPr>
          <a:xfrm>
            <a:off x="6231636" y="1783080"/>
            <a:ext cx="5390388" cy="1267968"/>
          </a:xfrm>
          <a:prstGeom prst="roundRect">
            <a:avLst>
              <a:gd name="adj" fmla="val 7212"/>
            </a:avLst>
          </a:prstGeom>
          <a:solidFill>
            <a:srgbClr val="F1F5FA"/>
          </a:solidFill>
          <a:ln w="12700">
            <a:solidFill>
              <a:srgbClr val="F1F5FA"/>
            </a:solidFill>
            <a:prstDash val="solid"/>
          </a:ln>
        </p:spPr>
      </p:sp>
      <p:sp>
        <p:nvSpPr>
          <p:cNvPr id="9" name="Shape 7"/>
          <p:cNvSpPr/>
          <p:nvPr/>
        </p:nvSpPr>
        <p:spPr>
          <a:xfrm>
            <a:off x="6487668" y="2353056"/>
            <a:ext cx="128016" cy="128016"/>
          </a:xfrm>
          <a:prstGeom prst="diamond">
            <a:avLst/>
          </a:prstGeom>
          <a:solidFill>
            <a:srgbClr val="D9922B"/>
          </a:solidFill>
          <a:ln w="12700">
            <a:solidFill>
              <a:srgbClr val="D9922B"/>
            </a:solidFill>
            <a:prstDash val="solid"/>
          </a:ln>
        </p:spPr>
      </p:sp>
      <p:sp>
        <p:nvSpPr>
          <p:cNvPr id="10" name="Text 8"/>
          <p:cNvSpPr/>
          <p:nvPr/>
        </p:nvSpPr>
        <p:spPr>
          <a:xfrm>
            <a:off x="6761988" y="1929384"/>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Deflection is the second lever: fewer mid-task interruptions per team lead per shift, which the current dead-end pattern generates all day.</a:t>
            </a:r>
            <a:endParaRPr lang="en-US" sz="1200" dirty="0"/>
          </a:p>
        </p:txBody>
      </p:sp>
      <p:sp>
        <p:nvSpPr>
          <p:cNvPr id="11" name="Shape 9"/>
          <p:cNvSpPr/>
          <p:nvPr/>
        </p:nvSpPr>
        <p:spPr>
          <a:xfrm>
            <a:off x="566928" y="3252216"/>
            <a:ext cx="5390388" cy="1267968"/>
          </a:xfrm>
          <a:prstGeom prst="roundRect">
            <a:avLst>
              <a:gd name="adj" fmla="val 7212"/>
            </a:avLst>
          </a:prstGeom>
          <a:solidFill>
            <a:srgbClr val="F1F5FA"/>
          </a:solidFill>
          <a:ln w="12700">
            <a:solidFill>
              <a:srgbClr val="F1F5FA"/>
            </a:solidFill>
            <a:prstDash val="solid"/>
          </a:ln>
        </p:spPr>
      </p:sp>
      <p:sp>
        <p:nvSpPr>
          <p:cNvPr id="12" name="Shape 10"/>
          <p:cNvSpPr/>
          <p:nvPr/>
        </p:nvSpPr>
        <p:spPr>
          <a:xfrm>
            <a:off x="822960" y="3822192"/>
            <a:ext cx="128016" cy="128016"/>
          </a:xfrm>
          <a:prstGeom prst="diamond">
            <a:avLst/>
          </a:prstGeom>
          <a:solidFill>
            <a:srgbClr val="D9922B"/>
          </a:solidFill>
          <a:ln w="12700">
            <a:solidFill>
              <a:srgbClr val="D9922B"/>
            </a:solidFill>
            <a:prstDash val="solid"/>
          </a:ln>
        </p:spPr>
      </p:sp>
      <p:sp>
        <p:nvSpPr>
          <p:cNvPr id="13" name="Text 11"/>
          <p:cNvSpPr/>
          <p:nvPr/>
        </p:nvSpPr>
        <p:spPr>
          <a:xfrm>
            <a:off x="1097280" y="3398520"/>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Shift planning already fell from 90 minutes to 30 with agent help. That is the proof the mechanism works here.</a:t>
            </a:r>
            <a:endParaRPr lang="en-US" sz="1200" dirty="0"/>
          </a:p>
        </p:txBody>
      </p:sp>
      <p:sp>
        <p:nvSpPr>
          <p:cNvPr id="14" name="Shape 12"/>
          <p:cNvSpPr/>
          <p:nvPr/>
        </p:nvSpPr>
        <p:spPr>
          <a:xfrm>
            <a:off x="6231636" y="3252216"/>
            <a:ext cx="5390388" cy="1267968"/>
          </a:xfrm>
          <a:prstGeom prst="roundRect">
            <a:avLst>
              <a:gd name="adj" fmla="val 7212"/>
            </a:avLst>
          </a:prstGeom>
          <a:solidFill>
            <a:srgbClr val="F1F5FA"/>
          </a:solidFill>
          <a:ln w="12700">
            <a:solidFill>
              <a:srgbClr val="F1F5FA"/>
            </a:solidFill>
            <a:prstDash val="solid"/>
          </a:ln>
        </p:spPr>
      </p:sp>
      <p:sp>
        <p:nvSpPr>
          <p:cNvPr id="15" name="Shape 13"/>
          <p:cNvSpPr/>
          <p:nvPr/>
        </p:nvSpPr>
        <p:spPr>
          <a:xfrm>
            <a:off x="6487668" y="3822192"/>
            <a:ext cx="128016" cy="128016"/>
          </a:xfrm>
          <a:prstGeom prst="diamond">
            <a:avLst/>
          </a:prstGeom>
          <a:solidFill>
            <a:srgbClr val="D9922B"/>
          </a:solidFill>
          <a:ln w="12700">
            <a:solidFill>
              <a:srgbClr val="D9922B"/>
            </a:solidFill>
            <a:prstDash val="solid"/>
          </a:ln>
        </p:spPr>
      </p:sp>
      <p:sp>
        <p:nvSpPr>
          <p:cNvPr id="16" name="Text 14"/>
          <p:cNvSpPr/>
          <p:nvPr/>
        </p:nvSpPr>
        <p:spPr>
          <a:xfrm>
            <a:off x="6761988" y="3398520"/>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Measurement is task-level instrumentation: answer-to-action conversion, deflection rate, and time-to-resolution against a pre-pilot baseline.</a:t>
            </a:r>
            <a:endParaRPr lang="en-US" sz="1200" dirty="0"/>
          </a:p>
        </p:txBody>
      </p:sp>
      <p:sp>
        <p:nvSpPr>
          <p:cNvPr id="17" name="Shape 15"/>
          <p:cNvSpPr/>
          <p:nvPr/>
        </p:nvSpPr>
        <p:spPr>
          <a:xfrm>
            <a:off x="566928" y="4721352"/>
            <a:ext cx="11055096" cy="1267968"/>
          </a:xfrm>
          <a:prstGeom prst="roundRect">
            <a:avLst>
              <a:gd name="adj" fmla="val 7212"/>
            </a:avLst>
          </a:prstGeom>
          <a:solidFill>
            <a:srgbClr val="F1F5FA"/>
          </a:solidFill>
          <a:ln w="12700">
            <a:solidFill>
              <a:srgbClr val="F1F5FA"/>
            </a:solidFill>
            <a:prstDash val="solid"/>
          </a:ln>
        </p:spPr>
      </p:sp>
      <p:sp>
        <p:nvSpPr>
          <p:cNvPr id="18" name="Shape 16"/>
          <p:cNvSpPr/>
          <p:nvPr/>
        </p:nvSpPr>
        <p:spPr>
          <a:xfrm>
            <a:off x="822960" y="5291328"/>
            <a:ext cx="128016" cy="128016"/>
          </a:xfrm>
          <a:prstGeom prst="diamond">
            <a:avLst/>
          </a:prstGeom>
          <a:solidFill>
            <a:srgbClr val="D9922B"/>
          </a:solidFill>
          <a:ln w="12700">
            <a:solidFill>
              <a:srgbClr val="D9922B"/>
            </a:solidFill>
            <a:prstDash val="solid"/>
          </a:ln>
        </p:spPr>
      </p:sp>
      <p:sp>
        <p:nvSpPr>
          <p:cNvPr id="19" name="Text 17"/>
          <p:cNvSpPr/>
          <p:nvPr/>
        </p:nvSpPr>
        <p:spPr>
          <a:xfrm>
            <a:off x="1097280" y="4867656"/>
            <a:ext cx="10268712"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What kills this model: if the top clusters turn out to be genuinely low-frequency, or if action feasibility is blocked by systems of record we cannot write to.</a:t>
            </a:r>
            <a:endParaRPr lang="en-US" sz="1200" dirty="0"/>
          </a:p>
        </p:txBody>
      </p:sp>
      <p:sp>
        <p:nvSpPr>
          <p:cNvPr id="20" name="Text 18"/>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The sprint ranks every intent cluster by frequency x time-cost x feasibility before a single agent is built.</a:t>
            </a:r>
            <a:endParaRPr lang="en-US" sz="1050" dirty="0"/>
          </a:p>
        </p:txBody>
      </p:sp>
      <p:sp>
        <p:nvSpPr>
          <p:cNvPr id="21" name="Text 19"/>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A3  ·  FOR FINANCE</a:t>
            </a:r>
            <a:endParaRPr lang="en-US" sz="1100" dirty="0"/>
          </a:p>
        </p:txBody>
      </p:sp>
      <p:sp>
        <p:nvSpPr>
          <p:cNvPr id="4" name="Text 2"/>
          <p:cNvSpPr/>
          <p:nvPr/>
        </p:nvSpPr>
        <p:spPr>
          <a:xfrm>
            <a:off x="566928" y="749808"/>
            <a:ext cx="11055096" cy="822960"/>
          </a:xfrm>
          <a:prstGeom prst="rect">
            <a:avLst/>
          </a:prstGeom>
          <a:noFill/>
          <a:ln/>
        </p:spPr>
        <p:txBody>
          <a:bodyPr wrap="square" lIns="0" tIns="0" rIns="0" bIns="0" rtlCol="0" anchor="t"/>
          <a:lstStyle/>
          <a:p>
            <a:pPr indent="0" marL="0">
              <a:lnSpc>
                <a:spcPts val="3068"/>
              </a:lnSpc>
              <a:buNone/>
            </a:pPr>
            <a:r>
              <a:rPr lang="en-US" sz="2600" b="1" dirty="0">
                <a:solidFill>
                  <a:srgbClr val="1B2338"/>
                </a:solidFill>
                <a:latin typeface="Cambria" pitchFamily="34" charset="0"/>
                <a:ea typeface="Cambria" pitchFamily="34" charset="-122"/>
                <a:cs typeface="Cambria" pitchFamily="34" charset="-120"/>
              </a:rPr>
              <a:t>Plan C pays back through targeting yield and through what it makes cheap later.</a:t>
            </a:r>
            <a:endParaRPr lang="en-US" sz="2600" dirty="0"/>
          </a:p>
        </p:txBody>
      </p:sp>
      <p:sp>
        <p:nvSpPr>
          <p:cNvPr id="5" name="Shape 3"/>
          <p:cNvSpPr/>
          <p:nvPr/>
        </p:nvSpPr>
        <p:spPr>
          <a:xfrm>
            <a:off x="566928" y="1783080"/>
            <a:ext cx="5390388" cy="1267968"/>
          </a:xfrm>
          <a:prstGeom prst="roundRect">
            <a:avLst>
              <a:gd name="adj" fmla="val 7212"/>
            </a:avLst>
          </a:prstGeom>
          <a:solidFill>
            <a:srgbClr val="F1F5FA"/>
          </a:solidFill>
          <a:ln w="12700">
            <a:solidFill>
              <a:srgbClr val="F1F5FA"/>
            </a:solidFill>
            <a:prstDash val="solid"/>
          </a:ln>
        </p:spPr>
      </p:sp>
      <p:sp>
        <p:nvSpPr>
          <p:cNvPr id="6" name="Shape 4"/>
          <p:cNvSpPr/>
          <p:nvPr/>
        </p:nvSpPr>
        <p:spPr>
          <a:xfrm>
            <a:off x="822960" y="2353056"/>
            <a:ext cx="128016" cy="128016"/>
          </a:xfrm>
          <a:prstGeom prst="diamond">
            <a:avLst/>
          </a:prstGeom>
          <a:solidFill>
            <a:srgbClr val="D9922B"/>
          </a:solidFill>
          <a:ln w="12700">
            <a:solidFill>
              <a:srgbClr val="D9922B"/>
            </a:solidFill>
            <a:prstDash val="solid"/>
          </a:ln>
        </p:spPr>
      </p:sp>
      <p:sp>
        <p:nvSpPr>
          <p:cNvPr id="7" name="Text 5"/>
          <p:cNvSpPr/>
          <p:nvPr/>
        </p:nvSpPr>
        <p:spPr>
          <a:xfrm>
            <a:off x="1097280" y="1929384"/>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Bandit targeting concentrates incentive spend on the arms that work per cohort, which is where the roughly 2x yield on the same dollar comes from. Holdout-proven, not asserted.</a:t>
            </a:r>
            <a:endParaRPr lang="en-US" sz="1200" dirty="0"/>
          </a:p>
        </p:txBody>
      </p:sp>
      <p:sp>
        <p:nvSpPr>
          <p:cNvPr id="8" name="Shape 6"/>
          <p:cNvSpPr/>
          <p:nvPr/>
        </p:nvSpPr>
        <p:spPr>
          <a:xfrm>
            <a:off x="6231636" y="1783080"/>
            <a:ext cx="5390388" cy="1267968"/>
          </a:xfrm>
          <a:prstGeom prst="roundRect">
            <a:avLst>
              <a:gd name="adj" fmla="val 7212"/>
            </a:avLst>
          </a:prstGeom>
          <a:solidFill>
            <a:srgbClr val="F1F5FA"/>
          </a:solidFill>
          <a:ln w="12700">
            <a:solidFill>
              <a:srgbClr val="F1F5FA"/>
            </a:solidFill>
            <a:prstDash val="solid"/>
          </a:ln>
        </p:spPr>
      </p:sp>
      <p:sp>
        <p:nvSpPr>
          <p:cNvPr id="9" name="Shape 7"/>
          <p:cNvSpPr/>
          <p:nvPr/>
        </p:nvSpPr>
        <p:spPr>
          <a:xfrm>
            <a:off x="6487668" y="2353056"/>
            <a:ext cx="128016" cy="128016"/>
          </a:xfrm>
          <a:prstGeom prst="diamond">
            <a:avLst/>
          </a:prstGeom>
          <a:solidFill>
            <a:srgbClr val="D9922B"/>
          </a:solidFill>
          <a:ln w="12700">
            <a:solidFill>
              <a:srgbClr val="D9922B"/>
            </a:solidFill>
            <a:prstDash val="solid"/>
          </a:ln>
        </p:spPr>
      </p:sp>
      <p:sp>
        <p:nvSpPr>
          <p:cNvPr id="10" name="Text 8"/>
          <p:cNvSpPr/>
          <p:nvPr/>
        </p:nvSpPr>
        <p:spPr>
          <a:xfrm>
            <a:off x="6761988" y="1929384"/>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Platform effect: a new intervention becomes config rather than code, so what took weeks takes days.</a:t>
            </a:r>
            <a:endParaRPr lang="en-US" sz="1200" dirty="0"/>
          </a:p>
        </p:txBody>
      </p:sp>
      <p:sp>
        <p:nvSpPr>
          <p:cNvPr id="11" name="Shape 9"/>
          <p:cNvSpPr/>
          <p:nvPr/>
        </p:nvSpPr>
        <p:spPr>
          <a:xfrm>
            <a:off x="566928" y="3252216"/>
            <a:ext cx="5390388" cy="1267968"/>
          </a:xfrm>
          <a:prstGeom prst="roundRect">
            <a:avLst>
              <a:gd name="adj" fmla="val 7212"/>
            </a:avLst>
          </a:prstGeom>
          <a:solidFill>
            <a:srgbClr val="F1F5FA"/>
          </a:solidFill>
          <a:ln w="12700">
            <a:solidFill>
              <a:srgbClr val="F1F5FA"/>
            </a:solidFill>
            <a:prstDash val="solid"/>
          </a:ln>
        </p:spPr>
      </p:sp>
      <p:sp>
        <p:nvSpPr>
          <p:cNvPr id="12" name="Shape 10"/>
          <p:cNvSpPr/>
          <p:nvPr/>
        </p:nvSpPr>
        <p:spPr>
          <a:xfrm>
            <a:off x="822960" y="3822192"/>
            <a:ext cx="128016" cy="128016"/>
          </a:xfrm>
          <a:prstGeom prst="diamond">
            <a:avLst/>
          </a:prstGeom>
          <a:solidFill>
            <a:srgbClr val="D9922B"/>
          </a:solidFill>
          <a:ln w="12700">
            <a:solidFill>
              <a:srgbClr val="D9922B"/>
            </a:solidFill>
            <a:prstDash val="solid"/>
          </a:ln>
        </p:spPr>
      </p:sp>
      <p:sp>
        <p:nvSpPr>
          <p:cNvPr id="13" name="Text 11"/>
          <p:cNvSpPr/>
          <p:nvPr/>
        </p:nvSpPr>
        <p:spPr>
          <a:xfrm>
            <a:off x="1097280" y="3398520"/>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It compounds A and B rather than competing with them. Their features become arms the engine keeps optimizing.</a:t>
            </a:r>
            <a:endParaRPr lang="en-US" sz="1200" dirty="0"/>
          </a:p>
        </p:txBody>
      </p:sp>
      <p:sp>
        <p:nvSpPr>
          <p:cNvPr id="14" name="Shape 12"/>
          <p:cNvSpPr/>
          <p:nvPr/>
        </p:nvSpPr>
        <p:spPr>
          <a:xfrm>
            <a:off x="6231636" y="3252216"/>
            <a:ext cx="5390388" cy="1267968"/>
          </a:xfrm>
          <a:prstGeom prst="roundRect">
            <a:avLst>
              <a:gd name="adj" fmla="val 7212"/>
            </a:avLst>
          </a:prstGeom>
          <a:solidFill>
            <a:srgbClr val="F1F5FA"/>
          </a:solidFill>
          <a:ln w="12700">
            <a:solidFill>
              <a:srgbClr val="F1F5FA"/>
            </a:solidFill>
            <a:prstDash val="solid"/>
          </a:ln>
        </p:spPr>
      </p:sp>
      <p:sp>
        <p:nvSpPr>
          <p:cNvPr id="15" name="Shape 13"/>
          <p:cNvSpPr/>
          <p:nvPr/>
        </p:nvSpPr>
        <p:spPr>
          <a:xfrm>
            <a:off x="6487668" y="3822192"/>
            <a:ext cx="128016" cy="128016"/>
          </a:xfrm>
          <a:prstGeom prst="diamond">
            <a:avLst/>
          </a:prstGeom>
          <a:solidFill>
            <a:srgbClr val="D9922B"/>
          </a:solidFill>
          <a:ln w="12700">
            <a:solidFill>
              <a:srgbClr val="D9922B"/>
            </a:solidFill>
            <a:prstDash val="solid"/>
          </a:ln>
        </p:spPr>
      </p:sp>
      <p:sp>
        <p:nvSpPr>
          <p:cNvPr id="16" name="Text 14"/>
          <p:cNvSpPr/>
          <p:nvPr/>
        </p:nvSpPr>
        <p:spPr>
          <a:xfrm>
            <a:off x="6761988" y="3398520"/>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Measurement is permanent long-horizon holdouts, incentive ROI per arm, and predicted versus actual lift with equity audits attached.</a:t>
            </a:r>
            <a:endParaRPr lang="en-US" sz="1200" dirty="0"/>
          </a:p>
        </p:txBody>
      </p:sp>
      <p:sp>
        <p:nvSpPr>
          <p:cNvPr id="17" name="Shape 15"/>
          <p:cNvSpPr/>
          <p:nvPr/>
        </p:nvSpPr>
        <p:spPr>
          <a:xfrm>
            <a:off x="566928" y="4721352"/>
            <a:ext cx="11055096" cy="1267968"/>
          </a:xfrm>
          <a:prstGeom prst="roundRect">
            <a:avLst>
              <a:gd name="adj" fmla="val 7212"/>
            </a:avLst>
          </a:prstGeom>
          <a:solidFill>
            <a:srgbClr val="F1F5FA"/>
          </a:solidFill>
          <a:ln w="12700">
            <a:solidFill>
              <a:srgbClr val="F1F5FA"/>
            </a:solidFill>
            <a:prstDash val="solid"/>
          </a:ln>
        </p:spPr>
      </p:sp>
      <p:sp>
        <p:nvSpPr>
          <p:cNvPr id="18" name="Shape 16"/>
          <p:cNvSpPr/>
          <p:nvPr/>
        </p:nvSpPr>
        <p:spPr>
          <a:xfrm>
            <a:off x="822960" y="5291328"/>
            <a:ext cx="128016" cy="128016"/>
          </a:xfrm>
          <a:prstGeom prst="diamond">
            <a:avLst/>
          </a:prstGeom>
          <a:solidFill>
            <a:srgbClr val="D9922B"/>
          </a:solidFill>
          <a:ln w="12700">
            <a:solidFill>
              <a:srgbClr val="D9922B"/>
            </a:solidFill>
            <a:prstDash val="solid"/>
          </a:ln>
        </p:spPr>
      </p:sp>
      <p:sp>
        <p:nvSpPr>
          <p:cNvPr id="19" name="Text 17"/>
          <p:cNvSpPr/>
          <p:nvPr/>
        </p:nvSpPr>
        <p:spPr>
          <a:xfrm>
            <a:off x="1097280" y="4867656"/>
            <a:ext cx="10268712"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What kills this model: if attrition drivers turn out to be uniform across cohorts, targeting has nothing to find and the platform spend is not justified yet.</a:t>
            </a:r>
            <a:endParaRPr lang="en-US" sz="1200" dirty="0"/>
          </a:p>
        </p:txBody>
      </p:sp>
      <p:sp>
        <p:nvSpPr>
          <p:cNvPr id="20" name="Text 18"/>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This is the slowest bet to a visible win, which is exactly why it is sequenced second rather than first.</a:t>
            </a:r>
            <a:endParaRPr lang="en-US" sz="1050" dirty="0"/>
          </a:p>
        </p:txBody>
      </p:sp>
      <p:sp>
        <p:nvSpPr>
          <p:cNvPr id="21" name="Text 19"/>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A4  ·  FOR FINANCE AND THE GM</a:t>
            </a:r>
            <a:endParaRPr lang="en-US" sz="1100" dirty="0"/>
          </a:p>
        </p:txBody>
      </p:sp>
      <p:sp>
        <p:nvSpPr>
          <p:cNvPr id="4" name="Text 2"/>
          <p:cNvSpPr/>
          <p:nvPr/>
        </p:nvSpPr>
        <p:spPr>
          <a:xfrm>
            <a:off x="566928" y="749808"/>
            <a:ext cx="11055096" cy="822960"/>
          </a:xfrm>
          <a:prstGeom prst="rect">
            <a:avLst/>
          </a:prstGeom>
          <a:noFill/>
          <a:ln/>
        </p:spPr>
        <p:txBody>
          <a:bodyPr wrap="square" lIns="0" tIns="0" rIns="0" bIns="0" rtlCol="0" anchor="t"/>
          <a:lstStyle/>
          <a:p>
            <a:pPr indent="0" marL="0">
              <a:lnSpc>
                <a:spcPts val="3068"/>
              </a:lnSpc>
              <a:buNone/>
            </a:pPr>
            <a:r>
              <a:rPr lang="en-US" sz="2600" b="1" dirty="0">
                <a:solidFill>
                  <a:srgbClr val="1B2338"/>
                </a:solidFill>
                <a:latin typeface="Cambria" pitchFamily="34" charset="0"/>
                <a:ea typeface="Cambria" pitchFamily="34" charset="-122"/>
                <a:cs typeface="Cambria" pitchFamily="34" charset="-120"/>
              </a:rPr>
              <a:t>Measurement is designed before the build, so the day-90 call is arithmetic and not debate.</a:t>
            </a:r>
            <a:endParaRPr lang="en-US" sz="2600" dirty="0"/>
          </a:p>
        </p:txBody>
      </p:sp>
      <p:sp>
        <p:nvSpPr>
          <p:cNvPr id="5" name="Shape 3"/>
          <p:cNvSpPr/>
          <p:nvPr/>
        </p:nvSpPr>
        <p:spPr>
          <a:xfrm>
            <a:off x="566928" y="1783080"/>
            <a:ext cx="5390388" cy="1267968"/>
          </a:xfrm>
          <a:prstGeom prst="roundRect">
            <a:avLst>
              <a:gd name="adj" fmla="val 7212"/>
            </a:avLst>
          </a:prstGeom>
          <a:solidFill>
            <a:srgbClr val="F1F5FA"/>
          </a:solidFill>
          <a:ln w="12700">
            <a:solidFill>
              <a:srgbClr val="F1F5FA"/>
            </a:solidFill>
            <a:prstDash val="solid"/>
          </a:ln>
        </p:spPr>
      </p:sp>
      <p:sp>
        <p:nvSpPr>
          <p:cNvPr id="6" name="Shape 4"/>
          <p:cNvSpPr/>
          <p:nvPr/>
        </p:nvSpPr>
        <p:spPr>
          <a:xfrm>
            <a:off x="822960" y="2353056"/>
            <a:ext cx="128016" cy="128016"/>
          </a:xfrm>
          <a:prstGeom prst="diamond">
            <a:avLst/>
          </a:prstGeom>
          <a:solidFill>
            <a:srgbClr val="D9922B"/>
          </a:solidFill>
          <a:ln w="12700">
            <a:solidFill>
              <a:srgbClr val="D9922B"/>
            </a:solidFill>
            <a:prstDash val="solid"/>
          </a:ln>
        </p:spPr>
      </p:sp>
      <p:sp>
        <p:nvSpPr>
          <p:cNvPr id="7" name="Text 5"/>
          <p:cNvSpPr/>
          <p:nvPr/>
        </p:nvSpPr>
        <p:spPr>
          <a:xfrm>
            <a:off x="1097280" y="1929384"/>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Matched pairs: 20 pilot stores and 20 control stores matched on volume, region, tenure mix, and recent turnover.</a:t>
            </a:r>
            <a:endParaRPr lang="en-US" sz="1200" dirty="0"/>
          </a:p>
        </p:txBody>
      </p:sp>
      <p:sp>
        <p:nvSpPr>
          <p:cNvPr id="8" name="Shape 6"/>
          <p:cNvSpPr/>
          <p:nvPr/>
        </p:nvSpPr>
        <p:spPr>
          <a:xfrm>
            <a:off x="6231636" y="1783080"/>
            <a:ext cx="5390388" cy="1267968"/>
          </a:xfrm>
          <a:prstGeom prst="roundRect">
            <a:avLst>
              <a:gd name="adj" fmla="val 7212"/>
            </a:avLst>
          </a:prstGeom>
          <a:solidFill>
            <a:srgbClr val="F1F5FA"/>
          </a:solidFill>
          <a:ln w="12700">
            <a:solidFill>
              <a:srgbClr val="F1F5FA"/>
            </a:solidFill>
            <a:prstDash val="solid"/>
          </a:ln>
        </p:spPr>
      </p:sp>
      <p:sp>
        <p:nvSpPr>
          <p:cNvPr id="9" name="Shape 7"/>
          <p:cNvSpPr/>
          <p:nvPr/>
        </p:nvSpPr>
        <p:spPr>
          <a:xfrm>
            <a:off x="6487668" y="2353056"/>
            <a:ext cx="128016" cy="128016"/>
          </a:xfrm>
          <a:prstGeom prst="diamond">
            <a:avLst/>
          </a:prstGeom>
          <a:solidFill>
            <a:srgbClr val="D9922B"/>
          </a:solidFill>
          <a:ln w="12700">
            <a:solidFill>
              <a:srgbClr val="D9922B"/>
            </a:solidFill>
            <a:prstDash val="solid"/>
          </a:ln>
        </p:spPr>
      </p:sp>
      <p:sp>
        <p:nvSpPr>
          <p:cNvPr id="10" name="Text 8"/>
          <p:cNvSpPr/>
          <p:nvPr/>
        </p:nvSpPr>
        <p:spPr>
          <a:xfrm>
            <a:off x="6761988" y="1929384"/>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The north star is pre-registered before the pilot opens. No metric shopping after the read.</a:t>
            </a:r>
            <a:endParaRPr lang="en-US" sz="1200" dirty="0"/>
          </a:p>
        </p:txBody>
      </p:sp>
      <p:sp>
        <p:nvSpPr>
          <p:cNvPr id="11" name="Shape 9"/>
          <p:cNvSpPr/>
          <p:nvPr/>
        </p:nvSpPr>
        <p:spPr>
          <a:xfrm>
            <a:off x="566928" y="3252216"/>
            <a:ext cx="5390388" cy="1267968"/>
          </a:xfrm>
          <a:prstGeom prst="roundRect">
            <a:avLst>
              <a:gd name="adj" fmla="val 7212"/>
            </a:avLst>
          </a:prstGeom>
          <a:solidFill>
            <a:srgbClr val="F1F5FA"/>
          </a:solidFill>
          <a:ln w="12700">
            <a:solidFill>
              <a:srgbClr val="F1F5FA"/>
            </a:solidFill>
            <a:prstDash val="solid"/>
          </a:ln>
        </p:spPr>
      </p:sp>
      <p:sp>
        <p:nvSpPr>
          <p:cNvPr id="12" name="Shape 10"/>
          <p:cNvSpPr/>
          <p:nvPr/>
        </p:nvSpPr>
        <p:spPr>
          <a:xfrm>
            <a:off x="822960" y="3822192"/>
            <a:ext cx="128016" cy="128016"/>
          </a:xfrm>
          <a:prstGeom prst="diamond">
            <a:avLst/>
          </a:prstGeom>
          <a:solidFill>
            <a:srgbClr val="D9922B"/>
          </a:solidFill>
          <a:ln w="12700">
            <a:solidFill>
              <a:srgbClr val="D9922B"/>
            </a:solidFill>
            <a:prstDash val="solid"/>
          </a:ln>
        </p:spPr>
      </p:sp>
      <p:sp>
        <p:nvSpPr>
          <p:cNvPr id="13" name="Text 11"/>
          <p:cNvSpPr/>
          <p:nvPr/>
        </p:nvSpPr>
        <p:spPr>
          <a:xfrm>
            <a:off x="1097280" y="3398520"/>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Plan C keeps permanent long-horizon holdout groups, so leading indicators stay honest against 90-day retention.</a:t>
            </a:r>
            <a:endParaRPr lang="en-US" sz="1200" dirty="0"/>
          </a:p>
        </p:txBody>
      </p:sp>
      <p:sp>
        <p:nvSpPr>
          <p:cNvPr id="14" name="Shape 12"/>
          <p:cNvSpPr/>
          <p:nvPr/>
        </p:nvSpPr>
        <p:spPr>
          <a:xfrm>
            <a:off x="6231636" y="3252216"/>
            <a:ext cx="5390388" cy="1267968"/>
          </a:xfrm>
          <a:prstGeom prst="roundRect">
            <a:avLst>
              <a:gd name="adj" fmla="val 7212"/>
            </a:avLst>
          </a:prstGeom>
          <a:solidFill>
            <a:srgbClr val="F1F5FA"/>
          </a:solidFill>
          <a:ln w="12700">
            <a:solidFill>
              <a:srgbClr val="F1F5FA"/>
            </a:solidFill>
            <a:prstDash val="solid"/>
          </a:ln>
        </p:spPr>
      </p:sp>
      <p:sp>
        <p:nvSpPr>
          <p:cNvPr id="15" name="Shape 13"/>
          <p:cNvSpPr/>
          <p:nvPr/>
        </p:nvSpPr>
        <p:spPr>
          <a:xfrm>
            <a:off x="6487668" y="3822192"/>
            <a:ext cx="128016" cy="128016"/>
          </a:xfrm>
          <a:prstGeom prst="diamond">
            <a:avLst/>
          </a:prstGeom>
          <a:solidFill>
            <a:srgbClr val="D9922B"/>
          </a:solidFill>
          <a:ln w="12700">
            <a:solidFill>
              <a:srgbClr val="D9922B"/>
            </a:solidFill>
            <a:prstDash val="solid"/>
          </a:ln>
        </p:spPr>
      </p:sp>
      <p:sp>
        <p:nvSpPr>
          <p:cNvPr id="16" name="Text 14"/>
          <p:cNvSpPr/>
          <p:nvPr/>
        </p:nvSpPr>
        <p:spPr>
          <a:xfrm>
            <a:off x="6761988" y="3398520"/>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Every plan ends in a scale or kill decision priced in CFO terms: cost per replaced associate against measured pilot lift.</a:t>
            </a:r>
            <a:endParaRPr lang="en-US" sz="1200" dirty="0"/>
          </a:p>
        </p:txBody>
      </p:sp>
      <p:sp>
        <p:nvSpPr>
          <p:cNvPr id="17" name="Shape 15"/>
          <p:cNvSpPr/>
          <p:nvPr/>
        </p:nvSpPr>
        <p:spPr>
          <a:xfrm>
            <a:off x="566928" y="4721352"/>
            <a:ext cx="11055096" cy="1267968"/>
          </a:xfrm>
          <a:prstGeom prst="roundRect">
            <a:avLst>
              <a:gd name="adj" fmla="val 7212"/>
            </a:avLst>
          </a:prstGeom>
          <a:solidFill>
            <a:srgbClr val="F1F5FA"/>
          </a:solidFill>
          <a:ln w="12700">
            <a:solidFill>
              <a:srgbClr val="F1F5FA"/>
            </a:solidFill>
            <a:prstDash val="solid"/>
          </a:ln>
        </p:spPr>
      </p:sp>
      <p:sp>
        <p:nvSpPr>
          <p:cNvPr id="18" name="Shape 16"/>
          <p:cNvSpPr/>
          <p:nvPr/>
        </p:nvSpPr>
        <p:spPr>
          <a:xfrm>
            <a:off x="822960" y="5291328"/>
            <a:ext cx="128016" cy="128016"/>
          </a:xfrm>
          <a:prstGeom prst="diamond">
            <a:avLst/>
          </a:prstGeom>
          <a:solidFill>
            <a:srgbClr val="D9922B"/>
          </a:solidFill>
          <a:ln w="12700">
            <a:solidFill>
              <a:srgbClr val="D9922B"/>
            </a:solidFill>
            <a:prstDash val="solid"/>
          </a:ln>
        </p:spPr>
      </p:sp>
      <p:sp>
        <p:nvSpPr>
          <p:cNvPr id="19" name="Text 17"/>
          <p:cNvSpPr/>
          <p:nvPr/>
        </p:nvSpPr>
        <p:spPr>
          <a:xfrm>
            <a:off x="1097280" y="4867656"/>
            <a:ext cx="10268712"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Scale at 2 points or better. Kill under 1 point, or on any sentiment drop in pilot stores.</a:t>
            </a:r>
            <a:endParaRPr lang="en-US" sz="1200" dirty="0"/>
          </a:p>
        </p:txBody>
      </p:sp>
      <p:sp>
        <p:nvSpPr>
          <p:cNvPr id="20" name="Text 18"/>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Pre-registration is what separates a pilot from a demo.</a:t>
            </a:r>
            <a:endParaRPr lang="en-US" sz="1050" dirty="0"/>
          </a:p>
        </p:txBody>
      </p:sp>
      <p:sp>
        <p:nvSpPr>
          <p:cNvPr id="21" name="Text 19"/>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A5  ·  FOR THE GM AND HIRING PRINCIPAL</a:t>
            </a:r>
            <a:endParaRPr lang="en-US" sz="1100" dirty="0"/>
          </a:p>
        </p:txBody>
      </p:sp>
      <p:sp>
        <p:nvSpPr>
          <p:cNvPr id="4" name="Text 2"/>
          <p:cNvSpPr/>
          <p:nvPr/>
        </p:nvSpPr>
        <p:spPr>
          <a:xfrm>
            <a:off x="566928" y="749808"/>
            <a:ext cx="11055096" cy="822960"/>
          </a:xfrm>
          <a:prstGeom prst="rect">
            <a:avLst/>
          </a:prstGeom>
          <a:noFill/>
          <a:ln/>
        </p:spPr>
        <p:txBody>
          <a:bodyPr wrap="square" lIns="0" tIns="0" rIns="0" bIns="0" rtlCol="0" anchor="t"/>
          <a:lstStyle/>
          <a:p>
            <a:pPr indent="0" marL="0">
              <a:lnSpc>
                <a:spcPts val="3068"/>
              </a:lnSpc>
              <a:buNone/>
            </a:pPr>
            <a:r>
              <a:rPr lang="en-US" sz="2600" b="1" dirty="0">
                <a:solidFill>
                  <a:srgbClr val="1B2338"/>
                </a:solidFill>
                <a:latin typeface="Cambria" pitchFamily="34" charset="0"/>
                <a:ea typeface="Cambria" pitchFamily="34" charset="-122"/>
                <a:cs typeface="Cambria" pitchFamily="34" charset="-120"/>
              </a:rPr>
              <a:t>Two weeks, four workstreams, and one question each has to answer.</a:t>
            </a:r>
            <a:endParaRPr lang="en-US" sz="2600" dirty="0"/>
          </a:p>
        </p:txBody>
      </p:sp>
      <p:sp>
        <p:nvSpPr>
          <p:cNvPr id="5" name="Shape 3"/>
          <p:cNvSpPr/>
          <p:nvPr/>
        </p:nvSpPr>
        <p:spPr>
          <a:xfrm>
            <a:off x="566928" y="1810512"/>
            <a:ext cx="2592324" cy="3566160"/>
          </a:xfrm>
          <a:prstGeom prst="roundRect">
            <a:avLst>
              <a:gd name="adj" fmla="val 4233"/>
            </a:avLst>
          </a:prstGeom>
          <a:solidFill>
            <a:srgbClr val="F1F5FA"/>
          </a:solidFill>
          <a:ln w="12700">
            <a:solidFill>
              <a:srgbClr val="F1F5FA"/>
            </a:solidFill>
            <a:prstDash val="solid"/>
          </a:ln>
        </p:spPr>
      </p:sp>
      <p:sp>
        <p:nvSpPr>
          <p:cNvPr id="6" name="Shape 4"/>
          <p:cNvSpPr/>
          <p:nvPr/>
        </p:nvSpPr>
        <p:spPr>
          <a:xfrm>
            <a:off x="749808" y="1993392"/>
            <a:ext cx="384048" cy="384048"/>
          </a:xfrm>
          <a:prstGeom prst="ellipse">
            <a:avLst/>
          </a:prstGeom>
          <a:solidFill>
            <a:srgbClr val="16233B"/>
          </a:solidFill>
          <a:ln w="12700">
            <a:solidFill>
              <a:srgbClr val="16233B"/>
            </a:solidFill>
            <a:prstDash val="solid"/>
          </a:ln>
        </p:spPr>
      </p:sp>
      <p:sp>
        <p:nvSpPr>
          <p:cNvPr id="7" name="Text 5"/>
          <p:cNvSpPr/>
          <p:nvPr/>
        </p:nvSpPr>
        <p:spPr>
          <a:xfrm>
            <a:off x="749808" y="19933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749808" y="2468880"/>
            <a:ext cx="2226564" cy="256032"/>
          </a:xfrm>
          <a:prstGeom prst="rect">
            <a:avLst/>
          </a:prstGeom>
          <a:noFill/>
          <a:ln/>
        </p:spPr>
        <p:txBody>
          <a:bodyPr wrap="square" lIns="0" tIns="0" rIns="0" bIns="0" rtlCol="0" anchor="ctr"/>
          <a:lstStyle/>
          <a:p>
            <a:pPr indent="0" marL="0">
              <a:buNone/>
            </a:pPr>
            <a:r>
              <a:rPr lang="en-US" sz="1000" b="1" dirty="0">
                <a:solidFill>
                  <a:srgbClr val="5E6980"/>
                </a:solidFill>
                <a:latin typeface="Calibri" pitchFamily="34" charset="0"/>
                <a:ea typeface="Calibri" pitchFamily="34" charset="-122"/>
                <a:cs typeface="Calibri" pitchFamily="34" charset="-120"/>
              </a:rPr>
              <a:t>Days 1 to 5</a:t>
            </a:r>
            <a:endParaRPr lang="en-US" sz="1000" dirty="0"/>
          </a:p>
        </p:txBody>
      </p:sp>
      <p:sp>
        <p:nvSpPr>
          <p:cNvPr id="9" name="Text 7"/>
          <p:cNvSpPr/>
          <p:nvPr/>
        </p:nvSpPr>
        <p:spPr>
          <a:xfrm>
            <a:off x="749808" y="2724912"/>
            <a:ext cx="2226564" cy="566928"/>
          </a:xfrm>
          <a:prstGeom prst="rect">
            <a:avLst/>
          </a:prstGeom>
          <a:noFill/>
          <a:ln/>
        </p:spPr>
        <p:txBody>
          <a:bodyPr wrap="square" lIns="0" tIns="0" rIns="0" bIns="0" rtlCol="0" anchor="t"/>
          <a:lstStyle/>
          <a:p>
            <a:pPr indent="0" marL="0">
              <a:lnSpc>
                <a:spcPts val="1800"/>
              </a:lnSpc>
              <a:buNone/>
            </a:pPr>
            <a:r>
              <a:rPr lang="en-US" sz="1450" b="1" dirty="0">
                <a:solidFill>
                  <a:srgbClr val="1B2338"/>
                </a:solidFill>
                <a:latin typeface="Cambria" pitchFamily="34" charset="0"/>
                <a:ea typeface="Cambria" pitchFamily="34" charset="-122"/>
                <a:cs typeface="Cambria" pitchFamily="34" charset="-120"/>
              </a:rPr>
              <a:t>Telemetry deep-dive</a:t>
            </a:r>
            <a:endParaRPr lang="en-US" sz="1450" dirty="0"/>
          </a:p>
        </p:txBody>
      </p:sp>
      <p:sp>
        <p:nvSpPr>
          <p:cNvPr id="10" name="Text 8"/>
          <p:cNvSpPr/>
          <p:nvPr/>
        </p:nvSpPr>
        <p:spPr>
          <a:xfrm>
            <a:off x="749808" y="3328416"/>
            <a:ext cx="2226564" cy="1207008"/>
          </a:xfrm>
          <a:prstGeom prst="rect">
            <a:avLst/>
          </a:prstGeom>
          <a:noFill/>
          <a:ln/>
        </p:spPr>
        <p:txBody>
          <a:bodyPr wrap="square" lIns="0" tIns="0" rIns="0" bIns="0" rtlCol="0" anchor="t"/>
          <a:lstStyle/>
          <a:p>
            <a:pPr indent="0" marL="0">
              <a:lnSpc>
                <a:spcPts val="1400"/>
              </a:lnSpc>
              <a:buNone/>
            </a:pPr>
            <a:r>
              <a:rPr lang="en-US" sz="1100" dirty="0">
                <a:solidFill>
                  <a:srgbClr val="1B2338"/>
                </a:solidFill>
                <a:latin typeface="Calibri" pitchFamily="34" charset="0"/>
                <a:ea typeface="Calibri" pitchFamily="34" charset="-122"/>
                <a:cs typeface="Calibri" pitchFamily="34" charset="-120"/>
              </a:rPr>
              <a:t>The 3M daily Sidekick questions clustered by intent. Feature engagement by role, tenure, shift, and region. Drop-off funnels.</a:t>
            </a:r>
            <a:endParaRPr lang="en-US" sz="1100" dirty="0"/>
          </a:p>
        </p:txBody>
      </p:sp>
      <p:sp>
        <p:nvSpPr>
          <p:cNvPr id="11" name="Shape 9"/>
          <p:cNvSpPr/>
          <p:nvPr/>
        </p:nvSpPr>
        <p:spPr>
          <a:xfrm>
            <a:off x="749808" y="4572000"/>
            <a:ext cx="2226564" cy="658368"/>
          </a:xfrm>
          <a:prstGeom prst="roundRect">
            <a:avLst>
              <a:gd name="adj" fmla="val 11111"/>
            </a:avLst>
          </a:prstGeom>
          <a:solidFill>
            <a:srgbClr val="FAECD4"/>
          </a:solidFill>
          <a:ln w="12700">
            <a:solidFill>
              <a:srgbClr val="FAECD4"/>
            </a:solidFill>
            <a:prstDash val="solid"/>
          </a:ln>
        </p:spPr>
      </p:sp>
      <p:sp>
        <p:nvSpPr>
          <p:cNvPr id="12" name="Text 10"/>
          <p:cNvSpPr/>
          <p:nvPr/>
        </p:nvSpPr>
        <p:spPr>
          <a:xfrm>
            <a:off x="859536" y="4608576"/>
            <a:ext cx="2007108" cy="585216"/>
          </a:xfrm>
          <a:prstGeom prst="rect">
            <a:avLst/>
          </a:prstGeom>
          <a:noFill/>
          <a:ln/>
        </p:spPr>
        <p:txBody>
          <a:bodyPr wrap="square" lIns="0" tIns="0" rIns="0" bIns="0" rtlCol="0" anchor="ctr"/>
          <a:lstStyle/>
          <a:p>
            <a:pPr indent="0" marL="0">
              <a:lnSpc>
                <a:spcPts val="1300"/>
              </a:lnSpc>
              <a:buNone/>
            </a:pPr>
            <a:r>
              <a:rPr lang="en-US" sz="1000" i="1" dirty="0">
                <a:solidFill>
                  <a:srgbClr val="8A5A11"/>
                </a:solidFill>
                <a:latin typeface="Calibri" pitchFamily="34" charset="0"/>
                <a:ea typeface="Calibri" pitchFamily="34" charset="-122"/>
                <a:cs typeface="Calibri" pitchFamily="34" charset="-120"/>
              </a:rPr>
              <a:t>Where do answers dead-end into manual work?</a:t>
            </a:r>
            <a:endParaRPr lang="en-US" sz="1000" dirty="0"/>
          </a:p>
        </p:txBody>
      </p:sp>
      <p:sp>
        <p:nvSpPr>
          <p:cNvPr id="13" name="Shape 11"/>
          <p:cNvSpPr/>
          <p:nvPr/>
        </p:nvSpPr>
        <p:spPr>
          <a:xfrm>
            <a:off x="3387852" y="1810512"/>
            <a:ext cx="2592324" cy="3566160"/>
          </a:xfrm>
          <a:prstGeom prst="roundRect">
            <a:avLst>
              <a:gd name="adj" fmla="val 4233"/>
            </a:avLst>
          </a:prstGeom>
          <a:solidFill>
            <a:srgbClr val="F1F5FA"/>
          </a:solidFill>
          <a:ln w="12700">
            <a:solidFill>
              <a:srgbClr val="F1F5FA"/>
            </a:solidFill>
            <a:prstDash val="solid"/>
          </a:ln>
        </p:spPr>
      </p:sp>
      <p:sp>
        <p:nvSpPr>
          <p:cNvPr id="14" name="Shape 12"/>
          <p:cNvSpPr/>
          <p:nvPr/>
        </p:nvSpPr>
        <p:spPr>
          <a:xfrm>
            <a:off x="3570732" y="1993392"/>
            <a:ext cx="384048" cy="384048"/>
          </a:xfrm>
          <a:prstGeom prst="ellipse">
            <a:avLst/>
          </a:prstGeom>
          <a:solidFill>
            <a:srgbClr val="16233B"/>
          </a:solidFill>
          <a:ln w="12700">
            <a:solidFill>
              <a:srgbClr val="16233B"/>
            </a:solidFill>
            <a:prstDash val="solid"/>
          </a:ln>
        </p:spPr>
      </p:sp>
      <p:sp>
        <p:nvSpPr>
          <p:cNvPr id="15" name="Text 13"/>
          <p:cNvSpPr/>
          <p:nvPr/>
        </p:nvSpPr>
        <p:spPr>
          <a:xfrm>
            <a:off x="3570732" y="19933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6" name="Text 14"/>
          <p:cNvSpPr/>
          <p:nvPr/>
        </p:nvSpPr>
        <p:spPr>
          <a:xfrm>
            <a:off x="3570732" y="2468880"/>
            <a:ext cx="2226564" cy="256032"/>
          </a:xfrm>
          <a:prstGeom prst="rect">
            <a:avLst/>
          </a:prstGeom>
          <a:noFill/>
          <a:ln/>
        </p:spPr>
        <p:txBody>
          <a:bodyPr wrap="square" lIns="0" tIns="0" rIns="0" bIns="0" rtlCol="0" anchor="ctr"/>
          <a:lstStyle/>
          <a:p>
            <a:pPr indent="0" marL="0">
              <a:buNone/>
            </a:pPr>
            <a:r>
              <a:rPr lang="en-US" sz="1000" b="1" dirty="0">
                <a:solidFill>
                  <a:srgbClr val="5E6980"/>
                </a:solidFill>
                <a:latin typeface="Calibri" pitchFamily="34" charset="0"/>
                <a:ea typeface="Calibri" pitchFamily="34" charset="-122"/>
                <a:cs typeface="Calibri" pitchFamily="34" charset="-120"/>
              </a:rPr>
              <a:t>Days 1 to 5, parallel</a:t>
            </a:r>
            <a:endParaRPr lang="en-US" sz="1000" dirty="0"/>
          </a:p>
        </p:txBody>
      </p:sp>
      <p:sp>
        <p:nvSpPr>
          <p:cNvPr id="17" name="Text 15"/>
          <p:cNvSpPr/>
          <p:nvPr/>
        </p:nvSpPr>
        <p:spPr>
          <a:xfrm>
            <a:off x="3570732" y="2724912"/>
            <a:ext cx="2226564" cy="566928"/>
          </a:xfrm>
          <a:prstGeom prst="rect">
            <a:avLst/>
          </a:prstGeom>
          <a:noFill/>
          <a:ln/>
        </p:spPr>
        <p:txBody>
          <a:bodyPr wrap="square" lIns="0" tIns="0" rIns="0" bIns="0" rtlCol="0" anchor="t"/>
          <a:lstStyle/>
          <a:p>
            <a:pPr indent="0" marL="0">
              <a:lnSpc>
                <a:spcPts val="1800"/>
              </a:lnSpc>
              <a:buNone/>
            </a:pPr>
            <a:r>
              <a:rPr lang="en-US" sz="1450" b="1" dirty="0">
                <a:solidFill>
                  <a:srgbClr val="1B2338"/>
                </a:solidFill>
                <a:latin typeface="Cambria" pitchFamily="34" charset="0"/>
                <a:ea typeface="Cambria" pitchFamily="34" charset="-122"/>
                <a:cs typeface="Cambria" pitchFamily="34" charset="-120"/>
              </a:rPr>
              <a:t>Voice-of-associate review</a:t>
            </a:r>
            <a:endParaRPr lang="en-US" sz="1450" dirty="0"/>
          </a:p>
        </p:txBody>
      </p:sp>
      <p:sp>
        <p:nvSpPr>
          <p:cNvPr id="18" name="Text 16"/>
          <p:cNvSpPr/>
          <p:nvPr/>
        </p:nvSpPr>
        <p:spPr>
          <a:xfrm>
            <a:off x="3570732" y="3328416"/>
            <a:ext cx="2226564" cy="1207008"/>
          </a:xfrm>
          <a:prstGeom prst="rect">
            <a:avLst/>
          </a:prstGeom>
          <a:noFill/>
          <a:ln/>
        </p:spPr>
        <p:txBody>
          <a:bodyPr wrap="square" lIns="0" tIns="0" rIns="0" bIns="0" rtlCol="0" anchor="t"/>
          <a:lstStyle/>
          <a:p>
            <a:pPr indent="0" marL="0">
              <a:lnSpc>
                <a:spcPts val="1400"/>
              </a:lnSpc>
              <a:buNone/>
            </a:pPr>
            <a:r>
              <a:rPr lang="en-US" sz="1100" dirty="0">
                <a:solidFill>
                  <a:srgbClr val="1B2338"/>
                </a:solidFill>
                <a:latin typeface="Calibri" pitchFamily="34" charset="0"/>
                <a:ea typeface="Calibri" pitchFamily="34" charset="-122"/>
                <a:cs typeface="Calibri" pitchFamily="34" charset="-120"/>
              </a:rPr>
              <a:t>In-app feedback, survey verbatims, app store reviews, thumbs-down transcripts, exit interview themes, coded against the telemetry clusters.</a:t>
            </a:r>
            <a:endParaRPr lang="en-US" sz="1100" dirty="0"/>
          </a:p>
        </p:txBody>
      </p:sp>
      <p:sp>
        <p:nvSpPr>
          <p:cNvPr id="19" name="Shape 17"/>
          <p:cNvSpPr/>
          <p:nvPr/>
        </p:nvSpPr>
        <p:spPr>
          <a:xfrm>
            <a:off x="3570732" y="4572000"/>
            <a:ext cx="2226564" cy="658368"/>
          </a:xfrm>
          <a:prstGeom prst="roundRect">
            <a:avLst>
              <a:gd name="adj" fmla="val 11111"/>
            </a:avLst>
          </a:prstGeom>
          <a:solidFill>
            <a:srgbClr val="FAECD4"/>
          </a:solidFill>
          <a:ln w="12700">
            <a:solidFill>
              <a:srgbClr val="FAECD4"/>
            </a:solidFill>
            <a:prstDash val="solid"/>
          </a:ln>
        </p:spPr>
      </p:sp>
      <p:sp>
        <p:nvSpPr>
          <p:cNvPr id="20" name="Text 18"/>
          <p:cNvSpPr/>
          <p:nvPr/>
        </p:nvSpPr>
        <p:spPr>
          <a:xfrm>
            <a:off x="3680460" y="4608576"/>
            <a:ext cx="2007108" cy="585216"/>
          </a:xfrm>
          <a:prstGeom prst="rect">
            <a:avLst/>
          </a:prstGeom>
          <a:noFill/>
          <a:ln/>
        </p:spPr>
        <p:txBody>
          <a:bodyPr wrap="square" lIns="0" tIns="0" rIns="0" bIns="0" rtlCol="0" anchor="ctr"/>
          <a:lstStyle/>
          <a:p>
            <a:pPr indent="0" marL="0">
              <a:lnSpc>
                <a:spcPts val="1300"/>
              </a:lnSpc>
              <a:buNone/>
            </a:pPr>
            <a:r>
              <a:rPr lang="en-US" sz="1000" i="1" dirty="0">
                <a:solidFill>
                  <a:srgbClr val="8A5A11"/>
                </a:solidFill>
                <a:latin typeface="Calibri" pitchFamily="34" charset="0"/>
                <a:ea typeface="Calibri" pitchFamily="34" charset="-122"/>
                <a:cs typeface="Calibri" pitchFamily="34" charset="-120"/>
              </a:rPr>
              <a:t>Where do associates say it hurts versus where the data shows it hurts?</a:t>
            </a:r>
            <a:endParaRPr lang="en-US" sz="1000" dirty="0"/>
          </a:p>
        </p:txBody>
      </p:sp>
      <p:sp>
        <p:nvSpPr>
          <p:cNvPr id="21" name="Shape 19"/>
          <p:cNvSpPr/>
          <p:nvPr/>
        </p:nvSpPr>
        <p:spPr>
          <a:xfrm>
            <a:off x="6208776" y="1810512"/>
            <a:ext cx="2592324" cy="3566160"/>
          </a:xfrm>
          <a:prstGeom prst="roundRect">
            <a:avLst>
              <a:gd name="adj" fmla="val 4233"/>
            </a:avLst>
          </a:prstGeom>
          <a:solidFill>
            <a:srgbClr val="F1F5FA"/>
          </a:solidFill>
          <a:ln w="12700">
            <a:solidFill>
              <a:srgbClr val="F1F5FA"/>
            </a:solidFill>
            <a:prstDash val="solid"/>
          </a:ln>
        </p:spPr>
      </p:sp>
      <p:sp>
        <p:nvSpPr>
          <p:cNvPr id="22" name="Shape 20"/>
          <p:cNvSpPr/>
          <p:nvPr/>
        </p:nvSpPr>
        <p:spPr>
          <a:xfrm>
            <a:off x="6391656" y="1993392"/>
            <a:ext cx="384048" cy="384048"/>
          </a:xfrm>
          <a:prstGeom prst="ellipse">
            <a:avLst/>
          </a:prstGeom>
          <a:solidFill>
            <a:srgbClr val="16233B"/>
          </a:solidFill>
          <a:ln w="12700">
            <a:solidFill>
              <a:srgbClr val="16233B"/>
            </a:solidFill>
            <a:prstDash val="solid"/>
          </a:ln>
        </p:spPr>
      </p:sp>
      <p:sp>
        <p:nvSpPr>
          <p:cNvPr id="23" name="Text 21"/>
          <p:cNvSpPr/>
          <p:nvPr/>
        </p:nvSpPr>
        <p:spPr>
          <a:xfrm>
            <a:off x="6391656" y="19933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4" name="Text 22"/>
          <p:cNvSpPr/>
          <p:nvPr/>
        </p:nvSpPr>
        <p:spPr>
          <a:xfrm>
            <a:off x="6391656" y="2468880"/>
            <a:ext cx="2226564" cy="256032"/>
          </a:xfrm>
          <a:prstGeom prst="rect">
            <a:avLst/>
          </a:prstGeom>
          <a:noFill/>
          <a:ln/>
        </p:spPr>
        <p:txBody>
          <a:bodyPr wrap="square" lIns="0" tIns="0" rIns="0" bIns="0" rtlCol="0" anchor="ctr"/>
          <a:lstStyle/>
          <a:p>
            <a:pPr indent="0" marL="0">
              <a:buNone/>
            </a:pPr>
            <a:r>
              <a:rPr lang="en-US" sz="1000" b="1" dirty="0">
                <a:solidFill>
                  <a:srgbClr val="5E6980"/>
                </a:solidFill>
                <a:latin typeface="Calibri" pitchFamily="34" charset="0"/>
                <a:ea typeface="Calibri" pitchFamily="34" charset="-122"/>
                <a:cs typeface="Calibri" pitchFamily="34" charset="-120"/>
              </a:rPr>
              <a:t>Days 6 to 12</a:t>
            </a:r>
            <a:endParaRPr lang="en-US" sz="1000" dirty="0"/>
          </a:p>
        </p:txBody>
      </p:sp>
      <p:sp>
        <p:nvSpPr>
          <p:cNvPr id="25" name="Text 23"/>
          <p:cNvSpPr/>
          <p:nvPr/>
        </p:nvSpPr>
        <p:spPr>
          <a:xfrm>
            <a:off x="6391656" y="2724912"/>
            <a:ext cx="2226564" cy="566928"/>
          </a:xfrm>
          <a:prstGeom prst="rect">
            <a:avLst/>
          </a:prstGeom>
          <a:noFill/>
          <a:ln/>
        </p:spPr>
        <p:txBody>
          <a:bodyPr wrap="square" lIns="0" tIns="0" rIns="0" bIns="0" rtlCol="0" anchor="t"/>
          <a:lstStyle/>
          <a:p>
            <a:pPr indent="0" marL="0">
              <a:lnSpc>
                <a:spcPts val="1800"/>
              </a:lnSpc>
              <a:buNone/>
            </a:pPr>
            <a:r>
              <a:rPr lang="en-US" sz="1450" b="1" dirty="0">
                <a:solidFill>
                  <a:srgbClr val="1B2338"/>
                </a:solidFill>
                <a:latin typeface="Cambria" pitchFamily="34" charset="0"/>
                <a:ea typeface="Cambria" pitchFamily="34" charset="-122"/>
                <a:cs typeface="Cambria" pitchFamily="34" charset="-120"/>
              </a:rPr>
              <a:t>Work as a store associate</a:t>
            </a:r>
            <a:endParaRPr lang="en-US" sz="1450" dirty="0"/>
          </a:p>
        </p:txBody>
      </p:sp>
      <p:sp>
        <p:nvSpPr>
          <p:cNvPr id="26" name="Text 24"/>
          <p:cNvSpPr/>
          <p:nvPr/>
        </p:nvSpPr>
        <p:spPr>
          <a:xfrm>
            <a:off x="6391656" y="3328416"/>
            <a:ext cx="2226564" cy="1207008"/>
          </a:xfrm>
          <a:prstGeom prst="rect">
            <a:avLst/>
          </a:prstGeom>
          <a:noFill/>
          <a:ln/>
        </p:spPr>
        <p:txBody>
          <a:bodyPr wrap="square" lIns="0" tIns="0" rIns="0" bIns="0" rtlCol="0" anchor="t"/>
          <a:lstStyle/>
          <a:p>
            <a:pPr indent="0" marL="0">
              <a:lnSpc>
                <a:spcPts val="1400"/>
              </a:lnSpc>
              <a:buNone/>
            </a:pPr>
            <a:r>
              <a:rPr lang="en-US" sz="1100" dirty="0">
                <a:solidFill>
                  <a:srgbClr val="1B2338"/>
                </a:solidFill>
                <a:latin typeface="Calibri" pitchFamily="34" charset="0"/>
                <a:ea typeface="Calibri" pitchFamily="34" charset="-122"/>
                <a:cs typeface="Calibri" pitchFamily="34" charset="-120"/>
              </a:rPr>
              <a:t>Badge in. Overnight stocking and front-end shifts with real task assignments, on the same shared handhelds. Not a store tour.</a:t>
            </a:r>
            <a:endParaRPr lang="en-US" sz="1100" dirty="0"/>
          </a:p>
        </p:txBody>
      </p:sp>
      <p:sp>
        <p:nvSpPr>
          <p:cNvPr id="27" name="Shape 25"/>
          <p:cNvSpPr/>
          <p:nvPr/>
        </p:nvSpPr>
        <p:spPr>
          <a:xfrm>
            <a:off x="6391656" y="4572000"/>
            <a:ext cx="2226564" cy="658368"/>
          </a:xfrm>
          <a:prstGeom prst="roundRect">
            <a:avLst>
              <a:gd name="adj" fmla="val 11111"/>
            </a:avLst>
          </a:prstGeom>
          <a:solidFill>
            <a:srgbClr val="FAECD4"/>
          </a:solidFill>
          <a:ln w="12700">
            <a:solidFill>
              <a:srgbClr val="FAECD4"/>
            </a:solidFill>
            <a:prstDash val="solid"/>
          </a:ln>
        </p:spPr>
      </p:sp>
      <p:sp>
        <p:nvSpPr>
          <p:cNvPr id="28" name="Text 26"/>
          <p:cNvSpPr/>
          <p:nvPr/>
        </p:nvSpPr>
        <p:spPr>
          <a:xfrm>
            <a:off x="6501384" y="4608576"/>
            <a:ext cx="2007108" cy="585216"/>
          </a:xfrm>
          <a:prstGeom prst="rect">
            <a:avLst/>
          </a:prstGeom>
          <a:noFill/>
          <a:ln/>
        </p:spPr>
        <p:txBody>
          <a:bodyPr wrap="square" lIns="0" tIns="0" rIns="0" bIns="0" rtlCol="0" anchor="ctr"/>
          <a:lstStyle/>
          <a:p>
            <a:pPr indent="0" marL="0">
              <a:lnSpc>
                <a:spcPts val="1300"/>
              </a:lnSpc>
              <a:buNone/>
            </a:pPr>
            <a:r>
              <a:rPr lang="en-US" sz="1000" i="1" dirty="0">
                <a:solidFill>
                  <a:srgbClr val="8A5A11"/>
                </a:solidFill>
                <a:latin typeface="Calibri" pitchFamily="34" charset="0"/>
                <a:ea typeface="Calibri" pitchFamily="34" charset="-122"/>
                <a:cs typeface="Calibri" pitchFamily="34" charset="-120"/>
              </a:rPr>
              <a:t>What does the first shift feel like, and when is the app absent?</a:t>
            </a:r>
            <a:endParaRPr lang="en-US" sz="1000" dirty="0"/>
          </a:p>
        </p:txBody>
      </p:sp>
      <p:sp>
        <p:nvSpPr>
          <p:cNvPr id="29" name="Shape 27"/>
          <p:cNvSpPr/>
          <p:nvPr/>
        </p:nvSpPr>
        <p:spPr>
          <a:xfrm>
            <a:off x="9029700" y="1810512"/>
            <a:ext cx="2592324" cy="3566160"/>
          </a:xfrm>
          <a:prstGeom prst="roundRect">
            <a:avLst>
              <a:gd name="adj" fmla="val 4233"/>
            </a:avLst>
          </a:prstGeom>
          <a:solidFill>
            <a:srgbClr val="F1F5FA"/>
          </a:solidFill>
          <a:ln w="12700">
            <a:solidFill>
              <a:srgbClr val="F1F5FA"/>
            </a:solidFill>
            <a:prstDash val="solid"/>
          </a:ln>
        </p:spPr>
      </p:sp>
      <p:sp>
        <p:nvSpPr>
          <p:cNvPr id="30" name="Shape 28"/>
          <p:cNvSpPr/>
          <p:nvPr/>
        </p:nvSpPr>
        <p:spPr>
          <a:xfrm>
            <a:off x="9212580" y="1993392"/>
            <a:ext cx="384048" cy="384048"/>
          </a:xfrm>
          <a:prstGeom prst="ellipse">
            <a:avLst/>
          </a:prstGeom>
          <a:solidFill>
            <a:srgbClr val="16233B"/>
          </a:solidFill>
          <a:ln w="12700">
            <a:solidFill>
              <a:srgbClr val="16233B"/>
            </a:solidFill>
            <a:prstDash val="solid"/>
          </a:ln>
        </p:spPr>
      </p:sp>
      <p:sp>
        <p:nvSpPr>
          <p:cNvPr id="31" name="Text 29"/>
          <p:cNvSpPr/>
          <p:nvPr/>
        </p:nvSpPr>
        <p:spPr>
          <a:xfrm>
            <a:off x="9212580" y="19933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32" name="Text 30"/>
          <p:cNvSpPr/>
          <p:nvPr/>
        </p:nvSpPr>
        <p:spPr>
          <a:xfrm>
            <a:off x="9212580" y="2468880"/>
            <a:ext cx="2226564" cy="256032"/>
          </a:xfrm>
          <a:prstGeom prst="rect">
            <a:avLst/>
          </a:prstGeom>
          <a:noFill/>
          <a:ln/>
        </p:spPr>
        <p:txBody>
          <a:bodyPr wrap="square" lIns="0" tIns="0" rIns="0" bIns="0" rtlCol="0" anchor="ctr"/>
          <a:lstStyle/>
          <a:p>
            <a:pPr indent="0" marL="0">
              <a:buNone/>
            </a:pPr>
            <a:r>
              <a:rPr lang="en-US" sz="1000" b="1" dirty="0">
                <a:solidFill>
                  <a:srgbClr val="5E6980"/>
                </a:solidFill>
                <a:latin typeface="Calibri" pitchFamily="34" charset="0"/>
                <a:ea typeface="Calibri" pitchFamily="34" charset="-122"/>
                <a:cs typeface="Calibri" pitchFamily="34" charset="-120"/>
              </a:rPr>
              <a:t>Days 13 to 14</a:t>
            </a:r>
            <a:endParaRPr lang="en-US" sz="1000" dirty="0"/>
          </a:p>
        </p:txBody>
      </p:sp>
      <p:sp>
        <p:nvSpPr>
          <p:cNvPr id="33" name="Text 31"/>
          <p:cNvSpPr/>
          <p:nvPr/>
        </p:nvSpPr>
        <p:spPr>
          <a:xfrm>
            <a:off x="9212580" y="2724912"/>
            <a:ext cx="2226564" cy="566928"/>
          </a:xfrm>
          <a:prstGeom prst="rect">
            <a:avLst/>
          </a:prstGeom>
          <a:noFill/>
          <a:ln/>
        </p:spPr>
        <p:txBody>
          <a:bodyPr wrap="square" lIns="0" tIns="0" rIns="0" bIns="0" rtlCol="0" anchor="t"/>
          <a:lstStyle/>
          <a:p>
            <a:pPr indent="0" marL="0">
              <a:lnSpc>
                <a:spcPts val="1800"/>
              </a:lnSpc>
              <a:buNone/>
            </a:pPr>
            <a:r>
              <a:rPr lang="en-US" sz="1450" b="1" dirty="0">
                <a:solidFill>
                  <a:srgbClr val="1B2338"/>
                </a:solidFill>
                <a:latin typeface="Cambria" pitchFamily="34" charset="0"/>
                <a:ea typeface="Cambria" pitchFamily="34" charset="-122"/>
                <a:cs typeface="Cambria" pitchFamily="34" charset="-120"/>
              </a:rPr>
              <a:t>Refresh the journey maps</a:t>
            </a:r>
            <a:endParaRPr lang="en-US" sz="1450" dirty="0"/>
          </a:p>
        </p:txBody>
      </p:sp>
      <p:sp>
        <p:nvSpPr>
          <p:cNvPr id="34" name="Text 32"/>
          <p:cNvSpPr/>
          <p:nvPr/>
        </p:nvSpPr>
        <p:spPr>
          <a:xfrm>
            <a:off x="9212580" y="3328416"/>
            <a:ext cx="2226564" cy="1207008"/>
          </a:xfrm>
          <a:prstGeom prst="rect">
            <a:avLst/>
          </a:prstGeom>
          <a:noFill/>
          <a:ln/>
        </p:spPr>
        <p:txBody>
          <a:bodyPr wrap="square" lIns="0" tIns="0" rIns="0" bIns="0" rtlCol="0" anchor="t"/>
          <a:lstStyle/>
          <a:p>
            <a:pPr indent="0" marL="0">
              <a:lnSpc>
                <a:spcPts val="1400"/>
              </a:lnSpc>
              <a:buNone/>
            </a:pPr>
            <a:r>
              <a:rPr lang="en-US" sz="1100" dirty="0">
                <a:solidFill>
                  <a:srgbClr val="1B2338"/>
                </a:solidFill>
                <a:latin typeface="Calibri" pitchFamily="34" charset="0"/>
                <a:ea typeface="Calibri" pitchFamily="34" charset="-122"/>
                <a:cs typeface="Calibri" pitchFamily="34" charset="-120"/>
              </a:rPr>
              <a:t>Synthesize all three inputs into evidence-based maps per persona: new associate, tenured associate, team lead.</a:t>
            </a:r>
            <a:endParaRPr lang="en-US" sz="1100" dirty="0"/>
          </a:p>
        </p:txBody>
      </p:sp>
      <p:sp>
        <p:nvSpPr>
          <p:cNvPr id="35" name="Shape 33"/>
          <p:cNvSpPr/>
          <p:nvPr/>
        </p:nvSpPr>
        <p:spPr>
          <a:xfrm>
            <a:off x="9212580" y="4572000"/>
            <a:ext cx="2226564" cy="658368"/>
          </a:xfrm>
          <a:prstGeom prst="roundRect">
            <a:avLst>
              <a:gd name="adj" fmla="val 11111"/>
            </a:avLst>
          </a:prstGeom>
          <a:solidFill>
            <a:srgbClr val="FAECD4"/>
          </a:solidFill>
          <a:ln w="12700">
            <a:solidFill>
              <a:srgbClr val="FAECD4"/>
            </a:solidFill>
            <a:prstDash val="solid"/>
          </a:ln>
        </p:spPr>
      </p:sp>
      <p:sp>
        <p:nvSpPr>
          <p:cNvPr id="36" name="Text 34"/>
          <p:cNvSpPr/>
          <p:nvPr/>
        </p:nvSpPr>
        <p:spPr>
          <a:xfrm>
            <a:off x="9322308" y="4608576"/>
            <a:ext cx="2007108" cy="585216"/>
          </a:xfrm>
          <a:prstGeom prst="rect">
            <a:avLst/>
          </a:prstGeom>
          <a:noFill/>
          <a:ln/>
        </p:spPr>
        <p:txBody>
          <a:bodyPr wrap="square" lIns="0" tIns="0" rIns="0" bIns="0" rtlCol="0" anchor="ctr"/>
          <a:lstStyle/>
          <a:p>
            <a:pPr indent="0" marL="0">
              <a:lnSpc>
                <a:spcPts val="1300"/>
              </a:lnSpc>
              <a:buNone/>
            </a:pPr>
            <a:r>
              <a:rPr lang="en-US" sz="1000" i="1" dirty="0">
                <a:solidFill>
                  <a:srgbClr val="8A5A11"/>
                </a:solidFill>
                <a:latin typeface="Calibri" pitchFamily="34" charset="0"/>
                <a:ea typeface="Calibri" pitchFamily="34" charset="-122"/>
                <a:cs typeface="Calibri" pitchFamily="34" charset="-120"/>
              </a:rPr>
              <a:t>What role does the app actually play in whether a new associate stays?</a:t>
            </a:r>
            <a:endParaRPr lang="en-US" sz="1000" dirty="0"/>
          </a:p>
        </p:txBody>
      </p:sp>
      <p:sp>
        <p:nvSpPr>
          <p:cNvPr id="37" name="Text 35"/>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Triangulation by design: telemetry shows what associates do, voice-of-associate shows what they say, floor shifts show what it feels like. A pain point in all three is real. In one, it is a hypothesis.</a:t>
            </a:r>
            <a:endParaRPr lang="en-US" sz="1050" dirty="0"/>
          </a:p>
        </p:txBody>
      </p:sp>
      <p:sp>
        <p:nvSpPr>
          <p:cNvPr id="38" name="Text 36"/>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A6  ·  FOR ENGINEERING</a:t>
            </a:r>
            <a:endParaRPr lang="en-US" sz="1100" dirty="0"/>
          </a:p>
        </p:txBody>
      </p:sp>
      <p:sp>
        <p:nvSpPr>
          <p:cNvPr id="4" name="Text 2"/>
          <p:cNvSpPr/>
          <p:nvPr/>
        </p:nvSpPr>
        <p:spPr>
          <a:xfrm>
            <a:off x="566928" y="749808"/>
            <a:ext cx="11055096" cy="822960"/>
          </a:xfrm>
          <a:prstGeom prst="rect">
            <a:avLst/>
          </a:prstGeom>
          <a:noFill/>
          <a:ln/>
        </p:spPr>
        <p:txBody>
          <a:bodyPr wrap="square" lIns="0" tIns="0" rIns="0" bIns="0" rtlCol="0" anchor="t"/>
          <a:lstStyle/>
          <a:p>
            <a:pPr indent="0" marL="0">
              <a:lnSpc>
                <a:spcPts val="3068"/>
              </a:lnSpc>
              <a:buNone/>
            </a:pPr>
            <a:r>
              <a:rPr lang="en-US" sz="2600" b="1" dirty="0">
                <a:solidFill>
                  <a:srgbClr val="1B2338"/>
                </a:solidFill>
                <a:latin typeface="Cambria" pitchFamily="34" charset="0"/>
                <a:ea typeface="Cambria" pitchFamily="34" charset="-122"/>
                <a:cs typeface="Cambria" pitchFamily="34" charset="-120"/>
              </a:rPr>
              <a:t>This ships as nano-agents inside the four-super-agent architecture that already exists.</a:t>
            </a:r>
            <a:endParaRPr lang="en-US" sz="2600" dirty="0"/>
          </a:p>
        </p:txBody>
      </p:sp>
      <p:sp>
        <p:nvSpPr>
          <p:cNvPr id="5" name="Shape 3"/>
          <p:cNvSpPr/>
          <p:nvPr/>
        </p:nvSpPr>
        <p:spPr>
          <a:xfrm>
            <a:off x="566928" y="1783080"/>
            <a:ext cx="5390388" cy="1267968"/>
          </a:xfrm>
          <a:prstGeom prst="roundRect">
            <a:avLst>
              <a:gd name="adj" fmla="val 7212"/>
            </a:avLst>
          </a:prstGeom>
          <a:solidFill>
            <a:srgbClr val="F1F5FA"/>
          </a:solidFill>
          <a:ln w="12700">
            <a:solidFill>
              <a:srgbClr val="F1F5FA"/>
            </a:solidFill>
            <a:prstDash val="solid"/>
          </a:ln>
        </p:spPr>
      </p:sp>
      <p:sp>
        <p:nvSpPr>
          <p:cNvPr id="6" name="Shape 4"/>
          <p:cNvSpPr/>
          <p:nvPr/>
        </p:nvSpPr>
        <p:spPr>
          <a:xfrm>
            <a:off x="822960" y="2353056"/>
            <a:ext cx="128016" cy="128016"/>
          </a:xfrm>
          <a:prstGeom prst="diamond">
            <a:avLst/>
          </a:prstGeom>
          <a:solidFill>
            <a:srgbClr val="D9922B"/>
          </a:solidFill>
          <a:ln w="12700">
            <a:solidFill>
              <a:srgbClr val="D9922B"/>
            </a:solidFill>
            <a:prstDash val="solid"/>
          </a:ln>
        </p:spPr>
      </p:sp>
      <p:sp>
        <p:nvSpPr>
          <p:cNvPr id="7" name="Text 5"/>
          <p:cNvSpPr/>
          <p:nvPr/>
        </p:nvSpPr>
        <p:spPr>
          <a:xfrm>
            <a:off x="1097280" y="1929384"/>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Sparky, Marty, Associate, and Developer are the existing super-agents. Plan A's Onboarding Companion is a nano-agent under the Associate super-agent, not a new stack.</a:t>
            </a:r>
            <a:endParaRPr lang="en-US" sz="1200" dirty="0"/>
          </a:p>
        </p:txBody>
      </p:sp>
      <p:sp>
        <p:nvSpPr>
          <p:cNvPr id="8" name="Shape 6"/>
          <p:cNvSpPr/>
          <p:nvPr/>
        </p:nvSpPr>
        <p:spPr>
          <a:xfrm>
            <a:off x="6231636" y="1783080"/>
            <a:ext cx="5390388" cy="1267968"/>
          </a:xfrm>
          <a:prstGeom prst="roundRect">
            <a:avLst>
              <a:gd name="adj" fmla="val 7212"/>
            </a:avLst>
          </a:prstGeom>
          <a:solidFill>
            <a:srgbClr val="F1F5FA"/>
          </a:solidFill>
          <a:ln w="12700">
            <a:solidFill>
              <a:srgbClr val="F1F5FA"/>
            </a:solidFill>
            <a:prstDash val="solid"/>
          </a:ln>
        </p:spPr>
      </p:sp>
      <p:sp>
        <p:nvSpPr>
          <p:cNvPr id="9" name="Shape 7"/>
          <p:cNvSpPr/>
          <p:nvPr/>
        </p:nvSpPr>
        <p:spPr>
          <a:xfrm>
            <a:off x="6487668" y="2353056"/>
            <a:ext cx="128016" cy="128016"/>
          </a:xfrm>
          <a:prstGeom prst="diamond">
            <a:avLst/>
          </a:prstGeom>
          <a:solidFill>
            <a:srgbClr val="D9922B"/>
          </a:solidFill>
          <a:ln w="12700">
            <a:solidFill>
              <a:srgbClr val="D9922B"/>
            </a:solidFill>
            <a:prstDash val="solid"/>
          </a:ln>
        </p:spPr>
      </p:sp>
      <p:sp>
        <p:nvSpPr>
          <p:cNvPr id="10" name="Text 8"/>
          <p:cNvSpPr/>
          <p:nvPr/>
        </p:nvSpPr>
        <p:spPr>
          <a:xfrm>
            <a:off x="6761988" y="1929384"/>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That matches the stated surgical agent philosophy: small, purpose-built agents over one general assistant asked to do everything.</a:t>
            </a:r>
            <a:endParaRPr lang="en-US" sz="1200" dirty="0"/>
          </a:p>
        </p:txBody>
      </p:sp>
      <p:sp>
        <p:nvSpPr>
          <p:cNvPr id="11" name="Shape 9"/>
          <p:cNvSpPr/>
          <p:nvPr/>
        </p:nvSpPr>
        <p:spPr>
          <a:xfrm>
            <a:off x="566928" y="3252216"/>
            <a:ext cx="5390388" cy="1267968"/>
          </a:xfrm>
          <a:prstGeom prst="roundRect">
            <a:avLst>
              <a:gd name="adj" fmla="val 7212"/>
            </a:avLst>
          </a:prstGeom>
          <a:solidFill>
            <a:srgbClr val="F1F5FA"/>
          </a:solidFill>
          <a:ln w="12700">
            <a:solidFill>
              <a:srgbClr val="F1F5FA"/>
            </a:solidFill>
            <a:prstDash val="solid"/>
          </a:ln>
        </p:spPr>
      </p:sp>
      <p:sp>
        <p:nvSpPr>
          <p:cNvPr id="12" name="Shape 10"/>
          <p:cNvSpPr/>
          <p:nvPr/>
        </p:nvSpPr>
        <p:spPr>
          <a:xfrm>
            <a:off x="822960" y="3822192"/>
            <a:ext cx="128016" cy="128016"/>
          </a:xfrm>
          <a:prstGeom prst="diamond">
            <a:avLst/>
          </a:prstGeom>
          <a:solidFill>
            <a:srgbClr val="D9922B"/>
          </a:solidFill>
          <a:ln w="12700">
            <a:solidFill>
              <a:srgbClr val="D9922B"/>
            </a:solidFill>
            <a:prstDash val="solid"/>
          </a:ln>
        </p:spPr>
      </p:sp>
      <p:sp>
        <p:nvSpPr>
          <p:cNvPr id="13" name="Text 11"/>
          <p:cNvSpPr/>
          <p:nvPr/>
        </p:nvSpPr>
        <p:spPr>
          <a:xfrm>
            <a:off x="1097280" y="3398520"/>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Plan B's action agents are nano-agents per intent cluster, starting with schedule conflicts, each owning one complete loop.</a:t>
            </a:r>
            <a:endParaRPr lang="en-US" sz="1200" dirty="0"/>
          </a:p>
        </p:txBody>
      </p:sp>
      <p:sp>
        <p:nvSpPr>
          <p:cNvPr id="14" name="Shape 12"/>
          <p:cNvSpPr/>
          <p:nvPr/>
        </p:nvSpPr>
        <p:spPr>
          <a:xfrm>
            <a:off x="6231636" y="3252216"/>
            <a:ext cx="5390388" cy="1267968"/>
          </a:xfrm>
          <a:prstGeom prst="roundRect">
            <a:avLst>
              <a:gd name="adj" fmla="val 7212"/>
            </a:avLst>
          </a:prstGeom>
          <a:solidFill>
            <a:srgbClr val="F1F5FA"/>
          </a:solidFill>
          <a:ln w="12700">
            <a:solidFill>
              <a:srgbClr val="F1F5FA"/>
            </a:solidFill>
            <a:prstDash val="solid"/>
          </a:ln>
        </p:spPr>
      </p:sp>
      <p:sp>
        <p:nvSpPr>
          <p:cNvPr id="15" name="Shape 13"/>
          <p:cNvSpPr/>
          <p:nvPr/>
        </p:nvSpPr>
        <p:spPr>
          <a:xfrm>
            <a:off x="6487668" y="3822192"/>
            <a:ext cx="128016" cy="128016"/>
          </a:xfrm>
          <a:prstGeom prst="diamond">
            <a:avLst/>
          </a:prstGeom>
          <a:solidFill>
            <a:srgbClr val="D9922B"/>
          </a:solidFill>
          <a:ln w="12700">
            <a:solidFill>
              <a:srgbClr val="D9922B"/>
            </a:solidFill>
            <a:prstDash val="solid"/>
          </a:ln>
        </p:spPr>
      </p:sp>
      <p:sp>
        <p:nvSpPr>
          <p:cNvPr id="16" name="Text 14"/>
          <p:cNvSpPr/>
          <p:nvPr/>
        </p:nvSpPr>
        <p:spPr>
          <a:xfrm>
            <a:off x="6761988" y="3398520"/>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Plan C adds no new surface. It adds the rails underneath: a feature store, versioned scores, and config-driven intervention arms.</a:t>
            </a:r>
            <a:endParaRPr lang="en-US" sz="1200" dirty="0"/>
          </a:p>
        </p:txBody>
      </p:sp>
      <p:sp>
        <p:nvSpPr>
          <p:cNvPr id="17" name="Shape 15"/>
          <p:cNvSpPr/>
          <p:nvPr/>
        </p:nvSpPr>
        <p:spPr>
          <a:xfrm>
            <a:off x="566928" y="4721352"/>
            <a:ext cx="11055096" cy="1267968"/>
          </a:xfrm>
          <a:prstGeom prst="roundRect">
            <a:avLst>
              <a:gd name="adj" fmla="val 7212"/>
            </a:avLst>
          </a:prstGeom>
          <a:solidFill>
            <a:srgbClr val="F1F5FA"/>
          </a:solidFill>
          <a:ln w="12700">
            <a:solidFill>
              <a:srgbClr val="F1F5FA"/>
            </a:solidFill>
            <a:prstDash val="solid"/>
          </a:ln>
        </p:spPr>
      </p:sp>
      <p:sp>
        <p:nvSpPr>
          <p:cNvPr id="18" name="Shape 16"/>
          <p:cNvSpPr/>
          <p:nvPr/>
        </p:nvSpPr>
        <p:spPr>
          <a:xfrm>
            <a:off x="822960" y="5291328"/>
            <a:ext cx="128016" cy="128016"/>
          </a:xfrm>
          <a:prstGeom prst="diamond">
            <a:avLst/>
          </a:prstGeom>
          <a:solidFill>
            <a:srgbClr val="D9922B"/>
          </a:solidFill>
          <a:ln w="12700">
            <a:solidFill>
              <a:srgbClr val="D9922B"/>
            </a:solidFill>
            <a:prstDash val="solid"/>
          </a:ln>
        </p:spPr>
      </p:sp>
      <p:sp>
        <p:nvSpPr>
          <p:cNvPr id="19" name="Text 17"/>
          <p:cNvSpPr/>
          <p:nvPr/>
        </p:nvSpPr>
        <p:spPr>
          <a:xfrm>
            <a:off x="1097280" y="4867656"/>
            <a:ext cx="10268712"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Nothing here asks for a rewrite. Every plan lands as an increment on shipped infrastructure.</a:t>
            </a:r>
            <a:endParaRPr lang="en-US" sz="1200" dirty="0"/>
          </a:p>
        </p:txBody>
      </p:sp>
      <p:sp>
        <p:nvSpPr>
          <p:cNvPr id="20" name="Text 18"/>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Reference: four-super-agent architecture with nano-agents, per CTO Hari Vasudev's stated agent philosophy.</a:t>
            </a:r>
            <a:endParaRPr lang="en-US" sz="1050" dirty="0"/>
          </a:p>
        </p:txBody>
      </p:sp>
      <p:sp>
        <p:nvSpPr>
          <p:cNvPr id="21" name="Text 19"/>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A7  ·  FOR ENGINEERING LEADS</a:t>
            </a:r>
            <a:endParaRPr lang="en-US" sz="1100" dirty="0"/>
          </a:p>
        </p:txBody>
      </p:sp>
      <p:sp>
        <p:nvSpPr>
          <p:cNvPr id="4" name="Text 2"/>
          <p:cNvSpPr/>
          <p:nvPr/>
        </p:nvSpPr>
        <p:spPr>
          <a:xfrm>
            <a:off x="566928" y="749808"/>
            <a:ext cx="11055096" cy="822960"/>
          </a:xfrm>
          <a:prstGeom prst="rect">
            <a:avLst/>
          </a:prstGeom>
          <a:noFill/>
          <a:ln/>
        </p:spPr>
        <p:txBody>
          <a:bodyPr wrap="square" lIns="0" tIns="0" rIns="0" bIns="0" rtlCol="0" anchor="t"/>
          <a:lstStyle/>
          <a:p>
            <a:pPr indent="0" marL="0">
              <a:lnSpc>
                <a:spcPts val="3068"/>
              </a:lnSpc>
              <a:buNone/>
            </a:pPr>
            <a:r>
              <a:rPr lang="en-US" sz="2600" b="1" dirty="0">
                <a:solidFill>
                  <a:srgbClr val="1B2338"/>
                </a:solidFill>
                <a:latin typeface="Cambria" pitchFamily="34" charset="0"/>
                <a:ea typeface="Cambria" pitchFamily="34" charset="-122"/>
                <a:cs typeface="Cambria" pitchFamily="34" charset="-120"/>
              </a:rPr>
              <a:t>Writing to systems of record sets the trust bar, so accuracy is tiered by what a mistake costs.</a:t>
            </a:r>
            <a:endParaRPr lang="en-US" sz="2600" dirty="0"/>
          </a:p>
        </p:txBody>
      </p:sp>
      <p:sp>
        <p:nvSpPr>
          <p:cNvPr id="5" name="Shape 3"/>
          <p:cNvSpPr/>
          <p:nvPr/>
        </p:nvSpPr>
        <p:spPr>
          <a:xfrm>
            <a:off x="566928" y="1783080"/>
            <a:ext cx="5390388" cy="1267968"/>
          </a:xfrm>
          <a:prstGeom prst="roundRect">
            <a:avLst>
              <a:gd name="adj" fmla="val 7212"/>
            </a:avLst>
          </a:prstGeom>
          <a:solidFill>
            <a:srgbClr val="F1F5FA"/>
          </a:solidFill>
          <a:ln w="12700">
            <a:solidFill>
              <a:srgbClr val="F1F5FA"/>
            </a:solidFill>
            <a:prstDash val="solid"/>
          </a:ln>
        </p:spPr>
      </p:sp>
      <p:sp>
        <p:nvSpPr>
          <p:cNvPr id="6" name="Shape 4"/>
          <p:cNvSpPr/>
          <p:nvPr/>
        </p:nvSpPr>
        <p:spPr>
          <a:xfrm>
            <a:off x="822960" y="2353056"/>
            <a:ext cx="128016" cy="128016"/>
          </a:xfrm>
          <a:prstGeom prst="diamond">
            <a:avLst/>
          </a:prstGeom>
          <a:solidFill>
            <a:srgbClr val="D9922B"/>
          </a:solidFill>
          <a:ln w="12700">
            <a:solidFill>
              <a:srgbClr val="D9922B"/>
            </a:solidFill>
            <a:prstDash val="solid"/>
          </a:ln>
        </p:spPr>
      </p:sp>
      <p:sp>
        <p:nvSpPr>
          <p:cNvPr id="7" name="Text 5"/>
          <p:cNvSpPr/>
          <p:nvPr/>
        </p:nvSpPr>
        <p:spPr>
          <a:xfrm>
            <a:off x="1097280" y="1929384"/>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Strictest grounding tier covers pay, benefits, and scheduling. These actions double-check against the system of record before commit.</a:t>
            </a:r>
            <a:endParaRPr lang="en-US" sz="1200" dirty="0"/>
          </a:p>
        </p:txBody>
      </p:sp>
      <p:sp>
        <p:nvSpPr>
          <p:cNvPr id="8" name="Shape 6"/>
          <p:cNvSpPr/>
          <p:nvPr/>
        </p:nvSpPr>
        <p:spPr>
          <a:xfrm>
            <a:off x="6231636" y="1783080"/>
            <a:ext cx="5390388" cy="1267968"/>
          </a:xfrm>
          <a:prstGeom prst="roundRect">
            <a:avLst>
              <a:gd name="adj" fmla="val 7212"/>
            </a:avLst>
          </a:prstGeom>
          <a:solidFill>
            <a:srgbClr val="F1F5FA"/>
          </a:solidFill>
          <a:ln w="12700">
            <a:solidFill>
              <a:srgbClr val="F1F5FA"/>
            </a:solidFill>
            <a:prstDash val="solid"/>
          </a:ln>
        </p:spPr>
      </p:sp>
      <p:sp>
        <p:nvSpPr>
          <p:cNvPr id="9" name="Shape 7"/>
          <p:cNvSpPr/>
          <p:nvPr/>
        </p:nvSpPr>
        <p:spPr>
          <a:xfrm>
            <a:off x="6487668" y="2353056"/>
            <a:ext cx="128016" cy="128016"/>
          </a:xfrm>
          <a:prstGeom prst="diamond">
            <a:avLst/>
          </a:prstGeom>
          <a:solidFill>
            <a:srgbClr val="D9922B"/>
          </a:solidFill>
          <a:ln w="12700">
            <a:solidFill>
              <a:srgbClr val="D9922B"/>
            </a:solidFill>
            <a:prstDash val="solid"/>
          </a:ln>
        </p:spPr>
      </p:sp>
      <p:sp>
        <p:nvSpPr>
          <p:cNvPr id="10" name="Text 8"/>
          <p:cNvSpPr/>
          <p:nvPr/>
        </p:nvSpPr>
        <p:spPr>
          <a:xfrm>
            <a:off x="6761988" y="1929384"/>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A human approves the write: the schedule-swap loop proposes eligible takers and the lead approves with one tap.</a:t>
            </a:r>
            <a:endParaRPr lang="en-US" sz="1200" dirty="0"/>
          </a:p>
        </p:txBody>
      </p:sp>
      <p:sp>
        <p:nvSpPr>
          <p:cNvPr id="11" name="Shape 9"/>
          <p:cNvSpPr/>
          <p:nvPr/>
        </p:nvSpPr>
        <p:spPr>
          <a:xfrm>
            <a:off x="566928" y="3252216"/>
            <a:ext cx="5390388" cy="1267968"/>
          </a:xfrm>
          <a:prstGeom prst="roundRect">
            <a:avLst>
              <a:gd name="adj" fmla="val 7212"/>
            </a:avLst>
          </a:prstGeom>
          <a:solidFill>
            <a:srgbClr val="F1F5FA"/>
          </a:solidFill>
          <a:ln w="12700">
            <a:solidFill>
              <a:srgbClr val="F1F5FA"/>
            </a:solidFill>
            <a:prstDash val="solid"/>
          </a:ln>
        </p:spPr>
      </p:sp>
      <p:sp>
        <p:nvSpPr>
          <p:cNvPr id="12" name="Shape 10"/>
          <p:cNvSpPr/>
          <p:nvPr/>
        </p:nvSpPr>
        <p:spPr>
          <a:xfrm>
            <a:off x="822960" y="3822192"/>
            <a:ext cx="128016" cy="128016"/>
          </a:xfrm>
          <a:prstGeom prst="diamond">
            <a:avLst/>
          </a:prstGeom>
          <a:solidFill>
            <a:srgbClr val="D9922B"/>
          </a:solidFill>
          <a:ln w="12700">
            <a:solidFill>
              <a:srgbClr val="D9922B"/>
            </a:solidFill>
            <a:prstDash val="solid"/>
          </a:ln>
        </p:spPr>
      </p:sp>
      <p:sp>
        <p:nvSpPr>
          <p:cNvPr id="13" name="Text 11"/>
          <p:cNvSpPr/>
          <p:nvPr/>
        </p:nvSpPr>
        <p:spPr>
          <a:xfrm>
            <a:off x="1097280" y="3398520"/>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One wrong scheduling action costs more trust than 100 right answers earn. Reliability is the feature, not a follow-up.</a:t>
            </a:r>
            <a:endParaRPr lang="en-US" sz="1200" dirty="0"/>
          </a:p>
        </p:txBody>
      </p:sp>
      <p:sp>
        <p:nvSpPr>
          <p:cNvPr id="14" name="Shape 12"/>
          <p:cNvSpPr/>
          <p:nvPr/>
        </p:nvSpPr>
        <p:spPr>
          <a:xfrm>
            <a:off x="6231636" y="3252216"/>
            <a:ext cx="5390388" cy="1267968"/>
          </a:xfrm>
          <a:prstGeom prst="roundRect">
            <a:avLst>
              <a:gd name="adj" fmla="val 7212"/>
            </a:avLst>
          </a:prstGeom>
          <a:solidFill>
            <a:srgbClr val="F1F5FA"/>
          </a:solidFill>
          <a:ln w="12700">
            <a:solidFill>
              <a:srgbClr val="F1F5FA"/>
            </a:solidFill>
            <a:prstDash val="solid"/>
          </a:ln>
        </p:spPr>
      </p:sp>
      <p:sp>
        <p:nvSpPr>
          <p:cNvPr id="15" name="Shape 13"/>
          <p:cNvSpPr/>
          <p:nvPr/>
        </p:nvSpPr>
        <p:spPr>
          <a:xfrm>
            <a:off x="6487668" y="3822192"/>
            <a:ext cx="128016" cy="128016"/>
          </a:xfrm>
          <a:prstGeom prst="diamond">
            <a:avLst/>
          </a:prstGeom>
          <a:solidFill>
            <a:srgbClr val="D9922B"/>
          </a:solidFill>
          <a:ln w="12700">
            <a:solidFill>
              <a:srgbClr val="D9922B"/>
            </a:solidFill>
            <a:prstDash val="solid"/>
          </a:ln>
        </p:spPr>
      </p:sp>
      <p:sp>
        <p:nvSpPr>
          <p:cNvPr id="16" name="Text 14"/>
          <p:cNvSpPr/>
          <p:nvPr/>
        </p:nvSpPr>
        <p:spPr>
          <a:xfrm>
            <a:off x="6761988" y="3398520"/>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Graceful handoff is specified, not implied: when the agent cannot act it says who, why, and what happens next.</a:t>
            </a:r>
            <a:endParaRPr lang="en-US" sz="1200" dirty="0"/>
          </a:p>
        </p:txBody>
      </p:sp>
      <p:sp>
        <p:nvSpPr>
          <p:cNvPr id="17" name="Shape 15"/>
          <p:cNvSpPr/>
          <p:nvPr/>
        </p:nvSpPr>
        <p:spPr>
          <a:xfrm>
            <a:off x="566928" y="4721352"/>
            <a:ext cx="11055096" cy="1267968"/>
          </a:xfrm>
          <a:prstGeom prst="roundRect">
            <a:avLst>
              <a:gd name="adj" fmla="val 7212"/>
            </a:avLst>
          </a:prstGeom>
          <a:solidFill>
            <a:srgbClr val="F1F5FA"/>
          </a:solidFill>
          <a:ln w="12700">
            <a:solidFill>
              <a:srgbClr val="F1F5FA"/>
            </a:solidFill>
            <a:prstDash val="solid"/>
          </a:ln>
        </p:spPr>
      </p:sp>
      <p:sp>
        <p:nvSpPr>
          <p:cNvPr id="18" name="Shape 16"/>
          <p:cNvSpPr/>
          <p:nvPr/>
        </p:nvSpPr>
        <p:spPr>
          <a:xfrm>
            <a:off x="822960" y="5291328"/>
            <a:ext cx="128016" cy="128016"/>
          </a:xfrm>
          <a:prstGeom prst="diamond">
            <a:avLst/>
          </a:prstGeom>
          <a:solidFill>
            <a:srgbClr val="D9922B"/>
          </a:solidFill>
          <a:ln w="12700">
            <a:solidFill>
              <a:srgbClr val="D9922B"/>
            </a:solidFill>
            <a:prstDash val="solid"/>
          </a:ln>
        </p:spPr>
      </p:sp>
      <p:sp>
        <p:nvSpPr>
          <p:cNvPr id="19" name="Text 17"/>
          <p:cNvSpPr/>
          <p:nvPr/>
        </p:nvSpPr>
        <p:spPr>
          <a:xfrm>
            <a:off x="1097280" y="4867656"/>
            <a:ext cx="10268712"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Days 61 to 90 of Plan B are reliability hardening. The agent has to be boringly dependable before it can be broadly loved.</a:t>
            </a:r>
            <a:endParaRPr lang="en-US" sz="1200" dirty="0"/>
          </a:p>
        </p:txBody>
      </p:sp>
      <p:sp>
        <p:nvSpPr>
          <p:cNvPr id="20" name="Text 18"/>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Trust telemetry runs alongside: accuracy, correction rate, and escalation quality, all read per cluster.</a:t>
            </a:r>
            <a:endParaRPr lang="en-US" sz="1050" dirty="0"/>
          </a:p>
        </p:txBody>
      </p:sp>
      <p:sp>
        <p:nvSpPr>
          <p:cNvPr id="21" name="Text 19"/>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A8  ·  FOR DATA SCIENCE</a:t>
            </a:r>
            <a:endParaRPr lang="en-US" sz="1100" dirty="0"/>
          </a:p>
        </p:txBody>
      </p:sp>
      <p:sp>
        <p:nvSpPr>
          <p:cNvPr id="4" name="Text 2"/>
          <p:cNvSpPr/>
          <p:nvPr/>
        </p:nvSpPr>
        <p:spPr>
          <a:xfrm>
            <a:off x="566928" y="749808"/>
            <a:ext cx="11055096" cy="822960"/>
          </a:xfrm>
          <a:prstGeom prst="rect">
            <a:avLst/>
          </a:prstGeom>
          <a:noFill/>
          <a:ln/>
        </p:spPr>
        <p:txBody>
          <a:bodyPr wrap="square" lIns="0" tIns="0" rIns="0" bIns="0" rtlCol="0" anchor="t"/>
          <a:lstStyle/>
          <a:p>
            <a:pPr indent="0" marL="0">
              <a:lnSpc>
                <a:spcPts val="3068"/>
              </a:lnSpc>
              <a:buNone/>
            </a:pPr>
            <a:r>
              <a:rPr lang="en-US" sz="2600" b="1" dirty="0">
                <a:solidFill>
                  <a:srgbClr val="1B2338"/>
                </a:solidFill>
                <a:latin typeface="Cambria" pitchFamily="34" charset="0"/>
                <a:ea typeface="Cambria" pitchFamily="34" charset="-122"/>
                <a:cs typeface="Cambria" pitchFamily="34" charset="-120"/>
              </a:rPr>
              <a:t>Exploration scales with uncertainty, which is the whole trick.</a:t>
            </a:r>
            <a:endParaRPr lang="en-US" sz="2600" dirty="0"/>
          </a:p>
        </p:txBody>
      </p:sp>
      <p:sp>
        <p:nvSpPr>
          <p:cNvPr id="5" name="Shape 3"/>
          <p:cNvSpPr/>
          <p:nvPr/>
        </p:nvSpPr>
        <p:spPr>
          <a:xfrm>
            <a:off x="566928" y="1892808"/>
            <a:ext cx="100584" cy="100584"/>
          </a:xfrm>
          <a:prstGeom prst="diamond">
            <a:avLst/>
          </a:prstGeom>
          <a:solidFill>
            <a:srgbClr val="D9922B"/>
          </a:solidFill>
          <a:ln w="12700">
            <a:solidFill>
              <a:srgbClr val="D9922B"/>
            </a:solidFill>
            <a:prstDash val="solid"/>
          </a:ln>
        </p:spPr>
      </p:sp>
      <p:sp>
        <p:nvSpPr>
          <p:cNvPr id="6" name="Text 4"/>
          <p:cNvSpPr/>
          <p:nvPr/>
        </p:nvSpPr>
        <p:spPr>
          <a:xfrm>
            <a:off x="786384" y="1783080"/>
            <a:ext cx="5815584" cy="499872"/>
          </a:xfrm>
          <a:prstGeom prst="rect">
            <a:avLst/>
          </a:prstGeom>
          <a:noFill/>
          <a:ln/>
        </p:spPr>
        <p:txBody>
          <a:bodyPr wrap="square" lIns="0" tIns="0" rIns="0" bIns="0" rtlCol="0" anchor="t"/>
          <a:lstStyle/>
          <a:p>
            <a:pPr indent="0" marL="0">
              <a:lnSpc>
                <a:spcPts val="1716"/>
              </a:lnSpc>
              <a:buNone/>
            </a:pPr>
            <a:r>
              <a:rPr lang="en-US" sz="1300" dirty="0">
                <a:solidFill>
                  <a:srgbClr val="1B2338"/>
                </a:solidFill>
                <a:latin typeface="Calibri" pitchFamily="34" charset="0"/>
                <a:ea typeface="Calibri" pitchFamily="34" charset="-122"/>
                <a:cs typeface="Calibri" pitchFamily="34" charset="-120"/>
              </a:rPr>
              <a:t>For each cohort-context and each intervention arm, the bandit keeps a probability distribution over how well that arm works there.</a:t>
            </a:r>
            <a:endParaRPr lang="en-US" sz="1300" dirty="0"/>
          </a:p>
        </p:txBody>
      </p:sp>
      <p:sp>
        <p:nvSpPr>
          <p:cNvPr id="7" name="Shape 5"/>
          <p:cNvSpPr/>
          <p:nvPr/>
        </p:nvSpPr>
        <p:spPr>
          <a:xfrm>
            <a:off x="566928" y="2520696"/>
            <a:ext cx="100584" cy="100584"/>
          </a:xfrm>
          <a:prstGeom prst="diamond">
            <a:avLst/>
          </a:prstGeom>
          <a:solidFill>
            <a:srgbClr val="D9922B"/>
          </a:solidFill>
          <a:ln w="12700">
            <a:solidFill>
              <a:srgbClr val="D9922B"/>
            </a:solidFill>
            <a:prstDash val="solid"/>
          </a:ln>
        </p:spPr>
      </p:sp>
      <p:sp>
        <p:nvSpPr>
          <p:cNvPr id="8" name="Text 6"/>
          <p:cNvSpPr/>
          <p:nvPr/>
        </p:nvSpPr>
        <p:spPr>
          <a:xfrm>
            <a:off x="786384" y="2410968"/>
            <a:ext cx="5815584" cy="717804"/>
          </a:xfrm>
          <a:prstGeom prst="rect">
            <a:avLst/>
          </a:prstGeom>
          <a:noFill/>
          <a:ln/>
        </p:spPr>
        <p:txBody>
          <a:bodyPr wrap="square" lIns="0" tIns="0" rIns="0" bIns="0" rtlCol="0" anchor="t"/>
          <a:lstStyle/>
          <a:p>
            <a:pPr indent="0" marL="0">
              <a:lnSpc>
                <a:spcPts val="1716"/>
              </a:lnSpc>
              <a:buNone/>
            </a:pPr>
            <a:r>
              <a:rPr lang="en-US" sz="1300" dirty="0">
                <a:solidFill>
                  <a:srgbClr val="1B2338"/>
                </a:solidFill>
                <a:latin typeface="Calibri" pitchFamily="34" charset="0"/>
                <a:ea typeface="Calibri" pitchFamily="34" charset="-122"/>
                <a:cs typeface="Calibri" pitchFamily="34" charset="-120"/>
              </a:rPr>
              <a:t>To choose, it samples from every distribution and plays the winner. An arm it is unsure about occasionally wins the sample, so exploration happens on its own.</a:t>
            </a:r>
            <a:endParaRPr lang="en-US" sz="1300" dirty="0"/>
          </a:p>
        </p:txBody>
      </p:sp>
      <p:sp>
        <p:nvSpPr>
          <p:cNvPr id="9" name="Shape 7"/>
          <p:cNvSpPr/>
          <p:nvPr/>
        </p:nvSpPr>
        <p:spPr>
          <a:xfrm>
            <a:off x="566928" y="3366516"/>
            <a:ext cx="100584" cy="100584"/>
          </a:xfrm>
          <a:prstGeom prst="diamond">
            <a:avLst/>
          </a:prstGeom>
          <a:solidFill>
            <a:srgbClr val="D9922B"/>
          </a:solidFill>
          <a:ln w="12700">
            <a:solidFill>
              <a:srgbClr val="D9922B"/>
            </a:solidFill>
            <a:prstDash val="solid"/>
          </a:ln>
        </p:spPr>
      </p:sp>
      <p:sp>
        <p:nvSpPr>
          <p:cNvPr id="10" name="Text 8"/>
          <p:cNvSpPr/>
          <p:nvPr/>
        </p:nvSpPr>
        <p:spPr>
          <a:xfrm>
            <a:off x="786384" y="3256788"/>
            <a:ext cx="5815584" cy="499872"/>
          </a:xfrm>
          <a:prstGeom prst="rect">
            <a:avLst/>
          </a:prstGeom>
          <a:noFill/>
          <a:ln/>
        </p:spPr>
        <p:txBody>
          <a:bodyPr wrap="square" lIns="0" tIns="0" rIns="0" bIns="0" rtlCol="0" anchor="t"/>
          <a:lstStyle/>
          <a:p>
            <a:pPr indent="0" marL="0">
              <a:lnSpc>
                <a:spcPts val="1716"/>
              </a:lnSpc>
              <a:buNone/>
            </a:pPr>
            <a:r>
              <a:rPr lang="en-US" sz="1300" dirty="0">
                <a:solidFill>
                  <a:srgbClr val="1B2338"/>
                </a:solidFill>
                <a:latin typeface="Calibri" pitchFamily="34" charset="0"/>
                <a:ea typeface="Calibri" pitchFamily="34" charset="-122"/>
                <a:cs typeface="Calibri" pitchFamily="34" charset="-120"/>
              </a:rPr>
              <a:t>Persistently weak arms get sampled less and less. Nobody has to prune them by hand.</a:t>
            </a:r>
            <a:endParaRPr lang="en-US" sz="1300" dirty="0"/>
          </a:p>
        </p:txBody>
      </p:sp>
      <p:sp>
        <p:nvSpPr>
          <p:cNvPr id="11" name="Shape 9"/>
          <p:cNvSpPr/>
          <p:nvPr/>
        </p:nvSpPr>
        <p:spPr>
          <a:xfrm>
            <a:off x="566928" y="3994404"/>
            <a:ext cx="100584" cy="100584"/>
          </a:xfrm>
          <a:prstGeom prst="diamond">
            <a:avLst/>
          </a:prstGeom>
          <a:solidFill>
            <a:srgbClr val="D9922B"/>
          </a:solidFill>
          <a:ln w="12700">
            <a:solidFill>
              <a:srgbClr val="D9922B"/>
            </a:solidFill>
            <a:prstDash val="solid"/>
          </a:ln>
        </p:spPr>
      </p:sp>
      <p:sp>
        <p:nvSpPr>
          <p:cNvPr id="12" name="Text 10"/>
          <p:cNvSpPr/>
          <p:nvPr/>
        </p:nvSpPr>
        <p:spPr>
          <a:xfrm>
            <a:off x="786384" y="3884676"/>
            <a:ext cx="5815584" cy="499872"/>
          </a:xfrm>
          <a:prstGeom prst="rect">
            <a:avLst/>
          </a:prstGeom>
          <a:noFill/>
          <a:ln/>
        </p:spPr>
        <p:txBody>
          <a:bodyPr wrap="square" lIns="0" tIns="0" rIns="0" bIns="0" rtlCol="0" anchor="t"/>
          <a:lstStyle/>
          <a:p>
            <a:pPr indent="0" marL="0">
              <a:lnSpc>
                <a:spcPts val="1716"/>
              </a:lnSpc>
              <a:buNone/>
            </a:pPr>
            <a:r>
              <a:rPr lang="en-US" sz="1300" dirty="0">
                <a:solidFill>
                  <a:srgbClr val="1B2338"/>
                </a:solidFill>
                <a:latin typeface="Calibri" pitchFamily="34" charset="0"/>
                <a:ea typeface="Calibri" pitchFamily="34" charset="-122"/>
                <a:cs typeface="Calibri" pitchFamily="34" charset="-120"/>
              </a:rPr>
              <a:t>Classic A/B is too slow here: dozens of cohorts times multiple arms wastes exposure on losing arms for weeks.</a:t>
            </a:r>
            <a:endParaRPr lang="en-US" sz="1300" dirty="0"/>
          </a:p>
        </p:txBody>
      </p:sp>
      <p:sp>
        <p:nvSpPr>
          <p:cNvPr id="13" name="Shape 11"/>
          <p:cNvSpPr/>
          <p:nvPr/>
        </p:nvSpPr>
        <p:spPr>
          <a:xfrm>
            <a:off x="6967728" y="1810512"/>
            <a:ext cx="4654296" cy="3566160"/>
          </a:xfrm>
          <a:prstGeom prst="roundRect">
            <a:avLst>
              <a:gd name="adj" fmla="val 3077"/>
            </a:avLst>
          </a:prstGeom>
          <a:solidFill>
            <a:srgbClr val="F1F5FA"/>
          </a:solidFill>
          <a:ln w="12700">
            <a:solidFill>
              <a:srgbClr val="F1F5FA"/>
            </a:solidFill>
            <a:prstDash val="solid"/>
          </a:ln>
        </p:spPr>
      </p:sp>
      <p:sp>
        <p:nvSpPr>
          <p:cNvPr id="14" name="Text 12"/>
          <p:cNvSpPr/>
          <p:nvPr/>
        </p:nvSpPr>
        <p:spPr>
          <a:xfrm>
            <a:off x="7205472" y="1956816"/>
            <a:ext cx="4178808" cy="365760"/>
          </a:xfrm>
          <a:prstGeom prst="rect">
            <a:avLst/>
          </a:prstGeom>
          <a:noFill/>
          <a:ln/>
        </p:spPr>
        <p:txBody>
          <a:bodyPr wrap="square" lIns="0" tIns="0" rIns="0" bIns="0" rtlCol="0" anchor="ctr"/>
          <a:lstStyle/>
          <a:p>
            <a:pPr indent="0" marL="0">
              <a:buNone/>
            </a:pPr>
            <a:r>
              <a:rPr lang="en-US" sz="1600" b="1" dirty="0">
                <a:solidFill>
                  <a:srgbClr val="1B2338"/>
                </a:solidFill>
                <a:latin typeface="Cambria" pitchFamily="34" charset="0"/>
                <a:ea typeface="Cambria" pitchFamily="34" charset="-122"/>
                <a:cs typeface="Cambria" pitchFamily="34" charset="-120"/>
              </a:rPr>
              <a:t>Why a bandit and not A/B</a:t>
            </a:r>
            <a:endParaRPr lang="en-US" sz="1600" dirty="0"/>
          </a:p>
        </p:txBody>
      </p:sp>
      <p:sp>
        <p:nvSpPr>
          <p:cNvPr id="15" name="Shape 13"/>
          <p:cNvSpPr/>
          <p:nvPr/>
        </p:nvSpPr>
        <p:spPr>
          <a:xfrm>
            <a:off x="7205472" y="2514600"/>
            <a:ext cx="100584" cy="100584"/>
          </a:xfrm>
          <a:prstGeom prst="diamond">
            <a:avLst/>
          </a:prstGeom>
          <a:solidFill>
            <a:srgbClr val="D9922B"/>
          </a:solidFill>
          <a:ln w="12700">
            <a:solidFill>
              <a:srgbClr val="D9922B"/>
            </a:solidFill>
            <a:prstDash val="solid"/>
          </a:ln>
        </p:spPr>
      </p:sp>
      <p:sp>
        <p:nvSpPr>
          <p:cNvPr id="16" name="Text 14"/>
          <p:cNvSpPr/>
          <p:nvPr/>
        </p:nvSpPr>
        <p:spPr>
          <a:xfrm>
            <a:off x="7424928" y="2404872"/>
            <a:ext cx="3959352" cy="642366"/>
          </a:xfrm>
          <a:prstGeom prst="rect">
            <a:avLst/>
          </a:prstGeom>
          <a:noFill/>
          <a:ln/>
        </p:spPr>
        <p:txBody>
          <a:bodyPr wrap="square" lIns="0" tIns="0" rIns="0" bIns="0" rtlCol="0" anchor="t"/>
          <a:lstStyle/>
          <a:p>
            <a:pPr indent="0" marL="0">
              <a:lnSpc>
                <a:spcPts val="1518"/>
              </a:lnSpc>
              <a:buNone/>
            </a:pPr>
            <a:r>
              <a:rPr lang="en-US" sz="1150" dirty="0">
                <a:solidFill>
                  <a:srgbClr val="1B2338"/>
                </a:solidFill>
                <a:latin typeface="Calibri" pitchFamily="34" charset="0"/>
                <a:ea typeface="Calibri" pitchFamily="34" charset="-122"/>
                <a:cs typeface="Calibri" pitchFamily="34" charset="-120"/>
              </a:rPr>
              <a:t>Reward type (cash, food, stock upside, giving) joins the context as its own factored dimension. The associate's own choices are the labels.</a:t>
            </a:r>
            <a:endParaRPr lang="en-US" sz="1150" dirty="0"/>
          </a:p>
        </p:txBody>
      </p:sp>
      <p:sp>
        <p:nvSpPr>
          <p:cNvPr id="17" name="Shape 15"/>
          <p:cNvSpPr/>
          <p:nvPr/>
        </p:nvSpPr>
        <p:spPr>
          <a:xfrm>
            <a:off x="7205472" y="3284982"/>
            <a:ext cx="100584" cy="100584"/>
          </a:xfrm>
          <a:prstGeom prst="diamond">
            <a:avLst/>
          </a:prstGeom>
          <a:solidFill>
            <a:srgbClr val="D9922B"/>
          </a:solidFill>
          <a:ln w="12700">
            <a:solidFill>
              <a:srgbClr val="D9922B"/>
            </a:solidFill>
            <a:prstDash val="solid"/>
          </a:ln>
        </p:spPr>
      </p:sp>
      <p:sp>
        <p:nvSpPr>
          <p:cNvPr id="18" name="Text 16"/>
          <p:cNvSpPr/>
          <p:nvPr/>
        </p:nvSpPr>
        <p:spPr>
          <a:xfrm>
            <a:off x="7424928" y="3175254"/>
            <a:ext cx="3959352" cy="449580"/>
          </a:xfrm>
          <a:prstGeom prst="rect">
            <a:avLst/>
          </a:prstGeom>
          <a:noFill/>
          <a:ln/>
        </p:spPr>
        <p:txBody>
          <a:bodyPr wrap="square" lIns="0" tIns="0" rIns="0" bIns="0" rtlCol="0" anchor="t"/>
          <a:lstStyle/>
          <a:p>
            <a:pPr indent="0" marL="0">
              <a:lnSpc>
                <a:spcPts val="1518"/>
              </a:lnSpc>
              <a:buNone/>
            </a:pPr>
            <a:r>
              <a:rPr lang="en-US" sz="1150" dirty="0">
                <a:solidFill>
                  <a:srgbClr val="1B2338"/>
                </a:solidFill>
                <a:latin typeface="Calibri" pitchFamily="34" charset="0"/>
                <a:ea typeface="Calibri" pitchFamily="34" charset="-122"/>
                <a:cs typeface="Calibri" pitchFamily="34" charset="-120"/>
              </a:rPr>
              <a:t>Factoring intervention-family by reward-type keeps the arm space tractable instead of exploding combinatorially.</a:t>
            </a:r>
            <a:endParaRPr lang="en-US" sz="1150" dirty="0"/>
          </a:p>
        </p:txBody>
      </p:sp>
      <p:sp>
        <p:nvSpPr>
          <p:cNvPr id="19" name="Shape 17"/>
          <p:cNvSpPr/>
          <p:nvPr/>
        </p:nvSpPr>
        <p:spPr>
          <a:xfrm>
            <a:off x="7205472" y="3862578"/>
            <a:ext cx="100584" cy="100584"/>
          </a:xfrm>
          <a:prstGeom prst="diamond">
            <a:avLst/>
          </a:prstGeom>
          <a:solidFill>
            <a:srgbClr val="D9922B"/>
          </a:solidFill>
          <a:ln w="12700">
            <a:solidFill>
              <a:srgbClr val="D9922B"/>
            </a:solidFill>
            <a:prstDash val="solid"/>
          </a:ln>
        </p:spPr>
      </p:sp>
      <p:sp>
        <p:nvSpPr>
          <p:cNvPr id="20" name="Text 18"/>
          <p:cNvSpPr/>
          <p:nvPr/>
        </p:nvSpPr>
        <p:spPr>
          <a:xfrm>
            <a:off x="7424928" y="3752850"/>
            <a:ext cx="3959352" cy="449580"/>
          </a:xfrm>
          <a:prstGeom prst="rect">
            <a:avLst/>
          </a:prstGeom>
          <a:noFill/>
          <a:ln/>
        </p:spPr>
        <p:txBody>
          <a:bodyPr wrap="square" lIns="0" tIns="0" rIns="0" bIns="0" rtlCol="0" anchor="t"/>
          <a:lstStyle/>
          <a:p>
            <a:pPr indent="0" marL="0">
              <a:lnSpc>
                <a:spcPts val="1518"/>
              </a:lnSpc>
              <a:buNone/>
            </a:pPr>
            <a:r>
              <a:rPr lang="en-US" sz="1150" dirty="0">
                <a:solidFill>
                  <a:srgbClr val="1B2338"/>
                </a:solidFill>
                <a:latin typeface="Calibri" pitchFamily="34" charset="0"/>
                <a:ea typeface="Calibri" pitchFamily="34" charset="-122"/>
                <a:cs typeface="Calibri" pitchFamily="34" charset="-120"/>
              </a:rPr>
              <a:t>Start reward-type learning inside the incentive family only, then widen.</a:t>
            </a:r>
            <a:endParaRPr lang="en-US" sz="1150" dirty="0"/>
          </a:p>
        </p:txBody>
      </p:sp>
      <p:sp>
        <p:nvSpPr>
          <p:cNvPr id="21" name="Shape 19"/>
          <p:cNvSpPr/>
          <p:nvPr/>
        </p:nvSpPr>
        <p:spPr>
          <a:xfrm>
            <a:off x="7205472" y="4440174"/>
            <a:ext cx="100584" cy="100584"/>
          </a:xfrm>
          <a:prstGeom prst="diamond">
            <a:avLst/>
          </a:prstGeom>
          <a:solidFill>
            <a:srgbClr val="D9922B"/>
          </a:solidFill>
          <a:ln w="12700">
            <a:solidFill>
              <a:srgbClr val="D9922B"/>
            </a:solidFill>
            <a:prstDash val="solid"/>
          </a:ln>
        </p:spPr>
      </p:sp>
      <p:sp>
        <p:nvSpPr>
          <p:cNvPr id="22" name="Text 20"/>
          <p:cNvSpPr/>
          <p:nvPr/>
        </p:nvSpPr>
        <p:spPr>
          <a:xfrm>
            <a:off x="7424928" y="4330446"/>
            <a:ext cx="3959352" cy="642366"/>
          </a:xfrm>
          <a:prstGeom prst="rect">
            <a:avLst/>
          </a:prstGeom>
          <a:noFill/>
          <a:ln/>
        </p:spPr>
        <p:txBody>
          <a:bodyPr wrap="square" lIns="0" tIns="0" rIns="0" bIns="0" rtlCol="0" anchor="t"/>
          <a:lstStyle/>
          <a:p>
            <a:pPr indent="0" marL="0">
              <a:lnSpc>
                <a:spcPts val="1518"/>
              </a:lnSpc>
              <a:buNone/>
            </a:pPr>
            <a:r>
              <a:rPr lang="en-US" sz="1150" dirty="0">
                <a:solidFill>
                  <a:srgbClr val="1B2338"/>
                </a:solidFill>
                <a:latin typeface="Calibri" pitchFamily="34" charset="0"/>
                <a:ea typeface="Calibri" pitchFamily="34" charset="-122"/>
                <a:cs typeface="Calibri" pitchFamily="34" charset="-120"/>
              </a:rPr>
              <a:t>West-coast overnight stockers may respond differently from East-coast stockers. The bandit finds out and surfaces the pattern for humans to interrogate.</a:t>
            </a:r>
            <a:endParaRPr lang="en-US" sz="1150" dirty="0"/>
          </a:p>
        </p:txBody>
      </p:sp>
      <p:sp>
        <p:nvSpPr>
          <p:cNvPr id="23" name="Text 21"/>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Every learned policy exports as a readable sentence, so a People team reviews behaviour rather than weights.</a:t>
            </a:r>
            <a:endParaRPr lang="en-US" sz="1050" dirty="0"/>
          </a:p>
        </p:txBody>
      </p:sp>
      <p:sp>
        <p:nvSpPr>
          <p:cNvPr id="24" name="Text 22"/>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A9  ·  FOR DATA SCIENCE</a:t>
            </a:r>
            <a:endParaRPr lang="en-US" sz="1100" dirty="0"/>
          </a:p>
        </p:txBody>
      </p:sp>
      <p:sp>
        <p:nvSpPr>
          <p:cNvPr id="4" name="Text 2"/>
          <p:cNvSpPr/>
          <p:nvPr/>
        </p:nvSpPr>
        <p:spPr>
          <a:xfrm>
            <a:off x="566928" y="749808"/>
            <a:ext cx="11055096" cy="822960"/>
          </a:xfrm>
          <a:prstGeom prst="rect">
            <a:avLst/>
          </a:prstGeom>
          <a:noFill/>
          <a:ln/>
        </p:spPr>
        <p:txBody>
          <a:bodyPr wrap="square" lIns="0" tIns="0" rIns="0" bIns="0" rtlCol="0" anchor="t"/>
          <a:lstStyle/>
          <a:p>
            <a:pPr indent="0" marL="0">
              <a:lnSpc>
                <a:spcPts val="3068"/>
              </a:lnSpc>
              <a:buNone/>
            </a:pPr>
            <a:r>
              <a:rPr lang="en-US" sz="2600" b="1" dirty="0">
                <a:solidFill>
                  <a:srgbClr val="1B2338"/>
                </a:solidFill>
                <a:latin typeface="Cambria" pitchFamily="34" charset="0"/>
                <a:ea typeface="Cambria" pitchFamily="34" charset="-122"/>
                <a:cs typeface="Cambria" pitchFamily="34" charset="-120"/>
              </a:rPr>
              <a:t>A bandit optimizes exactly what you feed it, so the reward is validated against 90-day retention.</a:t>
            </a:r>
            <a:endParaRPr lang="en-US" sz="2600" dirty="0"/>
          </a:p>
        </p:txBody>
      </p:sp>
      <p:sp>
        <p:nvSpPr>
          <p:cNvPr id="5" name="Shape 3"/>
          <p:cNvSpPr/>
          <p:nvPr/>
        </p:nvSpPr>
        <p:spPr>
          <a:xfrm>
            <a:off x="566928" y="1783080"/>
            <a:ext cx="5390388" cy="1267968"/>
          </a:xfrm>
          <a:prstGeom prst="roundRect">
            <a:avLst>
              <a:gd name="adj" fmla="val 7212"/>
            </a:avLst>
          </a:prstGeom>
          <a:solidFill>
            <a:srgbClr val="F1F5FA"/>
          </a:solidFill>
          <a:ln w="12700">
            <a:solidFill>
              <a:srgbClr val="F1F5FA"/>
            </a:solidFill>
            <a:prstDash val="solid"/>
          </a:ln>
        </p:spPr>
      </p:sp>
      <p:sp>
        <p:nvSpPr>
          <p:cNvPr id="6" name="Shape 4"/>
          <p:cNvSpPr/>
          <p:nvPr/>
        </p:nvSpPr>
        <p:spPr>
          <a:xfrm>
            <a:off x="822960" y="2353056"/>
            <a:ext cx="128016" cy="128016"/>
          </a:xfrm>
          <a:prstGeom prst="diamond">
            <a:avLst/>
          </a:prstGeom>
          <a:solidFill>
            <a:srgbClr val="D9922B"/>
          </a:solidFill>
          <a:ln w="12700">
            <a:solidFill>
              <a:srgbClr val="D9922B"/>
            </a:solidFill>
            <a:prstDash val="solid"/>
          </a:ln>
        </p:spPr>
      </p:sp>
      <p:sp>
        <p:nvSpPr>
          <p:cNvPr id="7" name="Text 5"/>
          <p:cNvSpPr/>
          <p:nvPr/>
        </p:nvSpPr>
        <p:spPr>
          <a:xfrm>
            <a:off x="1097280" y="1929384"/>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The reward fed to the learner is a leading indicator, for example week-4 engagement, never a click.</a:t>
            </a:r>
            <a:endParaRPr lang="en-US" sz="1200" dirty="0"/>
          </a:p>
        </p:txBody>
      </p:sp>
      <p:sp>
        <p:nvSpPr>
          <p:cNvPr id="8" name="Shape 6"/>
          <p:cNvSpPr/>
          <p:nvPr/>
        </p:nvSpPr>
        <p:spPr>
          <a:xfrm>
            <a:off x="6231636" y="1783080"/>
            <a:ext cx="5390388" cy="1267968"/>
          </a:xfrm>
          <a:prstGeom prst="roundRect">
            <a:avLst>
              <a:gd name="adj" fmla="val 7212"/>
            </a:avLst>
          </a:prstGeom>
          <a:solidFill>
            <a:srgbClr val="F1F5FA"/>
          </a:solidFill>
          <a:ln w="12700">
            <a:solidFill>
              <a:srgbClr val="F1F5FA"/>
            </a:solidFill>
            <a:prstDash val="solid"/>
          </a:ln>
        </p:spPr>
      </p:sp>
      <p:sp>
        <p:nvSpPr>
          <p:cNvPr id="9" name="Shape 7"/>
          <p:cNvSpPr/>
          <p:nvPr/>
        </p:nvSpPr>
        <p:spPr>
          <a:xfrm>
            <a:off x="6487668" y="2353056"/>
            <a:ext cx="128016" cy="128016"/>
          </a:xfrm>
          <a:prstGeom prst="diamond">
            <a:avLst/>
          </a:prstGeom>
          <a:solidFill>
            <a:srgbClr val="D9922B"/>
          </a:solidFill>
          <a:ln w="12700">
            <a:solidFill>
              <a:srgbClr val="D9922B"/>
            </a:solidFill>
            <a:prstDash val="solid"/>
          </a:ln>
        </p:spPr>
      </p:sp>
      <p:sp>
        <p:nvSpPr>
          <p:cNvPr id="10" name="Text 8"/>
          <p:cNvSpPr/>
          <p:nvPr/>
        </p:nvSpPr>
        <p:spPr>
          <a:xfrm>
            <a:off x="6761988" y="1929384"/>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That leading indicator is itself validated against 90-day retention inside permanent holdout groups before it is trusted.</a:t>
            </a:r>
            <a:endParaRPr lang="en-US" sz="1200" dirty="0"/>
          </a:p>
        </p:txBody>
      </p:sp>
      <p:sp>
        <p:nvSpPr>
          <p:cNvPr id="11" name="Shape 9"/>
          <p:cNvSpPr/>
          <p:nvPr/>
        </p:nvSpPr>
        <p:spPr>
          <a:xfrm>
            <a:off x="566928" y="3252216"/>
            <a:ext cx="5390388" cy="1267968"/>
          </a:xfrm>
          <a:prstGeom prst="roundRect">
            <a:avLst>
              <a:gd name="adj" fmla="val 7212"/>
            </a:avLst>
          </a:prstGeom>
          <a:solidFill>
            <a:srgbClr val="F1F5FA"/>
          </a:solidFill>
          <a:ln w="12700">
            <a:solidFill>
              <a:srgbClr val="F1F5FA"/>
            </a:solidFill>
            <a:prstDash val="solid"/>
          </a:ln>
        </p:spPr>
      </p:sp>
      <p:sp>
        <p:nvSpPr>
          <p:cNvPr id="12" name="Shape 10"/>
          <p:cNvSpPr/>
          <p:nvPr/>
        </p:nvSpPr>
        <p:spPr>
          <a:xfrm>
            <a:off x="822960" y="3822192"/>
            <a:ext cx="128016" cy="128016"/>
          </a:xfrm>
          <a:prstGeom prst="diamond">
            <a:avLst/>
          </a:prstGeom>
          <a:solidFill>
            <a:srgbClr val="D9922B"/>
          </a:solidFill>
          <a:ln w="12700">
            <a:solidFill>
              <a:srgbClr val="D9922B"/>
            </a:solidFill>
            <a:prstDash val="solid"/>
          </a:ln>
        </p:spPr>
      </p:sp>
      <p:sp>
        <p:nvSpPr>
          <p:cNvPr id="13" name="Text 11"/>
          <p:cNvSpPr/>
          <p:nvPr/>
        </p:nvSpPr>
        <p:spPr>
          <a:xfrm>
            <a:off x="1097280" y="3398520"/>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If the reward were “clicked the nudge,” the engine would maximize clicks and could annoy people into quitting while the dashboard turned green.</a:t>
            </a:r>
            <a:endParaRPr lang="en-US" sz="1200" dirty="0"/>
          </a:p>
        </p:txBody>
      </p:sp>
      <p:sp>
        <p:nvSpPr>
          <p:cNvPr id="14" name="Shape 12"/>
          <p:cNvSpPr/>
          <p:nvPr/>
        </p:nvSpPr>
        <p:spPr>
          <a:xfrm>
            <a:off x="6231636" y="3252216"/>
            <a:ext cx="5390388" cy="1267968"/>
          </a:xfrm>
          <a:prstGeom prst="roundRect">
            <a:avLst>
              <a:gd name="adj" fmla="val 7212"/>
            </a:avLst>
          </a:prstGeom>
          <a:solidFill>
            <a:srgbClr val="F1F5FA"/>
          </a:solidFill>
          <a:ln w="12700">
            <a:solidFill>
              <a:srgbClr val="F1F5FA"/>
            </a:solidFill>
            <a:prstDash val="solid"/>
          </a:ln>
        </p:spPr>
      </p:sp>
      <p:sp>
        <p:nvSpPr>
          <p:cNvPr id="15" name="Shape 13"/>
          <p:cNvSpPr/>
          <p:nvPr/>
        </p:nvSpPr>
        <p:spPr>
          <a:xfrm>
            <a:off x="6487668" y="3822192"/>
            <a:ext cx="128016" cy="128016"/>
          </a:xfrm>
          <a:prstGeom prst="diamond">
            <a:avLst/>
          </a:prstGeom>
          <a:solidFill>
            <a:srgbClr val="D9922B"/>
          </a:solidFill>
          <a:ln w="12700">
            <a:solidFill>
              <a:srgbClr val="D9922B"/>
            </a:solidFill>
            <a:prstDash val="solid"/>
          </a:ln>
        </p:spPr>
      </p:sp>
      <p:sp>
        <p:nvSpPr>
          <p:cNvPr id="16" name="Text 14"/>
          <p:cNvSpPr/>
          <p:nvPr/>
        </p:nvSpPr>
        <p:spPr>
          <a:xfrm>
            <a:off x="6761988" y="3398520"/>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Holdouts are permanent, not a launch-phase courtesy. They are how the metric stays honest a year in.</a:t>
            </a:r>
            <a:endParaRPr lang="en-US" sz="1200" dirty="0"/>
          </a:p>
        </p:txBody>
      </p:sp>
      <p:sp>
        <p:nvSpPr>
          <p:cNvPr id="17" name="Shape 15"/>
          <p:cNvSpPr/>
          <p:nvPr/>
        </p:nvSpPr>
        <p:spPr>
          <a:xfrm>
            <a:off x="566928" y="4721352"/>
            <a:ext cx="11055096" cy="1267968"/>
          </a:xfrm>
          <a:prstGeom prst="roundRect">
            <a:avLst>
              <a:gd name="adj" fmla="val 7212"/>
            </a:avLst>
          </a:prstGeom>
          <a:solidFill>
            <a:srgbClr val="F1F5FA"/>
          </a:solidFill>
          <a:ln w="12700">
            <a:solidFill>
              <a:srgbClr val="F1F5FA"/>
            </a:solidFill>
            <a:prstDash val="solid"/>
          </a:ln>
        </p:spPr>
      </p:sp>
      <p:sp>
        <p:nvSpPr>
          <p:cNvPr id="18" name="Shape 16"/>
          <p:cNvSpPr/>
          <p:nvPr/>
        </p:nvSpPr>
        <p:spPr>
          <a:xfrm>
            <a:off x="822960" y="5291328"/>
            <a:ext cx="128016" cy="128016"/>
          </a:xfrm>
          <a:prstGeom prst="diamond">
            <a:avLst/>
          </a:prstGeom>
          <a:solidFill>
            <a:srgbClr val="D9922B"/>
          </a:solidFill>
          <a:ln w="12700">
            <a:solidFill>
              <a:srgbClr val="D9922B"/>
            </a:solidFill>
            <a:prstDash val="solid"/>
          </a:ln>
        </p:spPr>
      </p:sp>
      <p:sp>
        <p:nvSpPr>
          <p:cNvPr id="19" name="Text 17"/>
          <p:cNvSpPr/>
          <p:nvPr/>
        </p:nvSpPr>
        <p:spPr>
          <a:xfrm>
            <a:off x="1097280" y="4867656"/>
            <a:ext cx="10268712"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Trip wire on the risk register: engagement climbing while 90-day retention stays flat.</a:t>
            </a:r>
            <a:endParaRPr lang="en-US" sz="1200" dirty="0"/>
          </a:p>
        </p:txBody>
      </p:sp>
      <p:sp>
        <p:nvSpPr>
          <p:cNvPr id="20" name="Text 18"/>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This is the single most important line of defence against optimizing the wrong thing.</a:t>
            </a:r>
            <a:endParaRPr lang="en-US" sz="1050" dirty="0"/>
          </a:p>
        </p:txBody>
      </p:sp>
      <p:sp>
        <p:nvSpPr>
          <p:cNvPr id="21" name="Text 19"/>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A10  ·  FOR DATA SCIENCE AND HR</a:t>
            </a:r>
            <a:endParaRPr lang="en-US" sz="1100" dirty="0"/>
          </a:p>
        </p:txBody>
      </p:sp>
      <p:sp>
        <p:nvSpPr>
          <p:cNvPr id="4" name="Text 2"/>
          <p:cNvSpPr/>
          <p:nvPr/>
        </p:nvSpPr>
        <p:spPr>
          <a:xfrm>
            <a:off x="566928" y="749808"/>
            <a:ext cx="11055096" cy="822960"/>
          </a:xfrm>
          <a:prstGeom prst="rect">
            <a:avLst/>
          </a:prstGeom>
          <a:noFill/>
          <a:ln/>
        </p:spPr>
        <p:txBody>
          <a:bodyPr wrap="square" lIns="0" tIns="0" rIns="0" bIns="0" rtlCol="0" anchor="t"/>
          <a:lstStyle/>
          <a:p>
            <a:pPr indent="0" marL="0">
              <a:lnSpc>
                <a:spcPts val="3068"/>
              </a:lnSpc>
              <a:buNone/>
            </a:pPr>
            <a:r>
              <a:rPr lang="en-US" sz="2600" b="1" dirty="0">
                <a:solidFill>
                  <a:srgbClr val="1B2338"/>
                </a:solidFill>
                <a:latin typeface="Cambria" pitchFamily="34" charset="0"/>
                <a:ea typeface="Cambria" pitchFamily="34" charset="-122"/>
                <a:cs typeface="Cambria" pitchFamily="34" charset="-120"/>
              </a:rPr>
              <a:t>Six scores, computed per cohort and never per individual.</a:t>
            </a:r>
            <a:endParaRPr lang="en-US" sz="2600" dirty="0"/>
          </a:p>
        </p:txBody>
      </p:sp>
      <p:sp>
        <p:nvSpPr>
          <p:cNvPr id="5" name="Shape 3"/>
          <p:cNvSpPr/>
          <p:nvPr/>
        </p:nvSpPr>
        <p:spPr>
          <a:xfrm>
            <a:off x="566928" y="1810512"/>
            <a:ext cx="5390388" cy="987552"/>
          </a:xfrm>
          <a:prstGeom prst="roundRect">
            <a:avLst>
              <a:gd name="adj" fmla="val 9259"/>
            </a:avLst>
          </a:prstGeom>
          <a:solidFill>
            <a:srgbClr val="F1F5FA"/>
          </a:solidFill>
          <a:ln w="12700">
            <a:solidFill>
              <a:srgbClr val="F1F5FA"/>
            </a:solidFill>
            <a:prstDash val="solid"/>
          </a:ln>
        </p:spPr>
      </p:sp>
      <p:sp>
        <p:nvSpPr>
          <p:cNvPr id="6" name="Text 4"/>
          <p:cNvSpPr/>
          <p:nvPr/>
        </p:nvSpPr>
        <p:spPr>
          <a:xfrm>
            <a:off x="786384" y="1920240"/>
            <a:ext cx="4951476" cy="310896"/>
          </a:xfrm>
          <a:prstGeom prst="rect">
            <a:avLst/>
          </a:prstGeom>
          <a:noFill/>
          <a:ln/>
        </p:spPr>
        <p:txBody>
          <a:bodyPr wrap="square" lIns="0" tIns="0" rIns="0" bIns="0" rtlCol="0" anchor="ctr"/>
          <a:lstStyle/>
          <a:p>
            <a:pPr indent="0" marL="0">
              <a:buNone/>
            </a:pPr>
            <a:r>
              <a:rPr lang="en-US" sz="1500" b="1" dirty="0">
                <a:solidFill>
                  <a:srgbClr val="1B2338"/>
                </a:solidFill>
                <a:latin typeface="Cambria" pitchFamily="34" charset="0"/>
                <a:ea typeface="Cambria" pitchFamily="34" charset="-122"/>
                <a:cs typeface="Cambria" pitchFamily="34" charset="-120"/>
              </a:rPr>
              <a:t>Friction</a:t>
            </a:r>
            <a:endParaRPr lang="en-US" sz="1500" dirty="0"/>
          </a:p>
        </p:txBody>
      </p:sp>
      <p:sp>
        <p:nvSpPr>
          <p:cNvPr id="7" name="Text 5"/>
          <p:cNvSpPr/>
          <p:nvPr/>
        </p:nvSpPr>
        <p:spPr>
          <a:xfrm>
            <a:off x="786384" y="2231136"/>
            <a:ext cx="4951476" cy="475488"/>
          </a:xfrm>
          <a:prstGeom prst="rect">
            <a:avLst/>
          </a:prstGeom>
          <a:noFill/>
          <a:ln/>
        </p:spPr>
        <p:txBody>
          <a:bodyPr wrap="square" lIns="0" tIns="0" rIns="0" bIns="0" rtlCol="0" anchor="t"/>
          <a:lstStyle/>
          <a:p>
            <a:pPr indent="0" marL="0">
              <a:lnSpc>
                <a:spcPts val="1400"/>
              </a:lnSpc>
              <a:buNone/>
            </a:pPr>
            <a:r>
              <a:rPr lang="en-US" sz="1100" dirty="0">
                <a:solidFill>
                  <a:srgbClr val="1B2338"/>
                </a:solidFill>
                <a:latin typeface="Calibri" pitchFamily="34" charset="0"/>
                <a:ea typeface="Calibri" pitchFamily="34" charset="-122"/>
                <a:cs typeface="Calibri" pitchFamily="34" charset="-120"/>
              </a:rPr>
              <a:t>How often this cohort's journeys dead-end: abandoned flows, repeated questions, escalations.</a:t>
            </a:r>
            <a:endParaRPr lang="en-US" sz="1100" dirty="0"/>
          </a:p>
        </p:txBody>
      </p:sp>
      <p:sp>
        <p:nvSpPr>
          <p:cNvPr id="8" name="Shape 6"/>
          <p:cNvSpPr/>
          <p:nvPr/>
        </p:nvSpPr>
        <p:spPr>
          <a:xfrm>
            <a:off x="6231636" y="1810512"/>
            <a:ext cx="5390388" cy="987552"/>
          </a:xfrm>
          <a:prstGeom prst="roundRect">
            <a:avLst>
              <a:gd name="adj" fmla="val 9259"/>
            </a:avLst>
          </a:prstGeom>
          <a:solidFill>
            <a:srgbClr val="F1F5FA"/>
          </a:solidFill>
          <a:ln w="12700">
            <a:solidFill>
              <a:srgbClr val="F1F5FA"/>
            </a:solidFill>
            <a:prstDash val="solid"/>
          </a:ln>
        </p:spPr>
      </p:sp>
      <p:sp>
        <p:nvSpPr>
          <p:cNvPr id="9" name="Text 7"/>
          <p:cNvSpPr/>
          <p:nvPr/>
        </p:nvSpPr>
        <p:spPr>
          <a:xfrm>
            <a:off x="6451092" y="1920240"/>
            <a:ext cx="4951476" cy="310896"/>
          </a:xfrm>
          <a:prstGeom prst="rect">
            <a:avLst/>
          </a:prstGeom>
          <a:noFill/>
          <a:ln/>
        </p:spPr>
        <p:txBody>
          <a:bodyPr wrap="square" lIns="0" tIns="0" rIns="0" bIns="0" rtlCol="0" anchor="ctr"/>
          <a:lstStyle/>
          <a:p>
            <a:pPr indent="0" marL="0">
              <a:buNone/>
            </a:pPr>
            <a:r>
              <a:rPr lang="en-US" sz="1500" b="1" dirty="0">
                <a:solidFill>
                  <a:srgbClr val="1B2338"/>
                </a:solidFill>
                <a:latin typeface="Cambria" pitchFamily="34" charset="0"/>
                <a:ea typeface="Cambria" pitchFamily="34" charset="-122"/>
                <a:cs typeface="Cambria" pitchFamily="34" charset="-120"/>
              </a:rPr>
              <a:t>Engagement</a:t>
            </a:r>
            <a:endParaRPr lang="en-US" sz="1500" dirty="0"/>
          </a:p>
        </p:txBody>
      </p:sp>
      <p:sp>
        <p:nvSpPr>
          <p:cNvPr id="10" name="Text 8"/>
          <p:cNvSpPr/>
          <p:nvPr/>
        </p:nvSpPr>
        <p:spPr>
          <a:xfrm>
            <a:off x="6451092" y="2231136"/>
            <a:ext cx="4951476" cy="475488"/>
          </a:xfrm>
          <a:prstGeom prst="rect">
            <a:avLst/>
          </a:prstGeom>
          <a:noFill/>
          <a:ln/>
        </p:spPr>
        <p:txBody>
          <a:bodyPr wrap="square" lIns="0" tIns="0" rIns="0" bIns="0" rtlCol="0" anchor="t"/>
          <a:lstStyle/>
          <a:p>
            <a:pPr indent="0" marL="0">
              <a:lnSpc>
                <a:spcPts val="1400"/>
              </a:lnSpc>
              <a:buNone/>
            </a:pPr>
            <a:r>
              <a:rPr lang="en-US" sz="1100" dirty="0">
                <a:solidFill>
                  <a:srgbClr val="1B2338"/>
                </a:solidFill>
                <a:latin typeface="Calibri" pitchFamily="34" charset="0"/>
                <a:ea typeface="Calibri" pitchFamily="34" charset="-122"/>
                <a:cs typeface="Calibri" pitchFamily="34" charset="-120"/>
              </a:rPr>
              <a:t>Depth and breadth of app usage relative to the role baseline.</a:t>
            </a:r>
            <a:endParaRPr lang="en-US" sz="1100" dirty="0"/>
          </a:p>
        </p:txBody>
      </p:sp>
      <p:sp>
        <p:nvSpPr>
          <p:cNvPr id="11" name="Shape 9"/>
          <p:cNvSpPr/>
          <p:nvPr/>
        </p:nvSpPr>
        <p:spPr>
          <a:xfrm>
            <a:off x="566928" y="2953512"/>
            <a:ext cx="5390388" cy="987552"/>
          </a:xfrm>
          <a:prstGeom prst="roundRect">
            <a:avLst>
              <a:gd name="adj" fmla="val 9259"/>
            </a:avLst>
          </a:prstGeom>
          <a:solidFill>
            <a:srgbClr val="F1F5FA"/>
          </a:solidFill>
          <a:ln w="12700">
            <a:solidFill>
              <a:srgbClr val="F1F5FA"/>
            </a:solidFill>
            <a:prstDash val="solid"/>
          </a:ln>
        </p:spPr>
      </p:sp>
      <p:sp>
        <p:nvSpPr>
          <p:cNvPr id="12" name="Text 10"/>
          <p:cNvSpPr/>
          <p:nvPr/>
        </p:nvSpPr>
        <p:spPr>
          <a:xfrm>
            <a:off x="786384" y="3063240"/>
            <a:ext cx="4951476" cy="310896"/>
          </a:xfrm>
          <a:prstGeom prst="rect">
            <a:avLst/>
          </a:prstGeom>
          <a:noFill/>
          <a:ln/>
        </p:spPr>
        <p:txBody>
          <a:bodyPr wrap="square" lIns="0" tIns="0" rIns="0" bIns="0" rtlCol="0" anchor="ctr"/>
          <a:lstStyle/>
          <a:p>
            <a:pPr indent="0" marL="0">
              <a:buNone/>
            </a:pPr>
            <a:r>
              <a:rPr lang="en-US" sz="1500" b="1" dirty="0">
                <a:solidFill>
                  <a:srgbClr val="1B2338"/>
                </a:solidFill>
                <a:latin typeface="Cambria" pitchFamily="34" charset="0"/>
                <a:ea typeface="Cambria" pitchFamily="34" charset="-122"/>
                <a:cs typeface="Cambria" pitchFamily="34" charset="-120"/>
              </a:rPr>
              <a:t>Retention-risk</a:t>
            </a:r>
            <a:endParaRPr lang="en-US" sz="1500" dirty="0"/>
          </a:p>
        </p:txBody>
      </p:sp>
      <p:sp>
        <p:nvSpPr>
          <p:cNvPr id="13" name="Text 11"/>
          <p:cNvSpPr/>
          <p:nvPr/>
        </p:nvSpPr>
        <p:spPr>
          <a:xfrm>
            <a:off x="786384" y="3374136"/>
            <a:ext cx="4951476" cy="475488"/>
          </a:xfrm>
          <a:prstGeom prst="rect">
            <a:avLst/>
          </a:prstGeom>
          <a:noFill/>
          <a:ln/>
        </p:spPr>
        <p:txBody>
          <a:bodyPr wrap="square" lIns="0" tIns="0" rIns="0" bIns="0" rtlCol="0" anchor="t"/>
          <a:lstStyle/>
          <a:p>
            <a:pPr indent="0" marL="0">
              <a:lnSpc>
                <a:spcPts val="1400"/>
              </a:lnSpc>
              <a:buNone/>
            </a:pPr>
            <a:r>
              <a:rPr lang="en-US" sz="1100" dirty="0">
                <a:solidFill>
                  <a:srgbClr val="1B2338"/>
                </a:solidFill>
                <a:latin typeface="Calibri" pitchFamily="34" charset="0"/>
                <a:ea typeface="Calibri" pitchFamily="34" charset="-122"/>
                <a:cs typeface="Calibri" pitchFamily="34" charset="-120"/>
              </a:rPr>
              <a:t>Predicted attrition probability against baseline, from workforce and telemetry features.</a:t>
            </a:r>
            <a:endParaRPr lang="en-US" sz="1100" dirty="0"/>
          </a:p>
        </p:txBody>
      </p:sp>
      <p:sp>
        <p:nvSpPr>
          <p:cNvPr id="14" name="Shape 12"/>
          <p:cNvSpPr/>
          <p:nvPr/>
        </p:nvSpPr>
        <p:spPr>
          <a:xfrm>
            <a:off x="6231636" y="2953512"/>
            <a:ext cx="5390388" cy="987552"/>
          </a:xfrm>
          <a:prstGeom prst="roundRect">
            <a:avLst>
              <a:gd name="adj" fmla="val 9259"/>
            </a:avLst>
          </a:prstGeom>
          <a:solidFill>
            <a:srgbClr val="F1F5FA"/>
          </a:solidFill>
          <a:ln w="12700">
            <a:solidFill>
              <a:srgbClr val="F1F5FA"/>
            </a:solidFill>
            <a:prstDash val="solid"/>
          </a:ln>
        </p:spPr>
      </p:sp>
      <p:sp>
        <p:nvSpPr>
          <p:cNvPr id="15" name="Text 13"/>
          <p:cNvSpPr/>
          <p:nvPr/>
        </p:nvSpPr>
        <p:spPr>
          <a:xfrm>
            <a:off x="6451092" y="3063240"/>
            <a:ext cx="4951476" cy="310896"/>
          </a:xfrm>
          <a:prstGeom prst="rect">
            <a:avLst/>
          </a:prstGeom>
          <a:noFill/>
          <a:ln/>
        </p:spPr>
        <p:txBody>
          <a:bodyPr wrap="square" lIns="0" tIns="0" rIns="0" bIns="0" rtlCol="0" anchor="ctr"/>
          <a:lstStyle/>
          <a:p>
            <a:pPr indent="0" marL="0">
              <a:buNone/>
            </a:pPr>
            <a:r>
              <a:rPr lang="en-US" sz="1500" b="1" dirty="0">
                <a:solidFill>
                  <a:srgbClr val="1B2338"/>
                </a:solidFill>
                <a:latin typeface="Cambria" pitchFamily="34" charset="0"/>
                <a:ea typeface="Cambria" pitchFamily="34" charset="-122"/>
                <a:cs typeface="Cambria" pitchFamily="34" charset="-120"/>
              </a:rPr>
              <a:t>Growth-readiness</a:t>
            </a:r>
            <a:endParaRPr lang="en-US" sz="1500" dirty="0"/>
          </a:p>
        </p:txBody>
      </p:sp>
      <p:sp>
        <p:nvSpPr>
          <p:cNvPr id="16" name="Text 14"/>
          <p:cNvSpPr/>
          <p:nvPr/>
        </p:nvSpPr>
        <p:spPr>
          <a:xfrm>
            <a:off x="6451092" y="3374136"/>
            <a:ext cx="4951476" cy="475488"/>
          </a:xfrm>
          <a:prstGeom prst="rect">
            <a:avLst/>
          </a:prstGeom>
          <a:noFill/>
          <a:ln/>
        </p:spPr>
        <p:txBody>
          <a:bodyPr wrap="square" lIns="0" tIns="0" rIns="0" bIns="0" rtlCol="0" anchor="t"/>
          <a:lstStyle/>
          <a:p>
            <a:pPr indent="0" marL="0">
              <a:lnSpc>
                <a:spcPts val="1400"/>
              </a:lnSpc>
              <a:buNone/>
            </a:pPr>
            <a:r>
              <a:rPr lang="en-US" sz="1100" dirty="0">
                <a:solidFill>
                  <a:srgbClr val="1B2338"/>
                </a:solidFill>
                <a:latin typeface="Calibri" pitchFamily="34" charset="0"/>
                <a:ea typeface="Calibri" pitchFamily="34" charset="-122"/>
                <a:cs typeface="Calibri" pitchFamily="34" charset="-120"/>
              </a:rPr>
              <a:t>Advancement appetite: LBU activity, skill completions, questions about becoming a team lead.</a:t>
            </a:r>
            <a:endParaRPr lang="en-US" sz="1100" dirty="0"/>
          </a:p>
        </p:txBody>
      </p:sp>
      <p:sp>
        <p:nvSpPr>
          <p:cNvPr id="17" name="Shape 15"/>
          <p:cNvSpPr/>
          <p:nvPr/>
        </p:nvSpPr>
        <p:spPr>
          <a:xfrm>
            <a:off x="566928" y="4096512"/>
            <a:ext cx="5390388" cy="987552"/>
          </a:xfrm>
          <a:prstGeom prst="roundRect">
            <a:avLst>
              <a:gd name="adj" fmla="val 9259"/>
            </a:avLst>
          </a:prstGeom>
          <a:solidFill>
            <a:srgbClr val="F1F5FA"/>
          </a:solidFill>
          <a:ln w="12700">
            <a:solidFill>
              <a:srgbClr val="F1F5FA"/>
            </a:solidFill>
            <a:prstDash val="solid"/>
          </a:ln>
        </p:spPr>
      </p:sp>
      <p:sp>
        <p:nvSpPr>
          <p:cNvPr id="18" name="Text 16"/>
          <p:cNvSpPr/>
          <p:nvPr/>
        </p:nvSpPr>
        <p:spPr>
          <a:xfrm>
            <a:off x="786384" y="4206240"/>
            <a:ext cx="4951476" cy="310896"/>
          </a:xfrm>
          <a:prstGeom prst="rect">
            <a:avLst/>
          </a:prstGeom>
          <a:noFill/>
          <a:ln/>
        </p:spPr>
        <p:txBody>
          <a:bodyPr wrap="square" lIns="0" tIns="0" rIns="0" bIns="0" rtlCol="0" anchor="ctr"/>
          <a:lstStyle/>
          <a:p>
            <a:pPr indent="0" marL="0">
              <a:buNone/>
            </a:pPr>
            <a:r>
              <a:rPr lang="en-US" sz="1500" b="1" dirty="0">
                <a:solidFill>
                  <a:srgbClr val="1B2338"/>
                </a:solidFill>
                <a:latin typeface="Cambria" pitchFamily="34" charset="0"/>
                <a:ea typeface="Cambria" pitchFamily="34" charset="-122"/>
                <a:cs typeface="Cambria" pitchFamily="34" charset="-120"/>
              </a:rPr>
              <a:t>Trust</a:t>
            </a:r>
            <a:endParaRPr lang="en-US" sz="1500" dirty="0"/>
          </a:p>
        </p:txBody>
      </p:sp>
      <p:sp>
        <p:nvSpPr>
          <p:cNvPr id="19" name="Text 17"/>
          <p:cNvSpPr/>
          <p:nvPr/>
        </p:nvSpPr>
        <p:spPr>
          <a:xfrm>
            <a:off x="786384" y="4517136"/>
            <a:ext cx="4951476" cy="475488"/>
          </a:xfrm>
          <a:prstGeom prst="rect">
            <a:avLst/>
          </a:prstGeom>
          <a:noFill/>
          <a:ln/>
        </p:spPr>
        <p:txBody>
          <a:bodyPr wrap="square" lIns="0" tIns="0" rIns="0" bIns="0" rtlCol="0" anchor="t"/>
          <a:lstStyle/>
          <a:p>
            <a:pPr indent="0" marL="0">
              <a:lnSpc>
                <a:spcPts val="1400"/>
              </a:lnSpc>
              <a:buNone/>
            </a:pPr>
            <a:r>
              <a:rPr lang="en-US" sz="1100" dirty="0">
                <a:solidFill>
                  <a:srgbClr val="1B2338"/>
                </a:solidFill>
                <a:latin typeface="Calibri" pitchFamily="34" charset="0"/>
                <a:ea typeface="Calibri" pitchFamily="34" charset="-122"/>
                <a:cs typeface="Calibri" pitchFamily="34" charset="-120"/>
              </a:rPr>
              <a:t>Thumbs-down rate, correction rate, and reliance on workarounds after using Sidekick.</a:t>
            </a:r>
            <a:endParaRPr lang="en-US" sz="1100" dirty="0"/>
          </a:p>
        </p:txBody>
      </p:sp>
      <p:sp>
        <p:nvSpPr>
          <p:cNvPr id="20" name="Shape 18"/>
          <p:cNvSpPr/>
          <p:nvPr/>
        </p:nvSpPr>
        <p:spPr>
          <a:xfrm>
            <a:off x="6231636" y="4096512"/>
            <a:ext cx="5390388" cy="987552"/>
          </a:xfrm>
          <a:prstGeom prst="roundRect">
            <a:avLst>
              <a:gd name="adj" fmla="val 9259"/>
            </a:avLst>
          </a:prstGeom>
          <a:solidFill>
            <a:srgbClr val="FAECD4"/>
          </a:solidFill>
          <a:ln w="12700">
            <a:solidFill>
              <a:srgbClr val="FAECD4"/>
            </a:solidFill>
            <a:prstDash val="solid"/>
          </a:ln>
        </p:spPr>
      </p:sp>
      <p:sp>
        <p:nvSpPr>
          <p:cNvPr id="21" name="Text 19"/>
          <p:cNvSpPr/>
          <p:nvPr/>
        </p:nvSpPr>
        <p:spPr>
          <a:xfrm>
            <a:off x="6451092" y="4206240"/>
            <a:ext cx="4951476" cy="310896"/>
          </a:xfrm>
          <a:prstGeom prst="rect">
            <a:avLst/>
          </a:prstGeom>
          <a:noFill/>
          <a:ln/>
        </p:spPr>
        <p:txBody>
          <a:bodyPr wrap="square" lIns="0" tIns="0" rIns="0" bIns="0" rtlCol="0" anchor="ctr"/>
          <a:lstStyle/>
          <a:p>
            <a:pPr indent="0" marL="0">
              <a:buNone/>
            </a:pPr>
            <a:r>
              <a:rPr lang="en-US" sz="1500" b="1" dirty="0">
                <a:solidFill>
                  <a:srgbClr val="8A5A11"/>
                </a:solidFill>
                <a:latin typeface="Cambria" pitchFamily="34" charset="0"/>
                <a:ea typeface="Cambria" pitchFamily="34" charset="-122"/>
                <a:cs typeface="Cambria" pitchFamily="34" charset="-120"/>
              </a:rPr>
              <a:t>Wellbeing</a:t>
            </a:r>
            <a:endParaRPr lang="en-US" sz="1500" dirty="0"/>
          </a:p>
        </p:txBody>
      </p:sp>
      <p:sp>
        <p:nvSpPr>
          <p:cNvPr id="22" name="Text 20"/>
          <p:cNvSpPr/>
          <p:nvPr/>
        </p:nvSpPr>
        <p:spPr>
          <a:xfrm>
            <a:off x="6451092" y="4517136"/>
            <a:ext cx="4951476" cy="475488"/>
          </a:xfrm>
          <a:prstGeom prst="rect">
            <a:avLst/>
          </a:prstGeom>
          <a:noFill/>
          <a:ln/>
        </p:spPr>
        <p:txBody>
          <a:bodyPr wrap="square" lIns="0" tIns="0" rIns="0" bIns="0" rtlCol="0" anchor="t"/>
          <a:lstStyle/>
          <a:p>
            <a:pPr indent="0" marL="0">
              <a:lnSpc>
                <a:spcPts val="1400"/>
              </a:lnSpc>
              <a:buNone/>
            </a:pPr>
            <a:r>
              <a:rPr lang="en-US" sz="1100" dirty="0">
                <a:solidFill>
                  <a:srgbClr val="8A5A11"/>
                </a:solidFill>
                <a:latin typeface="Calibri" pitchFamily="34" charset="0"/>
                <a:ea typeface="Calibri" pitchFamily="34" charset="-122"/>
                <a:cs typeface="Calibri" pitchFamily="34" charset="-120"/>
              </a:rPr>
              <a:t>Operational rest and load signals only: schedule volatility, overtime density, break patterns, callout trends.</a:t>
            </a:r>
            <a:endParaRPr lang="en-US" sz="1100" dirty="0"/>
          </a:p>
        </p:txBody>
      </p:sp>
      <p:sp>
        <p:nvSpPr>
          <p:cNvPr id="23" name="Shape 21"/>
          <p:cNvSpPr/>
          <p:nvPr/>
        </p:nvSpPr>
        <p:spPr>
          <a:xfrm>
            <a:off x="566928" y="5394960"/>
            <a:ext cx="11055096" cy="713232"/>
          </a:xfrm>
          <a:prstGeom prst="roundRect">
            <a:avLst>
              <a:gd name="adj" fmla="val 15385"/>
            </a:avLst>
          </a:prstGeom>
          <a:solidFill>
            <a:srgbClr val="16233B"/>
          </a:solidFill>
          <a:ln w="12700">
            <a:solidFill>
              <a:srgbClr val="16233B"/>
            </a:solidFill>
            <a:prstDash val="solid"/>
          </a:ln>
        </p:spPr>
      </p:sp>
      <p:sp>
        <p:nvSpPr>
          <p:cNvPr id="24" name="Text 22"/>
          <p:cNvSpPr/>
          <p:nvPr/>
        </p:nvSpPr>
        <p:spPr>
          <a:xfrm>
            <a:off x="786384" y="5431536"/>
            <a:ext cx="10616184" cy="640080"/>
          </a:xfrm>
          <a:prstGeom prst="rect">
            <a:avLst/>
          </a:prstGeom>
          <a:noFill/>
          <a:ln/>
        </p:spPr>
        <p:txBody>
          <a:bodyPr wrap="square" lIns="0" tIns="0" rIns="0" bIns="0"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Wellbeing is deliberately narrow. It reads operational signals only, never health data. The app offers resources and recovery options. It never infers, records, or diagnoses a health status.</a:t>
            </a:r>
            <a:endParaRPr lang="en-US" sz="1200" dirty="0"/>
          </a:p>
        </p:txBody>
      </p:sp>
      <p:sp>
        <p:nvSpPr>
          <p:cNvPr id="25" name="Text 23"/>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A11  ·  FOR PRODUCT AND HR</a:t>
            </a:r>
            <a:endParaRPr lang="en-US" sz="1100" dirty="0"/>
          </a:p>
        </p:txBody>
      </p:sp>
      <p:sp>
        <p:nvSpPr>
          <p:cNvPr id="4" name="Text 2"/>
          <p:cNvSpPr/>
          <p:nvPr/>
        </p:nvSpPr>
        <p:spPr>
          <a:xfrm>
            <a:off x="566928" y="749808"/>
            <a:ext cx="11055096" cy="822960"/>
          </a:xfrm>
          <a:prstGeom prst="rect">
            <a:avLst/>
          </a:prstGeom>
          <a:noFill/>
          <a:ln/>
        </p:spPr>
        <p:txBody>
          <a:bodyPr wrap="square" lIns="0" tIns="0" rIns="0" bIns="0" rtlCol="0" anchor="t"/>
          <a:lstStyle/>
          <a:p>
            <a:pPr indent="0" marL="0">
              <a:lnSpc>
                <a:spcPts val="3068"/>
              </a:lnSpc>
              <a:buNone/>
            </a:pPr>
            <a:r>
              <a:rPr lang="en-US" sz="2600" b="1" dirty="0">
                <a:solidFill>
                  <a:srgbClr val="1B2338"/>
                </a:solidFill>
                <a:latin typeface="Cambria" pitchFamily="34" charset="0"/>
                <a:ea typeface="Cambria" pitchFamily="34" charset="-122"/>
                <a:cs typeface="Cambria" pitchFamily="34" charset="-120"/>
              </a:rPr>
              <a:t>The decision layer is a readable threshold policy, auditable line by line.</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5096" cy="914400"/>
        </p:xfrm>
        <a:graphic>
          <a:graphicData uri="http://schemas.openxmlformats.org/drawingml/2006/table">
            <a:tbl>
              <a:tblPr/>
              <a:tblGrid>
                <a:gridCol w="3200400"/>
                <a:gridCol w="2926080"/>
                <a:gridCol w="4928616"/>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Score pattern</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223558"/>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Intervention family</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1623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looks like</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16233B"/>
                    </a:solidFill>
                  </a:tcPr>
                </a:tc>
              </a:tr>
              <a:tr h="0">
                <a:tc>
                  <a:txBody>
                    <a:bodyPr/>
                    <a:lstStyle/>
                    <a:p>
                      <a:pPr indent="0" marL="0">
                        <a:buNone/>
                      </a:pPr>
                      <a:r>
                        <a:rPr lang="en-US" sz="1100" b="1" dirty="0">
                          <a:solidFill>
                            <a:srgbClr val="1B2338"/>
                          </a:solidFill>
                          <a:latin typeface="Calibri" pitchFamily="34" charset="0"/>
                          <a:ea typeface="Calibri" pitchFamily="34" charset="-122"/>
                          <a:cs typeface="Calibri" pitchFamily="34" charset="-120"/>
                        </a:rPr>
                        <a:t>Friction at 65 or above</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Proactive alerts and product fixes</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Detect the schedule conflict before the associate does. Fix the top dead-end flow.</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100" b="1" dirty="0">
                          <a:solidFill>
                            <a:srgbClr val="1B2338"/>
                          </a:solidFill>
                          <a:latin typeface="Calibri" pitchFamily="34" charset="0"/>
                          <a:ea typeface="Calibri" pitchFamily="34" charset="-122"/>
                          <a:cs typeface="Calibri" pitchFamily="34" charset="-120"/>
                        </a:rPr>
                        <a:t>Engagement 40 or below, tenure under 90 days</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Onboarding interventions</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Companion nudges, buddy prompts, a day-30 check-in.</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100" b="1" dirty="0">
                          <a:solidFill>
                            <a:srgbClr val="1B2338"/>
                          </a:solidFill>
                          <a:latin typeface="Calibri" pitchFamily="34" charset="0"/>
                          <a:ea typeface="Calibri" pitchFamily="34" charset="-122"/>
                          <a:cs typeface="Calibri" pitchFamily="34" charset="-120"/>
                        </a:rPr>
                        <a:t>Retention-risk at 60 or above</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Rewards and recognition</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Real rewards, associate's choice. Streaks feed bonus and merit nominations with evidence attached.</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100" b="1" dirty="0">
                          <a:solidFill>
                            <a:srgbClr val="1B2338"/>
                          </a:solidFill>
                          <a:latin typeface="Calibri" pitchFamily="34" charset="0"/>
                          <a:ea typeface="Calibri" pitchFamily="34" charset="-122"/>
                          <a:cs typeface="Calibri" pitchFamily="34" charset="-120"/>
                        </a:rPr>
                        <a:t>Growth-readiness at 60 or above</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Career pathing</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“You are 2 certificates from team-lead eligibility,” with concrete next steps via Academies and LBU.</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100" b="1" dirty="0">
                          <a:solidFill>
                            <a:srgbClr val="1B2338"/>
                          </a:solidFill>
                          <a:latin typeface="Calibri" pitchFamily="34" charset="0"/>
                          <a:ea typeface="Calibri" pitchFamily="34" charset="-122"/>
                          <a:cs typeface="Calibri" pitchFamily="34" charset="-120"/>
                        </a:rPr>
                        <a:t>Trust at 40 or below</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FYIs, training, product hardening</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Transparent what-it-can-and-cannot-do dialogue, targeted micro-training, grounding fixes.</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100" b="1" dirty="0">
                          <a:solidFill>
                            <a:srgbClr val="1B2338"/>
                          </a:solidFill>
                          <a:latin typeface="Calibri" pitchFamily="34" charset="0"/>
                          <a:ea typeface="Calibri" pitchFamily="34" charset="-122"/>
                          <a:cs typeface="Calibri" pitchFamily="34" charset="-120"/>
                        </a:rPr>
                        <a:t>Wellbeing at 40 or below</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Rejuvenation</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Recovery-day nudges when close-shift streaks stack up. Break protection. Offered, never prescribed.</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bl>
          </a:graphicData>
        </a:graphic>
      </p:graphicFrame>
      <p:sp>
        <p:nvSpPr>
          <p:cNvPr id="6" name="Text 3"/>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Several families can fire at once. A struggling new hire trips both onboarding and rewards, and the intervention budget cap arbitrates so the engine competes for scarce attention instead of sending everything.</a:t>
            </a:r>
            <a:endParaRPr lang="en-US" sz="1050" dirty="0"/>
          </a:p>
        </p:txBody>
      </p:sp>
      <p:sp>
        <p:nvSpPr>
          <p:cNvPr id="7" name="Text 4"/>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A12  ·  FOR HR</a:t>
            </a:r>
            <a:endParaRPr lang="en-US" sz="1100" dirty="0"/>
          </a:p>
        </p:txBody>
      </p:sp>
      <p:sp>
        <p:nvSpPr>
          <p:cNvPr id="4" name="Text 2"/>
          <p:cNvSpPr/>
          <p:nvPr/>
        </p:nvSpPr>
        <p:spPr>
          <a:xfrm>
            <a:off x="566928" y="749808"/>
            <a:ext cx="11055096" cy="822960"/>
          </a:xfrm>
          <a:prstGeom prst="rect">
            <a:avLst/>
          </a:prstGeom>
          <a:noFill/>
          <a:ln/>
        </p:spPr>
        <p:txBody>
          <a:bodyPr wrap="square" lIns="0" tIns="0" rIns="0" bIns="0" rtlCol="0" anchor="t"/>
          <a:lstStyle/>
          <a:p>
            <a:pPr indent="0" marL="0">
              <a:lnSpc>
                <a:spcPts val="3068"/>
              </a:lnSpc>
              <a:buNone/>
            </a:pPr>
            <a:r>
              <a:rPr lang="en-US" sz="2600" b="1" dirty="0">
                <a:solidFill>
                  <a:srgbClr val="1B2338"/>
                </a:solidFill>
                <a:latin typeface="Cambria" pitchFamily="34" charset="0"/>
                <a:ea typeface="Cambria" pitchFamily="34" charset="-122"/>
                <a:cs typeface="Cambria" pitchFamily="34" charset="-120"/>
              </a:rPr>
              <a:t>Three reward tiers, three different grant mechanics.</a:t>
            </a:r>
            <a:endParaRPr lang="en-US" sz="2600" dirty="0"/>
          </a:p>
        </p:txBody>
      </p:sp>
      <p:sp>
        <p:nvSpPr>
          <p:cNvPr id="5" name="Shape 3"/>
          <p:cNvSpPr/>
          <p:nvPr/>
        </p:nvSpPr>
        <p:spPr>
          <a:xfrm>
            <a:off x="566928" y="1810512"/>
            <a:ext cx="3502152" cy="3200400"/>
          </a:xfrm>
          <a:prstGeom prst="roundRect">
            <a:avLst>
              <a:gd name="adj" fmla="val 3429"/>
            </a:avLst>
          </a:prstGeom>
          <a:solidFill>
            <a:srgbClr val="FAECD4"/>
          </a:solidFill>
          <a:ln w="12700">
            <a:solidFill>
              <a:srgbClr val="FAECD4"/>
            </a:solidFill>
            <a:prstDash val="solid"/>
          </a:ln>
        </p:spPr>
      </p:sp>
      <p:sp>
        <p:nvSpPr>
          <p:cNvPr id="6" name="Text 4"/>
          <p:cNvSpPr/>
          <p:nvPr/>
        </p:nvSpPr>
        <p:spPr>
          <a:xfrm>
            <a:off x="804672" y="1975104"/>
            <a:ext cx="3026664" cy="420624"/>
          </a:xfrm>
          <a:prstGeom prst="rect">
            <a:avLst/>
          </a:prstGeom>
          <a:noFill/>
          <a:ln/>
        </p:spPr>
        <p:txBody>
          <a:bodyPr wrap="square" lIns="0" tIns="0" rIns="0" bIns="0" rtlCol="0" anchor="ctr"/>
          <a:lstStyle/>
          <a:p>
            <a:pPr indent="0" marL="0">
              <a:buNone/>
            </a:pPr>
            <a:r>
              <a:rPr lang="en-US" sz="2000" b="1" dirty="0">
                <a:solidFill>
                  <a:srgbClr val="8A5A11"/>
                </a:solidFill>
                <a:latin typeface="Cambria" pitchFamily="34" charset="0"/>
                <a:ea typeface="Cambria" pitchFamily="34" charset="-122"/>
                <a:cs typeface="Cambria" pitchFamily="34" charset="-120"/>
              </a:rPr>
              <a:t>Everyday</a:t>
            </a:r>
            <a:endParaRPr lang="en-US" sz="2000" dirty="0"/>
          </a:p>
        </p:txBody>
      </p:sp>
      <p:sp>
        <p:nvSpPr>
          <p:cNvPr id="7" name="Text 5"/>
          <p:cNvSpPr/>
          <p:nvPr/>
        </p:nvSpPr>
        <p:spPr>
          <a:xfrm>
            <a:off x="804672" y="2414016"/>
            <a:ext cx="3026664" cy="384048"/>
          </a:xfrm>
          <a:prstGeom prst="rect">
            <a:avLst/>
          </a:prstGeom>
          <a:noFill/>
          <a:ln/>
        </p:spPr>
        <p:txBody>
          <a:bodyPr wrap="square" lIns="0" tIns="0" rIns="0" bIns="0" rtlCol="0" anchor="t"/>
          <a:lstStyle/>
          <a:p>
            <a:pPr indent="0" marL="0">
              <a:lnSpc>
                <a:spcPts val="1200"/>
              </a:lnSpc>
              <a:buNone/>
            </a:pPr>
            <a:r>
              <a:rPr lang="en-US" sz="950" b="1" spc="100" kern="0" dirty="0">
                <a:solidFill>
                  <a:srgbClr val="8A5A11"/>
                </a:solidFill>
                <a:latin typeface="Calibri" pitchFamily="34" charset="0"/>
                <a:ea typeface="Calibri" pitchFamily="34" charset="-122"/>
                <a:cs typeface="Calibri" pitchFamily="34" charset="-120"/>
              </a:rPr>
              <a:t>SYSTEM-GRANTABLE, INSTANT</a:t>
            </a:r>
            <a:endParaRPr lang="en-US" sz="950" dirty="0"/>
          </a:p>
        </p:txBody>
      </p:sp>
      <p:sp>
        <p:nvSpPr>
          <p:cNvPr id="8" name="Text 6"/>
          <p:cNvSpPr/>
          <p:nvPr/>
        </p:nvSpPr>
        <p:spPr>
          <a:xfrm>
            <a:off x="804672" y="2889504"/>
            <a:ext cx="3026664" cy="960120"/>
          </a:xfrm>
          <a:prstGeom prst="rect">
            <a:avLst/>
          </a:prstGeom>
          <a:noFill/>
          <a:ln/>
        </p:spPr>
        <p:txBody>
          <a:bodyPr wrap="square" lIns="0" tIns="0" rIns="0" bIns="0" rtlCol="0" anchor="t"/>
          <a:lstStyle/>
          <a:p>
            <a:pPr indent="0" marL="0">
              <a:lnSpc>
                <a:spcPts val="1600"/>
              </a:lnSpc>
              <a:buNone/>
            </a:pPr>
            <a:r>
              <a:rPr lang="en-US" sz="1250" dirty="0">
                <a:solidFill>
                  <a:srgbClr val="1B2338"/>
                </a:solidFill>
                <a:latin typeface="Calibri" pitchFamily="34" charset="0"/>
                <a:ea typeface="Calibri" pitchFamily="34" charset="-122"/>
                <a:cs typeface="Calibri" pitchFamily="34" charset="-120"/>
              </a:rPr>
              <a:t>Free lunch. Small gift card. Stock-sweepstake entries. A donation to a cause the associate picks.</a:t>
            </a:r>
            <a:endParaRPr lang="en-US" sz="1250" dirty="0"/>
          </a:p>
        </p:txBody>
      </p:sp>
      <p:sp>
        <p:nvSpPr>
          <p:cNvPr id="9" name="Text 7"/>
          <p:cNvSpPr/>
          <p:nvPr/>
        </p:nvSpPr>
        <p:spPr>
          <a:xfrm>
            <a:off x="804672" y="3877056"/>
            <a:ext cx="3026664" cy="1005840"/>
          </a:xfrm>
          <a:prstGeom prst="rect">
            <a:avLst/>
          </a:prstGeom>
          <a:noFill/>
          <a:ln/>
        </p:spPr>
        <p:txBody>
          <a:bodyPr wrap="square" lIns="0" tIns="0" rIns="0" bIns="0" rtlCol="0" anchor="t"/>
          <a:lstStyle/>
          <a:p>
            <a:pPr indent="0" marL="0">
              <a:lnSpc>
                <a:spcPts val="1400"/>
              </a:lnSpc>
              <a:buNone/>
            </a:pPr>
            <a:r>
              <a:rPr lang="en-US" sz="1100" i="1" dirty="0">
                <a:solidFill>
                  <a:srgbClr val="8A5A11"/>
                </a:solidFill>
                <a:latin typeface="Calibri" pitchFamily="34" charset="0"/>
                <a:ea typeface="Calibri" pitchFamily="34" charset="-122"/>
                <a:cs typeface="Calibri" pitchFamily="34" charset="-120"/>
              </a:rPr>
              <a:t>The associate picks, and every choice teaches the engine what motivates that cohort.</a:t>
            </a:r>
            <a:endParaRPr lang="en-US" sz="1100" dirty="0"/>
          </a:p>
        </p:txBody>
      </p:sp>
      <p:sp>
        <p:nvSpPr>
          <p:cNvPr id="10" name="Shape 8"/>
          <p:cNvSpPr/>
          <p:nvPr/>
        </p:nvSpPr>
        <p:spPr>
          <a:xfrm>
            <a:off x="4343400" y="1810512"/>
            <a:ext cx="3502152" cy="3200400"/>
          </a:xfrm>
          <a:prstGeom prst="roundRect">
            <a:avLst>
              <a:gd name="adj" fmla="val 3429"/>
            </a:avLst>
          </a:prstGeom>
          <a:solidFill>
            <a:srgbClr val="DCE9F2"/>
          </a:solidFill>
          <a:ln w="12700">
            <a:solidFill>
              <a:srgbClr val="DCE9F2"/>
            </a:solidFill>
            <a:prstDash val="solid"/>
          </a:ln>
        </p:spPr>
      </p:sp>
      <p:sp>
        <p:nvSpPr>
          <p:cNvPr id="11" name="Text 9"/>
          <p:cNvSpPr/>
          <p:nvPr/>
        </p:nvSpPr>
        <p:spPr>
          <a:xfrm>
            <a:off x="4581144" y="1975104"/>
            <a:ext cx="3026664" cy="420624"/>
          </a:xfrm>
          <a:prstGeom prst="rect">
            <a:avLst/>
          </a:prstGeom>
          <a:noFill/>
          <a:ln/>
        </p:spPr>
        <p:txBody>
          <a:bodyPr wrap="square" lIns="0" tIns="0" rIns="0" bIns="0" rtlCol="0" anchor="ctr"/>
          <a:lstStyle/>
          <a:p>
            <a:pPr indent="0" marL="0">
              <a:buNone/>
            </a:pPr>
            <a:r>
              <a:rPr lang="en-US" sz="2000" b="1" dirty="0">
                <a:solidFill>
                  <a:srgbClr val="1E4E6B"/>
                </a:solidFill>
                <a:latin typeface="Cambria" pitchFamily="34" charset="0"/>
                <a:ea typeface="Cambria" pitchFamily="34" charset="-122"/>
                <a:cs typeface="Cambria" pitchFamily="34" charset="-120"/>
              </a:rPr>
              <a:t>Quarterly</a:t>
            </a:r>
            <a:endParaRPr lang="en-US" sz="2000" dirty="0"/>
          </a:p>
        </p:txBody>
      </p:sp>
      <p:sp>
        <p:nvSpPr>
          <p:cNvPr id="12" name="Text 10"/>
          <p:cNvSpPr/>
          <p:nvPr/>
        </p:nvSpPr>
        <p:spPr>
          <a:xfrm>
            <a:off x="4581144" y="2414016"/>
            <a:ext cx="3026664" cy="384048"/>
          </a:xfrm>
          <a:prstGeom prst="rect">
            <a:avLst/>
          </a:prstGeom>
          <a:noFill/>
          <a:ln/>
        </p:spPr>
        <p:txBody>
          <a:bodyPr wrap="square" lIns="0" tIns="0" rIns="0" bIns="0" rtlCol="0" anchor="t"/>
          <a:lstStyle/>
          <a:p>
            <a:pPr indent="0" marL="0">
              <a:lnSpc>
                <a:spcPts val="1200"/>
              </a:lnSpc>
              <a:buNone/>
            </a:pPr>
            <a:r>
              <a:rPr lang="en-US" sz="950" b="1" spc="100" kern="0" dirty="0">
                <a:solidFill>
                  <a:srgbClr val="1E4E6B"/>
                </a:solidFill>
                <a:latin typeface="Calibri" pitchFamily="34" charset="0"/>
                <a:ea typeface="Calibri" pitchFamily="34" charset="-122"/>
                <a:cs typeface="Calibri" pitchFamily="34" charset="-120"/>
              </a:rPr>
              <a:t>MANAGER AND HR LOOP, FED BY STREAKS</a:t>
            </a:r>
            <a:endParaRPr lang="en-US" sz="950" dirty="0"/>
          </a:p>
        </p:txBody>
      </p:sp>
      <p:sp>
        <p:nvSpPr>
          <p:cNvPr id="13" name="Text 11"/>
          <p:cNvSpPr/>
          <p:nvPr/>
        </p:nvSpPr>
        <p:spPr>
          <a:xfrm>
            <a:off x="4581144" y="2889504"/>
            <a:ext cx="3026664" cy="960120"/>
          </a:xfrm>
          <a:prstGeom prst="rect">
            <a:avLst/>
          </a:prstGeom>
          <a:noFill/>
          <a:ln/>
        </p:spPr>
        <p:txBody>
          <a:bodyPr wrap="square" lIns="0" tIns="0" rIns="0" bIns="0" rtlCol="0" anchor="t"/>
          <a:lstStyle/>
          <a:p>
            <a:pPr indent="0" marL="0">
              <a:lnSpc>
                <a:spcPts val="1600"/>
              </a:lnSpc>
              <a:buNone/>
            </a:pPr>
            <a:r>
              <a:rPr lang="en-US" sz="1250" dirty="0">
                <a:solidFill>
                  <a:srgbClr val="1B2338"/>
                </a:solidFill>
                <a:latin typeface="Calibri" pitchFamily="34" charset="0"/>
                <a:ea typeface="Calibri" pitchFamily="34" charset="-122"/>
                <a:cs typeface="Calibri" pitchFamily="34" charset="-120"/>
              </a:rPr>
              <a:t>Bonus. Merit-increase nomination. A larger stock sweepstake.</a:t>
            </a:r>
            <a:endParaRPr lang="en-US" sz="1250" dirty="0"/>
          </a:p>
        </p:txBody>
      </p:sp>
      <p:sp>
        <p:nvSpPr>
          <p:cNvPr id="14" name="Text 12"/>
          <p:cNvSpPr/>
          <p:nvPr/>
        </p:nvSpPr>
        <p:spPr>
          <a:xfrm>
            <a:off x="4581144" y="3877056"/>
            <a:ext cx="3026664" cy="1005840"/>
          </a:xfrm>
          <a:prstGeom prst="rect">
            <a:avLst/>
          </a:prstGeom>
          <a:noFill/>
          <a:ln/>
        </p:spPr>
        <p:txBody>
          <a:bodyPr wrap="square" lIns="0" tIns="0" rIns="0" bIns="0" rtlCol="0" anchor="t"/>
          <a:lstStyle/>
          <a:p>
            <a:pPr indent="0" marL="0">
              <a:lnSpc>
                <a:spcPts val="1400"/>
              </a:lnSpc>
              <a:buNone/>
            </a:pPr>
            <a:r>
              <a:rPr lang="en-US" sz="1100" i="1" dirty="0">
                <a:solidFill>
                  <a:srgbClr val="1E4E6B"/>
                </a:solidFill>
                <a:latin typeface="Calibri" pitchFamily="34" charset="0"/>
                <a:ea typeface="Calibri" pitchFamily="34" charset="-122"/>
                <a:cs typeface="Calibri" pitchFamily="34" charset="-120"/>
              </a:rPr>
              <a:t>The app nominates with evidence. Humans decide inside existing HR calibration.</a:t>
            </a:r>
            <a:endParaRPr lang="en-US" sz="1100" dirty="0"/>
          </a:p>
        </p:txBody>
      </p:sp>
      <p:sp>
        <p:nvSpPr>
          <p:cNvPr id="15" name="Shape 13"/>
          <p:cNvSpPr/>
          <p:nvPr/>
        </p:nvSpPr>
        <p:spPr>
          <a:xfrm>
            <a:off x="8119872" y="1810512"/>
            <a:ext cx="3502152" cy="3200400"/>
          </a:xfrm>
          <a:prstGeom prst="roundRect">
            <a:avLst>
              <a:gd name="adj" fmla="val 3429"/>
            </a:avLst>
          </a:prstGeom>
          <a:solidFill>
            <a:srgbClr val="DDEAE1"/>
          </a:solidFill>
          <a:ln w="12700">
            <a:solidFill>
              <a:srgbClr val="DDEAE1"/>
            </a:solidFill>
            <a:prstDash val="solid"/>
          </a:ln>
        </p:spPr>
      </p:sp>
      <p:sp>
        <p:nvSpPr>
          <p:cNvPr id="16" name="Text 14"/>
          <p:cNvSpPr/>
          <p:nvPr/>
        </p:nvSpPr>
        <p:spPr>
          <a:xfrm>
            <a:off x="8357616" y="1975104"/>
            <a:ext cx="3026664" cy="420624"/>
          </a:xfrm>
          <a:prstGeom prst="rect">
            <a:avLst/>
          </a:prstGeom>
          <a:noFill/>
          <a:ln/>
        </p:spPr>
        <p:txBody>
          <a:bodyPr wrap="square" lIns="0" tIns="0" rIns="0" bIns="0" rtlCol="0" anchor="ctr"/>
          <a:lstStyle/>
          <a:p>
            <a:pPr indent="0" marL="0">
              <a:buNone/>
            </a:pPr>
            <a:r>
              <a:rPr lang="en-US" sz="2000" b="1" dirty="0">
                <a:solidFill>
                  <a:srgbClr val="2E5540"/>
                </a:solidFill>
                <a:latin typeface="Cambria" pitchFamily="34" charset="0"/>
                <a:ea typeface="Cambria" pitchFamily="34" charset="-122"/>
                <a:cs typeface="Cambria" pitchFamily="34" charset="-120"/>
              </a:rPr>
              <a:t>Career</a:t>
            </a:r>
            <a:endParaRPr lang="en-US" sz="2000" dirty="0"/>
          </a:p>
        </p:txBody>
      </p:sp>
      <p:sp>
        <p:nvSpPr>
          <p:cNvPr id="17" name="Text 15"/>
          <p:cNvSpPr/>
          <p:nvPr/>
        </p:nvSpPr>
        <p:spPr>
          <a:xfrm>
            <a:off x="8357616" y="2414016"/>
            <a:ext cx="3026664" cy="384048"/>
          </a:xfrm>
          <a:prstGeom prst="rect">
            <a:avLst/>
          </a:prstGeom>
          <a:noFill/>
          <a:ln/>
        </p:spPr>
        <p:txBody>
          <a:bodyPr wrap="square" lIns="0" tIns="0" rIns="0" bIns="0" rtlCol="0" anchor="t"/>
          <a:lstStyle/>
          <a:p>
            <a:pPr indent="0" marL="0">
              <a:lnSpc>
                <a:spcPts val="1200"/>
              </a:lnSpc>
              <a:buNone/>
            </a:pPr>
            <a:r>
              <a:rPr lang="en-US" sz="950" b="1" spc="100" kern="0" dirty="0">
                <a:solidFill>
                  <a:srgbClr val="2E5540"/>
                </a:solidFill>
                <a:latin typeface="Calibri" pitchFamily="34" charset="0"/>
                <a:ea typeface="Calibri" pitchFamily="34" charset="-122"/>
                <a:cs typeface="Calibri" pitchFamily="34" charset="-120"/>
              </a:rPr>
              <a:t>HR PIPELINE, THE GROWTH PATH ITSELF</a:t>
            </a:r>
            <a:endParaRPr lang="en-US" sz="950" dirty="0"/>
          </a:p>
        </p:txBody>
      </p:sp>
      <p:sp>
        <p:nvSpPr>
          <p:cNvPr id="18" name="Text 16"/>
          <p:cNvSpPr/>
          <p:nvPr/>
        </p:nvSpPr>
        <p:spPr>
          <a:xfrm>
            <a:off x="8357616" y="2889504"/>
            <a:ext cx="3026664" cy="960120"/>
          </a:xfrm>
          <a:prstGeom prst="rect">
            <a:avLst/>
          </a:prstGeom>
          <a:noFill/>
          <a:ln/>
        </p:spPr>
        <p:txBody>
          <a:bodyPr wrap="square" lIns="0" tIns="0" rIns="0" bIns="0" rtlCol="0" anchor="t"/>
          <a:lstStyle/>
          <a:p>
            <a:pPr indent="0" marL="0">
              <a:lnSpc>
                <a:spcPts val="1600"/>
              </a:lnSpc>
              <a:buNone/>
            </a:pPr>
            <a:r>
              <a:rPr lang="en-US" sz="1250" dirty="0">
                <a:solidFill>
                  <a:srgbClr val="1B2338"/>
                </a:solidFill>
                <a:latin typeface="Calibri" pitchFamily="34" charset="0"/>
                <a:ea typeface="Calibri" pitchFamily="34" charset="-122"/>
                <a:cs typeface="Calibri" pitchFamily="34" charset="-120"/>
              </a:rPr>
              <a:t>Stock grants. Team-lead track via Academies and Live Better U.</a:t>
            </a:r>
            <a:endParaRPr lang="en-US" sz="1250" dirty="0"/>
          </a:p>
        </p:txBody>
      </p:sp>
      <p:sp>
        <p:nvSpPr>
          <p:cNvPr id="19" name="Text 17"/>
          <p:cNvSpPr/>
          <p:nvPr/>
        </p:nvSpPr>
        <p:spPr>
          <a:xfrm>
            <a:off x="8357616" y="3877056"/>
            <a:ext cx="3026664" cy="1005840"/>
          </a:xfrm>
          <a:prstGeom prst="rect">
            <a:avLst/>
          </a:prstGeom>
          <a:noFill/>
          <a:ln/>
        </p:spPr>
        <p:txBody>
          <a:bodyPr wrap="square" lIns="0" tIns="0" rIns="0" bIns="0" rtlCol="0" anchor="t"/>
          <a:lstStyle/>
          <a:p>
            <a:pPr indent="0" marL="0">
              <a:lnSpc>
                <a:spcPts val="1400"/>
              </a:lnSpc>
              <a:buNone/>
            </a:pPr>
            <a:r>
              <a:rPr lang="en-US" sz="1100" i="1" dirty="0">
                <a:solidFill>
                  <a:srgbClr val="2E5540"/>
                </a:solidFill>
                <a:latin typeface="Calibri" pitchFamily="34" charset="0"/>
                <a:ea typeface="Calibri" pitchFamily="34" charset="-122"/>
                <a:cs typeface="Calibri" pitchFamily="34" charset="-120"/>
              </a:rPr>
              <a:t>The reward is the path, surfaced as concrete next steps rather than a vague promise. 310K promoted in two years.</a:t>
            </a:r>
            <a:endParaRPr lang="en-US" sz="1100" dirty="0"/>
          </a:p>
        </p:txBody>
      </p:sp>
      <p:sp>
        <p:nvSpPr>
          <p:cNvPr id="20" name="Text 18"/>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Rewards reach payroll. That is what separates this from a badge in an app, and it is also what makes compliance a day-one workstream.</a:t>
            </a:r>
            <a:endParaRPr lang="en-US" sz="1050" dirty="0"/>
          </a:p>
        </p:txBody>
      </p:sp>
      <p:sp>
        <p:nvSpPr>
          <p:cNvPr id="21" name="Text 19"/>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A13  ·  FOR LEGAL AND HR</a:t>
            </a:r>
            <a:endParaRPr lang="en-US" sz="1100" dirty="0"/>
          </a:p>
        </p:txBody>
      </p:sp>
      <p:sp>
        <p:nvSpPr>
          <p:cNvPr id="4" name="Text 2"/>
          <p:cNvSpPr/>
          <p:nvPr/>
        </p:nvSpPr>
        <p:spPr>
          <a:xfrm>
            <a:off x="566928" y="749808"/>
            <a:ext cx="11055096" cy="822960"/>
          </a:xfrm>
          <a:prstGeom prst="rect">
            <a:avLst/>
          </a:prstGeom>
          <a:noFill/>
          <a:ln/>
        </p:spPr>
        <p:txBody>
          <a:bodyPr wrap="square" lIns="0" tIns="0" rIns="0" bIns="0" rtlCol="0" anchor="t"/>
          <a:lstStyle/>
          <a:p>
            <a:pPr indent="0" marL="0">
              <a:lnSpc>
                <a:spcPts val="3068"/>
              </a:lnSpc>
              <a:buNone/>
            </a:pPr>
            <a:r>
              <a:rPr lang="en-US" sz="2600" b="1" dirty="0">
                <a:solidFill>
                  <a:srgbClr val="1B2338"/>
                </a:solidFill>
                <a:latin typeface="Cambria" pitchFamily="34" charset="0"/>
                <a:ea typeface="Cambria" pitchFamily="34" charset="-122"/>
                <a:cs typeface="Cambria" pitchFamily="34" charset="-120"/>
              </a:rPr>
              <a:t>Compliance is a day-one workstream, not a launch-week discovery.</a:t>
            </a:r>
            <a:endParaRPr lang="en-US" sz="2600" dirty="0"/>
          </a:p>
        </p:txBody>
      </p:sp>
      <p:sp>
        <p:nvSpPr>
          <p:cNvPr id="5" name="Shape 3"/>
          <p:cNvSpPr/>
          <p:nvPr/>
        </p:nvSpPr>
        <p:spPr>
          <a:xfrm>
            <a:off x="566928" y="1783080"/>
            <a:ext cx="5390388" cy="1267968"/>
          </a:xfrm>
          <a:prstGeom prst="roundRect">
            <a:avLst>
              <a:gd name="adj" fmla="val 7212"/>
            </a:avLst>
          </a:prstGeom>
          <a:solidFill>
            <a:srgbClr val="F1F5FA"/>
          </a:solidFill>
          <a:ln w="12700">
            <a:solidFill>
              <a:srgbClr val="F1F5FA"/>
            </a:solidFill>
            <a:prstDash val="solid"/>
          </a:ln>
        </p:spPr>
      </p:sp>
      <p:sp>
        <p:nvSpPr>
          <p:cNvPr id="6" name="Shape 4"/>
          <p:cNvSpPr/>
          <p:nvPr/>
        </p:nvSpPr>
        <p:spPr>
          <a:xfrm>
            <a:off x="822960" y="2353056"/>
            <a:ext cx="128016" cy="128016"/>
          </a:xfrm>
          <a:prstGeom prst="diamond">
            <a:avLst/>
          </a:prstGeom>
          <a:solidFill>
            <a:srgbClr val="D9922B"/>
          </a:solidFill>
          <a:ln w="12700">
            <a:solidFill>
              <a:srgbClr val="D9922B"/>
            </a:solidFill>
            <a:prstDash val="solid"/>
          </a:ln>
        </p:spPr>
      </p:sp>
      <p:sp>
        <p:nvSpPr>
          <p:cNvPr id="7" name="Text 5"/>
          <p:cNvSpPr/>
          <p:nvPr/>
        </p:nvSpPr>
        <p:spPr>
          <a:xfrm>
            <a:off x="1097280" y="1929384"/>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Gift cards, bonuses, and stock are taxable compensation. That means payroll integration, not an app feature.</a:t>
            </a:r>
            <a:endParaRPr lang="en-US" sz="1200" dirty="0"/>
          </a:p>
        </p:txBody>
      </p:sp>
      <p:sp>
        <p:nvSpPr>
          <p:cNvPr id="8" name="Shape 6"/>
          <p:cNvSpPr/>
          <p:nvPr/>
        </p:nvSpPr>
        <p:spPr>
          <a:xfrm>
            <a:off x="6231636" y="1783080"/>
            <a:ext cx="5390388" cy="1267968"/>
          </a:xfrm>
          <a:prstGeom prst="roundRect">
            <a:avLst>
              <a:gd name="adj" fmla="val 7212"/>
            </a:avLst>
          </a:prstGeom>
          <a:solidFill>
            <a:srgbClr val="F1F5FA"/>
          </a:solidFill>
          <a:ln w="12700">
            <a:solidFill>
              <a:srgbClr val="F1F5FA"/>
            </a:solidFill>
            <a:prstDash val="solid"/>
          </a:ln>
        </p:spPr>
      </p:sp>
      <p:sp>
        <p:nvSpPr>
          <p:cNvPr id="9" name="Shape 7"/>
          <p:cNvSpPr/>
          <p:nvPr/>
        </p:nvSpPr>
        <p:spPr>
          <a:xfrm>
            <a:off x="6487668" y="2353056"/>
            <a:ext cx="128016" cy="128016"/>
          </a:xfrm>
          <a:prstGeom prst="diamond">
            <a:avLst/>
          </a:prstGeom>
          <a:solidFill>
            <a:srgbClr val="D9922B"/>
          </a:solidFill>
          <a:ln w="12700">
            <a:solidFill>
              <a:srgbClr val="D9922B"/>
            </a:solidFill>
            <a:prstDash val="solid"/>
          </a:ln>
        </p:spPr>
      </p:sp>
      <p:sp>
        <p:nvSpPr>
          <p:cNvPr id="10" name="Text 8"/>
          <p:cNvSpPr/>
          <p:nvPr/>
        </p:nvSpPr>
        <p:spPr>
          <a:xfrm>
            <a:off x="6761988" y="1929384"/>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Sweepstakes carry their own legal regime: no-consideration entry and state-by-state rules.</a:t>
            </a:r>
            <a:endParaRPr lang="en-US" sz="1200" dirty="0"/>
          </a:p>
        </p:txBody>
      </p:sp>
      <p:sp>
        <p:nvSpPr>
          <p:cNvPr id="11" name="Shape 9"/>
          <p:cNvSpPr/>
          <p:nvPr/>
        </p:nvSpPr>
        <p:spPr>
          <a:xfrm>
            <a:off x="566928" y="3252216"/>
            <a:ext cx="5390388" cy="1267968"/>
          </a:xfrm>
          <a:prstGeom prst="roundRect">
            <a:avLst>
              <a:gd name="adj" fmla="val 7212"/>
            </a:avLst>
          </a:prstGeom>
          <a:solidFill>
            <a:srgbClr val="F1F5FA"/>
          </a:solidFill>
          <a:ln w="12700">
            <a:solidFill>
              <a:srgbClr val="F1F5FA"/>
            </a:solidFill>
            <a:prstDash val="solid"/>
          </a:ln>
        </p:spPr>
      </p:sp>
      <p:sp>
        <p:nvSpPr>
          <p:cNvPr id="12" name="Shape 10"/>
          <p:cNvSpPr/>
          <p:nvPr/>
        </p:nvSpPr>
        <p:spPr>
          <a:xfrm>
            <a:off x="822960" y="3822192"/>
            <a:ext cx="128016" cy="128016"/>
          </a:xfrm>
          <a:prstGeom prst="diamond">
            <a:avLst/>
          </a:prstGeom>
          <a:solidFill>
            <a:srgbClr val="D9922B"/>
          </a:solidFill>
          <a:ln w="12700">
            <a:solidFill>
              <a:srgbClr val="D9922B"/>
            </a:solidFill>
            <a:prstDash val="solid"/>
          </a:ln>
        </p:spPr>
      </p:sp>
      <p:sp>
        <p:nvSpPr>
          <p:cNvPr id="13" name="Text 11"/>
          <p:cNvSpPr/>
          <p:nvPr/>
        </p:nvSpPr>
        <p:spPr>
          <a:xfrm>
            <a:off x="1097280" y="3398520"/>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Merit and promotion nominations flow through existing HR calibration. The app brings evidence, humans decide.</a:t>
            </a:r>
            <a:endParaRPr lang="en-US" sz="1200" dirty="0"/>
          </a:p>
        </p:txBody>
      </p:sp>
      <p:sp>
        <p:nvSpPr>
          <p:cNvPr id="14" name="Shape 12"/>
          <p:cNvSpPr/>
          <p:nvPr/>
        </p:nvSpPr>
        <p:spPr>
          <a:xfrm>
            <a:off x="6231636" y="3252216"/>
            <a:ext cx="5390388" cy="1267968"/>
          </a:xfrm>
          <a:prstGeom prst="roundRect">
            <a:avLst>
              <a:gd name="adj" fmla="val 7212"/>
            </a:avLst>
          </a:prstGeom>
          <a:solidFill>
            <a:srgbClr val="F1F5FA"/>
          </a:solidFill>
          <a:ln w="12700">
            <a:solidFill>
              <a:srgbClr val="F1F5FA"/>
            </a:solidFill>
            <a:prstDash val="solid"/>
          </a:ln>
        </p:spPr>
      </p:sp>
      <p:sp>
        <p:nvSpPr>
          <p:cNvPr id="15" name="Shape 13"/>
          <p:cNvSpPr/>
          <p:nvPr/>
        </p:nvSpPr>
        <p:spPr>
          <a:xfrm>
            <a:off x="6487668" y="3822192"/>
            <a:ext cx="128016" cy="128016"/>
          </a:xfrm>
          <a:prstGeom prst="diamond">
            <a:avLst/>
          </a:prstGeom>
          <a:solidFill>
            <a:srgbClr val="D9922B"/>
          </a:solidFill>
          <a:ln w="12700">
            <a:solidFill>
              <a:srgbClr val="D9922B"/>
            </a:solidFill>
            <a:prstDash val="solid"/>
          </a:ln>
        </p:spPr>
      </p:sp>
      <p:sp>
        <p:nvSpPr>
          <p:cNvPr id="16" name="Text 14"/>
          <p:cNvSpPr/>
          <p:nvPr/>
        </p:nvSpPr>
        <p:spPr>
          <a:xfrm>
            <a:off x="6761988" y="3398520"/>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Every tier ships with an equity audit of realized rewards across cohorts.</a:t>
            </a:r>
            <a:endParaRPr lang="en-US" sz="1200" dirty="0"/>
          </a:p>
        </p:txBody>
      </p:sp>
      <p:sp>
        <p:nvSpPr>
          <p:cNvPr id="17" name="Shape 15"/>
          <p:cNvSpPr/>
          <p:nvPr/>
        </p:nvSpPr>
        <p:spPr>
          <a:xfrm>
            <a:off x="566928" y="4721352"/>
            <a:ext cx="5390388" cy="1267968"/>
          </a:xfrm>
          <a:prstGeom prst="roundRect">
            <a:avLst>
              <a:gd name="adj" fmla="val 7212"/>
            </a:avLst>
          </a:prstGeom>
          <a:solidFill>
            <a:srgbClr val="F1F5FA"/>
          </a:solidFill>
          <a:ln w="12700">
            <a:solidFill>
              <a:srgbClr val="F1F5FA"/>
            </a:solidFill>
            <a:prstDash val="solid"/>
          </a:ln>
        </p:spPr>
      </p:sp>
      <p:sp>
        <p:nvSpPr>
          <p:cNvPr id="18" name="Shape 16"/>
          <p:cNvSpPr/>
          <p:nvPr/>
        </p:nvSpPr>
        <p:spPr>
          <a:xfrm>
            <a:off x="822960" y="5291328"/>
            <a:ext cx="128016" cy="128016"/>
          </a:xfrm>
          <a:prstGeom prst="diamond">
            <a:avLst/>
          </a:prstGeom>
          <a:solidFill>
            <a:srgbClr val="D9922B"/>
          </a:solidFill>
          <a:ln w="12700">
            <a:solidFill>
              <a:srgbClr val="D9922B"/>
            </a:solidFill>
            <a:prstDash val="solid"/>
          </a:ln>
        </p:spPr>
      </p:sp>
      <p:sp>
        <p:nvSpPr>
          <p:cNvPr id="19" name="Text 17"/>
          <p:cNvSpPr/>
          <p:nvPr/>
        </p:nvSpPr>
        <p:spPr>
          <a:xfrm>
            <a:off x="1097280" y="4867656"/>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That audit includes checking that rewarding drive never quietly disadvantages the associate who simply works their shift well.</a:t>
            </a:r>
            <a:endParaRPr lang="en-US" sz="1200" dirty="0"/>
          </a:p>
        </p:txBody>
      </p:sp>
      <p:sp>
        <p:nvSpPr>
          <p:cNvPr id="20" name="Shape 18"/>
          <p:cNvSpPr/>
          <p:nvPr/>
        </p:nvSpPr>
        <p:spPr>
          <a:xfrm>
            <a:off x="6231636" y="4721352"/>
            <a:ext cx="5390388" cy="1267968"/>
          </a:xfrm>
          <a:prstGeom prst="roundRect">
            <a:avLst>
              <a:gd name="adj" fmla="val 7212"/>
            </a:avLst>
          </a:prstGeom>
          <a:solidFill>
            <a:srgbClr val="F1F5FA"/>
          </a:solidFill>
          <a:ln w="12700">
            <a:solidFill>
              <a:srgbClr val="F1F5FA"/>
            </a:solidFill>
            <a:prstDash val="solid"/>
          </a:ln>
        </p:spPr>
      </p:sp>
      <p:sp>
        <p:nvSpPr>
          <p:cNvPr id="21" name="Shape 19"/>
          <p:cNvSpPr/>
          <p:nvPr/>
        </p:nvSpPr>
        <p:spPr>
          <a:xfrm>
            <a:off x="6487668" y="5291328"/>
            <a:ext cx="128016" cy="128016"/>
          </a:xfrm>
          <a:prstGeom prst="diamond">
            <a:avLst/>
          </a:prstGeom>
          <a:solidFill>
            <a:srgbClr val="D9922B"/>
          </a:solidFill>
          <a:ln w="12700">
            <a:solidFill>
              <a:srgbClr val="D9922B"/>
            </a:solidFill>
            <a:prstDash val="solid"/>
          </a:ln>
        </p:spPr>
      </p:sp>
      <p:sp>
        <p:nvSpPr>
          <p:cNvPr id="22" name="Text 20"/>
          <p:cNvSpPr/>
          <p:nvPr/>
        </p:nvSpPr>
        <p:spPr>
          <a:xfrm>
            <a:off x="6761988" y="4867656"/>
            <a:ext cx="4604004" cy="97536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Reward mechanics must never read as pay-for-surveillance. If a mechanic cannot survive being explained to the associate it applies to, it does not ship.</a:t>
            </a:r>
            <a:endParaRPr lang="en-US" sz="1200" dirty="0"/>
          </a:p>
        </p:txBody>
      </p:sp>
      <p:sp>
        <p:nvSpPr>
          <p:cNvPr id="23" name="Text 21"/>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Cleared with HR and legal inside days 31 to 60 of Plan C, before the first reward arm goes live.</a:t>
            </a:r>
            <a:endParaRPr lang="en-US" sz="1050" dirty="0"/>
          </a:p>
        </p:txBody>
      </p:sp>
      <p:sp>
        <p:nvSpPr>
          <p:cNvPr id="24" name="Text 22"/>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A14  ·  FOR HR AND LEGAL</a:t>
            </a:r>
            <a:endParaRPr lang="en-US" sz="1100" dirty="0"/>
          </a:p>
        </p:txBody>
      </p:sp>
      <p:sp>
        <p:nvSpPr>
          <p:cNvPr id="4" name="Text 2"/>
          <p:cNvSpPr/>
          <p:nvPr/>
        </p:nvSpPr>
        <p:spPr>
          <a:xfrm>
            <a:off x="566928" y="749808"/>
            <a:ext cx="11055096" cy="822960"/>
          </a:xfrm>
          <a:prstGeom prst="rect">
            <a:avLst/>
          </a:prstGeom>
          <a:noFill/>
          <a:ln/>
        </p:spPr>
        <p:txBody>
          <a:bodyPr wrap="square" lIns="0" tIns="0" rIns="0" bIns="0" rtlCol="0" anchor="t"/>
          <a:lstStyle/>
          <a:p>
            <a:pPr indent="0" marL="0">
              <a:lnSpc>
                <a:spcPts val="3068"/>
              </a:lnSpc>
              <a:buNone/>
            </a:pPr>
            <a:r>
              <a:rPr lang="en-US" sz="2600" b="1" dirty="0">
                <a:solidFill>
                  <a:srgbClr val="1B2338"/>
                </a:solidFill>
                <a:latin typeface="Cambria" pitchFamily="34" charset="0"/>
                <a:ea typeface="Cambria" pitchFamily="34" charset="-122"/>
                <a:cs typeface="Cambria" pitchFamily="34" charset="-120"/>
              </a:rPr>
              <a:t>Four guardrails keep the learning layer honest.</a:t>
            </a:r>
            <a:endParaRPr lang="en-US" sz="2600" dirty="0"/>
          </a:p>
        </p:txBody>
      </p:sp>
      <p:sp>
        <p:nvSpPr>
          <p:cNvPr id="5" name="Shape 3"/>
          <p:cNvSpPr/>
          <p:nvPr/>
        </p:nvSpPr>
        <p:spPr>
          <a:xfrm>
            <a:off x="566928" y="1828800"/>
            <a:ext cx="5390388" cy="1691640"/>
          </a:xfrm>
          <a:prstGeom prst="roundRect">
            <a:avLst>
              <a:gd name="adj" fmla="val 6486"/>
            </a:avLst>
          </a:prstGeom>
          <a:solidFill>
            <a:srgbClr val="F1F5FA"/>
          </a:solidFill>
          <a:ln w="12700">
            <a:solidFill>
              <a:srgbClr val="F1F5FA"/>
            </a:solidFill>
            <a:prstDash val="solid"/>
          </a:ln>
        </p:spPr>
      </p:sp>
      <p:sp>
        <p:nvSpPr>
          <p:cNvPr id="6" name="Shape 4"/>
          <p:cNvSpPr/>
          <p:nvPr/>
        </p:nvSpPr>
        <p:spPr>
          <a:xfrm>
            <a:off x="804672" y="2103120"/>
            <a:ext cx="146304" cy="146304"/>
          </a:xfrm>
          <a:prstGeom prst="diamond">
            <a:avLst/>
          </a:prstGeom>
          <a:solidFill>
            <a:srgbClr val="D9922B"/>
          </a:solidFill>
          <a:ln w="12700">
            <a:solidFill>
              <a:srgbClr val="D9922B"/>
            </a:solidFill>
            <a:prstDash val="solid"/>
          </a:ln>
        </p:spPr>
      </p:sp>
      <p:sp>
        <p:nvSpPr>
          <p:cNvPr id="7" name="Text 5"/>
          <p:cNvSpPr/>
          <p:nvPr/>
        </p:nvSpPr>
        <p:spPr>
          <a:xfrm>
            <a:off x="1078992" y="2011680"/>
            <a:ext cx="4640580" cy="365760"/>
          </a:xfrm>
          <a:prstGeom prst="rect">
            <a:avLst/>
          </a:prstGeom>
          <a:noFill/>
          <a:ln/>
        </p:spPr>
        <p:txBody>
          <a:bodyPr wrap="square" lIns="0" tIns="0" rIns="0" bIns="0" rtlCol="0" anchor="ctr"/>
          <a:lstStyle/>
          <a:p>
            <a:pPr indent="0" marL="0">
              <a:buNone/>
            </a:pPr>
            <a:r>
              <a:rPr lang="en-US" sz="1600" b="1" dirty="0">
                <a:solidFill>
                  <a:srgbClr val="1B2338"/>
                </a:solidFill>
                <a:latin typeface="Cambria" pitchFamily="34" charset="0"/>
                <a:ea typeface="Cambria" pitchFamily="34" charset="-122"/>
                <a:cs typeface="Cambria" pitchFamily="34" charset="-120"/>
              </a:rPr>
              <a:t>Long-horizon holdouts</a:t>
            </a:r>
            <a:endParaRPr lang="en-US" sz="1600" dirty="0"/>
          </a:p>
        </p:txBody>
      </p:sp>
      <p:sp>
        <p:nvSpPr>
          <p:cNvPr id="8" name="Text 6"/>
          <p:cNvSpPr/>
          <p:nvPr/>
        </p:nvSpPr>
        <p:spPr>
          <a:xfrm>
            <a:off x="804672" y="2450592"/>
            <a:ext cx="4914900" cy="914400"/>
          </a:xfrm>
          <a:prstGeom prst="rect">
            <a:avLst/>
          </a:prstGeom>
          <a:noFill/>
          <a:ln/>
        </p:spPr>
        <p:txBody>
          <a:bodyPr wrap="square" lIns="0" tIns="0" rIns="0" bIns="0" rtlCol="0" anchor="t"/>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Bandits optimize the reward you give them. Reward is a leading indicator validated against 90-day retention in permanent holdout groups.</a:t>
            </a:r>
            <a:endParaRPr lang="en-US" sz="1200" dirty="0"/>
          </a:p>
        </p:txBody>
      </p:sp>
      <p:sp>
        <p:nvSpPr>
          <p:cNvPr id="9" name="Shape 7"/>
          <p:cNvSpPr/>
          <p:nvPr/>
        </p:nvSpPr>
        <p:spPr>
          <a:xfrm>
            <a:off x="6231636" y="1828800"/>
            <a:ext cx="5390388" cy="1691640"/>
          </a:xfrm>
          <a:prstGeom prst="roundRect">
            <a:avLst>
              <a:gd name="adj" fmla="val 6486"/>
            </a:avLst>
          </a:prstGeom>
          <a:solidFill>
            <a:srgbClr val="F1F5FA"/>
          </a:solidFill>
          <a:ln w="12700">
            <a:solidFill>
              <a:srgbClr val="F1F5FA"/>
            </a:solidFill>
            <a:prstDash val="solid"/>
          </a:ln>
        </p:spPr>
      </p:sp>
      <p:sp>
        <p:nvSpPr>
          <p:cNvPr id="10" name="Shape 8"/>
          <p:cNvSpPr/>
          <p:nvPr/>
        </p:nvSpPr>
        <p:spPr>
          <a:xfrm>
            <a:off x="6469380" y="2103120"/>
            <a:ext cx="146304" cy="146304"/>
          </a:xfrm>
          <a:prstGeom prst="diamond">
            <a:avLst/>
          </a:prstGeom>
          <a:solidFill>
            <a:srgbClr val="D9922B"/>
          </a:solidFill>
          <a:ln w="12700">
            <a:solidFill>
              <a:srgbClr val="D9922B"/>
            </a:solidFill>
            <a:prstDash val="solid"/>
          </a:ln>
        </p:spPr>
      </p:sp>
      <p:sp>
        <p:nvSpPr>
          <p:cNvPr id="11" name="Text 9"/>
          <p:cNvSpPr/>
          <p:nvPr/>
        </p:nvSpPr>
        <p:spPr>
          <a:xfrm>
            <a:off x="6743700" y="2011680"/>
            <a:ext cx="4640580" cy="365760"/>
          </a:xfrm>
          <a:prstGeom prst="rect">
            <a:avLst/>
          </a:prstGeom>
          <a:noFill/>
          <a:ln/>
        </p:spPr>
        <p:txBody>
          <a:bodyPr wrap="square" lIns="0" tIns="0" rIns="0" bIns="0" rtlCol="0" anchor="ctr"/>
          <a:lstStyle/>
          <a:p>
            <a:pPr indent="0" marL="0">
              <a:buNone/>
            </a:pPr>
            <a:r>
              <a:rPr lang="en-US" sz="1600" b="1" dirty="0">
                <a:solidFill>
                  <a:srgbClr val="1B2338"/>
                </a:solidFill>
                <a:latin typeface="Cambria" pitchFamily="34" charset="0"/>
                <a:ea typeface="Cambria" pitchFamily="34" charset="-122"/>
                <a:cs typeface="Cambria" pitchFamily="34" charset="-120"/>
              </a:rPr>
              <a:t>Fairness constraints</a:t>
            </a:r>
            <a:endParaRPr lang="en-US" sz="1600" dirty="0"/>
          </a:p>
        </p:txBody>
      </p:sp>
      <p:sp>
        <p:nvSpPr>
          <p:cNvPr id="12" name="Text 10"/>
          <p:cNvSpPr/>
          <p:nvPr/>
        </p:nvSpPr>
        <p:spPr>
          <a:xfrm>
            <a:off x="6469380" y="2450592"/>
            <a:ext cx="4914900" cy="914400"/>
          </a:xfrm>
          <a:prstGeom prst="rect">
            <a:avLst/>
          </a:prstGeom>
          <a:noFill/>
          <a:ln/>
        </p:spPr>
        <p:txBody>
          <a:bodyPr wrap="square" lIns="0" tIns="0" rIns="0" bIns="0" rtlCol="0" anchor="t"/>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Minimum exposure floors per arm and per cohort. No cohort is silently starved of a beneficial intervention, and realized rewards are audited for equity.</a:t>
            </a:r>
            <a:endParaRPr lang="en-US" sz="1200" dirty="0"/>
          </a:p>
        </p:txBody>
      </p:sp>
      <p:sp>
        <p:nvSpPr>
          <p:cNvPr id="13" name="Shape 11"/>
          <p:cNvSpPr/>
          <p:nvPr/>
        </p:nvSpPr>
        <p:spPr>
          <a:xfrm>
            <a:off x="566928" y="3749040"/>
            <a:ext cx="5390388" cy="1691640"/>
          </a:xfrm>
          <a:prstGeom prst="roundRect">
            <a:avLst>
              <a:gd name="adj" fmla="val 6486"/>
            </a:avLst>
          </a:prstGeom>
          <a:solidFill>
            <a:srgbClr val="F1F5FA"/>
          </a:solidFill>
          <a:ln w="12700">
            <a:solidFill>
              <a:srgbClr val="F1F5FA"/>
            </a:solidFill>
            <a:prstDash val="solid"/>
          </a:ln>
        </p:spPr>
      </p:sp>
      <p:sp>
        <p:nvSpPr>
          <p:cNvPr id="14" name="Shape 12"/>
          <p:cNvSpPr/>
          <p:nvPr/>
        </p:nvSpPr>
        <p:spPr>
          <a:xfrm>
            <a:off x="804672" y="4023360"/>
            <a:ext cx="146304" cy="146304"/>
          </a:xfrm>
          <a:prstGeom prst="diamond">
            <a:avLst/>
          </a:prstGeom>
          <a:solidFill>
            <a:srgbClr val="D9922B"/>
          </a:solidFill>
          <a:ln w="12700">
            <a:solidFill>
              <a:srgbClr val="D9922B"/>
            </a:solidFill>
            <a:prstDash val="solid"/>
          </a:ln>
        </p:spPr>
      </p:sp>
      <p:sp>
        <p:nvSpPr>
          <p:cNvPr id="15" name="Text 13"/>
          <p:cNvSpPr/>
          <p:nvPr/>
        </p:nvSpPr>
        <p:spPr>
          <a:xfrm>
            <a:off x="1078992" y="3931920"/>
            <a:ext cx="4640580" cy="365760"/>
          </a:xfrm>
          <a:prstGeom prst="rect">
            <a:avLst/>
          </a:prstGeom>
          <a:noFill/>
          <a:ln/>
        </p:spPr>
        <p:txBody>
          <a:bodyPr wrap="square" lIns="0" tIns="0" rIns="0" bIns="0" rtlCol="0" anchor="ctr"/>
          <a:lstStyle/>
          <a:p>
            <a:pPr indent="0" marL="0">
              <a:buNone/>
            </a:pPr>
            <a:r>
              <a:rPr lang="en-US" sz="1600" b="1" dirty="0">
                <a:solidFill>
                  <a:srgbClr val="1B2338"/>
                </a:solidFill>
                <a:latin typeface="Cambria" pitchFamily="34" charset="0"/>
                <a:ea typeface="Cambria" pitchFamily="34" charset="-122"/>
                <a:cs typeface="Cambria" pitchFamily="34" charset="-120"/>
              </a:rPr>
              <a:t>Intervention budget caps</a:t>
            </a:r>
            <a:endParaRPr lang="en-US" sz="1600" dirty="0"/>
          </a:p>
        </p:txBody>
      </p:sp>
      <p:sp>
        <p:nvSpPr>
          <p:cNvPr id="16" name="Text 14"/>
          <p:cNvSpPr/>
          <p:nvPr/>
        </p:nvSpPr>
        <p:spPr>
          <a:xfrm>
            <a:off x="804672" y="4370832"/>
            <a:ext cx="4914900" cy="914400"/>
          </a:xfrm>
          <a:prstGeom prst="rect">
            <a:avLst/>
          </a:prstGeom>
          <a:noFill/>
          <a:ln/>
        </p:spPr>
        <p:txBody>
          <a:bodyPr wrap="square" lIns="0" tIns="0" rIns="0" bIns="0" rtlCol="0" anchor="t"/>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An associate sees at most N interventions a week. The engine competes for a scarce attention budget, which prevents nudge fatigue.</a:t>
            </a:r>
            <a:endParaRPr lang="en-US" sz="1200" dirty="0"/>
          </a:p>
        </p:txBody>
      </p:sp>
      <p:sp>
        <p:nvSpPr>
          <p:cNvPr id="17" name="Shape 15"/>
          <p:cNvSpPr/>
          <p:nvPr/>
        </p:nvSpPr>
        <p:spPr>
          <a:xfrm>
            <a:off x="6231636" y="3749040"/>
            <a:ext cx="5390388" cy="1691640"/>
          </a:xfrm>
          <a:prstGeom prst="roundRect">
            <a:avLst>
              <a:gd name="adj" fmla="val 6486"/>
            </a:avLst>
          </a:prstGeom>
          <a:solidFill>
            <a:srgbClr val="F1F5FA"/>
          </a:solidFill>
          <a:ln w="12700">
            <a:solidFill>
              <a:srgbClr val="F1F5FA"/>
            </a:solidFill>
            <a:prstDash val="solid"/>
          </a:ln>
        </p:spPr>
      </p:sp>
      <p:sp>
        <p:nvSpPr>
          <p:cNvPr id="18" name="Shape 16"/>
          <p:cNvSpPr/>
          <p:nvPr/>
        </p:nvSpPr>
        <p:spPr>
          <a:xfrm>
            <a:off x="6469380" y="4023360"/>
            <a:ext cx="146304" cy="146304"/>
          </a:xfrm>
          <a:prstGeom prst="diamond">
            <a:avLst/>
          </a:prstGeom>
          <a:solidFill>
            <a:srgbClr val="D9922B"/>
          </a:solidFill>
          <a:ln w="12700">
            <a:solidFill>
              <a:srgbClr val="D9922B"/>
            </a:solidFill>
            <a:prstDash val="solid"/>
          </a:ln>
        </p:spPr>
      </p:sp>
      <p:sp>
        <p:nvSpPr>
          <p:cNvPr id="19" name="Text 17"/>
          <p:cNvSpPr/>
          <p:nvPr/>
        </p:nvSpPr>
        <p:spPr>
          <a:xfrm>
            <a:off x="6743700" y="3931920"/>
            <a:ext cx="4640580" cy="365760"/>
          </a:xfrm>
          <a:prstGeom prst="rect">
            <a:avLst/>
          </a:prstGeom>
          <a:noFill/>
          <a:ln/>
        </p:spPr>
        <p:txBody>
          <a:bodyPr wrap="square" lIns="0" tIns="0" rIns="0" bIns="0" rtlCol="0" anchor="ctr"/>
          <a:lstStyle/>
          <a:p>
            <a:pPr indent="0" marL="0">
              <a:buNone/>
            </a:pPr>
            <a:r>
              <a:rPr lang="en-US" sz="1600" b="1" dirty="0">
                <a:solidFill>
                  <a:srgbClr val="1B2338"/>
                </a:solidFill>
                <a:latin typeface="Cambria" pitchFamily="34" charset="0"/>
                <a:ea typeface="Cambria" pitchFamily="34" charset="-122"/>
                <a:cs typeface="Cambria" pitchFamily="34" charset="-120"/>
              </a:rPr>
              <a:t>Human-readable policies</a:t>
            </a:r>
            <a:endParaRPr lang="en-US" sz="1600" dirty="0"/>
          </a:p>
        </p:txBody>
      </p:sp>
      <p:sp>
        <p:nvSpPr>
          <p:cNvPr id="20" name="Text 18"/>
          <p:cNvSpPr/>
          <p:nvPr/>
        </p:nvSpPr>
        <p:spPr>
          <a:xfrm>
            <a:off x="6469380" y="4370832"/>
            <a:ext cx="4914900" cy="914400"/>
          </a:xfrm>
          <a:prstGeom prst="rect">
            <a:avLst/>
          </a:prstGeom>
          <a:noFill/>
          <a:ln/>
        </p:spPr>
        <p:txBody>
          <a:bodyPr wrap="square" lIns="0" tIns="0" rIns="0" bIns="0" rtlCol="0" anchor="t"/>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Every learned policy exports as “cohort X responds best to Y,” reviewable by People teams. Not a black box.</a:t>
            </a:r>
            <a:endParaRPr lang="en-US" sz="1200" dirty="0"/>
          </a:p>
        </p:txBody>
      </p:sp>
      <p:sp>
        <p:nvSpPr>
          <p:cNvPr id="21" name="Text 19"/>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Fairness floors are hard constraints in the sampler, not preferences applied afterwards in review.</a:t>
            </a:r>
            <a:endParaRPr lang="en-US" sz="1050" dirty="0"/>
          </a:p>
        </p:txBody>
      </p:sp>
      <p:sp>
        <p:nvSpPr>
          <p:cNvPr id="22" name="Text 20"/>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A15  ·  FOR ENGINEERING LEADS AND THE GM</a:t>
            </a:r>
            <a:endParaRPr lang="en-US" sz="1100" dirty="0"/>
          </a:p>
        </p:txBody>
      </p:sp>
      <p:sp>
        <p:nvSpPr>
          <p:cNvPr id="4" name="Text 2"/>
          <p:cNvSpPr/>
          <p:nvPr/>
        </p:nvSpPr>
        <p:spPr>
          <a:xfrm>
            <a:off x="566928" y="749808"/>
            <a:ext cx="11055096" cy="822960"/>
          </a:xfrm>
          <a:prstGeom prst="rect">
            <a:avLst/>
          </a:prstGeom>
          <a:noFill/>
          <a:ln/>
        </p:spPr>
        <p:txBody>
          <a:bodyPr wrap="square" lIns="0" tIns="0" rIns="0" bIns="0" rtlCol="0" anchor="t"/>
          <a:lstStyle/>
          <a:p>
            <a:pPr indent="0" marL="0">
              <a:lnSpc>
                <a:spcPts val="3068"/>
              </a:lnSpc>
              <a:buNone/>
            </a:pPr>
            <a:r>
              <a:rPr lang="en-US" sz="2600" b="1" dirty="0">
                <a:solidFill>
                  <a:srgbClr val="1B2338"/>
                </a:solidFill>
                <a:latin typeface="Cambria" pitchFamily="34" charset="0"/>
                <a:ea typeface="Cambria" pitchFamily="34" charset="-122"/>
                <a:cs typeface="Cambria" pitchFamily="34" charset="-120"/>
              </a:rPr>
              <a:t>Eighteen capabilities, one scoring formula, placed on the associate journey.</a:t>
            </a:r>
            <a:endParaRPr lang="en-US" sz="2600" dirty="0"/>
          </a:p>
        </p:txBody>
      </p:sp>
      <p:sp>
        <p:nvSpPr>
          <p:cNvPr id="5" name="Shape 3"/>
          <p:cNvSpPr/>
          <p:nvPr/>
        </p:nvSpPr>
        <p:spPr>
          <a:xfrm>
            <a:off x="566928" y="1783080"/>
            <a:ext cx="11055096" cy="658368"/>
          </a:xfrm>
          <a:prstGeom prst="roundRect">
            <a:avLst>
              <a:gd name="adj" fmla="val 16667"/>
            </a:avLst>
          </a:prstGeom>
          <a:solidFill>
            <a:srgbClr val="16233B"/>
          </a:solidFill>
          <a:ln w="12700">
            <a:solidFill>
              <a:srgbClr val="16233B"/>
            </a:solidFill>
            <a:prstDash val="solid"/>
          </a:ln>
        </p:spPr>
      </p:sp>
      <p:sp>
        <p:nvSpPr>
          <p:cNvPr id="6" name="Text 4"/>
          <p:cNvSpPr/>
          <p:nvPr/>
        </p:nvSpPr>
        <p:spPr>
          <a:xfrm>
            <a:off x="786384" y="1819656"/>
            <a:ext cx="10616184"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score  =  ( minutes returned x weight  +  retention lift x weight )  x  confidence  ÷  build cost</a:t>
            </a:r>
            <a:endParaRPr lang="en-US" sz="1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2670048"/>
          <a:ext cx="11055096" cy="914400"/>
        </p:xfrm>
        <a:graphic>
          <a:graphicData uri="http://schemas.openxmlformats.org/drawingml/2006/table">
            <a:tbl>
              <a:tblPr/>
              <a:tblGrid>
                <a:gridCol w="3566160"/>
                <a:gridCol w="731520"/>
                <a:gridCol w="1828800"/>
                <a:gridCol w="1600200"/>
                <a:gridCol w="3328416"/>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Top-ranked capability</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223558"/>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Plan</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1623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Journey lane</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1623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Horizon</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1623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 it ranks</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16233B"/>
                    </a:solidFill>
                  </a:tcPr>
                </a:tc>
              </a:tr>
              <a:tr h="0">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Fix the top dead-end flow</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Everyday work</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Days 1 to 30</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High minutes, high confidence, low build cost</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Schedule-conflict action agent</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Everyday work</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Days 31 to 60</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Largest minutes return of any single capability</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Onboarding Companion nano-agent</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First 90 days</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Days 31 to 60</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Highest retention lift, moderate confidence</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Day-1 orientation agent</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First shift</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Days 31 to 60</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Strong retention lift at low build cost</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Retention-risk score and two arms</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Platform</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Days 31 to 60</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High lift, low confidence until measured</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Contextual bandit pilot</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Platform</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Days 61 to 90</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100" dirty="0">
                          <a:solidFill>
                            <a:srgbClr val="1B2338"/>
                          </a:solidFill>
                          <a:latin typeface="Calibri" pitchFamily="34" charset="0"/>
                          <a:ea typeface="Calibri" pitchFamily="34" charset="-122"/>
                          <a:cs typeface="Calibri" pitchFamily="34" charset="-120"/>
                        </a:rPr>
                        <a:t>Highest cost, highest option value</a:t>
                      </a:r>
                      <a:endParaRPr lang="en-US" sz="110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bl>
          </a:graphicData>
        </a:graphic>
      </p:graphicFrame>
      <p:sp>
        <p:nvSpPr>
          <p:cNvPr id="8" name="Text 5"/>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Confidence multiplies rather than adds, so a large opportunity nobody believes in ranks like a modest one that is certain. Cost divides, which converts impact into impact per unit of effort. Swimlanes expose gaps: an empty lane is a journey milestone no plan is serving.</a:t>
            </a:r>
            <a:endParaRPr lang="en-US" sz="1050" dirty="0"/>
          </a:p>
        </p:txBody>
      </p:sp>
      <p:sp>
        <p:nvSpPr>
          <p:cNvPr id="9" name="Text 6"/>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A16  ·  PLAN B IN FULL</a:t>
            </a:r>
            <a:endParaRPr lang="en-US" sz="1100" dirty="0"/>
          </a:p>
        </p:txBody>
      </p:sp>
      <p:sp>
        <p:nvSpPr>
          <p:cNvPr id="4" name="Text 2"/>
          <p:cNvSpPr/>
          <p:nvPr/>
        </p:nvSpPr>
        <p:spPr>
          <a:xfrm>
            <a:off x="566928" y="749808"/>
            <a:ext cx="11055096" cy="822960"/>
          </a:xfrm>
          <a:prstGeom prst="rect">
            <a:avLst/>
          </a:prstGeom>
          <a:noFill/>
          <a:ln/>
        </p:spPr>
        <p:txBody>
          <a:bodyPr wrap="square" lIns="0" tIns="0" rIns="0" bIns="0" rtlCol="0" anchor="t"/>
          <a:lstStyle/>
          <a:p>
            <a:pPr indent="0" marL="0">
              <a:lnSpc>
                <a:spcPts val="3068"/>
              </a:lnSpc>
              <a:buNone/>
            </a:pPr>
            <a:r>
              <a:rPr lang="en-US" sz="2600" b="1" dirty="0">
                <a:solidFill>
                  <a:srgbClr val="1B2338"/>
                </a:solidFill>
                <a:latin typeface="Cambria" pitchFamily="34" charset="0"/>
                <a:ea typeface="Cambria" pitchFamily="34" charset="-122"/>
                <a:cs typeface="Cambria" pitchFamily="34" charset="-120"/>
              </a:rPr>
              <a:t>Answer to action: close the agentic gap on the highest-volume clusters.</a:t>
            </a:r>
            <a:endParaRPr lang="en-US" sz="2600" dirty="0"/>
          </a:p>
        </p:txBody>
      </p:sp>
      <p:sp>
        <p:nvSpPr>
          <p:cNvPr id="5" name="Shape 3"/>
          <p:cNvSpPr/>
          <p:nvPr/>
        </p:nvSpPr>
        <p:spPr>
          <a:xfrm>
            <a:off x="566928" y="1783080"/>
            <a:ext cx="5390388" cy="1313688"/>
          </a:xfrm>
          <a:prstGeom prst="roundRect">
            <a:avLst>
              <a:gd name="adj" fmla="val 6961"/>
            </a:avLst>
          </a:prstGeom>
          <a:solidFill>
            <a:srgbClr val="F1F5FA"/>
          </a:solidFill>
          <a:ln w="12700">
            <a:solidFill>
              <a:srgbClr val="F1F5FA"/>
            </a:solidFill>
            <a:prstDash val="solid"/>
          </a:ln>
        </p:spPr>
      </p:sp>
      <p:sp>
        <p:nvSpPr>
          <p:cNvPr id="6" name="Shape 4"/>
          <p:cNvSpPr/>
          <p:nvPr/>
        </p:nvSpPr>
        <p:spPr>
          <a:xfrm>
            <a:off x="822960" y="2375916"/>
            <a:ext cx="128016" cy="128016"/>
          </a:xfrm>
          <a:prstGeom prst="diamond">
            <a:avLst/>
          </a:prstGeom>
          <a:solidFill>
            <a:srgbClr val="D9922B"/>
          </a:solidFill>
          <a:ln w="12700">
            <a:solidFill>
              <a:srgbClr val="D9922B"/>
            </a:solidFill>
            <a:prstDash val="solid"/>
          </a:ln>
        </p:spPr>
      </p:sp>
      <p:sp>
        <p:nvSpPr>
          <p:cNvPr id="7" name="Text 5"/>
          <p:cNvSpPr/>
          <p:nvPr/>
        </p:nvSpPr>
        <p:spPr>
          <a:xfrm>
            <a:off x="1097280" y="1929384"/>
            <a:ext cx="4604004" cy="102108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Thesis: every question that ends in “go find your team lead” costs three people time. Moving the top clusters from explaining to doing returns minutes and removes daily friction.</a:t>
            </a:r>
            <a:endParaRPr lang="en-US" sz="1200" dirty="0"/>
          </a:p>
        </p:txBody>
      </p:sp>
      <p:sp>
        <p:nvSpPr>
          <p:cNvPr id="8" name="Shape 6"/>
          <p:cNvSpPr/>
          <p:nvPr/>
        </p:nvSpPr>
        <p:spPr>
          <a:xfrm>
            <a:off x="6231636" y="1783080"/>
            <a:ext cx="5390388" cy="1313688"/>
          </a:xfrm>
          <a:prstGeom prst="roundRect">
            <a:avLst>
              <a:gd name="adj" fmla="val 6961"/>
            </a:avLst>
          </a:prstGeom>
          <a:solidFill>
            <a:srgbClr val="F1F5FA"/>
          </a:solidFill>
          <a:ln w="12700">
            <a:solidFill>
              <a:srgbClr val="F1F5FA"/>
            </a:solidFill>
            <a:prstDash val="solid"/>
          </a:ln>
        </p:spPr>
      </p:sp>
      <p:sp>
        <p:nvSpPr>
          <p:cNvPr id="9" name="Shape 7"/>
          <p:cNvSpPr/>
          <p:nvPr/>
        </p:nvSpPr>
        <p:spPr>
          <a:xfrm>
            <a:off x="6487668" y="2375916"/>
            <a:ext cx="128016" cy="128016"/>
          </a:xfrm>
          <a:prstGeom prst="diamond">
            <a:avLst/>
          </a:prstGeom>
          <a:solidFill>
            <a:srgbClr val="D9922B"/>
          </a:solidFill>
          <a:ln w="12700">
            <a:solidFill>
              <a:srgbClr val="D9922B"/>
            </a:solidFill>
            <a:prstDash val="solid"/>
          </a:ln>
        </p:spPr>
      </p:sp>
      <p:sp>
        <p:nvSpPr>
          <p:cNvPr id="10" name="Text 8"/>
          <p:cNvSpPr/>
          <p:nvPr/>
        </p:nvSpPr>
        <p:spPr>
          <a:xfrm>
            <a:off x="6761988" y="1929384"/>
            <a:ext cx="4604004" cy="102108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Days 1 to 30: cluster the 3M daily questions by intent and score each cluster by frequency x time-cost x feasibility. Hypothesis for the top three: scheduling, time off, task and equipment.</a:t>
            </a:r>
            <a:endParaRPr lang="en-US" sz="1200" dirty="0"/>
          </a:p>
        </p:txBody>
      </p:sp>
      <p:sp>
        <p:nvSpPr>
          <p:cNvPr id="11" name="Shape 9"/>
          <p:cNvSpPr/>
          <p:nvPr/>
        </p:nvSpPr>
        <p:spPr>
          <a:xfrm>
            <a:off x="566928" y="3297936"/>
            <a:ext cx="5390388" cy="1313688"/>
          </a:xfrm>
          <a:prstGeom prst="roundRect">
            <a:avLst>
              <a:gd name="adj" fmla="val 6961"/>
            </a:avLst>
          </a:prstGeom>
          <a:solidFill>
            <a:srgbClr val="F1F5FA"/>
          </a:solidFill>
          <a:ln w="12700">
            <a:solidFill>
              <a:srgbClr val="F1F5FA"/>
            </a:solidFill>
            <a:prstDash val="solid"/>
          </a:ln>
        </p:spPr>
      </p:sp>
      <p:sp>
        <p:nvSpPr>
          <p:cNvPr id="12" name="Shape 10"/>
          <p:cNvSpPr/>
          <p:nvPr/>
        </p:nvSpPr>
        <p:spPr>
          <a:xfrm>
            <a:off x="822960" y="3890772"/>
            <a:ext cx="128016" cy="128016"/>
          </a:xfrm>
          <a:prstGeom prst="diamond">
            <a:avLst/>
          </a:prstGeom>
          <a:solidFill>
            <a:srgbClr val="D9922B"/>
          </a:solidFill>
          <a:ln w="12700">
            <a:solidFill>
              <a:srgbClr val="D9922B"/>
            </a:solidFill>
            <a:prstDash val="solid"/>
          </a:ln>
        </p:spPr>
      </p:sp>
      <p:sp>
        <p:nvSpPr>
          <p:cNvPr id="13" name="Text 11"/>
          <p:cNvSpPr/>
          <p:nvPr/>
        </p:nvSpPr>
        <p:spPr>
          <a:xfrm>
            <a:off x="1097280" y="3444240"/>
            <a:ext cx="4604004" cy="102108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Days 31 to 60: one nano-agent ships the complete loop for cluster one. Detect, propose takers, initiate the swap, escalate async to the lead, close the loop.</a:t>
            </a:r>
            <a:endParaRPr lang="en-US" sz="1200" dirty="0"/>
          </a:p>
        </p:txBody>
      </p:sp>
      <p:sp>
        <p:nvSpPr>
          <p:cNvPr id="14" name="Shape 12"/>
          <p:cNvSpPr/>
          <p:nvPr/>
        </p:nvSpPr>
        <p:spPr>
          <a:xfrm>
            <a:off x="6231636" y="3297936"/>
            <a:ext cx="5390388" cy="1313688"/>
          </a:xfrm>
          <a:prstGeom prst="roundRect">
            <a:avLst>
              <a:gd name="adj" fmla="val 6961"/>
            </a:avLst>
          </a:prstGeom>
          <a:solidFill>
            <a:srgbClr val="F1F5FA"/>
          </a:solidFill>
          <a:ln w="12700">
            <a:solidFill>
              <a:srgbClr val="F1F5FA"/>
            </a:solidFill>
            <a:prstDash val="solid"/>
          </a:ln>
        </p:spPr>
      </p:sp>
      <p:sp>
        <p:nvSpPr>
          <p:cNvPr id="15" name="Shape 13"/>
          <p:cNvSpPr/>
          <p:nvPr/>
        </p:nvSpPr>
        <p:spPr>
          <a:xfrm>
            <a:off x="6487668" y="3890772"/>
            <a:ext cx="128016" cy="128016"/>
          </a:xfrm>
          <a:prstGeom prst="diamond">
            <a:avLst/>
          </a:prstGeom>
          <a:solidFill>
            <a:srgbClr val="D9922B"/>
          </a:solidFill>
          <a:ln w="12700">
            <a:solidFill>
              <a:srgbClr val="D9922B"/>
            </a:solidFill>
            <a:prstDash val="solid"/>
          </a:ln>
        </p:spPr>
      </p:sp>
      <p:sp>
        <p:nvSpPr>
          <p:cNvPr id="16" name="Text 14"/>
          <p:cNvSpPr/>
          <p:nvPr/>
        </p:nvSpPr>
        <p:spPr>
          <a:xfrm>
            <a:off x="6761988" y="3444240"/>
            <a:ext cx="4604004" cy="102108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Days 61 to 90: instrument task completion and deflection, harden reliability, spec cluster two, and institutionalize the experimentation cadence.</a:t>
            </a:r>
            <a:endParaRPr lang="en-US" sz="1200" dirty="0"/>
          </a:p>
        </p:txBody>
      </p:sp>
      <p:sp>
        <p:nvSpPr>
          <p:cNvPr id="17" name="Shape 15"/>
          <p:cNvSpPr/>
          <p:nvPr/>
        </p:nvSpPr>
        <p:spPr>
          <a:xfrm>
            <a:off x="566928" y="4812792"/>
            <a:ext cx="5390388" cy="1313688"/>
          </a:xfrm>
          <a:prstGeom prst="roundRect">
            <a:avLst>
              <a:gd name="adj" fmla="val 6961"/>
            </a:avLst>
          </a:prstGeom>
          <a:solidFill>
            <a:srgbClr val="F1F5FA"/>
          </a:solidFill>
          <a:ln w="12700">
            <a:solidFill>
              <a:srgbClr val="F1F5FA"/>
            </a:solidFill>
            <a:prstDash val="solid"/>
          </a:ln>
        </p:spPr>
      </p:sp>
      <p:sp>
        <p:nvSpPr>
          <p:cNvPr id="18" name="Shape 16"/>
          <p:cNvSpPr/>
          <p:nvPr/>
        </p:nvSpPr>
        <p:spPr>
          <a:xfrm>
            <a:off x="822960" y="5405628"/>
            <a:ext cx="128016" cy="128016"/>
          </a:xfrm>
          <a:prstGeom prst="diamond">
            <a:avLst/>
          </a:prstGeom>
          <a:solidFill>
            <a:srgbClr val="D9922B"/>
          </a:solidFill>
          <a:ln w="12700">
            <a:solidFill>
              <a:srgbClr val="D9922B"/>
            </a:solidFill>
            <a:prstDash val="solid"/>
          </a:ln>
        </p:spPr>
      </p:sp>
      <p:sp>
        <p:nvSpPr>
          <p:cNvPr id="19" name="Text 17"/>
          <p:cNvSpPr/>
          <p:nvPr/>
        </p:nvSpPr>
        <p:spPr>
          <a:xfrm>
            <a:off x="1097280" y="4959096"/>
            <a:ext cx="4604004" cy="102108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North star: minutes of associate time returned per week. Supporting: in-app task completion, manager-interruption deflection, answer-to-action conversion, and trust metrics.</a:t>
            </a:r>
            <a:endParaRPr lang="en-US" sz="1200" dirty="0"/>
          </a:p>
        </p:txBody>
      </p:sp>
      <p:sp>
        <p:nvSpPr>
          <p:cNvPr id="20" name="Shape 18"/>
          <p:cNvSpPr/>
          <p:nvPr/>
        </p:nvSpPr>
        <p:spPr>
          <a:xfrm>
            <a:off x="6231636" y="4812792"/>
            <a:ext cx="5390388" cy="1313688"/>
          </a:xfrm>
          <a:prstGeom prst="roundRect">
            <a:avLst>
              <a:gd name="adj" fmla="val 6961"/>
            </a:avLst>
          </a:prstGeom>
          <a:solidFill>
            <a:srgbClr val="F1F5FA"/>
          </a:solidFill>
          <a:ln w="12700">
            <a:solidFill>
              <a:srgbClr val="F1F5FA"/>
            </a:solidFill>
            <a:prstDash val="solid"/>
          </a:ln>
        </p:spPr>
      </p:sp>
      <p:sp>
        <p:nvSpPr>
          <p:cNvPr id="21" name="Shape 19"/>
          <p:cNvSpPr/>
          <p:nvPr/>
        </p:nvSpPr>
        <p:spPr>
          <a:xfrm>
            <a:off x="6487668" y="5405628"/>
            <a:ext cx="128016" cy="128016"/>
          </a:xfrm>
          <a:prstGeom prst="diamond">
            <a:avLst/>
          </a:prstGeom>
          <a:solidFill>
            <a:srgbClr val="D9922B"/>
          </a:solidFill>
          <a:ln w="12700">
            <a:solidFill>
              <a:srgbClr val="D9922B"/>
            </a:solidFill>
            <a:prstDash val="solid"/>
          </a:ln>
        </p:spPr>
      </p:sp>
      <p:sp>
        <p:nvSpPr>
          <p:cNvPr id="22" name="Text 20"/>
          <p:cNvSpPr/>
          <p:nvPr/>
        </p:nvSpPr>
        <p:spPr>
          <a:xfrm>
            <a:off x="6761988" y="4959096"/>
            <a:ext cx="4604004" cy="102108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Risks: action agents touch systems of record, so the integration and trust bar is high, and one wrong scheduling action costs more trust than 100 right answers earn.</a:t>
            </a:r>
            <a:endParaRPr lang="en-US" sz="1200" dirty="0"/>
          </a:p>
        </p:txBody>
      </p:sp>
      <p:sp>
        <p:nvSpPr>
          <p:cNvPr id="23" name="Text 21"/>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A17  ·  PLAN C IN FULL</a:t>
            </a:r>
            <a:endParaRPr lang="en-US" sz="1100" dirty="0"/>
          </a:p>
        </p:txBody>
      </p:sp>
      <p:sp>
        <p:nvSpPr>
          <p:cNvPr id="4" name="Text 2"/>
          <p:cNvSpPr/>
          <p:nvPr/>
        </p:nvSpPr>
        <p:spPr>
          <a:xfrm>
            <a:off x="566928" y="749808"/>
            <a:ext cx="11055096" cy="822960"/>
          </a:xfrm>
          <a:prstGeom prst="rect">
            <a:avLst/>
          </a:prstGeom>
          <a:noFill/>
          <a:ln/>
        </p:spPr>
        <p:txBody>
          <a:bodyPr wrap="square" lIns="0" tIns="0" rIns="0" bIns="0" rtlCol="0" anchor="t"/>
          <a:lstStyle/>
          <a:p>
            <a:pPr indent="0" marL="0">
              <a:lnSpc>
                <a:spcPts val="3068"/>
              </a:lnSpc>
              <a:buNone/>
            </a:pPr>
            <a:r>
              <a:rPr lang="en-US" sz="2600" b="1" dirty="0">
                <a:solidFill>
                  <a:srgbClr val="1B2338"/>
                </a:solidFill>
                <a:latin typeface="Cambria" pitchFamily="34" charset="0"/>
                <a:ea typeface="Cambria" pitchFamily="34" charset="-122"/>
                <a:cs typeface="Cambria" pitchFamily="34" charset="-120"/>
              </a:rPr>
              <a:t>Signal Engine: sense each cohort's state, respond with the right intervention, learn what works.</a:t>
            </a:r>
            <a:endParaRPr lang="en-US" sz="2600" dirty="0"/>
          </a:p>
        </p:txBody>
      </p:sp>
      <p:sp>
        <p:nvSpPr>
          <p:cNvPr id="5" name="Shape 3"/>
          <p:cNvSpPr/>
          <p:nvPr/>
        </p:nvSpPr>
        <p:spPr>
          <a:xfrm>
            <a:off x="566928" y="1783080"/>
            <a:ext cx="5390388" cy="1313688"/>
          </a:xfrm>
          <a:prstGeom prst="roundRect">
            <a:avLst>
              <a:gd name="adj" fmla="val 6961"/>
            </a:avLst>
          </a:prstGeom>
          <a:solidFill>
            <a:srgbClr val="F1F5FA"/>
          </a:solidFill>
          <a:ln w="12700">
            <a:solidFill>
              <a:srgbClr val="F1F5FA"/>
            </a:solidFill>
            <a:prstDash val="solid"/>
          </a:ln>
        </p:spPr>
      </p:sp>
      <p:sp>
        <p:nvSpPr>
          <p:cNvPr id="6" name="Shape 4"/>
          <p:cNvSpPr/>
          <p:nvPr/>
        </p:nvSpPr>
        <p:spPr>
          <a:xfrm>
            <a:off x="822960" y="2375916"/>
            <a:ext cx="128016" cy="128016"/>
          </a:xfrm>
          <a:prstGeom prst="diamond">
            <a:avLst/>
          </a:prstGeom>
          <a:solidFill>
            <a:srgbClr val="D9922B"/>
          </a:solidFill>
          <a:ln w="12700">
            <a:solidFill>
              <a:srgbClr val="D9922B"/>
            </a:solidFill>
            <a:prstDash val="solid"/>
          </a:ln>
        </p:spPr>
      </p:sp>
      <p:sp>
        <p:nvSpPr>
          <p:cNvPr id="7" name="Text 5"/>
          <p:cNvSpPr/>
          <p:nvPr/>
        </p:nvSpPr>
        <p:spPr>
          <a:xfrm>
            <a:off x="1097280" y="1929384"/>
            <a:ext cx="4604004" cy="102108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Thesis: Walmart has 1.9M associates and treats them, product-wise, as one user. The durable advantage is a platform that senses cohort state and responds, not any single feature.</a:t>
            </a:r>
            <a:endParaRPr lang="en-US" sz="1200" dirty="0"/>
          </a:p>
        </p:txBody>
      </p:sp>
      <p:sp>
        <p:nvSpPr>
          <p:cNvPr id="8" name="Shape 6"/>
          <p:cNvSpPr/>
          <p:nvPr/>
        </p:nvSpPr>
        <p:spPr>
          <a:xfrm>
            <a:off x="6231636" y="1783080"/>
            <a:ext cx="5390388" cy="1313688"/>
          </a:xfrm>
          <a:prstGeom prst="roundRect">
            <a:avLst>
              <a:gd name="adj" fmla="val 6961"/>
            </a:avLst>
          </a:prstGeom>
          <a:solidFill>
            <a:srgbClr val="F1F5FA"/>
          </a:solidFill>
          <a:ln w="12700">
            <a:solidFill>
              <a:srgbClr val="F1F5FA"/>
            </a:solidFill>
            <a:prstDash val="solid"/>
          </a:ln>
        </p:spPr>
      </p:sp>
      <p:sp>
        <p:nvSpPr>
          <p:cNvPr id="9" name="Shape 7"/>
          <p:cNvSpPr/>
          <p:nvPr/>
        </p:nvSpPr>
        <p:spPr>
          <a:xfrm>
            <a:off x="6487668" y="2375916"/>
            <a:ext cx="128016" cy="128016"/>
          </a:xfrm>
          <a:prstGeom prst="diamond">
            <a:avLst/>
          </a:prstGeom>
          <a:solidFill>
            <a:srgbClr val="D9922B"/>
          </a:solidFill>
          <a:ln w="12700">
            <a:solidFill>
              <a:srgbClr val="D9922B"/>
            </a:solidFill>
            <a:prstDash val="solid"/>
          </a:ln>
        </p:spPr>
      </p:sp>
      <p:sp>
        <p:nvSpPr>
          <p:cNvPr id="10" name="Text 8"/>
          <p:cNvSpPr/>
          <p:nvPr/>
        </p:nvSpPr>
        <p:spPr>
          <a:xfrm>
            <a:off x="6761988" y="1929384"/>
            <a:ext cx="4604004" cy="102108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Days 1 to 30: inventory every existing signal, define the cohort taxonomy (role x shift x region x tenure), and fit a scoring model v0 on historical data to test whether 90-day attrition is predictable from app signals.</a:t>
            </a:r>
            <a:endParaRPr lang="en-US" sz="1200" dirty="0"/>
          </a:p>
        </p:txBody>
      </p:sp>
      <p:sp>
        <p:nvSpPr>
          <p:cNvPr id="11" name="Shape 9"/>
          <p:cNvSpPr/>
          <p:nvPr/>
        </p:nvSpPr>
        <p:spPr>
          <a:xfrm>
            <a:off x="566928" y="3297936"/>
            <a:ext cx="5390388" cy="1313688"/>
          </a:xfrm>
          <a:prstGeom prst="roundRect">
            <a:avLst>
              <a:gd name="adj" fmla="val 6961"/>
            </a:avLst>
          </a:prstGeom>
          <a:solidFill>
            <a:srgbClr val="F1F5FA"/>
          </a:solidFill>
          <a:ln w="12700">
            <a:solidFill>
              <a:srgbClr val="F1F5FA"/>
            </a:solidFill>
            <a:prstDash val="solid"/>
          </a:ln>
        </p:spPr>
      </p:sp>
      <p:sp>
        <p:nvSpPr>
          <p:cNvPr id="12" name="Shape 10"/>
          <p:cNvSpPr/>
          <p:nvPr/>
        </p:nvSpPr>
        <p:spPr>
          <a:xfrm>
            <a:off x="822960" y="3890772"/>
            <a:ext cx="128016" cy="128016"/>
          </a:xfrm>
          <a:prstGeom prst="diamond">
            <a:avLst/>
          </a:prstGeom>
          <a:solidFill>
            <a:srgbClr val="D9922B"/>
          </a:solidFill>
          <a:ln w="12700">
            <a:solidFill>
              <a:srgbClr val="D9922B"/>
            </a:solidFill>
            <a:prstDash val="solid"/>
          </a:ln>
        </p:spPr>
      </p:sp>
      <p:sp>
        <p:nvSpPr>
          <p:cNvPr id="13" name="Text 11"/>
          <p:cNvSpPr/>
          <p:nvPr/>
        </p:nvSpPr>
        <p:spPr>
          <a:xfrm>
            <a:off x="1097280" y="3444240"/>
            <a:ext cx="4604004" cy="102108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Days 31 to 60: retention-risk score live for new hires. Two arms A/B tested, proactive check-in against real-reward choice. Reward catalog v1 shipped with HR and legal clearance.</a:t>
            </a:r>
            <a:endParaRPr lang="en-US" sz="1200" dirty="0"/>
          </a:p>
        </p:txBody>
      </p:sp>
      <p:sp>
        <p:nvSpPr>
          <p:cNvPr id="14" name="Shape 12"/>
          <p:cNvSpPr/>
          <p:nvPr/>
        </p:nvSpPr>
        <p:spPr>
          <a:xfrm>
            <a:off x="6231636" y="3297936"/>
            <a:ext cx="5390388" cy="1313688"/>
          </a:xfrm>
          <a:prstGeom prst="roundRect">
            <a:avLst>
              <a:gd name="adj" fmla="val 6961"/>
            </a:avLst>
          </a:prstGeom>
          <a:solidFill>
            <a:srgbClr val="F1F5FA"/>
          </a:solidFill>
          <a:ln w="12700">
            <a:solidFill>
              <a:srgbClr val="F1F5FA"/>
            </a:solidFill>
            <a:prstDash val="solid"/>
          </a:ln>
        </p:spPr>
      </p:sp>
      <p:sp>
        <p:nvSpPr>
          <p:cNvPr id="15" name="Shape 13"/>
          <p:cNvSpPr/>
          <p:nvPr/>
        </p:nvSpPr>
        <p:spPr>
          <a:xfrm>
            <a:off x="6487668" y="3890772"/>
            <a:ext cx="128016" cy="128016"/>
          </a:xfrm>
          <a:prstGeom prst="diamond">
            <a:avLst/>
          </a:prstGeom>
          <a:solidFill>
            <a:srgbClr val="D9922B"/>
          </a:solidFill>
          <a:ln w="12700">
            <a:solidFill>
              <a:srgbClr val="D9922B"/>
            </a:solidFill>
            <a:prstDash val="solid"/>
          </a:ln>
        </p:spPr>
      </p:sp>
      <p:sp>
        <p:nvSpPr>
          <p:cNvPr id="16" name="Text 14"/>
          <p:cNvSpPr/>
          <p:nvPr/>
        </p:nvSpPr>
        <p:spPr>
          <a:xfrm>
            <a:off x="6761988" y="3444240"/>
            <a:ext cx="4604004" cy="102108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Days 61 to 90: contextual bandit across 3 to 4 arms in pilot regions, cohort-level results, and an opportunity-scoring dashboard that turns signals into ranked roadmap input.</a:t>
            </a:r>
            <a:endParaRPr lang="en-US" sz="1200" dirty="0"/>
          </a:p>
        </p:txBody>
      </p:sp>
      <p:sp>
        <p:nvSpPr>
          <p:cNvPr id="17" name="Shape 15"/>
          <p:cNvSpPr/>
          <p:nvPr/>
        </p:nvSpPr>
        <p:spPr>
          <a:xfrm>
            <a:off x="566928" y="4812792"/>
            <a:ext cx="5390388" cy="1313688"/>
          </a:xfrm>
          <a:prstGeom prst="roundRect">
            <a:avLst>
              <a:gd name="adj" fmla="val 6961"/>
            </a:avLst>
          </a:prstGeom>
          <a:solidFill>
            <a:srgbClr val="F1F5FA"/>
          </a:solidFill>
          <a:ln w="12700">
            <a:solidFill>
              <a:srgbClr val="F1F5FA"/>
            </a:solidFill>
            <a:prstDash val="solid"/>
          </a:ln>
        </p:spPr>
      </p:sp>
      <p:sp>
        <p:nvSpPr>
          <p:cNvPr id="18" name="Shape 16"/>
          <p:cNvSpPr/>
          <p:nvPr/>
        </p:nvSpPr>
        <p:spPr>
          <a:xfrm>
            <a:off x="822960" y="5405628"/>
            <a:ext cx="128016" cy="128016"/>
          </a:xfrm>
          <a:prstGeom prst="diamond">
            <a:avLst/>
          </a:prstGeom>
          <a:solidFill>
            <a:srgbClr val="D9922B"/>
          </a:solidFill>
          <a:ln w="12700">
            <a:solidFill>
              <a:srgbClr val="D9922B"/>
            </a:solidFill>
            <a:prstDash val="solid"/>
          </a:ln>
        </p:spPr>
      </p:sp>
      <p:sp>
        <p:nvSpPr>
          <p:cNvPr id="19" name="Text 17"/>
          <p:cNvSpPr/>
          <p:nvPr/>
        </p:nvSpPr>
        <p:spPr>
          <a:xfrm>
            <a:off x="1097280" y="4959096"/>
            <a:ext cx="4604004" cy="102108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North star: predicted versus actual retention lift in bandit cohorts, with long-horizon holdouts. Supporting: score AUC, incentive ROI per arm, engagement lift per cohort.</a:t>
            </a:r>
            <a:endParaRPr lang="en-US" sz="1200" dirty="0"/>
          </a:p>
        </p:txBody>
      </p:sp>
      <p:sp>
        <p:nvSpPr>
          <p:cNvPr id="20" name="Shape 18"/>
          <p:cNvSpPr/>
          <p:nvPr/>
        </p:nvSpPr>
        <p:spPr>
          <a:xfrm>
            <a:off x="6231636" y="4812792"/>
            <a:ext cx="5390388" cy="1313688"/>
          </a:xfrm>
          <a:prstGeom prst="roundRect">
            <a:avLst>
              <a:gd name="adj" fmla="val 6961"/>
            </a:avLst>
          </a:prstGeom>
          <a:solidFill>
            <a:srgbClr val="F1F5FA"/>
          </a:solidFill>
          <a:ln w="12700">
            <a:solidFill>
              <a:srgbClr val="F1F5FA"/>
            </a:solidFill>
            <a:prstDash val="solid"/>
          </a:ln>
        </p:spPr>
      </p:sp>
      <p:sp>
        <p:nvSpPr>
          <p:cNvPr id="21" name="Shape 19"/>
          <p:cNvSpPr/>
          <p:nvPr/>
        </p:nvSpPr>
        <p:spPr>
          <a:xfrm>
            <a:off x="6487668" y="5405628"/>
            <a:ext cx="128016" cy="128016"/>
          </a:xfrm>
          <a:prstGeom prst="diamond">
            <a:avLst/>
          </a:prstGeom>
          <a:solidFill>
            <a:srgbClr val="D9922B"/>
          </a:solidFill>
          <a:ln w="12700">
            <a:solidFill>
              <a:srgbClr val="D9922B"/>
            </a:solidFill>
            <a:prstDash val="solid"/>
          </a:ln>
        </p:spPr>
      </p:sp>
      <p:sp>
        <p:nvSpPr>
          <p:cNvPr id="22" name="Text 20"/>
          <p:cNvSpPr/>
          <p:nvPr/>
        </p:nvSpPr>
        <p:spPr>
          <a:xfrm>
            <a:off x="6761988" y="4959096"/>
            <a:ext cx="4604004" cy="1021080"/>
          </a:xfrm>
          <a:prstGeom prst="rect">
            <a:avLst/>
          </a:prstGeom>
          <a:noFill/>
          <a:ln/>
        </p:spPr>
        <p:txBody>
          <a:bodyPr wrap="square" lIns="0" tIns="0" rIns="0" bIns="0" rtlCol="0" anchor="ctr"/>
          <a:lstStyle/>
          <a:p>
            <a:pPr indent="0" marL="0">
              <a:lnSpc>
                <a:spcPts val="1600"/>
              </a:lnSpc>
              <a:buNone/>
            </a:pPr>
            <a:r>
              <a:rPr lang="en-US" sz="1200" dirty="0">
                <a:solidFill>
                  <a:srgbClr val="1B2338"/>
                </a:solidFill>
                <a:latin typeface="Calibri" pitchFamily="34" charset="0"/>
                <a:ea typeface="Calibri" pitchFamily="34" charset="-122"/>
                <a:cs typeface="Calibri" pitchFamily="34" charset="-120"/>
              </a:rPr>
              <a:t>Risks: scoring associates can read as surveillance, and this is the slowest path to a visible win. Mitigation is radical transparency plus dedicated data-science headcount.</a:t>
            </a:r>
            <a:endParaRPr lang="en-US" sz="1200" dirty="0"/>
          </a:p>
        </p:txBody>
      </p:sp>
      <p:sp>
        <p:nvSpPr>
          <p:cNvPr id="23" name="Text 21"/>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A18  ·  FOR ENGINEERING</a:t>
            </a:r>
            <a:endParaRPr lang="en-US" sz="1100" dirty="0"/>
          </a:p>
        </p:txBody>
      </p:sp>
      <p:sp>
        <p:nvSpPr>
          <p:cNvPr id="4" name="Text 2"/>
          <p:cNvSpPr/>
          <p:nvPr/>
        </p:nvSpPr>
        <p:spPr>
          <a:xfrm>
            <a:off x="566928" y="749808"/>
            <a:ext cx="11055096" cy="822960"/>
          </a:xfrm>
          <a:prstGeom prst="rect">
            <a:avLst/>
          </a:prstGeom>
          <a:noFill/>
          <a:ln/>
        </p:spPr>
        <p:txBody>
          <a:bodyPr wrap="square" lIns="0" tIns="0" rIns="0" bIns="0" rtlCol="0" anchor="t"/>
          <a:lstStyle/>
          <a:p>
            <a:pPr indent="0" marL="0">
              <a:lnSpc>
                <a:spcPts val="3068"/>
              </a:lnSpc>
              <a:buNone/>
            </a:pPr>
            <a:r>
              <a:rPr lang="en-US" sz="2600" b="1" dirty="0">
                <a:solidFill>
                  <a:srgbClr val="1B2338"/>
                </a:solidFill>
                <a:latin typeface="Cambria" pitchFamily="34" charset="0"/>
                <a:ea typeface="Cambria" pitchFamily="34" charset="-122"/>
                <a:cs typeface="Cambria" pitchFamily="34" charset="-120"/>
              </a:rPr>
              <a:t>What this needs to scale past the pilot.</a:t>
            </a:r>
            <a:endParaRPr lang="en-US" sz="2600" dirty="0"/>
          </a:p>
        </p:txBody>
      </p:sp>
      <p:sp>
        <p:nvSpPr>
          <p:cNvPr id="5" name="Shape 3"/>
          <p:cNvSpPr/>
          <p:nvPr/>
        </p:nvSpPr>
        <p:spPr>
          <a:xfrm>
            <a:off x="566928" y="1920240"/>
            <a:ext cx="2558034" cy="2651760"/>
          </a:xfrm>
          <a:prstGeom prst="roundRect">
            <a:avLst>
              <a:gd name="adj" fmla="val 4290"/>
            </a:avLst>
          </a:prstGeom>
          <a:solidFill>
            <a:srgbClr val="F1F5FA"/>
          </a:solidFill>
          <a:ln w="12700">
            <a:solidFill>
              <a:srgbClr val="F1F5FA"/>
            </a:solidFill>
            <a:prstDash val="solid"/>
          </a:ln>
        </p:spPr>
      </p:sp>
      <p:sp>
        <p:nvSpPr>
          <p:cNvPr id="6" name="Shape 4"/>
          <p:cNvSpPr/>
          <p:nvPr/>
        </p:nvSpPr>
        <p:spPr>
          <a:xfrm>
            <a:off x="804672" y="2157984"/>
            <a:ext cx="457200" cy="457200"/>
          </a:xfrm>
          <a:prstGeom prst="ellipse">
            <a:avLst/>
          </a:prstGeom>
          <a:solidFill>
            <a:srgbClr val="16233B"/>
          </a:solidFill>
          <a:ln w="12700">
            <a:solidFill>
              <a:srgbClr val="16233B"/>
            </a:solidFill>
            <a:prstDash val="solid"/>
          </a:ln>
        </p:spPr>
      </p:sp>
      <p:sp>
        <p:nvSpPr>
          <p:cNvPr id="7" name="Text 5"/>
          <p:cNvSpPr/>
          <p:nvPr/>
        </p:nvSpPr>
        <p:spPr>
          <a:xfrm>
            <a:off x="804672" y="2157984"/>
            <a:ext cx="457200" cy="457200"/>
          </a:xfrm>
          <a:prstGeom prst="rect">
            <a:avLst/>
          </a:prstGeom>
          <a:noFill/>
          <a:ln/>
        </p:spPr>
        <p:txBody>
          <a:bodyPr wrap="square" lIns="0" tIns="0" rIns="0" bIns="0" rtlCol="0" anchor="ctr"/>
          <a:lstStyle/>
          <a:p>
            <a:pPr algn="ctr" indent="0" marL="0">
              <a:buNone/>
            </a:pPr>
            <a:r>
              <a:rPr lang="en-US" sz="1500" b="1" dirty="0">
                <a:solidFill>
                  <a:srgbClr val="D9922B"/>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804672" y="2743200"/>
            <a:ext cx="2082546" cy="457200"/>
          </a:xfrm>
          <a:prstGeom prst="rect">
            <a:avLst/>
          </a:prstGeom>
          <a:noFill/>
          <a:ln/>
        </p:spPr>
        <p:txBody>
          <a:bodyPr wrap="square" lIns="0" tIns="0" rIns="0" bIns="0" rtlCol="0" anchor="t"/>
          <a:lstStyle/>
          <a:p>
            <a:pPr indent="0" marL="0">
              <a:lnSpc>
                <a:spcPts val="1900"/>
              </a:lnSpc>
              <a:buNone/>
            </a:pPr>
            <a:r>
              <a:rPr lang="en-US" sz="1600" b="1" dirty="0">
                <a:solidFill>
                  <a:srgbClr val="1B2338"/>
                </a:solidFill>
                <a:latin typeface="Cambria" pitchFamily="34" charset="0"/>
                <a:ea typeface="Cambria" pitchFamily="34" charset="-122"/>
                <a:cs typeface="Cambria" pitchFamily="34" charset="-120"/>
              </a:rPr>
              <a:t>Feature store</a:t>
            </a:r>
            <a:endParaRPr lang="en-US" sz="1600" dirty="0"/>
          </a:p>
        </p:txBody>
      </p:sp>
      <p:sp>
        <p:nvSpPr>
          <p:cNvPr id="9" name="Text 7"/>
          <p:cNvSpPr/>
          <p:nvPr/>
        </p:nvSpPr>
        <p:spPr>
          <a:xfrm>
            <a:off x="804672" y="3255264"/>
            <a:ext cx="2082546" cy="1170432"/>
          </a:xfrm>
          <a:prstGeom prst="rect">
            <a:avLst/>
          </a:prstGeom>
          <a:noFill/>
          <a:ln/>
        </p:spPr>
        <p:txBody>
          <a:bodyPr wrap="square" lIns="0" tIns="0" rIns="0" bIns="0" rtlCol="0" anchor="t"/>
          <a:lstStyle/>
          <a:p>
            <a:pPr indent="0" marL="0">
              <a:lnSpc>
                <a:spcPts val="1500"/>
              </a:lnSpc>
              <a:buNone/>
            </a:pPr>
            <a:r>
              <a:rPr lang="en-US" sz="1150" dirty="0">
                <a:solidFill>
                  <a:srgbClr val="1B2338"/>
                </a:solidFill>
                <a:latin typeface="Calibri" pitchFamily="34" charset="0"/>
                <a:ea typeface="Calibri" pitchFamily="34" charset="-122"/>
                <a:cs typeface="Calibri" pitchFamily="34" charset="-120"/>
              </a:rPr>
              <a:t>Signals land in a shared feature store on the Element platform. Built to hand off, not to hoard.</a:t>
            </a:r>
            <a:endParaRPr lang="en-US" sz="1150" dirty="0"/>
          </a:p>
        </p:txBody>
      </p:sp>
      <p:sp>
        <p:nvSpPr>
          <p:cNvPr id="10" name="Shape 8"/>
          <p:cNvSpPr/>
          <p:nvPr/>
        </p:nvSpPr>
        <p:spPr>
          <a:xfrm>
            <a:off x="3399282" y="1920240"/>
            <a:ext cx="2558034" cy="2651760"/>
          </a:xfrm>
          <a:prstGeom prst="roundRect">
            <a:avLst>
              <a:gd name="adj" fmla="val 4290"/>
            </a:avLst>
          </a:prstGeom>
          <a:solidFill>
            <a:srgbClr val="F1F5FA"/>
          </a:solidFill>
          <a:ln w="12700">
            <a:solidFill>
              <a:srgbClr val="F1F5FA"/>
            </a:solidFill>
            <a:prstDash val="solid"/>
          </a:ln>
        </p:spPr>
      </p:sp>
      <p:sp>
        <p:nvSpPr>
          <p:cNvPr id="11" name="Shape 9"/>
          <p:cNvSpPr/>
          <p:nvPr/>
        </p:nvSpPr>
        <p:spPr>
          <a:xfrm>
            <a:off x="3637026" y="2157984"/>
            <a:ext cx="457200" cy="457200"/>
          </a:xfrm>
          <a:prstGeom prst="ellipse">
            <a:avLst/>
          </a:prstGeom>
          <a:solidFill>
            <a:srgbClr val="16233B"/>
          </a:solidFill>
          <a:ln w="12700">
            <a:solidFill>
              <a:srgbClr val="16233B"/>
            </a:solidFill>
            <a:prstDash val="solid"/>
          </a:ln>
        </p:spPr>
      </p:sp>
      <p:sp>
        <p:nvSpPr>
          <p:cNvPr id="12" name="Text 10"/>
          <p:cNvSpPr/>
          <p:nvPr/>
        </p:nvSpPr>
        <p:spPr>
          <a:xfrm>
            <a:off x="3637026" y="2157984"/>
            <a:ext cx="457200" cy="457200"/>
          </a:xfrm>
          <a:prstGeom prst="rect">
            <a:avLst/>
          </a:prstGeom>
          <a:noFill/>
          <a:ln/>
        </p:spPr>
        <p:txBody>
          <a:bodyPr wrap="square" lIns="0" tIns="0" rIns="0" bIns="0" rtlCol="0" anchor="ctr"/>
          <a:lstStyle/>
          <a:p>
            <a:pPr algn="ctr" indent="0" marL="0">
              <a:buNone/>
            </a:pPr>
            <a:r>
              <a:rPr lang="en-US" sz="1500" b="1" dirty="0">
                <a:solidFill>
                  <a:srgbClr val="D9922B"/>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3637026" y="2743200"/>
            <a:ext cx="2082546" cy="457200"/>
          </a:xfrm>
          <a:prstGeom prst="rect">
            <a:avLst/>
          </a:prstGeom>
          <a:noFill/>
          <a:ln/>
        </p:spPr>
        <p:txBody>
          <a:bodyPr wrap="square" lIns="0" tIns="0" rIns="0" bIns="0" rtlCol="0" anchor="t"/>
          <a:lstStyle/>
          <a:p>
            <a:pPr indent="0" marL="0">
              <a:lnSpc>
                <a:spcPts val="1900"/>
              </a:lnSpc>
              <a:buNone/>
            </a:pPr>
            <a:r>
              <a:rPr lang="en-US" sz="1600" b="1" dirty="0">
                <a:solidFill>
                  <a:srgbClr val="1B2338"/>
                </a:solidFill>
                <a:latin typeface="Cambria" pitchFamily="34" charset="0"/>
                <a:ea typeface="Cambria" pitchFamily="34" charset="-122"/>
                <a:cs typeface="Cambria" pitchFamily="34" charset="-120"/>
              </a:rPr>
              <a:t>Versioned scores</a:t>
            </a:r>
            <a:endParaRPr lang="en-US" sz="1600" dirty="0"/>
          </a:p>
        </p:txBody>
      </p:sp>
      <p:sp>
        <p:nvSpPr>
          <p:cNvPr id="14" name="Text 12"/>
          <p:cNvSpPr/>
          <p:nvPr/>
        </p:nvSpPr>
        <p:spPr>
          <a:xfrm>
            <a:off x="3637026" y="3255264"/>
            <a:ext cx="2082546" cy="1170432"/>
          </a:xfrm>
          <a:prstGeom prst="rect">
            <a:avLst/>
          </a:prstGeom>
          <a:noFill/>
          <a:ln/>
        </p:spPr>
        <p:txBody>
          <a:bodyPr wrap="square" lIns="0" tIns="0" rIns="0" bIns="0" rtlCol="0" anchor="t"/>
          <a:lstStyle/>
          <a:p>
            <a:pPr indent="0" marL="0">
              <a:lnSpc>
                <a:spcPts val="1500"/>
              </a:lnSpc>
              <a:buNone/>
            </a:pPr>
            <a:r>
              <a:rPr lang="en-US" sz="1150" dirty="0">
                <a:solidFill>
                  <a:srgbClr val="1B2338"/>
                </a:solidFill>
                <a:latin typeface="Calibri" pitchFamily="34" charset="0"/>
                <a:ea typeface="Calibri" pitchFamily="34" charset="-122"/>
                <a:cs typeface="Calibri" pitchFamily="34" charset="-120"/>
              </a:rPr>
              <a:t>Scores are versioned models with monitoring owned by data science. Product owns the semantics.</a:t>
            </a:r>
            <a:endParaRPr lang="en-US" sz="1150" dirty="0"/>
          </a:p>
        </p:txBody>
      </p:sp>
      <p:sp>
        <p:nvSpPr>
          <p:cNvPr id="15" name="Shape 13"/>
          <p:cNvSpPr/>
          <p:nvPr/>
        </p:nvSpPr>
        <p:spPr>
          <a:xfrm>
            <a:off x="6231636" y="1920240"/>
            <a:ext cx="2558034" cy="2651760"/>
          </a:xfrm>
          <a:prstGeom prst="roundRect">
            <a:avLst>
              <a:gd name="adj" fmla="val 4290"/>
            </a:avLst>
          </a:prstGeom>
          <a:solidFill>
            <a:srgbClr val="F1F5FA"/>
          </a:solidFill>
          <a:ln w="12700">
            <a:solidFill>
              <a:srgbClr val="F1F5FA"/>
            </a:solidFill>
            <a:prstDash val="solid"/>
          </a:ln>
        </p:spPr>
      </p:sp>
      <p:sp>
        <p:nvSpPr>
          <p:cNvPr id="16" name="Shape 14"/>
          <p:cNvSpPr/>
          <p:nvPr/>
        </p:nvSpPr>
        <p:spPr>
          <a:xfrm>
            <a:off x="6469380" y="2157984"/>
            <a:ext cx="457200" cy="457200"/>
          </a:xfrm>
          <a:prstGeom prst="ellipse">
            <a:avLst/>
          </a:prstGeom>
          <a:solidFill>
            <a:srgbClr val="16233B"/>
          </a:solidFill>
          <a:ln w="12700">
            <a:solidFill>
              <a:srgbClr val="16233B"/>
            </a:solidFill>
            <a:prstDash val="solid"/>
          </a:ln>
        </p:spPr>
      </p:sp>
      <p:sp>
        <p:nvSpPr>
          <p:cNvPr id="17" name="Text 15"/>
          <p:cNvSpPr/>
          <p:nvPr/>
        </p:nvSpPr>
        <p:spPr>
          <a:xfrm>
            <a:off x="6469380" y="2157984"/>
            <a:ext cx="457200" cy="457200"/>
          </a:xfrm>
          <a:prstGeom prst="rect">
            <a:avLst/>
          </a:prstGeom>
          <a:noFill/>
          <a:ln/>
        </p:spPr>
        <p:txBody>
          <a:bodyPr wrap="square" lIns="0" tIns="0" rIns="0" bIns="0" rtlCol="0" anchor="ctr"/>
          <a:lstStyle/>
          <a:p>
            <a:pPr algn="ctr" indent="0" marL="0">
              <a:buNone/>
            </a:pPr>
            <a:r>
              <a:rPr lang="en-US" sz="1500" b="1" dirty="0">
                <a:solidFill>
                  <a:srgbClr val="D9922B"/>
                </a:solidFill>
                <a:latin typeface="Cambria" pitchFamily="34" charset="0"/>
                <a:ea typeface="Cambria" pitchFamily="34" charset="-122"/>
                <a:cs typeface="Cambria" pitchFamily="34" charset="-120"/>
              </a:rPr>
              <a:t>3</a:t>
            </a:r>
            <a:endParaRPr lang="en-US" sz="1500" dirty="0"/>
          </a:p>
        </p:txBody>
      </p:sp>
      <p:sp>
        <p:nvSpPr>
          <p:cNvPr id="18" name="Text 16"/>
          <p:cNvSpPr/>
          <p:nvPr/>
        </p:nvSpPr>
        <p:spPr>
          <a:xfrm>
            <a:off x="6469380" y="2743200"/>
            <a:ext cx="2082546" cy="457200"/>
          </a:xfrm>
          <a:prstGeom prst="rect">
            <a:avLst/>
          </a:prstGeom>
          <a:noFill/>
          <a:ln/>
        </p:spPr>
        <p:txBody>
          <a:bodyPr wrap="square" lIns="0" tIns="0" rIns="0" bIns="0" rtlCol="0" anchor="t"/>
          <a:lstStyle/>
          <a:p>
            <a:pPr indent="0" marL="0">
              <a:lnSpc>
                <a:spcPts val="1900"/>
              </a:lnSpc>
              <a:buNone/>
            </a:pPr>
            <a:r>
              <a:rPr lang="en-US" sz="1600" b="1" dirty="0">
                <a:solidFill>
                  <a:srgbClr val="1B2338"/>
                </a:solidFill>
                <a:latin typeface="Cambria" pitchFamily="34" charset="0"/>
                <a:ea typeface="Cambria" pitchFamily="34" charset="-122"/>
                <a:cs typeface="Cambria" pitchFamily="34" charset="-120"/>
              </a:rPr>
              <a:t>Config-driven arms</a:t>
            </a:r>
            <a:endParaRPr lang="en-US" sz="1600" dirty="0"/>
          </a:p>
        </p:txBody>
      </p:sp>
      <p:sp>
        <p:nvSpPr>
          <p:cNvPr id="19" name="Text 17"/>
          <p:cNvSpPr/>
          <p:nvPr/>
        </p:nvSpPr>
        <p:spPr>
          <a:xfrm>
            <a:off x="6469380" y="3255264"/>
            <a:ext cx="2082546" cy="1170432"/>
          </a:xfrm>
          <a:prstGeom prst="rect">
            <a:avLst/>
          </a:prstGeom>
          <a:noFill/>
          <a:ln/>
        </p:spPr>
        <p:txBody>
          <a:bodyPr wrap="square" lIns="0" tIns="0" rIns="0" bIns="0" rtlCol="0" anchor="t"/>
          <a:lstStyle/>
          <a:p>
            <a:pPr indent="0" marL="0">
              <a:lnSpc>
                <a:spcPts val="1500"/>
              </a:lnSpc>
              <a:buNone/>
            </a:pPr>
            <a:r>
              <a:rPr lang="en-US" sz="1150" dirty="0">
                <a:solidFill>
                  <a:srgbClr val="1B2338"/>
                </a:solidFill>
                <a:latin typeface="Calibri" pitchFamily="34" charset="0"/>
                <a:ea typeface="Calibri" pitchFamily="34" charset="-122"/>
                <a:cs typeface="Calibri" pitchFamily="34" charset="-120"/>
              </a:rPr>
              <a:t>Interventions are config-driven templates. A new arm is config, not code.</a:t>
            </a:r>
            <a:endParaRPr lang="en-US" sz="1150" dirty="0"/>
          </a:p>
        </p:txBody>
      </p:sp>
      <p:sp>
        <p:nvSpPr>
          <p:cNvPr id="20" name="Shape 18"/>
          <p:cNvSpPr/>
          <p:nvPr/>
        </p:nvSpPr>
        <p:spPr>
          <a:xfrm>
            <a:off x="9063990" y="1920240"/>
            <a:ext cx="2558034" cy="2651760"/>
          </a:xfrm>
          <a:prstGeom prst="roundRect">
            <a:avLst>
              <a:gd name="adj" fmla="val 4290"/>
            </a:avLst>
          </a:prstGeom>
          <a:solidFill>
            <a:srgbClr val="F1F5FA"/>
          </a:solidFill>
          <a:ln w="12700">
            <a:solidFill>
              <a:srgbClr val="F1F5FA"/>
            </a:solidFill>
            <a:prstDash val="solid"/>
          </a:ln>
        </p:spPr>
      </p:sp>
      <p:sp>
        <p:nvSpPr>
          <p:cNvPr id="21" name="Shape 19"/>
          <p:cNvSpPr/>
          <p:nvPr/>
        </p:nvSpPr>
        <p:spPr>
          <a:xfrm>
            <a:off x="9301734" y="2157984"/>
            <a:ext cx="457200" cy="457200"/>
          </a:xfrm>
          <a:prstGeom prst="ellipse">
            <a:avLst/>
          </a:prstGeom>
          <a:solidFill>
            <a:srgbClr val="16233B"/>
          </a:solidFill>
          <a:ln w="12700">
            <a:solidFill>
              <a:srgbClr val="16233B"/>
            </a:solidFill>
            <a:prstDash val="solid"/>
          </a:ln>
        </p:spPr>
      </p:sp>
      <p:sp>
        <p:nvSpPr>
          <p:cNvPr id="22" name="Text 20"/>
          <p:cNvSpPr/>
          <p:nvPr/>
        </p:nvSpPr>
        <p:spPr>
          <a:xfrm>
            <a:off x="9301734" y="2157984"/>
            <a:ext cx="457200" cy="457200"/>
          </a:xfrm>
          <a:prstGeom prst="rect">
            <a:avLst/>
          </a:prstGeom>
          <a:noFill/>
          <a:ln/>
        </p:spPr>
        <p:txBody>
          <a:bodyPr wrap="square" lIns="0" tIns="0" rIns="0" bIns="0" rtlCol="0" anchor="ctr"/>
          <a:lstStyle/>
          <a:p>
            <a:pPr algn="ctr" indent="0" marL="0">
              <a:buNone/>
            </a:pPr>
            <a:r>
              <a:rPr lang="en-US" sz="1500" b="1" dirty="0">
                <a:solidFill>
                  <a:srgbClr val="D9922B"/>
                </a:solidFill>
                <a:latin typeface="Cambria" pitchFamily="34" charset="0"/>
                <a:ea typeface="Cambria" pitchFamily="34" charset="-122"/>
                <a:cs typeface="Cambria" pitchFamily="34" charset="-120"/>
              </a:rPr>
              <a:t>4</a:t>
            </a:r>
            <a:endParaRPr lang="en-US" sz="1500" dirty="0"/>
          </a:p>
        </p:txBody>
      </p:sp>
      <p:sp>
        <p:nvSpPr>
          <p:cNvPr id="23" name="Text 21"/>
          <p:cNvSpPr/>
          <p:nvPr/>
        </p:nvSpPr>
        <p:spPr>
          <a:xfrm>
            <a:off x="9301734" y="2743200"/>
            <a:ext cx="2082546" cy="457200"/>
          </a:xfrm>
          <a:prstGeom prst="rect">
            <a:avLst/>
          </a:prstGeom>
          <a:noFill/>
          <a:ln/>
        </p:spPr>
        <p:txBody>
          <a:bodyPr wrap="square" lIns="0" tIns="0" rIns="0" bIns="0" rtlCol="0" anchor="t"/>
          <a:lstStyle/>
          <a:p>
            <a:pPr indent="0" marL="0">
              <a:lnSpc>
                <a:spcPts val="1900"/>
              </a:lnSpc>
              <a:buNone/>
            </a:pPr>
            <a:r>
              <a:rPr lang="en-US" sz="1600" b="1" dirty="0">
                <a:solidFill>
                  <a:srgbClr val="1B2338"/>
                </a:solidFill>
                <a:latin typeface="Cambria" pitchFamily="34" charset="0"/>
                <a:ea typeface="Cambria" pitchFamily="34" charset="-122"/>
                <a:cs typeface="Cambria" pitchFamily="34" charset="-120"/>
              </a:rPr>
              <a:t>Launch criteria</a:t>
            </a:r>
            <a:endParaRPr lang="en-US" sz="1600" dirty="0"/>
          </a:p>
        </p:txBody>
      </p:sp>
      <p:sp>
        <p:nvSpPr>
          <p:cNvPr id="24" name="Text 22"/>
          <p:cNvSpPr/>
          <p:nvPr/>
        </p:nvSpPr>
        <p:spPr>
          <a:xfrm>
            <a:off x="9301734" y="3255264"/>
            <a:ext cx="2082546" cy="1170432"/>
          </a:xfrm>
          <a:prstGeom prst="rect">
            <a:avLst/>
          </a:prstGeom>
          <a:noFill/>
          <a:ln/>
        </p:spPr>
        <p:txBody>
          <a:bodyPr wrap="square" lIns="0" tIns="0" rIns="0" bIns="0" rtlCol="0" anchor="t"/>
          <a:lstStyle/>
          <a:p>
            <a:pPr indent="0" marL="0">
              <a:lnSpc>
                <a:spcPts val="1500"/>
              </a:lnSpc>
              <a:buNone/>
            </a:pPr>
            <a:r>
              <a:rPr lang="en-US" sz="1150" dirty="0">
                <a:solidFill>
                  <a:srgbClr val="1B2338"/>
                </a:solidFill>
                <a:latin typeface="Calibri" pitchFamily="34" charset="0"/>
                <a:ea typeface="Calibri" pitchFamily="34" charset="-122"/>
                <a:cs typeface="Calibri" pitchFamily="34" charset="-120"/>
              </a:rPr>
              <a:t>WCAG 2.2 AA and 44-language coverage as launch gates, with associate co-design panels every field cycle.</a:t>
            </a:r>
            <a:endParaRPr lang="en-US" sz="1150" dirty="0"/>
          </a:p>
        </p:txBody>
      </p:sp>
      <p:sp>
        <p:nvSpPr>
          <p:cNvPr id="25" name="Text 23"/>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5E6980"/>
                </a:solidFill>
                <a:latin typeface="Calibri" pitchFamily="34" charset="0"/>
                <a:ea typeface="Calibri" pitchFamily="34" charset="-122"/>
                <a:cs typeface="Calibri" pitchFamily="34" charset="-120"/>
              </a:rPr>
              <a:t>Accessibility and language coverage are launch criteria, not a later release. An associate app that only serves some associates is not shipped.</a:t>
            </a:r>
            <a:endParaRPr lang="en-US" sz="1050" dirty="0"/>
          </a:p>
        </p:txBody>
      </p:sp>
      <p:sp>
        <p:nvSpPr>
          <p:cNvPr id="26" name="Text 24"/>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6233B"/>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9AA8C2"/>
                </a:solidFill>
                <a:latin typeface="Calibri" pitchFamily="34" charset="0"/>
                <a:ea typeface="Calibri" pitchFamily="34" charset="-122"/>
                <a:cs typeface="Calibri" pitchFamily="34" charset="-120"/>
              </a:rPr>
              <a:t>A19  ·  GROUNDING FACTS</a:t>
            </a:r>
            <a:endParaRPr lang="en-US" sz="1100" dirty="0"/>
          </a:p>
        </p:txBody>
      </p:sp>
      <p:sp>
        <p:nvSpPr>
          <p:cNvPr id="4" name="Text 2"/>
          <p:cNvSpPr/>
          <p:nvPr/>
        </p:nvSpPr>
        <p:spPr>
          <a:xfrm>
            <a:off x="566928" y="749808"/>
            <a:ext cx="11055096" cy="1024128"/>
          </a:xfrm>
          <a:prstGeom prst="rect">
            <a:avLst/>
          </a:prstGeom>
          <a:noFill/>
          <a:ln/>
        </p:spPr>
        <p:txBody>
          <a:bodyPr wrap="square" lIns="0" tIns="0" rIns="0" bIns="0" rtlCol="0" anchor="t"/>
          <a:lstStyle/>
          <a:p>
            <a:pPr indent="0" marL="0">
              <a:lnSpc>
                <a:spcPts val="3304"/>
              </a:lnSpc>
              <a:buNone/>
            </a:pPr>
            <a:r>
              <a:rPr lang="en-US" sz="2800" b="1" dirty="0">
                <a:solidFill>
                  <a:srgbClr val="FFFFFF"/>
                </a:solidFill>
                <a:latin typeface="Cambria" pitchFamily="34" charset="0"/>
                <a:ea typeface="Cambria" pitchFamily="34" charset="-122"/>
                <a:cs typeface="Cambria" pitchFamily="34" charset="-120"/>
              </a:rPr>
              <a:t>Numbers this deck rests on.</a:t>
            </a:r>
            <a:endParaRPr lang="en-US" sz="2800" dirty="0"/>
          </a:p>
        </p:txBody>
      </p:sp>
      <p:sp>
        <p:nvSpPr>
          <p:cNvPr id="5" name="Shape 3"/>
          <p:cNvSpPr/>
          <p:nvPr/>
        </p:nvSpPr>
        <p:spPr>
          <a:xfrm>
            <a:off x="566928" y="1965960"/>
            <a:ext cx="3502152" cy="1298448"/>
          </a:xfrm>
          <a:prstGeom prst="roundRect">
            <a:avLst>
              <a:gd name="adj" fmla="val 8451"/>
            </a:avLst>
          </a:prstGeom>
          <a:solidFill>
            <a:srgbClr val="223558"/>
          </a:solidFill>
          <a:ln w="12700">
            <a:solidFill>
              <a:srgbClr val="223558"/>
            </a:solidFill>
            <a:prstDash val="solid"/>
          </a:ln>
        </p:spPr>
      </p:sp>
      <p:sp>
        <p:nvSpPr>
          <p:cNvPr id="6" name="Text 4"/>
          <p:cNvSpPr/>
          <p:nvPr/>
        </p:nvSpPr>
        <p:spPr>
          <a:xfrm>
            <a:off x="731520" y="2148840"/>
            <a:ext cx="3172968" cy="649224"/>
          </a:xfrm>
          <a:prstGeom prst="rect">
            <a:avLst/>
          </a:prstGeom>
          <a:noFill/>
          <a:ln/>
        </p:spPr>
        <p:txBody>
          <a:bodyPr wrap="square" lIns="0" tIns="0" rIns="0" bIns="0" rtlCol="0" anchor="ctr"/>
          <a:lstStyle/>
          <a:p>
            <a:pPr algn="ctr" indent="0" marL="0">
              <a:buNone/>
            </a:pPr>
            <a:r>
              <a:rPr lang="en-US" sz="3000" b="1" dirty="0">
                <a:solidFill>
                  <a:srgbClr val="D9922B"/>
                </a:solidFill>
                <a:latin typeface="Cambria" pitchFamily="34" charset="0"/>
                <a:ea typeface="Cambria" pitchFamily="34" charset="-122"/>
                <a:cs typeface="Cambria" pitchFamily="34" charset="-120"/>
              </a:rPr>
              <a:t>~1.9M</a:t>
            </a:r>
            <a:endParaRPr lang="en-US" sz="3000" dirty="0"/>
          </a:p>
        </p:txBody>
      </p:sp>
      <p:sp>
        <p:nvSpPr>
          <p:cNvPr id="7" name="Text 5"/>
          <p:cNvSpPr/>
          <p:nvPr/>
        </p:nvSpPr>
        <p:spPr>
          <a:xfrm>
            <a:off x="731520" y="2770998"/>
            <a:ext cx="3172968" cy="415503"/>
          </a:xfrm>
          <a:prstGeom prst="rect">
            <a:avLst/>
          </a:prstGeom>
          <a:noFill/>
          <a:ln/>
        </p:spPr>
        <p:txBody>
          <a:bodyPr wrap="square" lIns="0" tIns="0" rIns="0" bIns="0" rtlCol="0" anchor="t"/>
          <a:lstStyle/>
          <a:p>
            <a:pPr algn="ctr" indent="0" marL="0">
              <a:lnSpc>
                <a:spcPts val="1400"/>
              </a:lnSpc>
              <a:buNone/>
            </a:pPr>
            <a:r>
              <a:rPr lang="en-US" sz="1150" dirty="0">
                <a:solidFill>
                  <a:srgbClr val="9AA8C2"/>
                </a:solidFill>
                <a:latin typeface="Calibri" pitchFamily="34" charset="0"/>
                <a:ea typeface="Calibri" pitchFamily="34" charset="-122"/>
                <a:cs typeface="Calibri" pitchFamily="34" charset="-120"/>
              </a:rPr>
              <a:t>global associates</a:t>
            </a:r>
            <a:endParaRPr lang="en-US" sz="1150" dirty="0"/>
          </a:p>
        </p:txBody>
      </p:sp>
      <p:sp>
        <p:nvSpPr>
          <p:cNvPr id="8" name="Shape 6"/>
          <p:cNvSpPr/>
          <p:nvPr/>
        </p:nvSpPr>
        <p:spPr>
          <a:xfrm>
            <a:off x="4343400" y="1965960"/>
            <a:ext cx="3502152" cy="1298448"/>
          </a:xfrm>
          <a:prstGeom prst="roundRect">
            <a:avLst>
              <a:gd name="adj" fmla="val 8451"/>
            </a:avLst>
          </a:prstGeom>
          <a:solidFill>
            <a:srgbClr val="223558"/>
          </a:solidFill>
          <a:ln w="12700">
            <a:solidFill>
              <a:srgbClr val="223558"/>
            </a:solidFill>
            <a:prstDash val="solid"/>
          </a:ln>
        </p:spPr>
      </p:sp>
      <p:sp>
        <p:nvSpPr>
          <p:cNvPr id="9" name="Text 7"/>
          <p:cNvSpPr/>
          <p:nvPr/>
        </p:nvSpPr>
        <p:spPr>
          <a:xfrm>
            <a:off x="4507992" y="2148840"/>
            <a:ext cx="3172968" cy="649224"/>
          </a:xfrm>
          <a:prstGeom prst="rect">
            <a:avLst/>
          </a:prstGeom>
          <a:noFill/>
          <a:ln/>
        </p:spPr>
        <p:txBody>
          <a:bodyPr wrap="square" lIns="0" tIns="0" rIns="0" bIns="0" rtlCol="0" anchor="ctr"/>
          <a:lstStyle/>
          <a:p>
            <a:pPr algn="ctr" indent="0" marL="0">
              <a:buNone/>
            </a:pPr>
            <a:r>
              <a:rPr lang="en-US" sz="3000" b="1" dirty="0">
                <a:solidFill>
                  <a:srgbClr val="D9922B"/>
                </a:solidFill>
                <a:latin typeface="Cambria" pitchFamily="34" charset="0"/>
                <a:ea typeface="Cambria" pitchFamily="34" charset="-122"/>
                <a:cs typeface="Cambria" pitchFamily="34" charset="-120"/>
              </a:rPr>
              <a:t>~3M</a:t>
            </a:r>
            <a:endParaRPr lang="en-US" sz="3000" dirty="0"/>
          </a:p>
        </p:txBody>
      </p:sp>
      <p:sp>
        <p:nvSpPr>
          <p:cNvPr id="10" name="Text 8"/>
          <p:cNvSpPr/>
          <p:nvPr/>
        </p:nvSpPr>
        <p:spPr>
          <a:xfrm>
            <a:off x="4507992" y="2770998"/>
            <a:ext cx="3172968" cy="415503"/>
          </a:xfrm>
          <a:prstGeom prst="rect">
            <a:avLst/>
          </a:prstGeom>
          <a:noFill/>
          <a:ln/>
        </p:spPr>
        <p:txBody>
          <a:bodyPr wrap="square" lIns="0" tIns="0" rIns="0" bIns="0" rtlCol="0" anchor="t"/>
          <a:lstStyle/>
          <a:p>
            <a:pPr algn="ctr" indent="0" marL="0">
              <a:lnSpc>
                <a:spcPts val="1400"/>
              </a:lnSpc>
              <a:buNone/>
            </a:pPr>
            <a:r>
              <a:rPr lang="en-US" sz="1150" dirty="0">
                <a:solidFill>
                  <a:srgbClr val="9AA8C2"/>
                </a:solidFill>
                <a:latin typeface="Calibri" pitchFamily="34" charset="0"/>
                <a:ea typeface="Calibri" pitchFamily="34" charset="-122"/>
                <a:cs typeface="Calibri" pitchFamily="34" charset="-120"/>
              </a:rPr>
              <a:t>Sidekick questions a day</a:t>
            </a:r>
            <a:endParaRPr lang="en-US" sz="1150" dirty="0"/>
          </a:p>
        </p:txBody>
      </p:sp>
      <p:sp>
        <p:nvSpPr>
          <p:cNvPr id="11" name="Shape 9"/>
          <p:cNvSpPr/>
          <p:nvPr/>
        </p:nvSpPr>
        <p:spPr>
          <a:xfrm>
            <a:off x="8119872" y="1965960"/>
            <a:ext cx="3502152" cy="1298448"/>
          </a:xfrm>
          <a:prstGeom prst="roundRect">
            <a:avLst>
              <a:gd name="adj" fmla="val 8451"/>
            </a:avLst>
          </a:prstGeom>
          <a:solidFill>
            <a:srgbClr val="223558"/>
          </a:solidFill>
          <a:ln w="12700">
            <a:solidFill>
              <a:srgbClr val="223558"/>
            </a:solidFill>
            <a:prstDash val="solid"/>
          </a:ln>
        </p:spPr>
      </p:sp>
      <p:sp>
        <p:nvSpPr>
          <p:cNvPr id="12" name="Text 10"/>
          <p:cNvSpPr/>
          <p:nvPr/>
        </p:nvSpPr>
        <p:spPr>
          <a:xfrm>
            <a:off x="8284464" y="2148840"/>
            <a:ext cx="3172968" cy="649224"/>
          </a:xfrm>
          <a:prstGeom prst="rect">
            <a:avLst/>
          </a:prstGeom>
          <a:noFill/>
          <a:ln/>
        </p:spPr>
        <p:txBody>
          <a:bodyPr wrap="square" lIns="0" tIns="0" rIns="0" bIns="0" rtlCol="0" anchor="ctr"/>
          <a:lstStyle/>
          <a:p>
            <a:pPr algn="ctr" indent="0" marL="0">
              <a:buNone/>
            </a:pPr>
            <a:r>
              <a:rPr lang="en-US" sz="3000" b="1" dirty="0">
                <a:solidFill>
                  <a:srgbClr val="D9922B"/>
                </a:solidFill>
                <a:latin typeface="Cambria" pitchFamily="34" charset="0"/>
                <a:ea typeface="Cambria" pitchFamily="34" charset="-122"/>
                <a:cs typeface="Cambria" pitchFamily="34" charset="-120"/>
              </a:rPr>
              <a:t>310K</a:t>
            </a:r>
            <a:endParaRPr lang="en-US" sz="3000" dirty="0"/>
          </a:p>
        </p:txBody>
      </p:sp>
      <p:sp>
        <p:nvSpPr>
          <p:cNvPr id="13" name="Text 11"/>
          <p:cNvSpPr/>
          <p:nvPr/>
        </p:nvSpPr>
        <p:spPr>
          <a:xfrm>
            <a:off x="8284464" y="2770998"/>
            <a:ext cx="3172968" cy="415503"/>
          </a:xfrm>
          <a:prstGeom prst="rect">
            <a:avLst/>
          </a:prstGeom>
          <a:noFill/>
          <a:ln/>
        </p:spPr>
        <p:txBody>
          <a:bodyPr wrap="square" lIns="0" tIns="0" rIns="0" bIns="0" rtlCol="0" anchor="t"/>
          <a:lstStyle/>
          <a:p>
            <a:pPr algn="ctr" indent="0" marL="0">
              <a:lnSpc>
                <a:spcPts val="1400"/>
              </a:lnSpc>
              <a:buNone/>
            </a:pPr>
            <a:r>
              <a:rPr lang="en-US" sz="1150" dirty="0">
                <a:solidFill>
                  <a:srgbClr val="9AA8C2"/>
                </a:solidFill>
                <a:latin typeface="Calibri" pitchFamily="34" charset="0"/>
                <a:ea typeface="Calibri" pitchFamily="34" charset="-122"/>
                <a:cs typeface="Calibri" pitchFamily="34" charset="-120"/>
              </a:rPr>
              <a:t>promoted in two years</a:t>
            </a:r>
            <a:endParaRPr lang="en-US" sz="1150" dirty="0"/>
          </a:p>
        </p:txBody>
      </p:sp>
      <p:sp>
        <p:nvSpPr>
          <p:cNvPr id="14" name="Shape 12"/>
          <p:cNvSpPr/>
          <p:nvPr/>
        </p:nvSpPr>
        <p:spPr>
          <a:xfrm>
            <a:off x="566928" y="3447288"/>
            <a:ext cx="3502152" cy="1298448"/>
          </a:xfrm>
          <a:prstGeom prst="roundRect">
            <a:avLst>
              <a:gd name="adj" fmla="val 8451"/>
            </a:avLst>
          </a:prstGeom>
          <a:solidFill>
            <a:srgbClr val="223558"/>
          </a:solidFill>
          <a:ln w="12700">
            <a:solidFill>
              <a:srgbClr val="223558"/>
            </a:solidFill>
            <a:prstDash val="solid"/>
          </a:ln>
        </p:spPr>
      </p:sp>
      <p:sp>
        <p:nvSpPr>
          <p:cNvPr id="15" name="Text 13"/>
          <p:cNvSpPr/>
          <p:nvPr/>
        </p:nvSpPr>
        <p:spPr>
          <a:xfrm>
            <a:off x="731520" y="3630168"/>
            <a:ext cx="3172968" cy="649224"/>
          </a:xfrm>
          <a:prstGeom prst="rect">
            <a:avLst/>
          </a:prstGeom>
          <a:noFill/>
          <a:ln/>
        </p:spPr>
        <p:txBody>
          <a:bodyPr wrap="square" lIns="0" tIns="0" rIns="0" bIns="0" rtlCol="0" anchor="ctr"/>
          <a:lstStyle/>
          <a:p>
            <a:pPr algn="ctr" indent="0" marL="0">
              <a:buNone/>
            </a:pPr>
            <a:r>
              <a:rPr lang="en-US" sz="3000" b="1" dirty="0">
                <a:solidFill>
                  <a:srgbClr val="D9922B"/>
                </a:solidFill>
                <a:latin typeface="Cambria" pitchFamily="34" charset="0"/>
                <a:ea typeface="Cambria" pitchFamily="34" charset="-122"/>
                <a:cs typeface="Cambria" pitchFamily="34" charset="-120"/>
              </a:rPr>
              <a:t>50+</a:t>
            </a:r>
            <a:endParaRPr lang="en-US" sz="3000" dirty="0"/>
          </a:p>
        </p:txBody>
      </p:sp>
      <p:sp>
        <p:nvSpPr>
          <p:cNvPr id="16" name="Text 14"/>
          <p:cNvSpPr/>
          <p:nvPr/>
        </p:nvSpPr>
        <p:spPr>
          <a:xfrm>
            <a:off x="731520" y="4252326"/>
            <a:ext cx="3172968" cy="415503"/>
          </a:xfrm>
          <a:prstGeom prst="rect">
            <a:avLst/>
          </a:prstGeom>
          <a:noFill/>
          <a:ln/>
        </p:spPr>
        <p:txBody>
          <a:bodyPr wrap="square" lIns="0" tIns="0" rIns="0" bIns="0" rtlCol="0" anchor="t"/>
          <a:lstStyle/>
          <a:p>
            <a:pPr algn="ctr" indent="0" marL="0">
              <a:lnSpc>
                <a:spcPts val="1400"/>
              </a:lnSpc>
              <a:buNone/>
            </a:pPr>
            <a:r>
              <a:rPr lang="en-US" sz="1150" dirty="0">
                <a:solidFill>
                  <a:srgbClr val="9AA8C2"/>
                </a:solidFill>
                <a:latin typeface="Calibri" pitchFamily="34" charset="0"/>
                <a:ea typeface="Calibri" pitchFamily="34" charset="-122"/>
                <a:cs typeface="Calibri" pitchFamily="34" charset="-120"/>
              </a:rPr>
              <a:t>Live Better U certificates, no cost</a:t>
            </a:r>
            <a:endParaRPr lang="en-US" sz="1150" dirty="0"/>
          </a:p>
        </p:txBody>
      </p:sp>
      <p:sp>
        <p:nvSpPr>
          <p:cNvPr id="17" name="Shape 15"/>
          <p:cNvSpPr/>
          <p:nvPr/>
        </p:nvSpPr>
        <p:spPr>
          <a:xfrm>
            <a:off x="4343400" y="3447288"/>
            <a:ext cx="3502152" cy="1298448"/>
          </a:xfrm>
          <a:prstGeom prst="roundRect">
            <a:avLst>
              <a:gd name="adj" fmla="val 8451"/>
            </a:avLst>
          </a:prstGeom>
          <a:solidFill>
            <a:srgbClr val="223558"/>
          </a:solidFill>
          <a:ln w="12700">
            <a:solidFill>
              <a:srgbClr val="223558"/>
            </a:solidFill>
            <a:prstDash val="solid"/>
          </a:ln>
        </p:spPr>
      </p:sp>
      <p:sp>
        <p:nvSpPr>
          <p:cNvPr id="18" name="Text 16"/>
          <p:cNvSpPr/>
          <p:nvPr/>
        </p:nvSpPr>
        <p:spPr>
          <a:xfrm>
            <a:off x="4507992" y="3630168"/>
            <a:ext cx="3172968" cy="649224"/>
          </a:xfrm>
          <a:prstGeom prst="rect">
            <a:avLst/>
          </a:prstGeom>
          <a:noFill/>
          <a:ln/>
        </p:spPr>
        <p:txBody>
          <a:bodyPr wrap="square" lIns="0" tIns="0" rIns="0" bIns="0" rtlCol="0" anchor="ctr"/>
          <a:lstStyle/>
          <a:p>
            <a:pPr algn="ctr" indent="0" marL="0">
              <a:buNone/>
            </a:pPr>
            <a:r>
              <a:rPr lang="en-US" sz="3000" b="1" dirty="0">
                <a:solidFill>
                  <a:srgbClr val="D9922B"/>
                </a:solidFill>
                <a:latin typeface="Cambria" pitchFamily="34" charset="0"/>
                <a:ea typeface="Cambria" pitchFamily="34" charset="-122"/>
                <a:cs typeface="Cambria" pitchFamily="34" charset="-120"/>
              </a:rPr>
              <a:t>$1B</a:t>
            </a:r>
            <a:endParaRPr lang="en-US" sz="3000" dirty="0"/>
          </a:p>
        </p:txBody>
      </p:sp>
      <p:sp>
        <p:nvSpPr>
          <p:cNvPr id="19" name="Text 17"/>
          <p:cNvSpPr/>
          <p:nvPr/>
        </p:nvSpPr>
        <p:spPr>
          <a:xfrm>
            <a:off x="4507992" y="4252326"/>
            <a:ext cx="3172968" cy="415503"/>
          </a:xfrm>
          <a:prstGeom prst="rect">
            <a:avLst/>
          </a:prstGeom>
          <a:noFill/>
          <a:ln/>
        </p:spPr>
        <p:txBody>
          <a:bodyPr wrap="square" lIns="0" tIns="0" rIns="0" bIns="0" rtlCol="0" anchor="t"/>
          <a:lstStyle/>
          <a:p>
            <a:pPr algn="ctr" indent="0" marL="0">
              <a:lnSpc>
                <a:spcPts val="1400"/>
              </a:lnSpc>
              <a:buNone/>
            </a:pPr>
            <a:r>
              <a:rPr lang="en-US" sz="1150" dirty="0">
                <a:solidFill>
                  <a:srgbClr val="9AA8C2"/>
                </a:solidFill>
                <a:latin typeface="Calibri" pitchFamily="34" charset="0"/>
                <a:ea typeface="Calibri" pitchFamily="34" charset="-122"/>
                <a:cs typeface="Calibri" pitchFamily="34" charset="-120"/>
              </a:rPr>
              <a:t>training investment by 2026</a:t>
            </a:r>
            <a:endParaRPr lang="en-US" sz="1150" dirty="0"/>
          </a:p>
        </p:txBody>
      </p:sp>
      <p:sp>
        <p:nvSpPr>
          <p:cNvPr id="20" name="Shape 18"/>
          <p:cNvSpPr/>
          <p:nvPr/>
        </p:nvSpPr>
        <p:spPr>
          <a:xfrm>
            <a:off x="8119872" y="3447288"/>
            <a:ext cx="3502152" cy="1298448"/>
          </a:xfrm>
          <a:prstGeom prst="roundRect">
            <a:avLst>
              <a:gd name="adj" fmla="val 8451"/>
            </a:avLst>
          </a:prstGeom>
          <a:solidFill>
            <a:srgbClr val="223558"/>
          </a:solidFill>
          <a:ln w="12700">
            <a:solidFill>
              <a:srgbClr val="223558"/>
            </a:solidFill>
            <a:prstDash val="solid"/>
          </a:ln>
        </p:spPr>
      </p:sp>
      <p:sp>
        <p:nvSpPr>
          <p:cNvPr id="21" name="Text 19"/>
          <p:cNvSpPr/>
          <p:nvPr/>
        </p:nvSpPr>
        <p:spPr>
          <a:xfrm>
            <a:off x="8284464" y="3630168"/>
            <a:ext cx="3172968" cy="649224"/>
          </a:xfrm>
          <a:prstGeom prst="rect">
            <a:avLst/>
          </a:prstGeom>
          <a:noFill/>
          <a:ln/>
        </p:spPr>
        <p:txBody>
          <a:bodyPr wrap="square" lIns="0" tIns="0" rIns="0" bIns="0" rtlCol="0" anchor="ctr"/>
          <a:lstStyle/>
          <a:p>
            <a:pPr algn="ctr" indent="0" marL="0">
              <a:buNone/>
            </a:pPr>
            <a:r>
              <a:rPr lang="en-US" sz="3000" b="1" dirty="0">
                <a:solidFill>
                  <a:srgbClr val="D9922B"/>
                </a:solidFill>
                <a:latin typeface="Cambria" pitchFamily="34" charset="0"/>
                <a:ea typeface="Cambria" pitchFamily="34" charset="-122"/>
                <a:cs typeface="Cambria" pitchFamily="34" charset="-120"/>
              </a:rPr>
              <a:t>90 to 30 min</a:t>
            </a:r>
            <a:endParaRPr lang="en-US" sz="3000" dirty="0"/>
          </a:p>
        </p:txBody>
      </p:sp>
      <p:sp>
        <p:nvSpPr>
          <p:cNvPr id="22" name="Text 20"/>
          <p:cNvSpPr/>
          <p:nvPr/>
        </p:nvSpPr>
        <p:spPr>
          <a:xfrm>
            <a:off x="8284464" y="4252326"/>
            <a:ext cx="3172968" cy="415503"/>
          </a:xfrm>
          <a:prstGeom prst="rect">
            <a:avLst/>
          </a:prstGeom>
          <a:noFill/>
          <a:ln/>
        </p:spPr>
        <p:txBody>
          <a:bodyPr wrap="square" lIns="0" tIns="0" rIns="0" bIns="0" rtlCol="0" anchor="t"/>
          <a:lstStyle/>
          <a:p>
            <a:pPr algn="ctr" indent="0" marL="0">
              <a:lnSpc>
                <a:spcPts val="1400"/>
              </a:lnSpc>
              <a:buNone/>
            </a:pPr>
            <a:r>
              <a:rPr lang="en-US" sz="1150" dirty="0">
                <a:solidFill>
                  <a:srgbClr val="9AA8C2"/>
                </a:solidFill>
                <a:latin typeface="Calibri" pitchFamily="34" charset="0"/>
                <a:ea typeface="Calibri" pitchFamily="34" charset="-122"/>
                <a:cs typeface="Calibri" pitchFamily="34" charset="-120"/>
              </a:rPr>
              <a:t>shift planning, already cut by agents</a:t>
            </a:r>
            <a:endParaRPr lang="en-US" sz="1150" dirty="0"/>
          </a:p>
        </p:txBody>
      </p:sp>
      <p:sp>
        <p:nvSpPr>
          <p:cNvPr id="23" name="Text 21"/>
          <p:cNvSpPr/>
          <p:nvPr/>
        </p:nvSpPr>
        <p:spPr>
          <a:xfrm>
            <a:off x="566928" y="5138928"/>
            <a:ext cx="11055096" cy="658368"/>
          </a:xfrm>
          <a:prstGeom prst="rect">
            <a:avLst/>
          </a:prstGeom>
          <a:noFill/>
          <a:ln/>
        </p:spPr>
        <p:txBody>
          <a:bodyPr wrap="square" lIns="0" tIns="0" rIns="0" bIns="0" rtlCol="0" anchor="t"/>
          <a:lstStyle/>
          <a:p>
            <a:pPr indent="0" marL="0">
              <a:lnSpc>
                <a:spcPts val="1700"/>
              </a:lnSpc>
              <a:buNone/>
            </a:pPr>
            <a:r>
              <a:rPr lang="en-US" sz="1250" dirty="0">
                <a:solidFill>
                  <a:srgbClr val="C9D4E6"/>
                </a:solidFill>
                <a:latin typeface="Calibri" pitchFamily="34" charset="0"/>
                <a:ea typeface="Calibri" pitchFamily="34" charset="-122"/>
                <a:cs typeface="Calibri" pitchFamily="34" charset="-120"/>
              </a:rPr>
              <a:t>Context: a four-super-agent architecture (Sparky, Marty, Associate, Developer) with nano-agents beneath, a stated surgical agent philosophy from CTO Hari Vasudev, and a 5-year average US associate tenure.</a:t>
            </a:r>
            <a:endParaRPr lang="en-US" sz="1250" dirty="0"/>
          </a:p>
        </p:txBody>
      </p:sp>
      <p:sp>
        <p:nvSpPr>
          <p:cNvPr id="24" name="Text 22"/>
          <p:cNvSpPr/>
          <p:nvPr/>
        </p:nvSpPr>
        <p:spPr>
          <a:xfrm>
            <a:off x="566928" y="6236208"/>
            <a:ext cx="10415016" cy="365760"/>
          </a:xfrm>
          <a:prstGeom prst="rect">
            <a:avLst/>
          </a:prstGeom>
          <a:noFill/>
          <a:ln/>
        </p:spPr>
        <p:txBody>
          <a:bodyPr wrap="square" lIns="0" tIns="0" rIns="0" bIns="0" rtlCol="0" anchor="ctr"/>
          <a:lstStyle/>
          <a:p>
            <a:pPr indent="0" marL="0">
              <a:buNone/>
            </a:pPr>
            <a:r>
              <a:rPr lang="en-US" sz="1050" i="1" dirty="0">
                <a:solidFill>
                  <a:srgbClr val="9AA8C2"/>
                </a:solidFill>
                <a:latin typeface="Calibri" pitchFamily="34" charset="0"/>
                <a:ea typeface="Calibri" pitchFamily="34" charset="-122"/>
                <a:cs typeface="Calibri" pitchFamily="34" charset="-120"/>
              </a:rPr>
              <a:t>Independent candidate work product. Not affiliated with or endorsed by Walmart Inc. Financial models are illustrative with stated assumptions.</a:t>
            </a:r>
            <a:endParaRPr lang="en-US" sz="1050" dirty="0"/>
          </a:p>
        </p:txBody>
      </p:sp>
      <p:sp>
        <p:nvSpPr>
          <p:cNvPr id="25" name="Text 23"/>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9AA8C2"/>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02336"/>
            <a:ext cx="118872" cy="118872"/>
          </a:xfrm>
          <a:prstGeom prst="diamond">
            <a:avLst/>
          </a:prstGeom>
          <a:solidFill>
            <a:srgbClr val="D9922B"/>
          </a:solidFill>
          <a:ln w="12700">
            <a:solidFill>
              <a:srgbClr val="D9922B"/>
            </a:solidFill>
            <a:prstDash val="solid"/>
          </a:ln>
        </p:spPr>
      </p:sp>
      <p:sp>
        <p:nvSpPr>
          <p:cNvPr id="3" name="Text 1"/>
          <p:cNvSpPr/>
          <p:nvPr/>
        </p:nvSpPr>
        <p:spPr>
          <a:xfrm>
            <a:off x="786384" y="310896"/>
            <a:ext cx="10835640" cy="310896"/>
          </a:xfrm>
          <a:prstGeom prst="rect">
            <a:avLst/>
          </a:prstGeom>
          <a:noFill/>
          <a:ln/>
        </p:spPr>
        <p:txBody>
          <a:bodyPr wrap="square" lIns="0" tIns="0" rIns="0" bIns="0" rtlCol="0" anchor="ctr"/>
          <a:lstStyle/>
          <a:p>
            <a:pPr indent="0" marL="0">
              <a:buNone/>
            </a:pPr>
            <a:r>
              <a:rPr lang="en-US" sz="1100" b="1" spc="160" kern="0" dirty="0">
                <a:solidFill>
                  <a:srgbClr val="5E6980"/>
                </a:solidFill>
                <a:latin typeface="Calibri" pitchFamily="34" charset="0"/>
                <a:ea typeface="Calibri" pitchFamily="34" charset="-122"/>
                <a:cs typeface="Calibri" pitchFamily="34" charset="-120"/>
              </a:rPr>
              <a:t>A20  ·  SOURCES BEHIND SLIDE 4</a:t>
            </a:r>
            <a:endParaRPr lang="en-US" sz="1100" dirty="0"/>
          </a:p>
        </p:txBody>
      </p:sp>
      <p:sp>
        <p:nvSpPr>
          <p:cNvPr id="4" name="Text 2"/>
          <p:cNvSpPr/>
          <p:nvPr/>
        </p:nvSpPr>
        <p:spPr>
          <a:xfrm>
            <a:off x="566928" y="749808"/>
            <a:ext cx="11055096" cy="1024128"/>
          </a:xfrm>
          <a:prstGeom prst="rect">
            <a:avLst/>
          </a:prstGeom>
          <a:noFill/>
          <a:ln/>
        </p:spPr>
        <p:txBody>
          <a:bodyPr wrap="square" lIns="0" tIns="0" rIns="0" bIns="0" rtlCol="0" anchor="t"/>
          <a:lstStyle/>
          <a:p>
            <a:pPr indent="0" marL="0">
              <a:lnSpc>
                <a:spcPts val="3304"/>
              </a:lnSpc>
              <a:buNone/>
            </a:pPr>
            <a:r>
              <a:rPr lang="en-US" sz="2800" b="1" dirty="0">
                <a:solidFill>
                  <a:srgbClr val="1B2338"/>
                </a:solidFill>
                <a:latin typeface="Cambria" pitchFamily="34" charset="0"/>
                <a:ea typeface="Cambria" pitchFamily="34" charset="-122"/>
                <a:cs typeface="Cambria" pitchFamily="34" charset="-120"/>
              </a:rPr>
              <a:t>Six sources, and what each one is doing.</a:t>
            </a:r>
            <a:endParaRPr lang="en-US" sz="2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55096" cy="914400"/>
        </p:xfrm>
        <a:graphic>
          <a:graphicData uri="http://schemas.openxmlformats.org/drawingml/2006/table">
            <a:tbl>
              <a:tblPr/>
              <a:tblGrid>
                <a:gridCol w="3017520"/>
                <a:gridCol w="6025896"/>
                <a:gridCol w="201168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223558"/>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supports</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1623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Weight</a:t>
                      </a:r>
                      <a:endParaRPr lang="en-US" sz="11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solidFill>
                      <a:srgbClr val="16233B"/>
                    </a:solidFill>
                  </a:tcPr>
                </a:tc>
              </a:tr>
              <a:tr h="0">
                <a:tc>
                  <a:txBody>
                    <a:bodyPr/>
                    <a:lstStyle/>
                    <a:p>
                      <a:pPr indent="0" marL="0">
                        <a:buNone/>
                      </a:pPr>
                      <a:r>
                        <a:rPr lang="en-US" sz="1050" b="1" dirty="0">
                          <a:solidFill>
                            <a:srgbClr val="1B2338"/>
                          </a:solidFill>
                          <a:latin typeface="Calibri" pitchFamily="34" charset="0"/>
                          <a:ea typeface="Calibri" pitchFamily="34" charset="-122"/>
                          <a:cs typeface="Calibri" pitchFamily="34" charset="-120"/>
                        </a:rPr>
                        <a:t>PubMed Central, PMC8319625</a:t>
                      </a:r>
                      <a:endParaRPr lang="en-US" sz="10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050" dirty="0">
                          <a:solidFill>
                            <a:srgbClr val="1B2338"/>
                          </a:solidFill>
                          <a:latin typeface="Calibri" pitchFamily="34" charset="0"/>
                          <a:ea typeface="Calibri" pitchFamily="34" charset="-122"/>
                          <a:cs typeface="Calibri" pitchFamily="34" charset="-120"/>
                        </a:rPr>
                        <a:t>Intrinsic and extrinsic motivation operate through different mechanisms, so they are not interchangeable currencies</a:t>
                      </a:r>
                      <a:endParaRPr lang="en-US" sz="10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050" dirty="0">
                          <a:solidFill>
                            <a:srgbClr val="1B2338"/>
                          </a:solidFill>
                          <a:latin typeface="Calibri" pitchFamily="34" charset="0"/>
                          <a:ea typeface="Calibri" pitchFamily="34" charset="-122"/>
                          <a:cs typeface="Calibri" pitchFamily="34" charset="-120"/>
                        </a:rPr>
                        <a:t>Peer reviewed</a:t>
                      </a:r>
                      <a:endParaRPr lang="en-US" sz="10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050" b="1" dirty="0">
                          <a:solidFill>
                            <a:srgbClr val="1B2338"/>
                          </a:solidFill>
                          <a:latin typeface="Calibri" pitchFamily="34" charset="0"/>
                          <a:ea typeface="Calibri" pitchFamily="34" charset="-122"/>
                          <a:cs typeface="Calibri" pitchFamily="34" charset="-120"/>
                        </a:rPr>
                        <a:t>IJSMS, vol 8 issue 3, paper 118</a:t>
                      </a:r>
                      <a:endParaRPr lang="en-US" sz="10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050" dirty="0">
                          <a:solidFill>
                            <a:srgbClr val="1B2338"/>
                          </a:solidFill>
                          <a:latin typeface="Calibri" pitchFamily="34" charset="0"/>
                          <a:ea typeface="Calibri" pitchFamily="34" charset="-122"/>
                          <a:cs typeface="Calibri" pitchFamily="34" charset="-120"/>
                        </a:rPr>
                        <a:t>Recent academic treatment of reward systems and engagement</a:t>
                      </a:r>
                      <a:endParaRPr lang="en-US" sz="10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050" dirty="0">
                          <a:solidFill>
                            <a:srgbClr val="1B2338"/>
                          </a:solidFill>
                          <a:latin typeface="Calibri" pitchFamily="34" charset="0"/>
                          <a:ea typeface="Calibri" pitchFamily="34" charset="-122"/>
                          <a:cs typeface="Calibri" pitchFamily="34" charset="-120"/>
                        </a:rPr>
                        <a:t>Peer reviewed</a:t>
                      </a:r>
                      <a:endParaRPr lang="en-US" sz="10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050" b="1" dirty="0">
                          <a:solidFill>
                            <a:srgbClr val="1B2338"/>
                          </a:solidFill>
                          <a:latin typeface="Calibri" pitchFamily="34" charset="0"/>
                          <a:ea typeface="Calibri" pitchFamily="34" charset="-122"/>
                          <a:cs typeface="Calibri" pitchFamily="34" charset="-120"/>
                        </a:rPr>
                        <a:t>Gallup, employee recognition</a:t>
                      </a:r>
                      <a:endParaRPr lang="en-US" sz="10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050" dirty="0">
                          <a:solidFill>
                            <a:srgbClr val="1B2338"/>
                          </a:solidFill>
                          <a:latin typeface="Calibri" pitchFamily="34" charset="0"/>
                          <a:ea typeface="Calibri" pitchFamily="34" charset="-122"/>
                          <a:cs typeface="Calibri" pitchFamily="34" charset="-120"/>
                        </a:rPr>
                        <a:t>Recognition is low cost relative to its effect, which is the intrinsic column's cost argument</a:t>
                      </a:r>
                      <a:endParaRPr lang="en-US" sz="10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050" dirty="0">
                          <a:solidFill>
                            <a:srgbClr val="1B2338"/>
                          </a:solidFill>
                          <a:latin typeface="Calibri" pitchFamily="34" charset="0"/>
                          <a:ea typeface="Calibri" pitchFamily="34" charset="-122"/>
                          <a:cs typeface="Calibri" pitchFamily="34" charset="-120"/>
                        </a:rPr>
                        <a:t>Industry research</a:t>
                      </a:r>
                      <a:endParaRPr lang="en-US" sz="10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050" b="1" dirty="0">
                          <a:solidFill>
                            <a:srgbClr val="1B2338"/>
                          </a:solidFill>
                          <a:latin typeface="Calibri" pitchFamily="34" charset="0"/>
                          <a:ea typeface="Calibri" pitchFamily="34" charset="-122"/>
                          <a:cs typeface="Calibri" pitchFamily="34" charset="-120"/>
                        </a:rPr>
                        <a:t>Incentive Research Foundation</a:t>
                      </a:r>
                      <a:endParaRPr lang="en-US" sz="10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050" dirty="0">
                          <a:solidFill>
                            <a:srgbClr val="1B2338"/>
                          </a:solidFill>
                          <a:latin typeface="Calibri" pitchFamily="34" charset="0"/>
                          <a:ea typeface="Calibri" pitchFamily="34" charset="-122"/>
                          <a:cs typeface="Calibri" pitchFamily="34" charset="-120"/>
                        </a:rPr>
                        <a:t>Value and ROI of recognition programs, the number a CFO will press on</a:t>
                      </a:r>
                      <a:endParaRPr lang="en-US" sz="10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050" dirty="0">
                          <a:solidFill>
                            <a:srgbClr val="1B2338"/>
                          </a:solidFill>
                          <a:latin typeface="Calibri" pitchFamily="34" charset="0"/>
                          <a:ea typeface="Calibri" pitchFamily="34" charset="-122"/>
                          <a:cs typeface="Calibri" pitchFamily="34" charset="-120"/>
                        </a:rPr>
                        <a:t>Industry, vendor-adjacent</a:t>
                      </a:r>
                      <a:endParaRPr lang="en-US" sz="10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050" b="1" dirty="0">
                          <a:solidFill>
                            <a:srgbClr val="1B2338"/>
                          </a:solidFill>
                          <a:latin typeface="Calibri" pitchFamily="34" charset="0"/>
                          <a:ea typeface="Calibri" pitchFamily="34" charset="-122"/>
                          <a:cs typeface="Calibri" pitchFamily="34" charset="-120"/>
                        </a:rPr>
                        <a:t>Reward Gateway</a:t>
                      </a:r>
                      <a:endParaRPr lang="en-US" sz="10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050" dirty="0">
                          <a:solidFill>
                            <a:srgbClr val="1B2338"/>
                          </a:solidFill>
                          <a:latin typeface="Calibri" pitchFamily="34" charset="0"/>
                          <a:ea typeface="Calibri" pitchFamily="34" charset="-122"/>
                          <a:cs typeface="Calibri" pitchFamily="34" charset="-120"/>
                        </a:rPr>
                        <a:t>Point-reward mechanics as actually implemented, the instant gratification column</a:t>
                      </a:r>
                      <a:endParaRPr lang="en-US" sz="10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050" dirty="0">
                          <a:solidFill>
                            <a:srgbClr val="1B2338"/>
                          </a:solidFill>
                          <a:latin typeface="Calibri" pitchFamily="34" charset="0"/>
                          <a:ea typeface="Calibri" pitchFamily="34" charset="-122"/>
                          <a:cs typeface="Calibri" pitchFamily="34" charset="-120"/>
                        </a:rPr>
                        <a:t>Vendor published</a:t>
                      </a:r>
                      <a:endParaRPr lang="en-US" sz="10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r h="0">
                <a:tc>
                  <a:txBody>
                    <a:bodyPr/>
                    <a:lstStyle/>
                    <a:p>
                      <a:pPr indent="0" marL="0">
                        <a:buNone/>
                      </a:pPr>
                      <a:r>
                        <a:rPr lang="en-US" sz="1050" b="1" dirty="0">
                          <a:solidFill>
                            <a:srgbClr val="1B2338"/>
                          </a:solidFill>
                          <a:latin typeface="Calibri" pitchFamily="34" charset="0"/>
                          <a:ea typeface="Calibri" pitchFamily="34" charset="-122"/>
                          <a:cs typeface="Calibri" pitchFamily="34" charset="-120"/>
                        </a:rPr>
                        <a:t>Author-supplied video reference</a:t>
                      </a:r>
                      <a:endParaRPr lang="en-US" sz="10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050" dirty="0">
                          <a:solidFill>
                            <a:srgbClr val="1B2338"/>
                          </a:solidFill>
                          <a:latin typeface="Calibri" pitchFamily="34" charset="0"/>
                          <a:ea typeface="Calibri" pitchFamily="34" charset="-122"/>
                          <a:cs typeface="Calibri" pitchFamily="34" charset="-120"/>
                        </a:rPr>
                        <a:t>Practitioner framing of gratification timing. Held in notes, not cited on slide 4</a:t>
                      </a:r>
                      <a:endParaRPr lang="en-US" sz="10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c>
                  <a:txBody>
                    <a:bodyPr/>
                    <a:lstStyle/>
                    <a:p>
                      <a:pPr indent="0" marL="0">
                        <a:buNone/>
                      </a:pPr>
                      <a:r>
                        <a:rPr lang="en-US" sz="1050" dirty="0">
                          <a:solidFill>
                            <a:srgbClr val="1B2338"/>
                          </a:solidFill>
                          <a:latin typeface="Calibri" pitchFamily="34" charset="0"/>
                          <a:ea typeface="Calibri" pitchFamily="34" charset="-122"/>
                          <a:cs typeface="Calibri" pitchFamily="34" charset="-120"/>
                        </a:rPr>
                        <a:t>Not cited</a:t>
                      </a:r>
                      <a:endParaRPr lang="en-US" sz="1050" dirty="0">
                        <a:latin typeface="Calibri" charset="0"/>
                        <a:ea typeface="Calibri" charset="0"/>
                        <a:cs typeface="Calibri" charset="0"/>
                      </a:endParaRPr>
                    </a:p>
                  </a:txBody>
                  <a:tcPr marL="91440" marR="91440" marT="91440" marB="91440" anchor="t">
                    <a:lnL w="12700" cap="flat" cmpd="sng" algn="ctr">
                      <a:solidFill>
                        <a:srgbClr val="E2EAF4"/>
                      </a:solidFill>
                      <a:prstDash val="solid"/>
                      <a:round/>
                      <a:headEnd type="none" w="med" len="med"/>
                      <a:tailEnd type="none" w="med" len="med"/>
                    </a:lnL>
                    <a:lnR w="12700" cap="flat" cmpd="sng" algn="ctr">
                      <a:solidFill>
                        <a:srgbClr val="E2EAF4"/>
                      </a:solidFill>
                      <a:prstDash val="solid"/>
                      <a:round/>
                      <a:headEnd type="none" w="med" len="med"/>
                      <a:tailEnd type="none" w="med" len="med"/>
                    </a:lnR>
                    <a:lnT w="12700" cap="flat" cmpd="sng" algn="ctr">
                      <a:solidFill>
                        <a:srgbClr val="E2EAF4"/>
                      </a:solidFill>
                      <a:prstDash val="solid"/>
                      <a:round/>
                      <a:headEnd type="none" w="med" len="med"/>
                      <a:tailEnd type="none" w="med" len="med"/>
                    </a:lnT>
                    <a:lnB w="12700" cap="flat" cmpd="sng" algn="ctr">
                      <a:solidFill>
                        <a:srgbClr val="E2EAF4"/>
                      </a:solidFill>
                      <a:prstDash val="solid"/>
                      <a:round/>
                      <a:headEnd type="none" w="med" len="med"/>
                      <a:tailEnd type="none" w="med" len="med"/>
                    </a:lnB>
                  </a:tcPr>
                </a:tc>
              </a:tr>
            </a:tbl>
          </a:graphicData>
        </a:graphic>
      </p:graphicFrame>
      <p:sp>
        <p:nvSpPr>
          <p:cNvPr id="6" name="Shape 3"/>
          <p:cNvSpPr/>
          <p:nvPr/>
        </p:nvSpPr>
        <p:spPr>
          <a:xfrm>
            <a:off x="566928" y="5029200"/>
            <a:ext cx="11055096" cy="749808"/>
          </a:xfrm>
          <a:prstGeom prst="roundRect">
            <a:avLst>
              <a:gd name="adj" fmla="val 14634"/>
            </a:avLst>
          </a:prstGeom>
          <a:solidFill>
            <a:srgbClr val="FAECD4"/>
          </a:solidFill>
          <a:ln w="12700">
            <a:solidFill>
              <a:srgbClr val="FAECD4"/>
            </a:solidFill>
            <a:prstDash val="solid"/>
          </a:ln>
        </p:spPr>
      </p:sp>
      <p:sp>
        <p:nvSpPr>
          <p:cNvPr id="7" name="Text 4"/>
          <p:cNvSpPr/>
          <p:nvPr/>
        </p:nvSpPr>
        <p:spPr>
          <a:xfrm>
            <a:off x="786384" y="5029200"/>
            <a:ext cx="10616184" cy="749808"/>
          </a:xfrm>
          <a:prstGeom prst="rect">
            <a:avLst/>
          </a:prstGeom>
          <a:noFill/>
          <a:ln/>
        </p:spPr>
        <p:txBody>
          <a:bodyPr wrap="square" lIns="0" tIns="0" rIns="0" bIns="0" rtlCol="0" anchor="ctr"/>
          <a:lstStyle/>
          <a:p>
            <a:pPr indent="0" marL="0">
              <a:lnSpc>
                <a:spcPts val="1500"/>
              </a:lnSpc>
              <a:buNone/>
            </a:pPr>
            <a:r>
              <a:rPr lang="en-US" sz="1150" b="1" dirty="0">
                <a:solidFill>
                  <a:srgbClr val="8A5A11"/>
                </a:solidFill>
                <a:latin typeface="Calibri" pitchFamily="34" charset="0"/>
                <a:ea typeface="Calibri" pitchFamily="34" charset="-122"/>
                <a:cs typeface="Calibri" pitchFamily="34" charset="-120"/>
              </a:rPr>
              <a:t>Slide 4 leans on the two peer-reviewed sources for mechanism claims and uses the industry sources for practice examples. Three of the six have a commercial interest in the conclusion, which is stated here rather than hidden.</a:t>
            </a:r>
            <a:endParaRPr lang="en-US" sz="1150" dirty="0"/>
          </a:p>
        </p:txBody>
      </p:sp>
      <p:sp>
        <p:nvSpPr>
          <p:cNvPr id="8" name="Text 5"/>
          <p:cNvSpPr/>
          <p:nvPr/>
        </p:nvSpPr>
        <p:spPr>
          <a:xfrm>
            <a:off x="11164824" y="6236208"/>
            <a:ext cx="457200" cy="365760"/>
          </a:xfrm>
          <a:prstGeom prst="rect">
            <a:avLst/>
          </a:prstGeom>
          <a:noFill/>
          <a:ln/>
        </p:spPr>
        <p:txBody>
          <a:bodyPr wrap="square" lIns="0" tIns="0" rIns="0" bIns="0" rtlCol="0" anchor="ctr"/>
          <a:lstStyle/>
          <a:p>
            <a:pPr algn="r" indent="0" marL="0">
              <a:buNone/>
            </a:pPr>
            <a:r>
              <a:rPr lang="en-US" sz="1050" dirty="0">
                <a:solidFill>
                  <a:srgbClr val="5E6980"/>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MyWalmart / Sidekick: first 90 days</dc:title>
  <dc:subject>PptxGenJS Presentation</dc:subject>
  <dc:creator>Allen Hoem</dc:creator>
  <cp:lastModifiedBy>Allen Hoem</cp:lastModifiedBy>
  <cp:revision>1</cp:revision>
  <dcterms:created xsi:type="dcterms:W3CDTF">2026-08-06T17:25:55Z</dcterms:created>
  <dcterms:modified xsi:type="dcterms:W3CDTF">2026-08-06T17:25:55Z</dcterms:modified>
</cp:coreProperties>
</file>