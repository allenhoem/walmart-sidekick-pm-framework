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New hires still employed</c:v>
                </c:pt>
              </c:strCache>
            </c:strRef>
          </c:tx>
          <c:spPr>
            <a:solidFill>
              <a:srgbClr val="3B7EA8"/>
            </a:solidFill>
            <a:ln w="44450" cap="flat">
              <a:solidFill>
                <a:srgbClr val="3B7EA8"/>
              </a:solidFill>
              <a:prstDash val="solid"/>
              <a:round/>
            </a:ln>
            <a:effectLst/>
          </c:spPr>
          <c:invertIfNegative val="0"/>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c:symbol val="circle"/>
            <c:size val="6"/>
            <c:spPr>
              <a:solidFill>
                <a:srgbClr val="3B7EA8"/>
              </a:solidFill>
              <a:ln w="9525" cap="flat">
                <a:solidFill>
                  <a:srgbClr val="3B7EA8"/>
                </a:solidFill>
                <a:prstDash val="solid"/>
                <a:round/>
              </a:ln>
              <a:effectLst/>
            </c:spPr>
          </c:marker>
          <c:cat>
            <c:multiLvlStrRef>
              <c:f>Sheet1!$A$2:$A$8</c:f>
              <c:multiLvlStrCache>
                <c:ptCount val="7"/>
                <c:lvl>
                  <c:pt idx="0">
                    <c:v>Day 0</c:v>
                  </c:pt>
                  <c:pt idx="1">
                    <c:v>Day 7</c:v>
                  </c:pt>
                  <c:pt idx="2">
                    <c:v>Day 14</c:v>
                  </c:pt>
                  <c:pt idx="3">
                    <c:v>Day 30</c:v>
                  </c:pt>
                  <c:pt idx="4">
                    <c:v>Day 45</c:v>
                  </c:pt>
                  <c:pt idx="5">
                    <c:v>Day 60</c:v>
                  </c:pt>
                  <c:pt idx="6">
                    <c:v>Day 90</c:v>
                  </c:pt>
                </c:lvl>
              </c:multiLvlStrCache>
            </c:multiLvlStrRef>
          </c:cat>
          <c:val>
            <c:numRef>
              <c:f>Sheet1!$B$2:$B$8</c:f>
              <c:numCache>
                <c:formatCode>General</c:formatCode>
                <c:ptCount val="7"/>
                <c:pt idx="0">
                  <c:v>100</c:v>
                </c:pt>
                <c:pt idx="1">
                  <c:v>94</c:v>
                </c:pt>
                <c:pt idx="2">
                  <c:v>88</c:v>
                </c:pt>
                <c:pt idx="3">
                  <c:v>81</c:v>
                </c:pt>
                <c:pt idx="4">
                  <c:v>78</c:v>
                </c:pt>
                <c:pt idx="5">
                  <c:v>75</c:v>
                </c:pt>
                <c:pt idx="6">
                  <c:v>72</c:v>
                </c:pt>
              </c:numCache>
            </c:numRef>
          </c:val>
          <c:smooth val="0"/>
        </c:ser>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2EAF4"/>
            </a:solidFill>
            <a:prstDash val="solid"/>
            <a:round/>
          </a:ln>
        </c:spPr>
        <c:txPr>
          <a:bodyPr/>
          <a:lstStyle/>
          <a:p>
            <a:pPr>
              <a:defRPr sz="1050" b="0" i="0" u="none" strike="noStrike">
                <a:solidFill>
                  <a:srgbClr val="5E6980"/>
                </a:solidFill>
                <a:latin typeface="Calibri"/>
              </a:defRPr>
            </a:pPr>
            <a:endParaRPr lang="en-US"/>
          </a:p>
        </c:txPr>
        <c:crossAx val="2094734552"/>
        <c:crosses val="autoZero"/>
        <c:auto val="1"/>
        <c:lblAlgn val="ctr"/>
        <c:noMultiLvlLbl val="1"/>
      </c:catAx>
      <c:valAx>
        <c:axId val="2094734552"/>
        <c:scaling>
          <c:orientation val="minMax"/>
          <c:max val="104"/>
          <c:min val="60"/>
        </c:scaling>
        <c:delete val="0"/>
        <c:axPos val="l"/>
        <c:majorGridlines>
          <c:spPr>
            <a:ln w="12700" cap="flat">
              <a:solidFill>
                <a:srgbClr val="E2EA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5E69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problem and price it. Retention and results are the two numbers we are short of, and doing nothing costs about $1.5B a year at these assumptions. Nothing is asked of the room on this slide. The curve shape is the point, not the exact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mark is the most important character on this slide. Every deck that has proposed a rewards program asserted this equation and then spent against it. This one puts the hypothesis on screen and says the pilot will try to break it. That is what makes two weeks worth funding, and it is a stronger position than certainty because it survives being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once and move on. Variation between associates is not noise to be averaged away, it is the thing worth designing for. The Meijer note is here because it is more useful evidence about disengagement than a survey, and because it makes the argument something I have lived rather than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Rewards means four different things to the four seats in this room, so define it before arguing about it. Extrinsic is the one every competitor already has and the one Walmart cannot win on per dollar. Intrinsic and instant both depend on noticing something at the moment it happens, and noticing at 1.9M scale is a software problem rather than a management problem. Wellness hours in the intrinsic column are the direct link back to rejuvenation.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question mark on slide 2. Rewards and rejuvenation run as distinct arms rather than one bundled treatment, so a lift can be attributed to one or the other instead of to the program as a whole. Rewards last is a sequencing decision, not a priority call: rewards without the signal layer underneath is a gift card lottery.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Sidekick is a strong answer engine and a weak action engine. The gap between answering and doing is where the minutes and the goodwill go. Devon's exchange is the everyday version of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bet is falsifiable: it states up front what the discovery data would have to show for it to be the right entry point. That makes the sprint output the decider rather than anyone's conviction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proves the retention thesis in one quarter on a footprint small enough to kill. C turns that proof into rails everything later ships on. B runs through both because its wins are immediate and it feeds the engine the intent data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 is a day-3 overnight stocker. Skipping a training never costs her anything, which is what makes it safe to learn. The week-1 reward is chosen by her, and that choice is also the training signal Plan C learns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Cohorts, not individuals: larger samples make the scores stable, and it is the right privacy posture because the engine never carries a hidden label on a person. Wellbeing reads operational signals only. Never health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Surveillance perception is the risk that kills Plan C if it is handled late. The mitigation is radical transparency from the first release, not a comms plan bolted on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then one honest sentence about motive and stop talking. Amount, owner, date, gate, and the fallback are all on one slide so the room can decide without a second meeting. Bracketed values need finance and staffing input before this deck is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walk the appendix. Jump to the slide the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in the sensitivity grid still clears the cost of the sprint. That is the point of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Bentonville makes the floor shifts a weekly habit rather than a one-time event. That is the difference between ethnography and a photo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why not A/B: exposure. A/B spends weeks paying losing arms while a bandit reallocates continuously and still explores.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Cohort-level scoring gives larger samples per estimate, so the scores are statistically stable, and it is the right privacy posture because no individual carries a hidden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production the thresholds come from score distributions, for example top-quartile friction. The policy stays human-readable on purpose so a People team can audit every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tier is the only one the system grants on its own. Everything above it routes through a human decision inside processes HR already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what let a People team sign off on a learning system. Each one is testable and each one has an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not there to be obeyed. It makes overrides explicit: here is what the signals rank, here is where I am overriding,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handoff posture matters: product owns what a score means, data science owns how it is computed and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here is public or stated as illustrative. The sprint replaces the illustrative ones with measured internal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URLs. 1: pmc.ncbi.nlm.nih.gov/articles/PMC8319625/. 2: youtube.com/watch?v=UGVuDwgcxlc. 3: gallup.com/workplace/236441/employee-recognition-low-cost-high-impact.aspx. 4: theirf.org/research_post/the-value-and-roi-of-employee-recognition/. 5: rewardgateway.com/blog/point-reward-system-for-employees. 6: ijsmsjournal.org/2025/volume-8 issue-3/ijsms-v8i3p118.pdf. If anyone challenges the reward taxonomy, this is the slide to turn to, and the honest answer is that the mechanism claims rest on the two academic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ALLEN HOEM  ·  PRINCIPAL PM CANDIDATE  ·  MYWALMART / SIDEKICK  ·  R-2555971</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About $1.5B a year walks out the door, and most of it goes in the first 6 weeks.</a:t>
            </a:r>
            <a:endParaRPr lang="en-US" sz="3000" dirty="0"/>
          </a:p>
        </p:txBody>
      </p:sp>
      <p:sp>
        <p:nvSpPr>
          <p:cNvPr id="5" name="Text 3"/>
          <p:cNvSpPr/>
          <p:nvPr/>
        </p:nvSpPr>
        <p:spPr>
          <a:xfrm>
            <a:off x="566928" y="2048256"/>
            <a:ext cx="3611880" cy="457200"/>
          </a:xfrm>
          <a:prstGeom prst="rect">
            <a:avLst/>
          </a:prstGeom>
          <a:noFill/>
          <a:ln/>
        </p:spPr>
        <p:txBody>
          <a:bodyPr wrap="square" lIns="0" tIns="0" rIns="0" bIns="0" rtlCol="0" anchor="ctr"/>
          <a:lstStyle/>
          <a:p>
            <a:pPr indent="0" marL="0">
              <a:buNone/>
            </a:pPr>
            <a:r>
              <a:rPr lang="en-US" sz="2700" b="1" dirty="0">
                <a:solidFill>
                  <a:srgbClr val="16233B"/>
                </a:solidFill>
                <a:latin typeface="Cambria" pitchFamily="34" charset="0"/>
                <a:ea typeface="Cambria" pitchFamily="34" charset="-122"/>
                <a:cs typeface="Cambria" pitchFamily="34" charset="-120"/>
              </a:rPr>
              <a:t>RETENTION</a:t>
            </a:r>
            <a:endParaRPr lang="en-US" sz="2700" dirty="0"/>
          </a:p>
        </p:txBody>
      </p:sp>
      <p:sp>
        <p:nvSpPr>
          <p:cNvPr id="6" name="Text 4"/>
          <p:cNvSpPr/>
          <p:nvPr/>
        </p:nvSpPr>
        <p:spPr>
          <a:xfrm>
            <a:off x="566928" y="2523744"/>
            <a:ext cx="3611880" cy="457200"/>
          </a:xfrm>
          <a:prstGeom prst="rect">
            <a:avLst/>
          </a:prstGeom>
          <a:noFill/>
          <a:ln/>
        </p:spPr>
        <p:txBody>
          <a:bodyPr wrap="square" lIns="0" tIns="0" rIns="0" bIns="0" rtlCol="0" anchor="t"/>
          <a:lstStyle/>
          <a:p>
            <a:pPr indent="0" marL="0">
              <a:lnSpc>
                <a:spcPts val="1600"/>
              </a:lnSpc>
              <a:buNone/>
            </a:pPr>
            <a:r>
              <a:rPr lang="en-US" sz="1250" dirty="0">
                <a:solidFill>
                  <a:srgbClr val="5E6980"/>
                </a:solidFill>
                <a:latin typeface="Calibri" pitchFamily="34" charset="0"/>
                <a:ea typeface="Calibri" pitchFamily="34" charset="-122"/>
                <a:cs typeface="Calibri" pitchFamily="34" charset="-120"/>
              </a:rPr>
              <a:t>Past 90 days, and past 5 years.</a:t>
            </a:r>
            <a:endParaRPr lang="en-US" sz="1250" dirty="0"/>
          </a:p>
        </p:txBody>
      </p:sp>
      <p:sp>
        <p:nvSpPr>
          <p:cNvPr id="7" name="Text 5"/>
          <p:cNvSpPr/>
          <p:nvPr/>
        </p:nvSpPr>
        <p:spPr>
          <a:xfrm>
            <a:off x="566928" y="3054096"/>
            <a:ext cx="3611880" cy="365760"/>
          </a:xfrm>
          <a:prstGeom prst="rect">
            <a:avLst/>
          </a:prstGeom>
          <a:noFill/>
          <a:ln/>
        </p:spPr>
        <p:txBody>
          <a:bodyPr wrap="square" lIns="0" tIns="0" rIns="0" bIns="0" rtlCol="0" anchor="ctr"/>
          <a:lstStyle/>
          <a:p>
            <a:pP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8" name="Text 6"/>
          <p:cNvSpPr/>
          <p:nvPr/>
        </p:nvSpPr>
        <p:spPr>
          <a:xfrm>
            <a:off x="566928" y="3493008"/>
            <a:ext cx="3611880" cy="457200"/>
          </a:xfrm>
          <a:prstGeom prst="rect">
            <a:avLst/>
          </a:prstGeom>
          <a:noFill/>
          <a:ln/>
        </p:spPr>
        <p:txBody>
          <a:bodyPr wrap="square" lIns="0" tIns="0" rIns="0" bIns="0" rtlCol="0" anchor="ctr"/>
          <a:lstStyle/>
          <a:p>
            <a:pPr indent="0" marL="0">
              <a:buNone/>
            </a:pPr>
            <a:r>
              <a:rPr lang="en-US" sz="2700" b="1" dirty="0">
                <a:solidFill>
                  <a:srgbClr val="16233B"/>
                </a:solidFill>
                <a:latin typeface="Cambria" pitchFamily="34" charset="0"/>
                <a:ea typeface="Cambria" pitchFamily="34" charset="-122"/>
                <a:cs typeface="Cambria" pitchFamily="34" charset="-120"/>
              </a:rPr>
              <a:t>RESULTS</a:t>
            </a:r>
            <a:endParaRPr lang="en-US" sz="2700" dirty="0"/>
          </a:p>
        </p:txBody>
      </p:sp>
      <p:sp>
        <p:nvSpPr>
          <p:cNvPr id="9" name="Text 7"/>
          <p:cNvSpPr/>
          <p:nvPr/>
        </p:nvSpPr>
        <p:spPr>
          <a:xfrm>
            <a:off x="566928" y="3968496"/>
            <a:ext cx="3611880" cy="457200"/>
          </a:xfrm>
          <a:prstGeom prst="rect">
            <a:avLst/>
          </a:prstGeom>
          <a:noFill/>
          <a:ln/>
        </p:spPr>
        <p:txBody>
          <a:bodyPr wrap="square" lIns="0" tIns="0" rIns="0" bIns="0" rtlCol="0" anchor="t"/>
          <a:lstStyle/>
          <a:p>
            <a:pPr indent="0" marL="0">
              <a:lnSpc>
                <a:spcPts val="1600"/>
              </a:lnSpc>
              <a:buNone/>
            </a:pPr>
            <a:r>
              <a:rPr lang="en-US" sz="1250" dirty="0">
                <a:solidFill>
                  <a:srgbClr val="5E6980"/>
                </a:solidFill>
                <a:latin typeface="Calibri" pitchFamily="34" charset="0"/>
                <a:ea typeface="Calibri" pitchFamily="34" charset="-122"/>
                <a:cs typeface="Calibri" pitchFamily="34" charset="-120"/>
              </a:rPr>
              <a:t>Staffed shifts, and a full floor.</a:t>
            </a:r>
            <a:endParaRPr lang="en-US" sz="1250" dirty="0"/>
          </a:p>
        </p:txBody>
      </p:sp>
      <p:sp>
        <p:nvSpPr>
          <p:cNvPr id="10" name="Shape 8"/>
          <p:cNvSpPr/>
          <p:nvPr/>
        </p:nvSpPr>
        <p:spPr>
          <a:xfrm>
            <a:off x="566928" y="4681728"/>
            <a:ext cx="1005840" cy="32004"/>
          </a:xfrm>
          <a:prstGeom prst="rect">
            <a:avLst/>
          </a:prstGeom>
          <a:solidFill>
            <a:srgbClr val="D9922B"/>
          </a:solidFill>
          <a:ln w="12700">
            <a:solidFill>
              <a:srgbClr val="333333"/>
            </a:solidFill>
            <a:prstDash val="solid"/>
          </a:ln>
        </p:spPr>
      </p:sp>
      <p:sp>
        <p:nvSpPr>
          <p:cNvPr id="11" name="Text 9"/>
          <p:cNvSpPr/>
          <p:nvPr/>
        </p:nvSpPr>
        <p:spPr>
          <a:xfrm>
            <a:off x="566928" y="4846320"/>
            <a:ext cx="3611880" cy="1005840"/>
          </a:xfrm>
          <a:prstGeom prst="rect">
            <a:avLst/>
          </a:prstGeom>
          <a:noFill/>
          <a:ln/>
        </p:spPr>
        <p:txBody>
          <a:bodyPr wrap="square" lIns="0" tIns="0" rIns="0" bIns="0" rtlCol="0" anchor="t"/>
          <a:lstStyle/>
          <a:p>
            <a:pPr indent="0" marL="0">
              <a:lnSpc>
                <a:spcPts val="1700"/>
              </a:lnSpc>
              <a:buNone/>
            </a:pPr>
            <a:r>
              <a:rPr lang="en-US" sz="1300" i="1" dirty="0">
                <a:solidFill>
                  <a:srgbClr val="1B2338"/>
                </a:solidFill>
                <a:latin typeface="Calibri" pitchFamily="34" charset="0"/>
                <a:ea typeface="Calibri" pitchFamily="34" charset="-122"/>
                <a:cs typeface="Calibri" pitchFamily="34" charset="-120"/>
              </a:rPr>
              <a:t>These are the two numbers we are trying to move. Everything after this slide is an argument about how.</a:t>
            </a:r>
            <a:endParaRPr lang="en-US" sz="1300" dirty="0"/>
          </a:p>
        </p:txBody>
      </p:sp>
      <p:graphicFrame>
        <p:nvGraphicFramePr>
          <p:cNvPr id="12" name="Chart 0" descr=""/>
          <p:cNvGraphicFramePr/>
          <p:nvPr/>
        </p:nvGraphicFramePr>
        <p:xfrm>
          <a:off x="4590288" y="1883664"/>
          <a:ext cx="7031736" cy="2249424"/>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4590288" y="4151376"/>
            <a:ext cx="7031736" cy="329184"/>
          </a:xfrm>
          <a:prstGeom prst="rect">
            <a:avLst/>
          </a:prstGeom>
          <a:noFill/>
          <a:ln/>
        </p:spPr>
        <p:txBody>
          <a:bodyPr wrap="square" lIns="0" tIns="0" rIns="0" bIns="0" rtlCol="0" anchor="t"/>
          <a:lstStyle/>
          <a:p>
            <a:pPr indent="0" marL="0">
              <a:buNone/>
            </a:pPr>
            <a:r>
              <a:rPr lang="en-US" sz="1100" i="1" dirty="0">
                <a:solidFill>
                  <a:srgbClr val="5E6980"/>
                </a:solidFill>
                <a:latin typeface="Calibri" pitchFamily="34" charset="0"/>
                <a:ea typeface="Calibri" pitchFamily="34" charset="-122"/>
                <a:cs typeface="Calibri" pitchFamily="34" charset="-120"/>
              </a:rPr>
              <a:t>New hires still employed. Steepest loss sits in the first 6 weeks, before most support programs reach anyone.</a:t>
            </a:r>
            <a:endParaRPr lang="en-US" sz="1100" dirty="0"/>
          </a:p>
        </p:txBody>
      </p:sp>
      <p:sp>
        <p:nvSpPr>
          <p:cNvPr id="14" name="Shape 11"/>
          <p:cNvSpPr/>
          <p:nvPr/>
        </p:nvSpPr>
        <p:spPr>
          <a:xfrm>
            <a:off x="4590288" y="4636008"/>
            <a:ext cx="100584" cy="100584"/>
          </a:xfrm>
          <a:prstGeom prst="diamond">
            <a:avLst/>
          </a:prstGeom>
          <a:solidFill>
            <a:srgbClr val="D9922B"/>
          </a:solidFill>
          <a:ln w="12700">
            <a:solidFill>
              <a:srgbClr val="D9922B"/>
            </a:solidFill>
            <a:prstDash val="solid"/>
          </a:ln>
        </p:spPr>
      </p:sp>
      <p:sp>
        <p:nvSpPr>
          <p:cNvPr id="15" name="Text 12"/>
          <p:cNvSpPr/>
          <p:nvPr/>
        </p:nvSpPr>
        <p:spPr>
          <a:xfrm>
            <a:off x="4809744" y="4526280"/>
            <a:ext cx="6812280" cy="265176"/>
          </a:xfrm>
          <a:prstGeom prst="rect">
            <a:avLst/>
          </a:prstGeom>
          <a:noFill/>
          <a:ln/>
        </p:spPr>
        <p:txBody>
          <a:bodyPr wrap="square" lIns="0" tIns="0" rIns="0" bIns="0" rtlCol="0" anchor="t"/>
          <a:lstStyle/>
          <a:p>
            <a:pPr indent="0" marL="0">
              <a:lnSpc>
                <a:spcPts val="1584"/>
              </a:lnSpc>
              <a:buNone/>
            </a:pPr>
            <a:r>
              <a:rPr lang="en-US" sz="1200" dirty="0">
                <a:solidFill>
                  <a:srgbClr val="1B2338"/>
                </a:solidFill>
                <a:latin typeface="Calibri" pitchFamily="34" charset="0"/>
                <a:ea typeface="Calibri" pitchFamily="34" charset="-122"/>
                <a:cs typeface="Calibri" pitchFamily="34" charset="-120"/>
              </a:rPr>
              <a:t>1.9M associates globally. About 500K new store hires a year.</a:t>
            </a:r>
            <a:endParaRPr lang="en-US" sz="1200" dirty="0"/>
          </a:p>
        </p:txBody>
      </p:sp>
      <p:sp>
        <p:nvSpPr>
          <p:cNvPr id="16" name="Shape 13"/>
          <p:cNvSpPr/>
          <p:nvPr/>
        </p:nvSpPr>
        <p:spPr>
          <a:xfrm>
            <a:off x="4590288" y="5029200"/>
            <a:ext cx="100584" cy="100584"/>
          </a:xfrm>
          <a:prstGeom prst="diamond">
            <a:avLst/>
          </a:prstGeom>
          <a:solidFill>
            <a:srgbClr val="D9922B"/>
          </a:solidFill>
          <a:ln w="12700">
            <a:solidFill>
              <a:srgbClr val="D9922B"/>
            </a:solidFill>
            <a:prstDash val="solid"/>
          </a:ln>
        </p:spPr>
      </p:sp>
      <p:sp>
        <p:nvSpPr>
          <p:cNvPr id="17" name="Text 14"/>
          <p:cNvSpPr/>
          <p:nvPr/>
        </p:nvSpPr>
        <p:spPr>
          <a:xfrm>
            <a:off x="4809744" y="4919472"/>
            <a:ext cx="6812280" cy="265176"/>
          </a:xfrm>
          <a:prstGeom prst="rect">
            <a:avLst/>
          </a:prstGeom>
          <a:noFill/>
          <a:ln/>
        </p:spPr>
        <p:txBody>
          <a:bodyPr wrap="square" lIns="0" tIns="0" rIns="0" bIns="0" rtlCol="0" anchor="t"/>
          <a:lstStyle/>
          <a:p>
            <a:pPr indent="0" marL="0">
              <a:lnSpc>
                <a:spcPts val="1584"/>
              </a:lnSpc>
              <a:buNone/>
            </a:pPr>
            <a:r>
              <a:rPr lang="en-US" sz="1200" dirty="0">
                <a:solidFill>
                  <a:srgbClr val="1B2338"/>
                </a:solidFill>
                <a:latin typeface="Calibri" pitchFamily="34" charset="0"/>
                <a:ea typeface="Calibri" pitchFamily="34" charset="-122"/>
                <a:cs typeface="Calibri" pitchFamily="34" charset="-120"/>
              </a:rPr>
              <a:t>About $3,000 to replace each early exit.</a:t>
            </a:r>
            <a:endParaRPr lang="en-US" sz="1200" dirty="0"/>
          </a:p>
        </p:txBody>
      </p:sp>
      <p:sp>
        <p:nvSpPr>
          <p:cNvPr id="18" name="Shape 15"/>
          <p:cNvSpPr/>
          <p:nvPr/>
        </p:nvSpPr>
        <p:spPr>
          <a:xfrm>
            <a:off x="4590288" y="5422392"/>
            <a:ext cx="100584" cy="100584"/>
          </a:xfrm>
          <a:prstGeom prst="diamond">
            <a:avLst/>
          </a:prstGeom>
          <a:solidFill>
            <a:srgbClr val="D9922B"/>
          </a:solidFill>
          <a:ln w="12700">
            <a:solidFill>
              <a:srgbClr val="D9922B"/>
            </a:solidFill>
            <a:prstDash val="solid"/>
          </a:ln>
        </p:spPr>
      </p:sp>
      <p:sp>
        <p:nvSpPr>
          <p:cNvPr id="19" name="Text 16"/>
          <p:cNvSpPr/>
          <p:nvPr/>
        </p:nvSpPr>
        <p:spPr>
          <a:xfrm>
            <a:off x="4809744" y="5312664"/>
            <a:ext cx="6812280" cy="265176"/>
          </a:xfrm>
          <a:prstGeom prst="rect">
            <a:avLst/>
          </a:prstGeom>
          <a:noFill/>
          <a:ln/>
        </p:spPr>
        <p:txBody>
          <a:bodyPr wrap="square" lIns="0" tIns="0" rIns="0" bIns="0" rtlCol="0" anchor="t"/>
          <a:lstStyle/>
          <a:p>
            <a:pPr indent="0" marL="0">
              <a:lnSpc>
                <a:spcPts val="1584"/>
              </a:lnSpc>
              <a:buNone/>
            </a:pPr>
            <a:r>
              <a:rPr lang="en-US" sz="1200" dirty="0">
                <a:solidFill>
                  <a:srgbClr val="1B2338"/>
                </a:solidFill>
                <a:latin typeface="Calibri" pitchFamily="34" charset="0"/>
                <a:ea typeface="Calibri" pitchFamily="34" charset="-122"/>
                <a:cs typeface="Calibri" pitchFamily="34" charset="-120"/>
              </a:rPr>
              <a:t>Exit themes read as confusion and isolation, not only wage competition.</a:t>
            </a:r>
            <a:endParaRPr lang="en-US" sz="1200" dirty="0"/>
          </a:p>
        </p:txBody>
      </p:sp>
      <p:sp>
        <p:nvSpPr>
          <p:cNvPr id="20" name="Shape 17"/>
          <p:cNvSpPr/>
          <p:nvPr/>
        </p:nvSpPr>
        <p:spPr>
          <a:xfrm>
            <a:off x="4590288" y="5815584"/>
            <a:ext cx="100584" cy="100584"/>
          </a:xfrm>
          <a:prstGeom prst="diamond">
            <a:avLst/>
          </a:prstGeom>
          <a:solidFill>
            <a:srgbClr val="D9922B"/>
          </a:solidFill>
          <a:ln w="12700">
            <a:solidFill>
              <a:srgbClr val="D9922B"/>
            </a:solidFill>
            <a:prstDash val="solid"/>
          </a:ln>
        </p:spPr>
      </p:sp>
      <p:sp>
        <p:nvSpPr>
          <p:cNvPr id="21" name="Text 18"/>
          <p:cNvSpPr/>
          <p:nvPr/>
        </p:nvSpPr>
        <p:spPr>
          <a:xfrm>
            <a:off x="4809744" y="5705856"/>
            <a:ext cx="6812280" cy="466344"/>
          </a:xfrm>
          <a:prstGeom prst="rect">
            <a:avLst/>
          </a:prstGeom>
          <a:noFill/>
          <a:ln/>
        </p:spPr>
        <p:txBody>
          <a:bodyPr wrap="square" lIns="0" tIns="0" rIns="0" bIns="0" rtlCol="0" anchor="t"/>
          <a:lstStyle/>
          <a:p>
            <a:pPr indent="0" marL="0">
              <a:lnSpc>
                <a:spcPts val="1584"/>
              </a:lnSpc>
              <a:buNone/>
            </a:pPr>
            <a:r>
              <a:rPr lang="en-US" sz="1200" dirty="0">
                <a:solidFill>
                  <a:srgbClr val="1B2338"/>
                </a:solidFill>
                <a:latin typeface="Calibri" pitchFamily="34" charset="0"/>
                <a:ea typeface="Calibri" pitchFamily="34" charset="-122"/>
                <a:cs typeface="Calibri" pitchFamily="34" charset="-120"/>
              </a:rPr>
              <a:t>The retention assets already exist and go unorchestrated: Academies, 50+ Live Better U certificates at no cost, 310K associates promoted in two years.</a:t>
            </a:r>
            <a:endParaRPr lang="en-US" sz="1200" dirty="0"/>
          </a:p>
        </p:txBody>
      </p:sp>
      <p:sp>
        <p:nvSpPr>
          <p:cNvPr id="22"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Survival curve is illustrative. Days 1 to 30 of the sprint replace it with real 7/30/60/90-day curves by cohort.</a:t>
            </a:r>
            <a:endParaRPr lang="en-US" sz="1050" dirty="0"/>
          </a:p>
        </p:txBody>
      </p:sp>
      <p:sp>
        <p:nvSpPr>
          <p:cNvPr id="23"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HYPOTHESIS, NOT CONCLUSION</a:t>
            </a:r>
            <a:endParaRPr lang="en-US" sz="1100" dirty="0"/>
          </a:p>
        </p:txBody>
      </p:sp>
      <p:sp>
        <p:nvSpPr>
          <p:cNvPr id="4" name="Text 2"/>
          <p:cNvSpPr/>
          <p:nvPr/>
        </p:nvSpPr>
        <p:spPr>
          <a:xfrm>
            <a:off x="566928" y="1298448"/>
            <a:ext cx="511606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REWARDS</a:t>
            </a:r>
            <a:endParaRPr lang="en-US" sz="3000" dirty="0"/>
          </a:p>
        </p:txBody>
      </p:sp>
      <p:sp>
        <p:nvSpPr>
          <p:cNvPr id="5" name="Text 3"/>
          <p:cNvSpPr/>
          <p:nvPr/>
        </p:nvSpPr>
        <p:spPr>
          <a:xfrm>
            <a:off x="932688" y="1901952"/>
            <a:ext cx="4384548" cy="603504"/>
          </a:xfrm>
          <a:prstGeom prst="rect">
            <a:avLst/>
          </a:prstGeom>
          <a:noFill/>
          <a:ln/>
        </p:spPr>
        <p:txBody>
          <a:bodyPr wrap="square" lIns="0" tIns="0" rIns="0" bIns="0" rtlCol="0" anchor="t"/>
          <a:lstStyle/>
          <a:p>
            <a:pPr algn="ctr" indent="0" marL="0">
              <a:lnSpc>
                <a:spcPts val="1700"/>
              </a:lnSpc>
              <a:buNone/>
            </a:pPr>
            <a:r>
              <a:rPr lang="en-US" sz="1300" dirty="0">
                <a:solidFill>
                  <a:srgbClr val="AEBFD8"/>
                </a:solidFill>
                <a:latin typeface="Calibri" pitchFamily="34" charset="0"/>
                <a:ea typeface="Calibri" pitchFamily="34" charset="-122"/>
                <a:cs typeface="Calibri" pitchFamily="34" charset="-120"/>
              </a:rPr>
              <a:t>Real currency for drive. The associate picks it.</a:t>
            </a:r>
            <a:endParaRPr lang="en-US" sz="1300" dirty="0"/>
          </a:p>
        </p:txBody>
      </p:sp>
      <p:sp>
        <p:nvSpPr>
          <p:cNvPr id="6" name="Text 4"/>
          <p:cNvSpPr/>
          <p:nvPr/>
        </p:nvSpPr>
        <p:spPr>
          <a:xfrm>
            <a:off x="5682996" y="1298448"/>
            <a:ext cx="822960" cy="566928"/>
          </a:xfrm>
          <a:prstGeom prst="rect">
            <a:avLst/>
          </a:prstGeom>
          <a:noFill/>
          <a:ln/>
        </p:spPr>
        <p:txBody>
          <a:bodyPr wrap="square" lIns="0" tIns="0" rIns="0" bIns="0" rtlCol="0" anchor="ctr"/>
          <a:lstStyle/>
          <a:p>
            <a:pPr algn="ctr" indent="0" marL="0">
              <a:buNone/>
            </a:pPr>
            <a:r>
              <a:rPr lang="en-US" sz="2600" b="1" dirty="0">
                <a:solidFill>
                  <a:srgbClr val="D9922B"/>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6505956" y="1298448"/>
            <a:ext cx="511606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REJUVENATION</a:t>
            </a:r>
            <a:endParaRPr lang="en-US" sz="3000" dirty="0"/>
          </a:p>
        </p:txBody>
      </p:sp>
      <p:sp>
        <p:nvSpPr>
          <p:cNvPr id="8" name="Text 6"/>
          <p:cNvSpPr/>
          <p:nvPr/>
        </p:nvSpPr>
        <p:spPr>
          <a:xfrm>
            <a:off x="6871716" y="1901952"/>
            <a:ext cx="4384548" cy="603504"/>
          </a:xfrm>
          <a:prstGeom prst="rect">
            <a:avLst/>
          </a:prstGeom>
          <a:noFill/>
          <a:ln/>
        </p:spPr>
        <p:txBody>
          <a:bodyPr wrap="square" lIns="0" tIns="0" rIns="0" bIns="0" rtlCol="0" anchor="t"/>
          <a:lstStyle/>
          <a:p>
            <a:pPr algn="ctr" indent="0" marL="0">
              <a:lnSpc>
                <a:spcPts val="1700"/>
              </a:lnSpc>
              <a:buNone/>
            </a:pPr>
            <a:r>
              <a:rPr lang="en-US" sz="1300" dirty="0">
                <a:solidFill>
                  <a:srgbClr val="AEBFD8"/>
                </a:solidFill>
                <a:latin typeface="Calibri" pitchFamily="34" charset="0"/>
                <a:ea typeface="Calibri" pitchFamily="34" charset="-122"/>
                <a:cs typeface="Calibri" pitchFamily="34" charset="-120"/>
              </a:rPr>
              <a:t>Rest that is scheduled, not begged for.</a:t>
            </a:r>
            <a:endParaRPr lang="en-US" sz="1300" dirty="0"/>
          </a:p>
        </p:txBody>
      </p:sp>
      <p:sp>
        <p:nvSpPr>
          <p:cNvPr id="9" name="Text 7"/>
          <p:cNvSpPr/>
          <p:nvPr/>
        </p:nvSpPr>
        <p:spPr>
          <a:xfrm>
            <a:off x="566928" y="2889504"/>
            <a:ext cx="11055096" cy="822960"/>
          </a:xfrm>
          <a:prstGeom prst="rect">
            <a:avLst/>
          </a:prstGeom>
          <a:noFill/>
          <a:ln/>
        </p:spPr>
        <p:txBody>
          <a:bodyPr wrap="square" lIns="0" tIns="0" rIns="0" bIns="0" rtlCol="0" anchor="ctr"/>
          <a:lstStyle/>
          <a:p>
            <a:pPr algn="ctr" indent="0" marL="0">
              <a:buNone/>
            </a:pPr>
            <a:r>
              <a:rPr lang="en-US" sz="4000" b="1" dirty="0">
                <a:solidFill>
                  <a:srgbClr val="D9922B"/>
                </a:solidFill>
                <a:latin typeface="Cambria" pitchFamily="34" charset="0"/>
                <a:ea typeface="Cambria" pitchFamily="34" charset="-122"/>
                <a:cs typeface="Cambria" pitchFamily="34" charset="-120"/>
              </a:rPr>
              <a:t>=  ?</a:t>
            </a:r>
            <a:endParaRPr lang="en-US" sz="4000" dirty="0"/>
          </a:p>
        </p:txBody>
      </p:sp>
      <p:sp>
        <p:nvSpPr>
          <p:cNvPr id="10" name="Text 8"/>
          <p:cNvSpPr/>
          <p:nvPr/>
        </p:nvSpPr>
        <p:spPr>
          <a:xfrm>
            <a:off x="566928" y="3858768"/>
            <a:ext cx="511606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RETENTION</a:t>
            </a:r>
            <a:endParaRPr lang="en-US" sz="3000" dirty="0"/>
          </a:p>
        </p:txBody>
      </p:sp>
      <p:sp>
        <p:nvSpPr>
          <p:cNvPr id="11" name="Text 9"/>
          <p:cNvSpPr/>
          <p:nvPr/>
        </p:nvSpPr>
        <p:spPr>
          <a:xfrm>
            <a:off x="932688" y="4462272"/>
            <a:ext cx="4384548" cy="603504"/>
          </a:xfrm>
          <a:prstGeom prst="rect">
            <a:avLst/>
          </a:prstGeom>
          <a:noFill/>
          <a:ln/>
        </p:spPr>
        <p:txBody>
          <a:bodyPr wrap="square" lIns="0" tIns="0" rIns="0" bIns="0" rtlCol="0" anchor="t"/>
          <a:lstStyle/>
          <a:p>
            <a:pPr algn="ctr" indent="0" marL="0">
              <a:lnSpc>
                <a:spcPts val="1700"/>
              </a:lnSpc>
              <a:buNone/>
            </a:pPr>
            <a:r>
              <a:rPr lang="en-US" sz="1300" dirty="0">
                <a:solidFill>
                  <a:srgbClr val="AEBFD8"/>
                </a:solidFill>
                <a:latin typeface="Calibri" pitchFamily="34" charset="0"/>
                <a:ea typeface="Calibri" pitchFamily="34" charset="-122"/>
                <a:cs typeface="Calibri" pitchFamily="34" charset="-120"/>
              </a:rPr>
              <a:t>Past 90 days, and past 5 years.</a:t>
            </a:r>
            <a:endParaRPr lang="en-US" sz="1300" dirty="0"/>
          </a:p>
        </p:txBody>
      </p:sp>
      <p:sp>
        <p:nvSpPr>
          <p:cNvPr id="12" name="Text 10"/>
          <p:cNvSpPr/>
          <p:nvPr/>
        </p:nvSpPr>
        <p:spPr>
          <a:xfrm>
            <a:off x="5682996" y="3858768"/>
            <a:ext cx="822960" cy="566928"/>
          </a:xfrm>
          <a:prstGeom prst="rect">
            <a:avLst/>
          </a:prstGeom>
          <a:noFill/>
          <a:ln/>
        </p:spPr>
        <p:txBody>
          <a:bodyPr wrap="square" lIns="0" tIns="0" rIns="0" bIns="0" rtlCol="0" anchor="ctr"/>
          <a:lstStyle/>
          <a:p>
            <a:pPr algn="ctr" indent="0" marL="0">
              <a:buNone/>
            </a:pPr>
            <a:r>
              <a:rPr lang="en-US" sz="2600" b="1" dirty="0">
                <a:solidFill>
                  <a:srgbClr val="D9922B"/>
                </a:solidFill>
                <a:latin typeface="Cambria" pitchFamily="34" charset="0"/>
                <a:ea typeface="Cambria" pitchFamily="34" charset="-122"/>
                <a:cs typeface="Cambria" pitchFamily="34" charset="-120"/>
              </a:rPr>
              <a:t>+</a:t>
            </a:r>
            <a:endParaRPr lang="en-US" sz="2600" dirty="0"/>
          </a:p>
        </p:txBody>
      </p:sp>
      <p:sp>
        <p:nvSpPr>
          <p:cNvPr id="13" name="Text 11"/>
          <p:cNvSpPr/>
          <p:nvPr/>
        </p:nvSpPr>
        <p:spPr>
          <a:xfrm>
            <a:off x="6505956" y="3858768"/>
            <a:ext cx="511606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RESULTS</a:t>
            </a:r>
            <a:endParaRPr lang="en-US" sz="3000" dirty="0"/>
          </a:p>
        </p:txBody>
      </p:sp>
      <p:sp>
        <p:nvSpPr>
          <p:cNvPr id="14" name="Text 12"/>
          <p:cNvSpPr/>
          <p:nvPr/>
        </p:nvSpPr>
        <p:spPr>
          <a:xfrm>
            <a:off x="6871716" y="4462272"/>
            <a:ext cx="4384548" cy="603504"/>
          </a:xfrm>
          <a:prstGeom prst="rect">
            <a:avLst/>
          </a:prstGeom>
          <a:noFill/>
          <a:ln/>
        </p:spPr>
        <p:txBody>
          <a:bodyPr wrap="square" lIns="0" tIns="0" rIns="0" bIns="0" rtlCol="0" anchor="t"/>
          <a:lstStyle/>
          <a:p>
            <a:pPr algn="ctr" indent="0" marL="0">
              <a:lnSpc>
                <a:spcPts val="1700"/>
              </a:lnSpc>
              <a:buNone/>
            </a:pPr>
            <a:r>
              <a:rPr lang="en-US" sz="1300" dirty="0">
                <a:solidFill>
                  <a:srgbClr val="AEBFD8"/>
                </a:solidFill>
                <a:latin typeface="Calibri" pitchFamily="34" charset="0"/>
                <a:ea typeface="Calibri" pitchFamily="34" charset="-122"/>
                <a:cs typeface="Calibri" pitchFamily="34" charset="-120"/>
              </a:rPr>
              <a:t>Staffed shifts, and a full floor.</a:t>
            </a:r>
            <a:endParaRPr lang="en-US" sz="1300" dirty="0"/>
          </a:p>
        </p:txBody>
      </p:sp>
      <p:sp>
        <p:nvSpPr>
          <p:cNvPr id="15" name="Text 13"/>
          <p:cNvSpPr/>
          <p:nvPr/>
        </p:nvSpPr>
        <p:spPr>
          <a:xfrm>
            <a:off x="566928" y="5413248"/>
            <a:ext cx="11055096" cy="548640"/>
          </a:xfrm>
          <a:prstGeom prst="rect">
            <a:avLst/>
          </a:prstGeom>
          <a:noFill/>
          <a:ln/>
        </p:spPr>
        <p:txBody>
          <a:bodyPr wrap="square" lIns="0" tIns="0" rIns="0" bIns="0" rtlCol="0" anchor="ctr"/>
          <a:lstStyle/>
          <a:p>
            <a:pPr algn="ctr" indent="0" marL="0">
              <a:buNone/>
            </a:pPr>
            <a:r>
              <a:rPr lang="en-US" sz="1550" dirty="0">
                <a:solidFill>
                  <a:srgbClr val="D6DEEC"/>
                </a:solidFill>
                <a:latin typeface="Calibri" pitchFamily="34" charset="0"/>
                <a:ea typeface="Calibri" pitchFamily="34" charset="-122"/>
                <a:cs typeface="Calibri" pitchFamily="34" charset="-120"/>
              </a:rPr>
              <a:t>Which one moves the number, and for which associates? That is what the pilot is for.</a:t>
            </a:r>
            <a:endParaRPr lang="en-US" sz="1550" dirty="0"/>
          </a:p>
        </p:txBody>
      </p:sp>
      <p:sp>
        <p:nvSpPr>
          <p:cNvPr id="16" name="Text 14"/>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Every point of 90-day retention is worth about $15M a year. Rewards reach payroll, not just a badge in an app.</a:t>
            </a:r>
            <a:endParaRPr lang="en-US" sz="1050" dirty="0"/>
          </a:p>
        </p:txBody>
      </p:sp>
      <p:sp>
        <p:nvSpPr>
          <p:cNvPr id="17" name="Text 1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WHO THIS IS FOR</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No two associates are chasing the same thing, so one reward for everyone reaches almost no one.</a:t>
            </a:r>
            <a:endParaRPr lang="en-US" sz="3000" dirty="0"/>
          </a:p>
        </p:txBody>
      </p:sp>
      <p:pic>
        <p:nvPicPr>
          <p:cNvPr id="5" name="Image 0" descr="/home/user/walmart-sidekick-pm-framework/docs/doc-assets/wm-2ppl-car-up-fetching.jpeg">    </p:cNvPr>
          <p:cNvPicPr>
            <a:picLocks noChangeAspect="1"/>
          </p:cNvPicPr>
          <p:nvPr/>
        </p:nvPicPr>
        <p:blipFill>
          <a:blip r:embed="rId1"/>
          <a:stretch>
            <a:fillRect/>
          </a:stretch>
        </p:blipFill>
        <p:spPr>
          <a:xfrm>
            <a:off x="566928" y="1938528"/>
            <a:ext cx="3940469" cy="2212848"/>
          </a:xfrm>
          <a:prstGeom prst="rect">
            <a:avLst/>
          </a:prstGeom>
        </p:spPr>
      </p:pic>
      <p:pic>
        <p:nvPicPr>
          <p:cNvPr id="6" name="Image 1" descr="/home/user/walmart-sidekick-pm-framework/docs/doc-assets/wm-promotion.jpeg">    </p:cNvPr>
          <p:cNvPicPr>
            <a:picLocks noChangeAspect="1"/>
          </p:cNvPicPr>
          <p:nvPr/>
        </p:nvPicPr>
        <p:blipFill>
          <a:blip r:embed="rId2"/>
          <a:stretch>
            <a:fillRect/>
          </a:stretch>
        </p:blipFill>
        <p:spPr>
          <a:xfrm>
            <a:off x="4671989" y="1938528"/>
            <a:ext cx="2212848" cy="2212848"/>
          </a:xfrm>
          <a:prstGeom prst="rect">
            <a:avLst/>
          </a:prstGeom>
        </p:spPr>
      </p:pic>
      <p:sp>
        <p:nvSpPr>
          <p:cNvPr id="7" name="Text 3"/>
          <p:cNvSpPr/>
          <p:nvPr/>
        </p:nvSpPr>
        <p:spPr>
          <a:xfrm>
            <a:off x="566928" y="4206240"/>
            <a:ext cx="3940469" cy="256032"/>
          </a:xfrm>
          <a:prstGeom prst="rect">
            <a:avLst/>
          </a:prstGeom>
          <a:noFill/>
          <a:ln/>
        </p:spPr>
        <p:txBody>
          <a:bodyPr wrap="square" lIns="0" tIns="0" rIns="0" bIns="0" rtlCol="0" anchor="ctr"/>
          <a:lstStyle/>
          <a:p>
            <a:pPr indent="0" marL="0">
              <a:buNone/>
            </a:pPr>
            <a:r>
              <a:rPr lang="en-US" sz="1100" i="1" dirty="0">
                <a:solidFill>
                  <a:srgbClr val="5E6980"/>
                </a:solidFill>
                <a:latin typeface="Calibri" pitchFamily="34" charset="0"/>
                <a:ea typeface="Calibri" pitchFamily="34" charset="-122"/>
                <a:cs typeface="Calibri" pitchFamily="34" charset="-120"/>
              </a:rPr>
              <a:t>Most of the job, most of the time.</a:t>
            </a:r>
            <a:endParaRPr lang="en-US" sz="1100" dirty="0"/>
          </a:p>
        </p:txBody>
      </p:sp>
      <p:sp>
        <p:nvSpPr>
          <p:cNvPr id="8" name="Text 4"/>
          <p:cNvSpPr/>
          <p:nvPr/>
        </p:nvSpPr>
        <p:spPr>
          <a:xfrm>
            <a:off x="4671989" y="4206240"/>
            <a:ext cx="2212848" cy="256032"/>
          </a:xfrm>
          <a:prstGeom prst="rect">
            <a:avLst/>
          </a:prstGeom>
          <a:noFill/>
          <a:ln/>
        </p:spPr>
        <p:txBody>
          <a:bodyPr wrap="square" lIns="0" tIns="0" rIns="0" bIns="0" rtlCol="0" anchor="ctr"/>
          <a:lstStyle/>
          <a:p>
            <a:pPr indent="0" marL="0">
              <a:buNone/>
            </a:pPr>
            <a:r>
              <a:rPr lang="en-US" sz="1100" i="1" dirty="0">
                <a:solidFill>
                  <a:srgbClr val="5E6980"/>
                </a:solidFill>
                <a:latin typeface="Calibri" pitchFamily="34" charset="0"/>
                <a:ea typeface="Calibri" pitchFamily="34" charset="-122"/>
                <a:cs typeface="Calibri" pitchFamily="34" charset="-120"/>
              </a:rPr>
              <a:t>Some days look like this.</a:t>
            </a:r>
            <a:endParaRPr lang="en-US" sz="1100" dirty="0"/>
          </a:p>
        </p:txBody>
      </p:sp>
      <p:sp>
        <p:nvSpPr>
          <p:cNvPr id="9" name="Text 5"/>
          <p:cNvSpPr/>
          <p:nvPr/>
        </p:nvSpPr>
        <p:spPr>
          <a:xfrm>
            <a:off x="7250597" y="1938528"/>
            <a:ext cx="4371427" cy="457200"/>
          </a:xfrm>
          <a:prstGeom prst="rect">
            <a:avLst/>
          </a:prstGeom>
          <a:noFill/>
          <a:ln/>
        </p:spPr>
        <p:txBody>
          <a:bodyPr wrap="square" lIns="0" tIns="0" rIns="0" bIns="0" rtlCol="0" anchor="t"/>
          <a:lstStyle/>
          <a:p>
            <a:pPr indent="0" marL="0">
              <a:lnSpc>
                <a:spcPts val="1700"/>
              </a:lnSpc>
              <a:buNone/>
            </a:pPr>
            <a:r>
              <a:rPr lang="en-US" sz="1300" b="1" dirty="0">
                <a:solidFill>
                  <a:srgbClr val="16233B"/>
                </a:solidFill>
                <a:latin typeface="Calibri" pitchFamily="34" charset="0"/>
                <a:ea typeface="Calibri" pitchFamily="34" charset="-122"/>
                <a:cs typeface="Calibri" pitchFamily="34" charset="-120"/>
              </a:rPr>
              <a:t>Same store, same shift, different reasons for being there:</a:t>
            </a:r>
            <a:endParaRPr lang="en-US" sz="1300" dirty="0"/>
          </a:p>
        </p:txBody>
      </p:sp>
      <p:sp>
        <p:nvSpPr>
          <p:cNvPr id="10" name="Shape 6"/>
          <p:cNvSpPr/>
          <p:nvPr/>
        </p:nvSpPr>
        <p:spPr>
          <a:xfrm>
            <a:off x="7250597" y="2532888"/>
            <a:ext cx="41148" cy="530352"/>
          </a:xfrm>
          <a:prstGeom prst="rect">
            <a:avLst/>
          </a:prstGeom>
          <a:solidFill>
            <a:srgbClr val="1E4E6B"/>
          </a:solidFill>
          <a:ln w="12700">
            <a:solidFill>
              <a:srgbClr val="333333"/>
            </a:solidFill>
            <a:prstDash val="solid"/>
          </a:ln>
        </p:spPr>
      </p:sp>
      <p:sp>
        <p:nvSpPr>
          <p:cNvPr id="11" name="Text 7"/>
          <p:cNvSpPr/>
          <p:nvPr/>
        </p:nvSpPr>
        <p:spPr>
          <a:xfrm>
            <a:off x="7415189" y="2505456"/>
            <a:ext cx="4206835" cy="201168"/>
          </a:xfrm>
          <a:prstGeom prst="rect">
            <a:avLst/>
          </a:prstGeom>
          <a:noFill/>
          <a:ln/>
        </p:spPr>
        <p:txBody>
          <a:bodyPr wrap="square" lIns="0" tIns="0" rIns="0" bIns="0" rtlCol="0" anchor="ctr"/>
          <a:lstStyle/>
          <a:p>
            <a:pPr indent="0" marL="0">
              <a:buNone/>
            </a:pPr>
            <a:r>
              <a:rPr lang="en-US" sz="1000" b="1" spc="120" kern="0" dirty="0">
                <a:solidFill>
                  <a:srgbClr val="1E4E6B"/>
                </a:solidFill>
                <a:latin typeface="Calibri" pitchFamily="34" charset="0"/>
                <a:ea typeface="Calibri" pitchFamily="34" charset="-122"/>
                <a:cs typeface="Calibri" pitchFamily="34" charset="-120"/>
              </a:rPr>
              <a:t>SECURITY</a:t>
            </a:r>
            <a:endParaRPr lang="en-US" sz="1000" dirty="0"/>
          </a:p>
        </p:txBody>
      </p:sp>
      <p:sp>
        <p:nvSpPr>
          <p:cNvPr id="12" name="Text 8"/>
          <p:cNvSpPr/>
          <p:nvPr/>
        </p:nvSpPr>
        <p:spPr>
          <a:xfrm>
            <a:off x="7415189" y="2724912"/>
            <a:ext cx="4206835" cy="347472"/>
          </a:xfrm>
          <a:prstGeom prst="rect">
            <a:avLst/>
          </a:prstGeom>
          <a:noFill/>
          <a:ln/>
        </p:spPr>
        <p:txBody>
          <a:bodyPr wrap="square" lIns="0" tIns="0" rIns="0" bIns="0" rtlCol="0" anchor="t"/>
          <a:lstStyle/>
          <a:p>
            <a:pPr indent="0" marL="0">
              <a:lnSpc>
                <a:spcPts val="1500"/>
              </a:lnSpc>
              <a:buNone/>
            </a:pPr>
            <a:r>
              <a:rPr lang="en-US" sz="1200" dirty="0">
                <a:solidFill>
                  <a:srgbClr val="1B2338"/>
                </a:solidFill>
                <a:latin typeface="Calibri" pitchFamily="34" charset="0"/>
                <a:ea typeface="Calibri" pitchFamily="34" charset="-122"/>
                <a:cs typeface="Calibri" pitchFamily="34" charset="-120"/>
              </a:rPr>
              <a:t>Rent is due this month. Cash is the only signal that lands.</a:t>
            </a:r>
            <a:endParaRPr lang="en-US" sz="1200" dirty="0"/>
          </a:p>
        </p:txBody>
      </p:sp>
      <p:sp>
        <p:nvSpPr>
          <p:cNvPr id="13" name="Shape 9"/>
          <p:cNvSpPr/>
          <p:nvPr/>
        </p:nvSpPr>
        <p:spPr>
          <a:xfrm>
            <a:off x="7250597" y="3136392"/>
            <a:ext cx="41148" cy="530352"/>
          </a:xfrm>
          <a:prstGeom prst="rect">
            <a:avLst/>
          </a:prstGeom>
          <a:solidFill>
            <a:srgbClr val="35604A"/>
          </a:solidFill>
          <a:ln w="12700">
            <a:solidFill>
              <a:srgbClr val="333333"/>
            </a:solidFill>
            <a:prstDash val="solid"/>
          </a:ln>
        </p:spPr>
      </p:sp>
      <p:sp>
        <p:nvSpPr>
          <p:cNvPr id="14" name="Text 10"/>
          <p:cNvSpPr/>
          <p:nvPr/>
        </p:nvSpPr>
        <p:spPr>
          <a:xfrm>
            <a:off x="7415189" y="3108960"/>
            <a:ext cx="4206835" cy="201168"/>
          </a:xfrm>
          <a:prstGeom prst="rect">
            <a:avLst/>
          </a:prstGeom>
          <a:noFill/>
          <a:ln/>
        </p:spPr>
        <p:txBody>
          <a:bodyPr wrap="square" lIns="0" tIns="0" rIns="0" bIns="0" rtlCol="0" anchor="ctr"/>
          <a:lstStyle/>
          <a:p>
            <a:pPr indent="0" marL="0">
              <a:buNone/>
            </a:pPr>
            <a:r>
              <a:rPr lang="en-US" sz="1000" b="1" spc="120" kern="0" dirty="0">
                <a:solidFill>
                  <a:srgbClr val="35604A"/>
                </a:solidFill>
                <a:latin typeface="Calibri" pitchFamily="34" charset="0"/>
                <a:ea typeface="Calibri" pitchFamily="34" charset="-122"/>
                <a:cs typeface="Calibri" pitchFamily="34" charset="-120"/>
              </a:rPr>
              <a:t>RECOGNITION</a:t>
            </a:r>
            <a:endParaRPr lang="en-US" sz="1000" dirty="0"/>
          </a:p>
        </p:txBody>
      </p:sp>
      <p:sp>
        <p:nvSpPr>
          <p:cNvPr id="15" name="Text 11"/>
          <p:cNvSpPr/>
          <p:nvPr/>
        </p:nvSpPr>
        <p:spPr>
          <a:xfrm>
            <a:off x="7415189" y="3328416"/>
            <a:ext cx="4206835" cy="347472"/>
          </a:xfrm>
          <a:prstGeom prst="rect">
            <a:avLst/>
          </a:prstGeom>
          <a:noFill/>
          <a:ln/>
        </p:spPr>
        <p:txBody>
          <a:bodyPr wrap="square" lIns="0" tIns="0" rIns="0" bIns="0" rtlCol="0" anchor="t"/>
          <a:lstStyle/>
          <a:p>
            <a:pPr indent="0" marL="0">
              <a:lnSpc>
                <a:spcPts val="1500"/>
              </a:lnSpc>
              <a:buNone/>
            </a:pPr>
            <a:r>
              <a:rPr lang="en-US" sz="1200" dirty="0">
                <a:solidFill>
                  <a:srgbClr val="1B2338"/>
                </a:solidFill>
                <a:latin typeface="Calibri" pitchFamily="34" charset="0"/>
                <a:ea typeface="Calibri" pitchFamily="34" charset="-122"/>
                <a:cs typeface="Calibri" pitchFamily="34" charset="-120"/>
              </a:rPr>
              <a:t>Wants to be good at this, and wants someone to notice.</a:t>
            </a:r>
            <a:endParaRPr lang="en-US" sz="1200" dirty="0"/>
          </a:p>
        </p:txBody>
      </p:sp>
      <p:sp>
        <p:nvSpPr>
          <p:cNvPr id="16" name="Shape 12"/>
          <p:cNvSpPr/>
          <p:nvPr/>
        </p:nvSpPr>
        <p:spPr>
          <a:xfrm>
            <a:off x="7250597" y="3739896"/>
            <a:ext cx="41148" cy="530352"/>
          </a:xfrm>
          <a:prstGeom prst="rect">
            <a:avLst/>
          </a:prstGeom>
          <a:solidFill>
            <a:srgbClr val="8A5A11"/>
          </a:solidFill>
          <a:ln w="12700">
            <a:solidFill>
              <a:srgbClr val="333333"/>
            </a:solidFill>
            <a:prstDash val="solid"/>
          </a:ln>
        </p:spPr>
      </p:sp>
      <p:sp>
        <p:nvSpPr>
          <p:cNvPr id="17" name="Text 13"/>
          <p:cNvSpPr/>
          <p:nvPr/>
        </p:nvSpPr>
        <p:spPr>
          <a:xfrm>
            <a:off x="7415189" y="3712464"/>
            <a:ext cx="4206835" cy="201168"/>
          </a:xfrm>
          <a:prstGeom prst="rect">
            <a:avLst/>
          </a:prstGeom>
          <a:noFill/>
          <a:ln/>
        </p:spPr>
        <p:txBody>
          <a:bodyPr wrap="square" lIns="0" tIns="0" rIns="0" bIns="0" rtlCol="0" anchor="ctr"/>
          <a:lstStyle/>
          <a:p>
            <a:pPr indent="0" marL="0">
              <a:buNone/>
            </a:pPr>
            <a:r>
              <a:rPr lang="en-US" sz="1000" b="1" spc="120" kern="0" dirty="0">
                <a:solidFill>
                  <a:srgbClr val="8A5A11"/>
                </a:solidFill>
                <a:latin typeface="Calibri" pitchFamily="34" charset="0"/>
                <a:ea typeface="Calibri" pitchFamily="34" charset="-122"/>
                <a:cs typeface="Calibri" pitchFamily="34" charset="-120"/>
              </a:rPr>
              <a:t>TIME BACK</a:t>
            </a:r>
            <a:endParaRPr lang="en-US" sz="1000" dirty="0"/>
          </a:p>
        </p:txBody>
      </p:sp>
      <p:sp>
        <p:nvSpPr>
          <p:cNvPr id="18" name="Text 14"/>
          <p:cNvSpPr/>
          <p:nvPr/>
        </p:nvSpPr>
        <p:spPr>
          <a:xfrm>
            <a:off x="7415189" y="3931920"/>
            <a:ext cx="4206835" cy="347472"/>
          </a:xfrm>
          <a:prstGeom prst="rect">
            <a:avLst/>
          </a:prstGeom>
          <a:noFill/>
          <a:ln/>
        </p:spPr>
        <p:txBody>
          <a:bodyPr wrap="square" lIns="0" tIns="0" rIns="0" bIns="0" rtlCol="0" anchor="t"/>
          <a:lstStyle/>
          <a:p>
            <a:pPr indent="0" marL="0">
              <a:lnSpc>
                <a:spcPts val="1500"/>
              </a:lnSpc>
              <a:buNone/>
            </a:pPr>
            <a:r>
              <a:rPr lang="en-US" sz="1200" dirty="0">
                <a:solidFill>
                  <a:srgbClr val="1B2338"/>
                </a:solidFill>
                <a:latin typeface="Calibri" pitchFamily="34" charset="0"/>
                <a:ea typeface="Calibri" pitchFamily="34" charset="-122"/>
                <a:cs typeface="Calibri" pitchFamily="34" charset="-120"/>
              </a:rPr>
              <a:t>Wants the day to stop being a slog. An hour off beats a gift card.</a:t>
            </a:r>
            <a:endParaRPr lang="en-US" sz="1200" dirty="0"/>
          </a:p>
        </p:txBody>
      </p:sp>
      <p:sp>
        <p:nvSpPr>
          <p:cNvPr id="19" name="Shape 15"/>
          <p:cNvSpPr/>
          <p:nvPr/>
        </p:nvSpPr>
        <p:spPr>
          <a:xfrm>
            <a:off x="566928" y="4590288"/>
            <a:ext cx="11055096" cy="1298448"/>
          </a:xfrm>
          <a:prstGeom prst="roundRect">
            <a:avLst>
              <a:gd name="adj" fmla="val 8451"/>
            </a:avLst>
          </a:prstGeom>
          <a:solidFill>
            <a:srgbClr val="F1F5FA"/>
          </a:solidFill>
          <a:ln w="12700">
            <a:solidFill>
              <a:srgbClr val="F1F5FA"/>
            </a:solidFill>
            <a:prstDash val="solid"/>
          </a:ln>
        </p:spPr>
      </p:sp>
      <p:sp>
        <p:nvSpPr>
          <p:cNvPr id="20" name="Shape 16"/>
          <p:cNvSpPr/>
          <p:nvPr/>
        </p:nvSpPr>
        <p:spPr>
          <a:xfrm>
            <a:off x="566928" y="4590288"/>
            <a:ext cx="50292" cy="1298448"/>
          </a:xfrm>
          <a:prstGeom prst="rect">
            <a:avLst/>
          </a:prstGeom>
          <a:solidFill>
            <a:srgbClr val="D9922B"/>
          </a:solidFill>
          <a:ln w="12700">
            <a:solidFill>
              <a:srgbClr val="333333"/>
            </a:solidFill>
            <a:prstDash val="solid"/>
          </a:ln>
        </p:spPr>
      </p:sp>
      <p:sp>
        <p:nvSpPr>
          <p:cNvPr id="21" name="Text 17"/>
          <p:cNvSpPr/>
          <p:nvPr/>
        </p:nvSpPr>
        <p:spPr>
          <a:xfrm>
            <a:off x="877824" y="4700016"/>
            <a:ext cx="10433304" cy="1097280"/>
          </a:xfrm>
          <a:prstGeom prst="rect">
            <a:avLst/>
          </a:prstGeom>
          <a:noFill/>
          <a:ln/>
        </p:spPr>
        <p:txBody>
          <a:bodyPr wrap="square" lIns="0" tIns="0" rIns="0" bIns="0" rtlCol="0" anchor="t"/>
          <a:lstStyle/>
          <a:p>
            <a:pPr indent="0" marL="0">
              <a:lnSpc>
                <a:spcPts val="2000"/>
              </a:lnSpc>
              <a:buNone/>
            </a:pPr>
            <a:r>
              <a:rPr lang="en-US" sz="1350" dirty="0">
                <a:solidFill>
                  <a:srgbClr val="1B2338"/>
                </a:solidFill>
                <a:latin typeface="Calibri" pitchFamily="34" charset="0"/>
                <a:ea typeface="Calibri" pitchFamily="34" charset="-122"/>
                <a:cs typeface="Calibri" pitchFamily="34" charset="-120"/>
              </a:rPr>
              <a:t>I worked two summers at Meijer. It was boring, and I got good at wasting time. Nobody was measuring whether I was engaged, so I wasn't. My store was in a safe area. Plenty of associates do not get that. The difference between a job that empties you and one that gives something back is mostly whether the place notices you are in it.</a:t>
            </a:r>
            <a:endParaRPr lang="en-US" sz="1350" dirty="0"/>
          </a:p>
        </p:txBody>
      </p:sp>
      <p:sp>
        <p:nvSpPr>
          <p:cNvPr id="22"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Official Walmart photography. The quote on the wall behind the promotion is this deck's thesis, already stated. What is missing is anything that measures whether we deliver it.</a:t>
            </a:r>
            <a:endParaRPr lang="en-US" sz="1050" dirty="0"/>
          </a:p>
        </p:txBody>
      </p:sp>
      <p:sp>
        <p:nvSpPr>
          <p:cNvPr id="23"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REWARDS, DEFINED</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Three kinds of reward, and the two Sidekick delivers best are the cheap ones.</a:t>
            </a:r>
            <a:endParaRPr lang="en-US" sz="3000" dirty="0"/>
          </a:p>
        </p:txBody>
      </p:sp>
      <p:sp>
        <p:nvSpPr>
          <p:cNvPr id="5" name="Shape 3"/>
          <p:cNvSpPr/>
          <p:nvPr/>
        </p:nvSpPr>
        <p:spPr>
          <a:xfrm>
            <a:off x="566928" y="1938528"/>
            <a:ext cx="3502152" cy="457200"/>
          </a:xfrm>
          <a:prstGeom prst="roundRect">
            <a:avLst>
              <a:gd name="adj" fmla="val 20000"/>
            </a:avLst>
          </a:prstGeom>
          <a:solidFill>
            <a:srgbClr val="1E4E6B"/>
          </a:solidFill>
          <a:ln w="12700">
            <a:solidFill>
              <a:srgbClr val="1E4E6B"/>
            </a:solidFill>
            <a:prstDash val="solid"/>
          </a:ln>
        </p:spPr>
      </p:sp>
      <p:sp>
        <p:nvSpPr>
          <p:cNvPr id="6" name="Text 4"/>
          <p:cNvSpPr/>
          <p:nvPr/>
        </p:nvSpPr>
        <p:spPr>
          <a:xfrm>
            <a:off x="768096" y="1938528"/>
            <a:ext cx="3099816" cy="457200"/>
          </a:xfrm>
          <a:prstGeom prst="rect">
            <a:avLst/>
          </a:prstGeom>
          <a:noFill/>
          <a:ln/>
        </p:spPr>
        <p:txBody>
          <a:bodyPr wrap="square" lIns="0" tIns="0" rIns="0" bIns="0" rtlCol="0" anchor="ctr"/>
          <a:lstStyle/>
          <a:p>
            <a:pPr indent="0" marL="0">
              <a:buNone/>
            </a:pPr>
            <a:r>
              <a:rPr lang="en-US" sz="1250" b="1" spc="100" kern="0" dirty="0">
                <a:solidFill>
                  <a:srgbClr val="FFFFFF"/>
                </a:solidFill>
                <a:latin typeface="Calibri" pitchFamily="34" charset="0"/>
                <a:ea typeface="Calibri" pitchFamily="34" charset="-122"/>
                <a:cs typeface="Calibri" pitchFamily="34" charset="-120"/>
              </a:rPr>
              <a:t>EXTRINSIC</a:t>
            </a:r>
            <a:endParaRPr lang="en-US" sz="1250" dirty="0"/>
          </a:p>
        </p:txBody>
      </p:sp>
      <p:sp>
        <p:nvSpPr>
          <p:cNvPr id="7" name="Shape 5"/>
          <p:cNvSpPr/>
          <p:nvPr/>
        </p:nvSpPr>
        <p:spPr>
          <a:xfrm>
            <a:off x="566928" y="2468880"/>
            <a:ext cx="3502152" cy="1325880"/>
          </a:xfrm>
          <a:prstGeom prst="roundRect">
            <a:avLst>
              <a:gd name="adj" fmla="val 6897"/>
            </a:avLst>
          </a:prstGeom>
          <a:solidFill>
            <a:srgbClr val="F1F5FA"/>
          </a:solidFill>
          <a:ln w="12700">
            <a:solidFill>
              <a:srgbClr val="F1F5FA"/>
            </a:solidFill>
            <a:prstDash val="solid"/>
          </a:ln>
        </p:spPr>
      </p:sp>
      <p:sp>
        <p:nvSpPr>
          <p:cNvPr id="8" name="Text 6"/>
          <p:cNvSpPr/>
          <p:nvPr/>
        </p:nvSpPr>
        <p:spPr>
          <a:xfrm>
            <a:off x="768096" y="2596896"/>
            <a:ext cx="3099816" cy="1088136"/>
          </a:xfrm>
          <a:prstGeom prst="rect">
            <a:avLst/>
          </a:prstGeom>
          <a:noFill/>
          <a:ln/>
        </p:spPr>
        <p:txBody>
          <a:bodyPr wrap="square" lIns="0" tIns="0" rIns="0" bIns="0" rtlCol="0" anchor="t"/>
          <a:lstStyle/>
          <a:p>
            <a:pPr indent="0" marL="0">
              <a:lnSpc>
                <a:spcPts val="1650"/>
              </a:lnSpc>
              <a:buNone/>
            </a:pPr>
            <a:r>
              <a:rPr lang="en-US" sz="1250" dirty="0">
                <a:solidFill>
                  <a:srgbClr val="1B2338"/>
                </a:solidFill>
                <a:latin typeface="Calibri" pitchFamily="34" charset="0"/>
                <a:ea typeface="Calibri" pitchFamily="34" charset="-122"/>
                <a:cs typeface="Calibri" pitchFamily="34" charset="-120"/>
              </a:rPr>
              <a:t>Cash bonuses, pay increases, gift cards, benefits. Direct financial security.</a:t>
            </a:r>
            <a:endParaRPr lang="en-US" sz="1250" dirty="0"/>
          </a:p>
        </p:txBody>
      </p:sp>
      <p:sp>
        <p:nvSpPr>
          <p:cNvPr id="9" name="Shape 7"/>
          <p:cNvSpPr/>
          <p:nvPr/>
        </p:nvSpPr>
        <p:spPr>
          <a:xfrm>
            <a:off x="566928" y="3886200"/>
            <a:ext cx="3502152" cy="1143000"/>
          </a:xfrm>
          <a:prstGeom prst="roundRect">
            <a:avLst>
              <a:gd name="adj" fmla="val 8000"/>
            </a:avLst>
          </a:prstGeom>
          <a:solidFill>
            <a:srgbClr val="DCE9F2"/>
          </a:solidFill>
          <a:ln w="12700">
            <a:solidFill>
              <a:srgbClr val="DCE9F2"/>
            </a:solidFill>
            <a:prstDash val="solid"/>
          </a:ln>
        </p:spPr>
      </p:sp>
      <p:sp>
        <p:nvSpPr>
          <p:cNvPr id="10" name="Text 8"/>
          <p:cNvSpPr/>
          <p:nvPr/>
        </p:nvSpPr>
        <p:spPr>
          <a:xfrm>
            <a:off x="768096" y="4014216"/>
            <a:ext cx="3099816" cy="905256"/>
          </a:xfrm>
          <a:prstGeom prst="rect">
            <a:avLst/>
          </a:prstGeom>
          <a:noFill/>
          <a:ln/>
        </p:spPr>
        <p:txBody>
          <a:bodyPr wrap="square" lIns="0" tIns="0" rIns="0" bIns="0" rtlCol="0" anchor="t"/>
          <a:lstStyle/>
          <a:p>
            <a:pPr indent="0" marL="0">
              <a:lnSpc>
                <a:spcPts val="1600"/>
              </a:lnSpc>
              <a:buNone/>
            </a:pPr>
            <a:r>
              <a:rPr lang="en-US" sz="1200" dirty="0">
                <a:solidFill>
                  <a:srgbClr val="1E4E6B"/>
                </a:solidFill>
                <a:latin typeface="Calibri" pitchFamily="34" charset="0"/>
                <a:ea typeface="Calibri" pitchFamily="34" charset="-122"/>
                <a:cs typeface="Calibri" pitchFamily="34" charset="-120"/>
              </a:rPr>
              <a:t>Easiest for a competitor to match. Highest cost per point of retention.</a:t>
            </a:r>
            <a:endParaRPr lang="en-US" sz="1200" dirty="0"/>
          </a:p>
        </p:txBody>
      </p:sp>
      <p:sp>
        <p:nvSpPr>
          <p:cNvPr id="11" name="Shape 9"/>
          <p:cNvSpPr/>
          <p:nvPr/>
        </p:nvSpPr>
        <p:spPr>
          <a:xfrm>
            <a:off x="4343400" y="1938528"/>
            <a:ext cx="3502152" cy="457200"/>
          </a:xfrm>
          <a:prstGeom prst="roundRect">
            <a:avLst>
              <a:gd name="adj" fmla="val 20000"/>
            </a:avLst>
          </a:prstGeom>
          <a:solidFill>
            <a:srgbClr val="35604A"/>
          </a:solidFill>
          <a:ln w="12700">
            <a:solidFill>
              <a:srgbClr val="35604A"/>
            </a:solidFill>
            <a:prstDash val="solid"/>
          </a:ln>
        </p:spPr>
      </p:sp>
      <p:sp>
        <p:nvSpPr>
          <p:cNvPr id="12" name="Text 10"/>
          <p:cNvSpPr/>
          <p:nvPr/>
        </p:nvSpPr>
        <p:spPr>
          <a:xfrm>
            <a:off x="4544568" y="1938528"/>
            <a:ext cx="3099816" cy="457200"/>
          </a:xfrm>
          <a:prstGeom prst="rect">
            <a:avLst/>
          </a:prstGeom>
          <a:noFill/>
          <a:ln/>
        </p:spPr>
        <p:txBody>
          <a:bodyPr wrap="square" lIns="0" tIns="0" rIns="0" bIns="0" rtlCol="0" anchor="ctr"/>
          <a:lstStyle/>
          <a:p>
            <a:pPr indent="0" marL="0">
              <a:buNone/>
            </a:pPr>
            <a:r>
              <a:rPr lang="en-US" sz="1250" b="1" spc="100" kern="0" dirty="0">
                <a:solidFill>
                  <a:srgbClr val="FFFFFF"/>
                </a:solidFill>
                <a:latin typeface="Calibri" pitchFamily="34" charset="0"/>
                <a:ea typeface="Calibri" pitchFamily="34" charset="-122"/>
                <a:cs typeface="Calibri" pitchFamily="34" charset="-120"/>
              </a:rPr>
              <a:t>INTRINSIC</a:t>
            </a:r>
            <a:endParaRPr lang="en-US" sz="1250" dirty="0"/>
          </a:p>
        </p:txBody>
      </p:sp>
      <p:sp>
        <p:nvSpPr>
          <p:cNvPr id="13" name="Shape 11"/>
          <p:cNvSpPr/>
          <p:nvPr/>
        </p:nvSpPr>
        <p:spPr>
          <a:xfrm>
            <a:off x="4343400" y="2468880"/>
            <a:ext cx="3502152" cy="1325880"/>
          </a:xfrm>
          <a:prstGeom prst="roundRect">
            <a:avLst>
              <a:gd name="adj" fmla="val 6897"/>
            </a:avLst>
          </a:prstGeom>
          <a:solidFill>
            <a:srgbClr val="F1F5FA"/>
          </a:solidFill>
          <a:ln w="12700">
            <a:solidFill>
              <a:srgbClr val="F1F5FA"/>
            </a:solidFill>
            <a:prstDash val="solid"/>
          </a:ln>
        </p:spPr>
      </p:sp>
      <p:sp>
        <p:nvSpPr>
          <p:cNvPr id="14" name="Text 12"/>
          <p:cNvSpPr/>
          <p:nvPr/>
        </p:nvSpPr>
        <p:spPr>
          <a:xfrm>
            <a:off x="4544568" y="2596896"/>
            <a:ext cx="3099816" cy="1088136"/>
          </a:xfrm>
          <a:prstGeom prst="rect">
            <a:avLst/>
          </a:prstGeom>
          <a:noFill/>
          <a:ln/>
        </p:spPr>
        <p:txBody>
          <a:bodyPr wrap="square" lIns="0" tIns="0" rIns="0" bIns="0" rtlCol="0" anchor="t"/>
          <a:lstStyle/>
          <a:p>
            <a:pPr indent="0" marL="0">
              <a:lnSpc>
                <a:spcPts val="1650"/>
              </a:lnSpc>
              <a:buNone/>
            </a:pPr>
            <a:r>
              <a:rPr lang="en-US" sz="1250" dirty="0">
                <a:solidFill>
                  <a:srgbClr val="1B2338"/>
                </a:solidFill>
                <a:latin typeface="Calibri" pitchFamily="34" charset="0"/>
                <a:ea typeface="Calibri" pitchFamily="34" charset="-122"/>
                <a:cs typeface="Calibri" pitchFamily="34" charset="-120"/>
              </a:rPr>
              <a:t>Praise, public or private. Meaningful work, growth, respect. Wellness hours and wellness days.</a:t>
            </a:r>
            <a:endParaRPr lang="en-US" sz="1250" dirty="0"/>
          </a:p>
        </p:txBody>
      </p:sp>
      <p:sp>
        <p:nvSpPr>
          <p:cNvPr id="15" name="Shape 13"/>
          <p:cNvSpPr/>
          <p:nvPr/>
        </p:nvSpPr>
        <p:spPr>
          <a:xfrm>
            <a:off x="4343400" y="3886200"/>
            <a:ext cx="3502152" cy="1143000"/>
          </a:xfrm>
          <a:prstGeom prst="roundRect">
            <a:avLst>
              <a:gd name="adj" fmla="val 8000"/>
            </a:avLst>
          </a:prstGeom>
          <a:solidFill>
            <a:srgbClr val="DDEAE1"/>
          </a:solidFill>
          <a:ln w="12700">
            <a:solidFill>
              <a:srgbClr val="DDEAE1"/>
            </a:solidFill>
            <a:prstDash val="solid"/>
          </a:ln>
        </p:spPr>
      </p:sp>
      <p:sp>
        <p:nvSpPr>
          <p:cNvPr id="16" name="Text 14"/>
          <p:cNvSpPr/>
          <p:nvPr/>
        </p:nvSpPr>
        <p:spPr>
          <a:xfrm>
            <a:off x="4544568" y="4014216"/>
            <a:ext cx="3099816" cy="905256"/>
          </a:xfrm>
          <a:prstGeom prst="rect">
            <a:avLst/>
          </a:prstGeom>
          <a:noFill/>
          <a:ln/>
        </p:spPr>
        <p:txBody>
          <a:bodyPr wrap="square" lIns="0" tIns="0" rIns="0" bIns="0" rtlCol="0" anchor="t"/>
          <a:lstStyle/>
          <a:p>
            <a:pPr indent="0" marL="0">
              <a:lnSpc>
                <a:spcPts val="1600"/>
              </a:lnSpc>
              <a:buNone/>
            </a:pPr>
            <a:r>
              <a:rPr lang="en-US" sz="1200" dirty="0">
                <a:solidFill>
                  <a:srgbClr val="35604A"/>
                </a:solidFill>
                <a:latin typeface="Calibri" pitchFamily="34" charset="0"/>
                <a:ea typeface="Calibri" pitchFamily="34" charset="-122"/>
                <a:cs typeface="Calibri" pitchFamily="34" charset="-120"/>
              </a:rPr>
              <a:t>Cheapest to deliver and hardest to fake. Needs a system that actually noticed.</a:t>
            </a:r>
            <a:endParaRPr lang="en-US" sz="1200" dirty="0"/>
          </a:p>
        </p:txBody>
      </p:sp>
      <p:sp>
        <p:nvSpPr>
          <p:cNvPr id="17" name="Shape 15"/>
          <p:cNvSpPr/>
          <p:nvPr/>
        </p:nvSpPr>
        <p:spPr>
          <a:xfrm>
            <a:off x="8119872" y="1938528"/>
            <a:ext cx="3502152" cy="457200"/>
          </a:xfrm>
          <a:prstGeom prst="roundRect">
            <a:avLst>
              <a:gd name="adj" fmla="val 20000"/>
            </a:avLst>
          </a:prstGeom>
          <a:solidFill>
            <a:srgbClr val="8A5A11"/>
          </a:solidFill>
          <a:ln w="12700">
            <a:solidFill>
              <a:srgbClr val="8A5A11"/>
            </a:solidFill>
            <a:prstDash val="solid"/>
          </a:ln>
        </p:spPr>
      </p:sp>
      <p:sp>
        <p:nvSpPr>
          <p:cNvPr id="18" name="Text 16"/>
          <p:cNvSpPr/>
          <p:nvPr/>
        </p:nvSpPr>
        <p:spPr>
          <a:xfrm>
            <a:off x="8321040" y="1938528"/>
            <a:ext cx="3099816" cy="457200"/>
          </a:xfrm>
          <a:prstGeom prst="rect">
            <a:avLst/>
          </a:prstGeom>
          <a:noFill/>
          <a:ln/>
        </p:spPr>
        <p:txBody>
          <a:bodyPr wrap="square" lIns="0" tIns="0" rIns="0" bIns="0" rtlCol="0" anchor="ctr"/>
          <a:lstStyle/>
          <a:p>
            <a:pPr indent="0" marL="0">
              <a:buNone/>
            </a:pPr>
            <a:r>
              <a:rPr lang="en-US" sz="1250" b="1" spc="100" kern="0" dirty="0">
                <a:solidFill>
                  <a:srgbClr val="FFFFFF"/>
                </a:solidFill>
                <a:latin typeface="Calibri" pitchFamily="34" charset="0"/>
                <a:ea typeface="Calibri" pitchFamily="34" charset="-122"/>
                <a:cs typeface="Calibri" pitchFamily="34" charset="-120"/>
              </a:rPr>
              <a:t>INSTANT</a:t>
            </a:r>
            <a:endParaRPr lang="en-US" sz="1250" dirty="0"/>
          </a:p>
        </p:txBody>
      </p:sp>
      <p:sp>
        <p:nvSpPr>
          <p:cNvPr id="19" name="Shape 17"/>
          <p:cNvSpPr/>
          <p:nvPr/>
        </p:nvSpPr>
        <p:spPr>
          <a:xfrm>
            <a:off x="8119872" y="2468880"/>
            <a:ext cx="3502152" cy="1325880"/>
          </a:xfrm>
          <a:prstGeom prst="roundRect">
            <a:avLst>
              <a:gd name="adj" fmla="val 6897"/>
            </a:avLst>
          </a:prstGeom>
          <a:solidFill>
            <a:srgbClr val="F1F5FA"/>
          </a:solidFill>
          <a:ln w="12700">
            <a:solidFill>
              <a:srgbClr val="F1F5FA"/>
            </a:solidFill>
            <a:prstDash val="solid"/>
          </a:ln>
        </p:spPr>
      </p:sp>
      <p:sp>
        <p:nvSpPr>
          <p:cNvPr id="20" name="Text 18"/>
          <p:cNvSpPr/>
          <p:nvPr/>
        </p:nvSpPr>
        <p:spPr>
          <a:xfrm>
            <a:off x="8321040" y="2596896"/>
            <a:ext cx="3099816" cy="1088136"/>
          </a:xfrm>
          <a:prstGeom prst="rect">
            <a:avLst/>
          </a:prstGeom>
          <a:noFill/>
          <a:ln/>
        </p:spPr>
        <p:txBody>
          <a:bodyPr wrap="square" lIns="0" tIns="0" rIns="0" bIns="0" rtlCol="0" anchor="t"/>
          <a:lstStyle/>
          <a:p>
            <a:pPr indent="0" marL="0">
              <a:lnSpc>
                <a:spcPts val="1650"/>
              </a:lnSpc>
              <a:buNone/>
            </a:pPr>
            <a:r>
              <a:rPr lang="en-US" sz="1250" dirty="0">
                <a:solidFill>
                  <a:srgbClr val="1B2338"/>
                </a:solidFill>
                <a:latin typeface="Calibri" pitchFamily="34" charset="0"/>
                <a:ea typeface="Calibri" pitchFamily="34" charset="-122"/>
                <a:cs typeface="Calibri" pitchFamily="34" charset="-120"/>
              </a:rPr>
              <a:t>Real-time positive feedback. Points redeemed for something real. Reinforces good daily habits.</a:t>
            </a:r>
            <a:endParaRPr lang="en-US" sz="1250" dirty="0"/>
          </a:p>
        </p:txBody>
      </p:sp>
      <p:sp>
        <p:nvSpPr>
          <p:cNvPr id="21" name="Shape 19"/>
          <p:cNvSpPr/>
          <p:nvPr/>
        </p:nvSpPr>
        <p:spPr>
          <a:xfrm>
            <a:off x="8119872" y="3886200"/>
            <a:ext cx="3502152" cy="1143000"/>
          </a:xfrm>
          <a:prstGeom prst="roundRect">
            <a:avLst>
              <a:gd name="adj" fmla="val 8000"/>
            </a:avLst>
          </a:prstGeom>
          <a:solidFill>
            <a:srgbClr val="FAECD4"/>
          </a:solidFill>
          <a:ln w="12700">
            <a:solidFill>
              <a:srgbClr val="FAECD4"/>
            </a:solidFill>
            <a:prstDash val="solid"/>
          </a:ln>
        </p:spPr>
      </p:sp>
      <p:sp>
        <p:nvSpPr>
          <p:cNvPr id="22" name="Text 20"/>
          <p:cNvSpPr/>
          <p:nvPr/>
        </p:nvSpPr>
        <p:spPr>
          <a:xfrm>
            <a:off x="8321040" y="4014216"/>
            <a:ext cx="3099816" cy="905256"/>
          </a:xfrm>
          <a:prstGeom prst="rect">
            <a:avLst/>
          </a:prstGeom>
          <a:noFill/>
          <a:ln/>
        </p:spPr>
        <p:txBody>
          <a:bodyPr wrap="square" lIns="0" tIns="0" rIns="0" bIns="0" rtlCol="0" anchor="t"/>
          <a:lstStyle/>
          <a:p>
            <a:pPr indent="0" marL="0">
              <a:lnSpc>
                <a:spcPts val="1600"/>
              </a:lnSpc>
              <a:buNone/>
            </a:pPr>
            <a:r>
              <a:rPr lang="en-US" sz="1200" dirty="0">
                <a:solidFill>
                  <a:srgbClr val="8A5A11"/>
                </a:solidFill>
                <a:latin typeface="Calibri" pitchFamily="34" charset="0"/>
                <a:ea typeface="Calibri" pitchFamily="34" charset="-122"/>
                <a:cs typeface="Calibri" pitchFamily="34" charset="-120"/>
              </a:rPr>
              <a:t>Highest frequency, lowest unit cost. Shapes behavior in the moment, not at review time.</a:t>
            </a:r>
            <a:endParaRPr lang="en-US" sz="1200" dirty="0"/>
          </a:p>
        </p:txBody>
      </p:sp>
      <p:sp>
        <p:nvSpPr>
          <p:cNvPr id="23" name="Text 21"/>
          <p:cNvSpPr/>
          <p:nvPr/>
        </p:nvSpPr>
        <p:spPr>
          <a:xfrm>
            <a:off x="566928" y="5257800"/>
            <a:ext cx="11055096" cy="457200"/>
          </a:xfrm>
          <a:prstGeom prst="rect">
            <a:avLst/>
          </a:prstGeom>
          <a:noFill/>
          <a:ln/>
        </p:spPr>
        <p:txBody>
          <a:bodyPr wrap="square" lIns="0" tIns="0" rIns="0" bIns="0" rtlCol="0" anchor="ctr"/>
          <a:lstStyle/>
          <a:p>
            <a:pPr indent="0" marL="0">
              <a:buNone/>
            </a:pPr>
            <a:r>
              <a:rPr lang="en-US" sz="1450" b="1" dirty="0">
                <a:solidFill>
                  <a:srgbClr val="16233B"/>
                </a:solidFill>
                <a:latin typeface="Calibri" pitchFamily="34" charset="0"/>
                <a:ea typeface="Calibri" pitchFamily="34" charset="-122"/>
                <a:cs typeface="Calibri" pitchFamily="34" charset="-120"/>
              </a:rPr>
              <a:t>An app at 1.9M scale cannot out-spend anyone on cash. It can notice, at a scale no manager can.</a:t>
            </a:r>
            <a:endParaRPr lang="en-US" sz="1450" dirty="0"/>
          </a:p>
        </p:txBody>
      </p:sp>
      <p:sp>
        <p:nvSpPr>
          <p:cNvPr id="24" name="Text 22"/>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Sources: PMC8319625; Gallup on recognition; Incentive Research Foundation; Reward Gateway; IJSMS 8(3) 118. Full citations on A20.</a:t>
            </a:r>
            <a:endParaRPr lang="en-US" sz="105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APPROACH</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Each tier is earned by the one below, so the base and middle start together.</a:t>
            </a:r>
            <a:endParaRPr lang="en-US" sz="3000" dirty="0"/>
          </a:p>
        </p:txBody>
      </p:sp>
      <p:sp>
        <p:nvSpPr>
          <p:cNvPr id="5" name="Shape 3"/>
          <p:cNvSpPr/>
          <p:nvPr/>
        </p:nvSpPr>
        <p:spPr>
          <a:xfrm>
            <a:off x="1923288" y="2084832"/>
            <a:ext cx="944880" cy="975360"/>
          </a:xfrm>
          <a:custGeom>
            <a:avLst/>
            <a:gdLst/>
            <a:ahLst/>
            <a:cxnLst/>
            <a:rect l="l" t="t" r="r" b="b"/>
            <a:pathLst>
              <a:path w="944880" h="975360">
                <a:moveTo>
                  <a:pt x="472440" y="0"/>
                </a:moveTo>
                <a:lnTo>
                  <a:pt x="944880" y="975360"/>
                </a:lnTo>
                <a:lnTo>
                  <a:pt x="0" y="975360"/>
                </a:lnTo>
                <a:close/>
              </a:path>
            </a:pathLst>
          </a:custGeom>
          <a:solidFill>
            <a:srgbClr val="8A5A11"/>
          </a:solidFill>
          <a:ln w="22225">
            <a:solidFill>
              <a:srgbClr val="FFFFFF"/>
            </a:solidFill>
            <a:prstDash val="solid"/>
          </a:ln>
        </p:spPr>
      </p:sp>
      <p:sp>
        <p:nvSpPr>
          <p:cNvPr id="6" name="Shape 4"/>
          <p:cNvSpPr/>
          <p:nvPr/>
        </p:nvSpPr>
        <p:spPr>
          <a:xfrm>
            <a:off x="1450848" y="3060192"/>
            <a:ext cx="1889760" cy="975360"/>
          </a:xfrm>
          <a:custGeom>
            <a:avLst/>
            <a:gdLst/>
            <a:ahLst/>
            <a:cxnLst/>
            <a:rect l="l" t="t" r="r" b="b"/>
            <a:pathLst>
              <a:path w="1889760" h="975360">
                <a:moveTo>
                  <a:pt x="472440" y="0"/>
                </a:moveTo>
                <a:lnTo>
                  <a:pt x="1417320" y="0"/>
                </a:lnTo>
                <a:lnTo>
                  <a:pt x="1889760" y="975360"/>
                </a:lnTo>
                <a:lnTo>
                  <a:pt x="0" y="975360"/>
                </a:lnTo>
                <a:close/>
              </a:path>
            </a:pathLst>
          </a:custGeom>
          <a:solidFill>
            <a:srgbClr val="35604A"/>
          </a:solidFill>
          <a:ln w="22225">
            <a:solidFill>
              <a:srgbClr val="FFFFFF"/>
            </a:solidFill>
            <a:prstDash val="solid"/>
          </a:ln>
        </p:spPr>
      </p:sp>
      <p:sp>
        <p:nvSpPr>
          <p:cNvPr id="7" name="Shape 5"/>
          <p:cNvSpPr/>
          <p:nvPr/>
        </p:nvSpPr>
        <p:spPr>
          <a:xfrm>
            <a:off x="978408" y="4035552"/>
            <a:ext cx="2834640" cy="975360"/>
          </a:xfrm>
          <a:custGeom>
            <a:avLst/>
            <a:gdLst/>
            <a:ahLst/>
            <a:cxnLst/>
            <a:rect l="l" t="t" r="r" b="b"/>
            <a:pathLst>
              <a:path w="2834640" h="975360">
                <a:moveTo>
                  <a:pt x="472440" y="0"/>
                </a:moveTo>
                <a:lnTo>
                  <a:pt x="2362200" y="0"/>
                </a:lnTo>
                <a:lnTo>
                  <a:pt x="2834640" y="975360"/>
                </a:lnTo>
                <a:lnTo>
                  <a:pt x="0" y="975360"/>
                </a:lnTo>
                <a:close/>
              </a:path>
            </a:pathLst>
          </a:custGeom>
          <a:solidFill>
            <a:srgbClr val="1E4E6B"/>
          </a:solidFill>
          <a:ln w="22225">
            <a:solidFill>
              <a:srgbClr val="FFFFFF"/>
            </a:solidFill>
            <a:prstDash val="solid"/>
          </a:ln>
        </p:spPr>
      </p:sp>
      <p:sp>
        <p:nvSpPr>
          <p:cNvPr id="8" name="Text 6"/>
          <p:cNvSpPr/>
          <p:nvPr/>
        </p:nvSpPr>
        <p:spPr>
          <a:xfrm>
            <a:off x="978408" y="2747467"/>
            <a:ext cx="28346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rewards</a:t>
            </a:r>
            <a:endParaRPr lang="en-US" sz="950" dirty="0"/>
          </a:p>
        </p:txBody>
      </p:sp>
      <p:sp>
        <p:nvSpPr>
          <p:cNvPr id="9" name="Text 7"/>
          <p:cNvSpPr/>
          <p:nvPr/>
        </p:nvSpPr>
        <p:spPr>
          <a:xfrm>
            <a:off x="978408" y="3527755"/>
            <a:ext cx="283464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rejuvenation</a:t>
            </a:r>
            <a:endParaRPr lang="en-US" sz="1150" dirty="0"/>
          </a:p>
        </p:txBody>
      </p:sp>
      <p:sp>
        <p:nvSpPr>
          <p:cNvPr id="10" name="Text 8"/>
          <p:cNvSpPr/>
          <p:nvPr/>
        </p:nvSpPr>
        <p:spPr>
          <a:xfrm>
            <a:off x="978408" y="4503115"/>
            <a:ext cx="283464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answers</a:t>
            </a:r>
            <a:endParaRPr lang="en-US" sz="1150" dirty="0"/>
          </a:p>
        </p:txBody>
      </p:sp>
      <p:sp>
        <p:nvSpPr>
          <p:cNvPr id="11" name="Text 9"/>
          <p:cNvSpPr/>
          <p:nvPr/>
        </p:nvSpPr>
        <p:spPr>
          <a:xfrm>
            <a:off x="566928" y="5138928"/>
            <a:ext cx="3657600" cy="402336"/>
          </a:xfrm>
          <a:prstGeom prst="rect">
            <a:avLst/>
          </a:prstGeom>
          <a:noFill/>
          <a:ln/>
        </p:spPr>
        <p:txBody>
          <a:bodyPr wrap="square" lIns="0" tIns="0" rIns="0" bIns="0" rtlCol="0" anchor="t"/>
          <a:lstStyle/>
          <a:p>
            <a:pPr indent="0" marL="0">
              <a:lnSpc>
                <a:spcPts val="1600"/>
              </a:lnSpc>
              <a:buNone/>
            </a:pPr>
            <a:r>
              <a:rPr lang="en-US" sz="1200" i="1" dirty="0">
                <a:solidFill>
                  <a:srgbClr val="5E6980"/>
                </a:solidFill>
                <a:latin typeface="Calibri" pitchFamily="34" charset="0"/>
                <a:ea typeface="Calibri" pitchFamily="34" charset="-122"/>
                <a:cs typeface="Calibri" pitchFamily="34" charset="-120"/>
              </a:rPr>
              <a:t>Each tier depends on the data the tier below produces.</a:t>
            </a:r>
            <a:endParaRPr lang="en-US" sz="1200" dirty="0"/>
          </a:p>
        </p:txBody>
      </p:sp>
      <p:sp>
        <p:nvSpPr>
          <p:cNvPr id="12" name="Shape 10"/>
          <p:cNvSpPr/>
          <p:nvPr/>
        </p:nvSpPr>
        <p:spPr>
          <a:xfrm>
            <a:off x="4407408" y="1938528"/>
            <a:ext cx="7214616" cy="1124712"/>
          </a:xfrm>
          <a:prstGeom prst="roundRect">
            <a:avLst>
              <a:gd name="adj" fmla="val 8130"/>
            </a:avLst>
          </a:prstGeom>
          <a:solidFill>
            <a:srgbClr val="FAECD4"/>
          </a:solidFill>
          <a:ln w="12700">
            <a:solidFill>
              <a:srgbClr val="FAECD4"/>
            </a:solidFill>
            <a:prstDash val="solid"/>
          </a:ln>
        </p:spPr>
      </p:sp>
      <p:sp>
        <p:nvSpPr>
          <p:cNvPr id="13" name="Shape 11"/>
          <p:cNvSpPr/>
          <p:nvPr/>
        </p:nvSpPr>
        <p:spPr>
          <a:xfrm>
            <a:off x="4407408" y="1938528"/>
            <a:ext cx="45720" cy="1124712"/>
          </a:xfrm>
          <a:prstGeom prst="rect">
            <a:avLst/>
          </a:prstGeom>
          <a:solidFill>
            <a:srgbClr val="8A5A11"/>
          </a:solidFill>
          <a:ln w="12700">
            <a:solidFill>
              <a:srgbClr val="333333"/>
            </a:solidFill>
            <a:prstDash val="solid"/>
          </a:ln>
        </p:spPr>
      </p:sp>
      <p:sp>
        <p:nvSpPr>
          <p:cNvPr id="14" name="Text 12"/>
          <p:cNvSpPr/>
          <p:nvPr/>
        </p:nvSpPr>
        <p:spPr>
          <a:xfrm>
            <a:off x="4608576" y="1993392"/>
            <a:ext cx="5385816" cy="219456"/>
          </a:xfrm>
          <a:prstGeom prst="rect">
            <a:avLst/>
          </a:prstGeom>
          <a:noFill/>
          <a:ln/>
        </p:spPr>
        <p:txBody>
          <a:bodyPr wrap="square" lIns="0" tIns="0" rIns="0" bIns="0" rtlCol="0" anchor="ctr"/>
          <a:lstStyle/>
          <a:p>
            <a:pPr indent="0" marL="0">
              <a:buNone/>
            </a:pPr>
            <a:r>
              <a:rPr lang="en-US" sz="1200" b="1" dirty="0">
                <a:solidFill>
                  <a:srgbClr val="8A5A11"/>
                </a:solidFill>
                <a:latin typeface="Calibri" pitchFamily="34" charset="0"/>
                <a:ea typeface="Calibri" pitchFamily="34" charset="-122"/>
                <a:cs typeface="Calibri" pitchFamily="34" charset="-120"/>
              </a:rPr>
              <a:t>REWARDS THE ASSOCIATE PICKS</a:t>
            </a:r>
            <a:endParaRPr lang="en-US" sz="1200" dirty="0"/>
          </a:p>
        </p:txBody>
      </p:sp>
      <p:sp>
        <p:nvSpPr>
          <p:cNvPr id="15" name="Text 13"/>
          <p:cNvSpPr/>
          <p:nvPr/>
        </p:nvSpPr>
        <p:spPr>
          <a:xfrm>
            <a:off x="9838944" y="1993392"/>
            <a:ext cx="1600200" cy="219456"/>
          </a:xfrm>
          <a:prstGeom prst="rect">
            <a:avLst/>
          </a:prstGeom>
          <a:noFill/>
          <a:ln/>
        </p:spPr>
        <p:txBody>
          <a:bodyPr wrap="square" lIns="0" tIns="0" rIns="0" bIns="0" rtlCol="0" anchor="ctr"/>
          <a:lstStyle/>
          <a:p>
            <a:pPr algn="r" indent="0" marL="0">
              <a:buNone/>
            </a:pPr>
            <a:r>
              <a:rPr lang="en-US" sz="950" b="1" spc="80" kern="0" dirty="0">
                <a:solidFill>
                  <a:srgbClr val="8A5A11"/>
                </a:solidFill>
                <a:latin typeface="Calibri" pitchFamily="34" charset="0"/>
                <a:ea typeface="Calibri" pitchFamily="34" charset="-122"/>
                <a:cs typeface="Calibri" pitchFamily="34" charset="-120"/>
              </a:rPr>
              <a:t>HARD TO COPY</a:t>
            </a:r>
            <a:endParaRPr lang="en-US" sz="950" dirty="0"/>
          </a:p>
        </p:txBody>
      </p:sp>
      <p:sp>
        <p:nvSpPr>
          <p:cNvPr id="16" name="Text 14"/>
          <p:cNvSpPr/>
          <p:nvPr/>
        </p:nvSpPr>
        <p:spPr>
          <a:xfrm>
            <a:off x="4608576" y="2231136"/>
            <a:ext cx="6812280" cy="201168"/>
          </a:xfrm>
          <a:prstGeom prst="rect">
            <a:avLst/>
          </a:prstGeom>
          <a:noFill/>
          <a:ln/>
        </p:spPr>
        <p:txBody>
          <a:bodyPr wrap="square" lIns="0" tIns="0" rIns="0" bIns="0" rtlCol="0" anchor="t"/>
          <a:lstStyle/>
          <a:p>
            <a:pPr indent="0" marL="0">
              <a:buNone/>
            </a:pPr>
            <a:r>
              <a:rPr lang="en-US" sz="1100" dirty="0">
                <a:solidFill>
                  <a:srgbClr val="1B2338"/>
                </a:solidFill>
                <a:latin typeface="Calibri" pitchFamily="34" charset="0"/>
                <a:ea typeface="Calibri" pitchFamily="34" charset="-122"/>
                <a:cs typeface="Calibri" pitchFamily="34" charset="-120"/>
              </a:rPr>
              <a:t>Real currency for initiative, paid through payroll. They choose it.</a:t>
            </a:r>
            <a:endParaRPr lang="en-US" sz="1100" dirty="0"/>
          </a:p>
        </p:txBody>
      </p:sp>
      <p:sp>
        <p:nvSpPr>
          <p:cNvPr id="17" name="Text 15"/>
          <p:cNvSpPr/>
          <p:nvPr/>
        </p:nvSpPr>
        <p:spPr>
          <a:xfrm>
            <a:off x="4608576" y="2450592"/>
            <a:ext cx="6812280" cy="384048"/>
          </a:xfrm>
          <a:prstGeom prst="rect">
            <a:avLst/>
          </a:prstGeom>
          <a:noFill/>
          <a:ln/>
        </p:spPr>
        <p:txBody>
          <a:bodyPr wrap="square" lIns="0" tIns="0" rIns="0" bIns="0" rtlCol="0" anchor="t"/>
          <a:lstStyle/>
          <a:p>
            <a:pPr indent="0" marL="0">
              <a:lnSpc>
                <a:spcPts val="1300"/>
              </a:lnSpc>
              <a:buNone/>
            </a:pPr>
            <a:r>
              <a:rPr lang="en-US" sz="1000" dirty="0">
                <a:solidFill>
                  <a:srgbClr val="2E4571"/>
                </a:solidFill>
                <a:latin typeface="Calibri" pitchFamily="34" charset="0"/>
                <a:ea typeface="Calibri" pitchFamily="34" charset="-122"/>
                <a:cs typeface="Calibri" pitchFamily="34" charset="-120"/>
              </a:rPr>
              <a:t>d1-30 inventory signals, fit score v0   ·   d31-60 catalog v1, HR and legal cleared   ·   d61-90 bandit across 3 to 4 arms</a:t>
            </a:r>
            <a:endParaRPr lang="en-US" sz="1000" dirty="0"/>
          </a:p>
        </p:txBody>
      </p:sp>
      <p:sp>
        <p:nvSpPr>
          <p:cNvPr id="18" name="Text 16"/>
          <p:cNvSpPr/>
          <p:nvPr/>
        </p:nvSpPr>
        <p:spPr>
          <a:xfrm>
            <a:off x="4608576" y="2852928"/>
            <a:ext cx="6812280" cy="182880"/>
          </a:xfrm>
          <a:prstGeom prst="rect">
            <a:avLst/>
          </a:prstGeom>
          <a:noFill/>
          <a:ln/>
        </p:spPr>
        <p:txBody>
          <a:bodyPr wrap="square" lIns="0" tIns="0" rIns="0" bIns="0" rtlCol="0" anchor="t"/>
          <a:lstStyle/>
          <a:p>
            <a:pPr indent="0" marL="0">
              <a:buNone/>
            </a:pPr>
            <a:r>
              <a:rPr lang="en-US" sz="950" i="1" dirty="0">
                <a:solidFill>
                  <a:srgbClr val="5E6980"/>
                </a:solidFill>
                <a:latin typeface="Calibri" pitchFamily="34" charset="0"/>
                <a:ea typeface="Calibri" pitchFamily="34" charset="-122"/>
                <a:cs typeface="Calibri" pitchFamily="34" charset="-120"/>
              </a:rPr>
              <a:t>Depends on: the cohort scores the two tiers below produce.</a:t>
            </a:r>
            <a:endParaRPr lang="en-US" sz="950" dirty="0"/>
          </a:p>
        </p:txBody>
      </p:sp>
      <p:sp>
        <p:nvSpPr>
          <p:cNvPr id="19" name="Shape 17"/>
          <p:cNvSpPr/>
          <p:nvPr/>
        </p:nvSpPr>
        <p:spPr>
          <a:xfrm>
            <a:off x="4407408" y="3136392"/>
            <a:ext cx="7214616" cy="1124712"/>
          </a:xfrm>
          <a:prstGeom prst="roundRect">
            <a:avLst>
              <a:gd name="adj" fmla="val 8130"/>
            </a:avLst>
          </a:prstGeom>
          <a:solidFill>
            <a:srgbClr val="DDEAE1"/>
          </a:solidFill>
          <a:ln w="12700">
            <a:solidFill>
              <a:srgbClr val="DDEAE1"/>
            </a:solidFill>
            <a:prstDash val="solid"/>
          </a:ln>
        </p:spPr>
      </p:sp>
      <p:sp>
        <p:nvSpPr>
          <p:cNvPr id="20" name="Shape 18"/>
          <p:cNvSpPr/>
          <p:nvPr/>
        </p:nvSpPr>
        <p:spPr>
          <a:xfrm>
            <a:off x="4407408" y="3136392"/>
            <a:ext cx="45720" cy="1124712"/>
          </a:xfrm>
          <a:prstGeom prst="rect">
            <a:avLst/>
          </a:prstGeom>
          <a:solidFill>
            <a:srgbClr val="35604A"/>
          </a:solidFill>
          <a:ln w="12700">
            <a:solidFill>
              <a:srgbClr val="333333"/>
            </a:solidFill>
            <a:prstDash val="solid"/>
          </a:ln>
        </p:spPr>
      </p:sp>
      <p:sp>
        <p:nvSpPr>
          <p:cNvPr id="21" name="Text 19"/>
          <p:cNvSpPr/>
          <p:nvPr/>
        </p:nvSpPr>
        <p:spPr>
          <a:xfrm>
            <a:off x="4608576" y="3191256"/>
            <a:ext cx="5385816" cy="219456"/>
          </a:xfrm>
          <a:prstGeom prst="rect">
            <a:avLst/>
          </a:prstGeom>
          <a:noFill/>
          <a:ln/>
        </p:spPr>
        <p:txBody>
          <a:bodyPr wrap="square" lIns="0" tIns="0" rIns="0" bIns="0" rtlCol="0" anchor="ctr"/>
          <a:lstStyle/>
          <a:p>
            <a:pPr indent="0" marL="0">
              <a:buNone/>
            </a:pPr>
            <a:r>
              <a:rPr lang="en-US" sz="1200" b="1" dirty="0">
                <a:solidFill>
                  <a:srgbClr val="35604A"/>
                </a:solidFill>
                <a:latin typeface="Calibri" pitchFamily="34" charset="0"/>
                <a:ea typeface="Calibri" pitchFamily="34" charset="-122"/>
                <a:cs typeface="Calibri" pitchFamily="34" charset="-120"/>
              </a:rPr>
              <a:t>REJUVENATION ON THE SCHEDULE</a:t>
            </a:r>
            <a:endParaRPr lang="en-US" sz="1200" dirty="0"/>
          </a:p>
        </p:txBody>
      </p:sp>
      <p:sp>
        <p:nvSpPr>
          <p:cNvPr id="22" name="Text 20"/>
          <p:cNvSpPr/>
          <p:nvPr/>
        </p:nvSpPr>
        <p:spPr>
          <a:xfrm>
            <a:off x="9838944" y="3191256"/>
            <a:ext cx="1600200" cy="219456"/>
          </a:xfrm>
          <a:prstGeom prst="rect">
            <a:avLst/>
          </a:prstGeom>
          <a:noFill/>
          <a:ln/>
        </p:spPr>
        <p:txBody>
          <a:bodyPr wrap="square" lIns="0" tIns="0" rIns="0" bIns="0" rtlCol="0" anchor="ctr"/>
          <a:lstStyle/>
          <a:p>
            <a:pPr algn="r" indent="0" marL="0">
              <a:buNone/>
            </a:pPr>
            <a:r>
              <a:rPr lang="en-US" sz="950" b="1" spc="80" kern="0" dirty="0">
                <a:solidFill>
                  <a:srgbClr val="35604A"/>
                </a:solidFill>
                <a:latin typeface="Calibri" pitchFamily="34" charset="0"/>
                <a:ea typeface="Calibri" pitchFamily="34" charset="-122"/>
                <a:cs typeface="Calibri" pitchFamily="34" charset="-120"/>
              </a:rPr>
              <a:t>DIFFERENTIATED</a:t>
            </a:r>
            <a:endParaRPr lang="en-US" sz="950" dirty="0"/>
          </a:p>
        </p:txBody>
      </p:sp>
      <p:sp>
        <p:nvSpPr>
          <p:cNvPr id="23" name="Text 21"/>
          <p:cNvSpPr/>
          <p:nvPr/>
        </p:nvSpPr>
        <p:spPr>
          <a:xfrm>
            <a:off x="4608576" y="3429000"/>
            <a:ext cx="6812280" cy="201168"/>
          </a:xfrm>
          <a:prstGeom prst="rect">
            <a:avLst/>
          </a:prstGeom>
          <a:noFill/>
          <a:ln/>
        </p:spPr>
        <p:txBody>
          <a:bodyPr wrap="square" lIns="0" tIns="0" rIns="0" bIns="0" rtlCol="0" anchor="t"/>
          <a:lstStyle/>
          <a:p>
            <a:pPr indent="0" marL="0">
              <a:buNone/>
            </a:pPr>
            <a:r>
              <a:rPr lang="en-US" sz="1100" dirty="0">
                <a:solidFill>
                  <a:srgbClr val="1B2338"/>
                </a:solidFill>
                <a:latin typeface="Calibri" pitchFamily="34" charset="0"/>
                <a:ea typeface="Calibri" pitchFamily="34" charset="-122"/>
                <a:cs typeface="Calibri" pitchFamily="34" charset="-120"/>
              </a:rPr>
              <a:t>Rest that is scheduled, not begged for. Safe to fail. Safe at work.</a:t>
            </a:r>
            <a:endParaRPr lang="en-US" sz="1100" dirty="0"/>
          </a:p>
        </p:txBody>
      </p:sp>
      <p:sp>
        <p:nvSpPr>
          <p:cNvPr id="24" name="Text 22"/>
          <p:cNvSpPr/>
          <p:nvPr/>
        </p:nvSpPr>
        <p:spPr>
          <a:xfrm>
            <a:off x="4608576" y="3648456"/>
            <a:ext cx="6812280" cy="384048"/>
          </a:xfrm>
          <a:prstGeom prst="rect">
            <a:avLst/>
          </a:prstGeom>
          <a:noFill/>
          <a:ln/>
        </p:spPr>
        <p:txBody>
          <a:bodyPr wrap="square" lIns="0" tIns="0" rIns="0" bIns="0" rtlCol="0" anchor="t"/>
          <a:lstStyle/>
          <a:p>
            <a:pPr indent="0" marL="0">
              <a:lnSpc>
                <a:spcPts val="1300"/>
              </a:lnSpc>
              <a:buNone/>
            </a:pPr>
            <a:r>
              <a:rPr lang="en-US" sz="1000" dirty="0">
                <a:solidFill>
                  <a:srgbClr val="2E4571"/>
                </a:solidFill>
                <a:latin typeface="Calibri" pitchFamily="34" charset="0"/>
                <a:ea typeface="Calibri" pitchFamily="34" charset="-122"/>
                <a:cs typeface="Calibri" pitchFamily="34" charset="-120"/>
              </a:rPr>
              <a:t>d1-30 map the first 90 days, pick 20 matched pairs   ·   d31-60 check-ins fire at day 7, 30, 60   ·   d61-90 read lift against control</a:t>
            </a:r>
            <a:endParaRPr lang="en-US" sz="1000" dirty="0"/>
          </a:p>
        </p:txBody>
      </p:sp>
      <p:sp>
        <p:nvSpPr>
          <p:cNvPr id="25" name="Text 23"/>
          <p:cNvSpPr/>
          <p:nvPr/>
        </p:nvSpPr>
        <p:spPr>
          <a:xfrm>
            <a:off x="4608576" y="4050792"/>
            <a:ext cx="6812280" cy="182880"/>
          </a:xfrm>
          <a:prstGeom prst="rect">
            <a:avLst/>
          </a:prstGeom>
          <a:noFill/>
          <a:ln/>
        </p:spPr>
        <p:txBody>
          <a:bodyPr wrap="square" lIns="0" tIns="0" rIns="0" bIns="0" rtlCol="0" anchor="t"/>
          <a:lstStyle/>
          <a:p>
            <a:pPr indent="0" marL="0">
              <a:buNone/>
            </a:pPr>
            <a:r>
              <a:rPr lang="en-US" sz="950" i="1" dirty="0">
                <a:solidFill>
                  <a:srgbClr val="5E6980"/>
                </a:solidFill>
                <a:latin typeface="Calibri" pitchFamily="34" charset="0"/>
                <a:ea typeface="Calibri" pitchFamily="34" charset="-122"/>
                <a:cs typeface="Calibri" pitchFamily="34" charset="-120"/>
              </a:rPr>
              <a:t>Depends on: knowing where each new hire sits in their first 90 days.</a:t>
            </a:r>
            <a:endParaRPr lang="en-US" sz="950" dirty="0"/>
          </a:p>
        </p:txBody>
      </p:sp>
      <p:sp>
        <p:nvSpPr>
          <p:cNvPr id="26" name="Shape 24"/>
          <p:cNvSpPr/>
          <p:nvPr/>
        </p:nvSpPr>
        <p:spPr>
          <a:xfrm>
            <a:off x="4407408" y="4334256"/>
            <a:ext cx="7214616" cy="1124712"/>
          </a:xfrm>
          <a:prstGeom prst="roundRect">
            <a:avLst>
              <a:gd name="adj" fmla="val 8130"/>
            </a:avLst>
          </a:prstGeom>
          <a:solidFill>
            <a:srgbClr val="DCE9F2"/>
          </a:solidFill>
          <a:ln w="12700">
            <a:solidFill>
              <a:srgbClr val="DCE9F2"/>
            </a:solidFill>
            <a:prstDash val="solid"/>
          </a:ln>
        </p:spPr>
      </p:sp>
      <p:sp>
        <p:nvSpPr>
          <p:cNvPr id="27" name="Shape 25"/>
          <p:cNvSpPr/>
          <p:nvPr/>
        </p:nvSpPr>
        <p:spPr>
          <a:xfrm>
            <a:off x="4407408" y="4334256"/>
            <a:ext cx="45720" cy="1124712"/>
          </a:xfrm>
          <a:prstGeom prst="rect">
            <a:avLst/>
          </a:prstGeom>
          <a:solidFill>
            <a:srgbClr val="1E4E6B"/>
          </a:solidFill>
          <a:ln w="12700">
            <a:solidFill>
              <a:srgbClr val="333333"/>
            </a:solidFill>
            <a:prstDash val="solid"/>
          </a:ln>
        </p:spPr>
      </p:sp>
      <p:sp>
        <p:nvSpPr>
          <p:cNvPr id="28" name="Text 26"/>
          <p:cNvSpPr/>
          <p:nvPr/>
        </p:nvSpPr>
        <p:spPr>
          <a:xfrm>
            <a:off x="4608576" y="4389120"/>
            <a:ext cx="5385816" cy="219456"/>
          </a:xfrm>
          <a:prstGeom prst="rect">
            <a:avLst/>
          </a:prstGeom>
          <a:noFill/>
          <a:ln/>
        </p:spPr>
        <p:txBody>
          <a:bodyPr wrap="square" lIns="0" tIns="0" rIns="0" bIns="0" rtlCol="0" anchor="ctr"/>
          <a:lstStyle/>
          <a:p>
            <a:pPr indent="0" marL="0">
              <a:buNone/>
            </a:pPr>
            <a:r>
              <a:rPr lang="en-US" sz="1200" b="1" dirty="0">
                <a:solidFill>
                  <a:srgbClr val="1E4E6B"/>
                </a:solidFill>
                <a:latin typeface="Calibri" pitchFamily="34" charset="0"/>
                <a:ea typeface="Calibri" pitchFamily="34" charset="-122"/>
                <a:cs typeface="Calibri" pitchFamily="34" charset="-120"/>
              </a:rPr>
              <a:t>ANSWERS THAT FINISH THE JOB</a:t>
            </a:r>
            <a:endParaRPr lang="en-US" sz="1200" dirty="0"/>
          </a:p>
        </p:txBody>
      </p:sp>
      <p:sp>
        <p:nvSpPr>
          <p:cNvPr id="29" name="Text 27"/>
          <p:cNvSpPr/>
          <p:nvPr/>
        </p:nvSpPr>
        <p:spPr>
          <a:xfrm>
            <a:off x="9838944" y="4389120"/>
            <a:ext cx="1600200" cy="219456"/>
          </a:xfrm>
          <a:prstGeom prst="rect">
            <a:avLst/>
          </a:prstGeom>
          <a:noFill/>
          <a:ln/>
        </p:spPr>
        <p:txBody>
          <a:bodyPr wrap="square" lIns="0" tIns="0" rIns="0" bIns="0" rtlCol="0" anchor="ctr"/>
          <a:lstStyle/>
          <a:p>
            <a:pPr algn="r" indent="0" marL="0">
              <a:buNone/>
            </a:pPr>
            <a:r>
              <a:rPr lang="en-US" sz="950" b="1" spc="80" kern="0" dirty="0">
                <a:solidFill>
                  <a:srgbClr val="1E4E6B"/>
                </a:solidFill>
                <a:latin typeface="Calibri" pitchFamily="34" charset="0"/>
                <a:ea typeface="Calibri" pitchFamily="34" charset="-122"/>
                <a:cs typeface="Calibri" pitchFamily="34" charset="-120"/>
              </a:rPr>
              <a:t>TABLE STAKES</a:t>
            </a:r>
            <a:endParaRPr lang="en-US" sz="950" dirty="0"/>
          </a:p>
        </p:txBody>
      </p:sp>
      <p:sp>
        <p:nvSpPr>
          <p:cNvPr id="30" name="Text 28"/>
          <p:cNvSpPr/>
          <p:nvPr/>
        </p:nvSpPr>
        <p:spPr>
          <a:xfrm>
            <a:off x="4608576" y="4626864"/>
            <a:ext cx="6812280" cy="201168"/>
          </a:xfrm>
          <a:prstGeom prst="rect">
            <a:avLst/>
          </a:prstGeom>
          <a:noFill/>
          <a:ln/>
        </p:spPr>
        <p:txBody>
          <a:bodyPr wrap="square" lIns="0" tIns="0" rIns="0" bIns="0" rtlCol="0" anchor="t"/>
          <a:lstStyle/>
          <a:p>
            <a:pPr indent="0" marL="0">
              <a:buNone/>
            </a:pPr>
            <a:r>
              <a:rPr lang="en-US" sz="1100" dirty="0">
                <a:solidFill>
                  <a:srgbClr val="1B2338"/>
                </a:solidFill>
                <a:latin typeface="Calibri" pitchFamily="34" charset="0"/>
                <a:ea typeface="Calibri" pitchFamily="34" charset="-122"/>
                <a:cs typeface="Calibri" pitchFamily="34" charset="-120"/>
              </a:rPr>
              <a:t>Ask once and the task completes. No “go ask your team lead.”</a:t>
            </a:r>
            <a:endParaRPr lang="en-US" sz="1100" dirty="0"/>
          </a:p>
        </p:txBody>
      </p:sp>
      <p:sp>
        <p:nvSpPr>
          <p:cNvPr id="31" name="Text 29"/>
          <p:cNvSpPr/>
          <p:nvPr/>
        </p:nvSpPr>
        <p:spPr>
          <a:xfrm>
            <a:off x="4608576" y="4846320"/>
            <a:ext cx="6812280" cy="384048"/>
          </a:xfrm>
          <a:prstGeom prst="rect">
            <a:avLst/>
          </a:prstGeom>
          <a:noFill/>
          <a:ln/>
        </p:spPr>
        <p:txBody>
          <a:bodyPr wrap="square" lIns="0" tIns="0" rIns="0" bIns="0" rtlCol="0" anchor="t"/>
          <a:lstStyle/>
          <a:p>
            <a:pPr indent="0" marL="0">
              <a:lnSpc>
                <a:spcPts val="1300"/>
              </a:lnSpc>
              <a:buNone/>
            </a:pPr>
            <a:r>
              <a:rPr lang="en-US" sz="1000" dirty="0">
                <a:solidFill>
                  <a:srgbClr val="2E4571"/>
                </a:solidFill>
                <a:latin typeface="Calibri" pitchFamily="34" charset="0"/>
                <a:ea typeface="Calibri" pitchFamily="34" charset="-122"/>
                <a:cs typeface="Calibri" pitchFamily="34" charset="-120"/>
              </a:rPr>
              <a:t>d1-30 cluster 3M questions by intent   ·   d31-60 one agent closes one loop end to end   ·   d61-90 deflection measured, cluster 2 spec</a:t>
            </a:r>
            <a:endParaRPr lang="en-US" sz="1000" dirty="0"/>
          </a:p>
        </p:txBody>
      </p:sp>
      <p:sp>
        <p:nvSpPr>
          <p:cNvPr id="32" name="Text 30"/>
          <p:cNvSpPr/>
          <p:nvPr/>
        </p:nvSpPr>
        <p:spPr>
          <a:xfrm>
            <a:off x="4608576" y="5248656"/>
            <a:ext cx="6812280" cy="182880"/>
          </a:xfrm>
          <a:prstGeom prst="rect">
            <a:avLst/>
          </a:prstGeom>
          <a:noFill/>
          <a:ln/>
        </p:spPr>
        <p:txBody>
          <a:bodyPr wrap="square" lIns="0" tIns="0" rIns="0" bIns="0" rtlCol="0" anchor="t"/>
          <a:lstStyle/>
          <a:p>
            <a:pPr indent="0" marL="0">
              <a:buNone/>
            </a:pPr>
            <a:r>
              <a:rPr lang="en-US" sz="950" i="1" dirty="0">
                <a:solidFill>
                  <a:srgbClr val="5E6980"/>
                </a:solidFill>
                <a:latin typeface="Calibri" pitchFamily="34" charset="0"/>
                <a:ea typeface="Calibri" pitchFamily="34" charset="-122"/>
                <a:cs typeface="Calibri" pitchFamily="34" charset="-120"/>
              </a:rPr>
              <a:t>Depends on: write access to systems of record, and the accuracy bar that guards it.</a:t>
            </a:r>
            <a:endParaRPr lang="en-US" sz="950" dirty="0"/>
          </a:p>
        </p:txBody>
      </p:sp>
      <p:sp>
        <p:nvSpPr>
          <p:cNvPr id="33" name="Shape 31"/>
          <p:cNvSpPr/>
          <p:nvPr/>
        </p:nvSpPr>
        <p:spPr>
          <a:xfrm>
            <a:off x="566928" y="5559552"/>
            <a:ext cx="11055096" cy="512064"/>
          </a:xfrm>
          <a:prstGeom prst="roundRect">
            <a:avLst>
              <a:gd name="adj" fmla="val 17857"/>
            </a:avLst>
          </a:prstGeom>
          <a:solidFill>
            <a:srgbClr val="16233B"/>
          </a:solidFill>
          <a:ln w="12700">
            <a:solidFill>
              <a:srgbClr val="16233B"/>
            </a:solidFill>
            <a:prstDash val="solid"/>
          </a:ln>
        </p:spPr>
      </p:sp>
      <p:sp>
        <p:nvSpPr>
          <p:cNvPr id="34" name="Text 32"/>
          <p:cNvSpPr/>
          <p:nvPr/>
        </p:nvSpPr>
        <p:spPr>
          <a:xfrm>
            <a:off x="786384" y="5559552"/>
            <a:ext cx="10616184" cy="51206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Rewards and rejuvenation ship as separate arms from day 31, so the pilot can tell which one moved the number, and for whom.</a:t>
            </a:r>
            <a:endParaRPr lang="en-US" sz="1250" dirty="0"/>
          </a:p>
        </p:txBody>
      </p:sp>
      <p:sp>
        <p:nvSpPr>
          <p:cNvPr id="35" name="Text 3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INSIGHT FROM 3M QUESTIONS A 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Sidekick answers 3M questions a day and can act on almost none of them.</a:t>
            </a:r>
            <a:endParaRPr lang="en-US" sz="3000" dirty="0"/>
          </a:p>
        </p:txBody>
      </p:sp>
      <p:sp>
        <p:nvSpPr>
          <p:cNvPr id="5" name="Shape 3"/>
          <p:cNvSpPr/>
          <p:nvPr/>
        </p:nvSpPr>
        <p:spPr>
          <a:xfrm>
            <a:off x="566928" y="1938528"/>
            <a:ext cx="5852160" cy="3246120"/>
          </a:xfrm>
          <a:prstGeom prst="roundRect">
            <a:avLst>
              <a:gd name="adj" fmla="val 3380"/>
            </a:avLst>
          </a:prstGeom>
          <a:solidFill>
            <a:srgbClr val="F1F5FA"/>
          </a:solidFill>
          <a:ln w="12700">
            <a:solidFill>
              <a:srgbClr val="F1F5FA"/>
            </a:solidFill>
            <a:prstDash val="solid"/>
          </a:ln>
        </p:spPr>
      </p:sp>
      <p:sp>
        <p:nvSpPr>
          <p:cNvPr id="6" name="Text 4"/>
          <p:cNvSpPr/>
          <p:nvPr/>
        </p:nvSpPr>
        <p:spPr>
          <a:xfrm>
            <a:off x="804672" y="2084832"/>
            <a:ext cx="5376672" cy="292608"/>
          </a:xfrm>
          <a:prstGeom prst="rect">
            <a:avLst/>
          </a:prstGeom>
          <a:noFill/>
          <a:ln/>
        </p:spPr>
        <p:txBody>
          <a:bodyPr wrap="square" lIns="0" tIns="0" rIns="0" bIns="0" rtlCol="0" anchor="ctr"/>
          <a:lstStyle/>
          <a:p>
            <a:pPr indent="0" marL="0">
              <a:buNone/>
            </a:pPr>
            <a:r>
              <a:rPr lang="en-US" sz="1100" b="1" dirty="0">
                <a:solidFill>
                  <a:srgbClr val="5E6980"/>
                </a:solidFill>
                <a:latin typeface="Calibri" pitchFamily="34" charset="0"/>
                <a:ea typeface="Calibri" pitchFamily="34" charset="-122"/>
                <a:cs typeface="Calibri" pitchFamily="34" charset="-120"/>
              </a:rPr>
              <a:t>Devon, front end, mid-shift. Today.</a:t>
            </a:r>
            <a:endParaRPr lang="en-US" sz="1100" dirty="0"/>
          </a:p>
        </p:txBody>
      </p:sp>
      <p:sp>
        <p:nvSpPr>
          <p:cNvPr id="7" name="Shape 5"/>
          <p:cNvSpPr/>
          <p:nvPr/>
        </p:nvSpPr>
        <p:spPr>
          <a:xfrm>
            <a:off x="804672" y="2450592"/>
            <a:ext cx="4480560" cy="566928"/>
          </a:xfrm>
          <a:prstGeom prst="roundRect">
            <a:avLst>
              <a:gd name="adj" fmla="val 16129"/>
            </a:avLst>
          </a:prstGeom>
          <a:solidFill>
            <a:srgbClr val="223558"/>
          </a:solidFill>
          <a:ln w="12700">
            <a:solidFill>
              <a:srgbClr val="223558"/>
            </a:solidFill>
            <a:prstDash val="solid"/>
          </a:ln>
        </p:spPr>
      </p:sp>
      <p:sp>
        <p:nvSpPr>
          <p:cNvPr id="8" name="Text 6"/>
          <p:cNvSpPr/>
          <p:nvPr/>
        </p:nvSpPr>
        <p:spPr>
          <a:xfrm>
            <a:off x="950976" y="2487168"/>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I'm scheduled Saturday but I have a class conflict. What do I do?</a:t>
            </a:r>
            <a:endParaRPr lang="en-US" sz="1150" dirty="0"/>
          </a:p>
        </p:txBody>
      </p:sp>
      <p:sp>
        <p:nvSpPr>
          <p:cNvPr id="9" name="Shape 7"/>
          <p:cNvSpPr/>
          <p:nvPr/>
        </p:nvSpPr>
        <p:spPr>
          <a:xfrm>
            <a:off x="1700784" y="3127248"/>
            <a:ext cx="4480560" cy="566928"/>
          </a:xfrm>
          <a:prstGeom prst="roundRect">
            <a:avLst>
              <a:gd name="adj" fmla="val 16129"/>
            </a:avLst>
          </a:prstGeom>
          <a:solidFill>
            <a:srgbClr val="E2EAF4"/>
          </a:solidFill>
          <a:ln w="12700">
            <a:solidFill>
              <a:srgbClr val="E2EAF4"/>
            </a:solidFill>
            <a:prstDash val="solid"/>
          </a:ln>
        </p:spPr>
      </p:sp>
      <p:sp>
        <p:nvSpPr>
          <p:cNvPr id="10" name="Text 8"/>
          <p:cNvSpPr/>
          <p:nvPr/>
        </p:nvSpPr>
        <p:spPr>
          <a:xfrm>
            <a:off x="1847088" y="3163824"/>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1B2338"/>
                </a:solidFill>
                <a:latin typeface="Calibri" pitchFamily="34" charset="0"/>
                <a:ea typeface="Calibri" pitchFamily="34" charset="-122"/>
                <a:cs typeface="Calibri" pitchFamily="34" charset="-120"/>
              </a:rPr>
              <a:t>You can request a shift swap. Ask your team lead to start one in the scheduling system.</a:t>
            </a:r>
            <a:endParaRPr lang="en-US" sz="1150" dirty="0"/>
          </a:p>
        </p:txBody>
      </p:sp>
      <p:sp>
        <p:nvSpPr>
          <p:cNvPr id="11" name="Text 9"/>
          <p:cNvSpPr/>
          <p:nvPr/>
        </p:nvSpPr>
        <p:spPr>
          <a:xfrm>
            <a:off x="804672" y="3895344"/>
            <a:ext cx="5376672" cy="274320"/>
          </a:xfrm>
          <a:prstGeom prst="rect">
            <a:avLst/>
          </a:prstGeom>
          <a:noFill/>
          <a:ln/>
        </p:spPr>
        <p:txBody>
          <a:bodyPr wrap="square" lIns="0" tIns="0" rIns="0" bIns="0" rtlCol="0" anchor="ctr"/>
          <a:lstStyle/>
          <a:p>
            <a:pPr indent="0" marL="0">
              <a:buNone/>
            </a:pPr>
            <a:r>
              <a:rPr lang="en-US" sz="1150" b="1" dirty="0">
                <a:solidFill>
                  <a:srgbClr val="AE5348"/>
                </a:solidFill>
                <a:latin typeface="Calibri" pitchFamily="34" charset="0"/>
                <a:ea typeface="Calibri" pitchFamily="34" charset="-122"/>
                <a:cs typeface="Calibri" pitchFamily="34" charset="-120"/>
              </a:rPr>
              <a:t>Conversation ends.</a:t>
            </a:r>
            <a:endParaRPr lang="en-US" sz="1150" dirty="0"/>
          </a:p>
        </p:txBody>
      </p:sp>
      <p:sp>
        <p:nvSpPr>
          <p:cNvPr id="12" name="Text 10"/>
          <p:cNvSpPr/>
          <p:nvPr/>
        </p:nvSpPr>
        <p:spPr>
          <a:xfrm>
            <a:off x="804672" y="4206240"/>
            <a:ext cx="5376672" cy="841248"/>
          </a:xfrm>
          <a:prstGeom prst="rect">
            <a:avLst/>
          </a:prstGeom>
          <a:noFill/>
          <a:ln/>
        </p:spPr>
        <p:txBody>
          <a:bodyPr wrap="square" lIns="0" tIns="0" rIns="0" bIns="0" rtlCol="0" anchor="t"/>
          <a:lstStyle/>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Devon walks the floor looking for the lead.</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The lead stops mid-task.</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A customer waits.</a:t>
            </a:r>
            <a:endParaRPr lang="en-US" sz="1250" dirty="0"/>
          </a:p>
        </p:txBody>
      </p:sp>
      <p:sp>
        <p:nvSpPr>
          <p:cNvPr id="13" name="Shape 11"/>
          <p:cNvSpPr/>
          <p:nvPr/>
        </p:nvSpPr>
        <p:spPr>
          <a:xfrm>
            <a:off x="6876288" y="2075688"/>
            <a:ext cx="100584" cy="100584"/>
          </a:xfrm>
          <a:prstGeom prst="diamond">
            <a:avLst/>
          </a:prstGeom>
          <a:solidFill>
            <a:srgbClr val="D9922B"/>
          </a:solidFill>
          <a:ln w="12700">
            <a:solidFill>
              <a:srgbClr val="D9922B"/>
            </a:solidFill>
            <a:prstDash val="solid"/>
          </a:ln>
        </p:spPr>
      </p:sp>
      <p:sp>
        <p:nvSpPr>
          <p:cNvPr id="14" name="Text 12"/>
          <p:cNvSpPr/>
          <p:nvPr/>
        </p:nvSpPr>
        <p:spPr>
          <a:xfrm>
            <a:off x="7095744" y="1965960"/>
            <a:ext cx="4526280" cy="742950"/>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A correct answer that still costs three people time: the associate, the lead, and the customer standing there.</a:t>
            </a:r>
            <a:endParaRPr lang="en-US" sz="1350" dirty="0"/>
          </a:p>
        </p:txBody>
      </p:sp>
      <p:sp>
        <p:nvSpPr>
          <p:cNvPr id="15" name="Shape 13"/>
          <p:cNvSpPr/>
          <p:nvPr/>
        </p:nvSpPr>
        <p:spPr>
          <a:xfrm>
            <a:off x="6876288" y="2946654"/>
            <a:ext cx="100584" cy="100584"/>
          </a:xfrm>
          <a:prstGeom prst="diamond">
            <a:avLst/>
          </a:prstGeom>
          <a:solidFill>
            <a:srgbClr val="D9922B"/>
          </a:solidFill>
          <a:ln w="12700">
            <a:solidFill>
              <a:srgbClr val="D9922B"/>
            </a:solidFill>
            <a:prstDash val="solid"/>
          </a:ln>
        </p:spPr>
      </p:sp>
      <p:sp>
        <p:nvSpPr>
          <p:cNvPr id="16" name="Text 14"/>
          <p:cNvSpPr/>
          <p:nvPr/>
        </p:nvSpPr>
        <p:spPr>
          <a:xfrm>
            <a:off x="7095744" y="2836926"/>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Every handoff is minutes off the floor and one more reason the day feels unsupported.</a:t>
            </a:r>
            <a:endParaRPr lang="en-US" sz="1350" dirty="0"/>
          </a:p>
        </p:txBody>
      </p:sp>
      <p:sp>
        <p:nvSpPr>
          <p:cNvPr id="17" name="Shape 15"/>
          <p:cNvSpPr/>
          <p:nvPr/>
        </p:nvSpPr>
        <p:spPr>
          <a:xfrm>
            <a:off x="6876288" y="3591306"/>
            <a:ext cx="100584" cy="100584"/>
          </a:xfrm>
          <a:prstGeom prst="diamond">
            <a:avLst/>
          </a:prstGeom>
          <a:solidFill>
            <a:srgbClr val="D9922B"/>
          </a:solidFill>
          <a:ln w="12700">
            <a:solidFill>
              <a:srgbClr val="D9922B"/>
            </a:solidFill>
            <a:prstDash val="solid"/>
          </a:ln>
        </p:spPr>
      </p:sp>
      <p:sp>
        <p:nvSpPr>
          <p:cNvPr id="18" name="Text 16"/>
          <p:cNvSpPr/>
          <p:nvPr/>
        </p:nvSpPr>
        <p:spPr>
          <a:xfrm>
            <a:off x="7095744" y="3481578"/>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Turnover themes centre on daily friction, not one dramatic failure.</a:t>
            </a:r>
            <a:endParaRPr lang="en-US" sz="1350" dirty="0"/>
          </a:p>
        </p:txBody>
      </p:sp>
      <p:sp>
        <p:nvSpPr>
          <p:cNvPr id="19" name="Shape 17"/>
          <p:cNvSpPr/>
          <p:nvPr/>
        </p:nvSpPr>
        <p:spPr>
          <a:xfrm>
            <a:off x="6876288" y="4041648"/>
            <a:ext cx="4745736" cy="1170432"/>
          </a:xfrm>
          <a:prstGeom prst="roundRect">
            <a:avLst>
              <a:gd name="adj" fmla="val 9375"/>
            </a:avLst>
          </a:prstGeom>
          <a:solidFill>
            <a:srgbClr val="DCE9F2"/>
          </a:solidFill>
          <a:ln w="12700">
            <a:solidFill>
              <a:srgbClr val="DCE9F2"/>
            </a:solidFill>
            <a:prstDash val="solid"/>
          </a:ln>
        </p:spPr>
      </p:sp>
      <p:sp>
        <p:nvSpPr>
          <p:cNvPr id="20" name="Text 18"/>
          <p:cNvSpPr/>
          <p:nvPr/>
        </p:nvSpPr>
        <p:spPr>
          <a:xfrm>
            <a:off x="7077456" y="4151376"/>
            <a:ext cx="4343400" cy="548640"/>
          </a:xfrm>
          <a:prstGeom prst="rect">
            <a:avLst/>
          </a:prstGeom>
          <a:noFill/>
          <a:ln/>
        </p:spPr>
        <p:txBody>
          <a:bodyPr wrap="square" lIns="0" tIns="0" rIns="0" bIns="0" rtlCol="0" anchor="ctr"/>
          <a:lstStyle/>
          <a:p>
            <a:pPr indent="0" marL="0">
              <a:buNone/>
            </a:pPr>
            <a:r>
              <a:rPr lang="en-US" sz="3000" b="1" dirty="0">
                <a:solidFill>
                  <a:srgbClr val="1E4E6B"/>
                </a:solidFill>
                <a:latin typeface="Cambria" pitchFamily="34" charset="0"/>
                <a:ea typeface="Cambria" pitchFamily="34" charset="-122"/>
                <a:cs typeface="Cambria" pitchFamily="34" charset="-120"/>
              </a:rPr>
              <a:t>~$100M</a:t>
            </a:r>
            <a:endParaRPr lang="en-US" sz="3000" dirty="0"/>
          </a:p>
        </p:txBody>
      </p:sp>
      <p:sp>
        <p:nvSpPr>
          <p:cNvPr id="21" name="Text 19"/>
          <p:cNvSpPr/>
          <p:nvPr/>
        </p:nvSpPr>
        <p:spPr>
          <a:xfrm>
            <a:off x="7077456" y="4700016"/>
            <a:ext cx="4343400" cy="420624"/>
          </a:xfrm>
          <a:prstGeom prst="rect">
            <a:avLst/>
          </a:prstGeom>
          <a:noFill/>
          <a:ln/>
        </p:spPr>
        <p:txBody>
          <a:bodyPr wrap="square" lIns="0" tIns="0" rIns="0" bIns="0" rtlCol="0" anchor="t"/>
          <a:lstStyle/>
          <a:p>
            <a:pPr indent="0" marL="0">
              <a:buNone/>
            </a:pPr>
            <a:r>
              <a:rPr lang="en-US" sz="1200" dirty="0">
                <a:solidFill>
                  <a:srgbClr val="1E4E6B"/>
                </a:solidFill>
                <a:latin typeface="Calibri" pitchFamily="34" charset="0"/>
                <a:ea typeface="Calibri" pitchFamily="34" charset="-122"/>
                <a:cs typeface="Calibri" pitchFamily="34" charset="-120"/>
              </a:rPr>
              <a:t>a year for one minute returned per associate per shift</a:t>
            </a:r>
            <a:endParaRPr lang="en-US" sz="1200" dirty="0"/>
          </a:p>
        </p:txBody>
      </p:sp>
      <p:sp>
        <p:nvSpPr>
          <p:cNvPr id="22" name="Text 20"/>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Assumptions: about 1M store associates, 1 minute per shift, about $0.30 a minute loaded labor, roughly $300K a day. Top question clusters waste far more than a minute.</a:t>
            </a:r>
            <a:endParaRPr lang="en-US" sz="105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THREE BETS, ONE DECISION RULE</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Discovery data picks the entry point, not conviction.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1417320"/>
                <a:gridCol w="3209544"/>
                <a:gridCol w="3209544"/>
                <a:gridCol w="3218688"/>
              </a:tblGrid>
              <a:tr h="0">
                <a:tc>
                  <a:txBody>
                    <a:bodyPr/>
                    <a:lstStyle/>
                    <a:p>
                      <a:pPr indent="0" marL="0">
                        <a:buNone/>
                      </a:pP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 · Own the first 90 days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 · Answer to action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 · Signal Engine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$15M a year for every 1 point gained in 90-day retention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$100M a year for every 1 minute given back per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About 2x the retention gain from the same incentive budget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Key Metric Improved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90-day new-hire retention, pilot stores vs control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Minutes of work time returned per associate per week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Predicted vs actual retention lift, measured against holdouts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Choose if</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New hires quit early, and exit interviews blame confusion and isolation, not pay</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Associates ask the same questions constantly, and answers dead-end in a manual handoff</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Different groups quit for different reasons, and there is budget for a 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People quit for many reasons. An app only moves the ones it touches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Agents write into scheduling and HR systems. One bad write undoes 100 right answers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Scoring associates can feel like surveillance. Slowest bet to show a visible win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892040"/>
            <a:ext cx="11055096" cy="694944"/>
          </a:xfrm>
          <a:prstGeom prst="roundRect">
            <a:avLst>
              <a:gd name="adj" fmla="val 15789"/>
            </a:avLst>
          </a:prstGeom>
          <a:solidFill>
            <a:srgbClr val="FAECD4"/>
          </a:solidFill>
          <a:ln w="12700">
            <a:solidFill>
              <a:srgbClr val="FAECD4"/>
            </a:solidFill>
            <a:prstDash val="solid"/>
          </a:ln>
        </p:spPr>
      </p:sp>
      <p:sp>
        <p:nvSpPr>
          <p:cNvPr id="7" name="Text 4"/>
          <p:cNvSpPr/>
          <p:nvPr/>
        </p:nvSpPr>
        <p:spPr>
          <a:xfrm>
            <a:off x="786384" y="4928616"/>
            <a:ext cx="10616184" cy="621792"/>
          </a:xfrm>
          <a:prstGeom prst="rect">
            <a:avLst/>
          </a:prstGeom>
          <a:noFill/>
          <a:ln/>
        </p:spPr>
        <p:txBody>
          <a:bodyPr wrap="square" lIns="0" tIns="0" rIns="0" bIns="0" rtlCol="0" anchor="ctr"/>
          <a:lstStyle/>
          <a:p>
            <a:pPr indent="0" marL="0">
              <a:buNone/>
            </a:pPr>
            <a:r>
              <a:rPr lang="en-US" sz="1300" b="1" dirty="0">
                <a:solidFill>
                  <a:srgbClr val="8A5A11"/>
                </a:solidFill>
                <a:latin typeface="Calibri" pitchFamily="34" charset="0"/>
                <a:ea typeface="Calibri" pitchFamily="34" charset="-122"/>
                <a:cs typeface="Calibri" pitchFamily="34" charset="-120"/>
              </a:rPr>
              <a:t>Do nothing and about $1.5B a year in replacement spend continues. That is the fourth option, and the one I would kill first.</a:t>
            </a:r>
            <a:endParaRPr lang="en-US" sz="13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RECOMMENDED SEQUENCE</a:t>
            </a:r>
            <a:endParaRPr lang="en-US" sz="1100" dirty="0"/>
          </a:p>
        </p:txBody>
      </p:sp>
      <p:sp>
        <p:nvSpPr>
          <p:cNvPr id="4" name="Text 2"/>
          <p:cNvSpPr/>
          <p:nvPr/>
        </p:nvSpPr>
        <p:spPr>
          <a:xfrm>
            <a:off x="566928" y="749808"/>
            <a:ext cx="11055096" cy="914400"/>
          </a:xfrm>
          <a:prstGeom prst="rect">
            <a:avLst/>
          </a:prstGeom>
          <a:noFill/>
          <a:ln/>
        </p:spPr>
        <p:txBody>
          <a:bodyPr wrap="square" lIns="0" tIns="0" rIns="0" bIns="0" rtlCol="0" anchor="t"/>
          <a:lstStyle/>
          <a:p>
            <a:pPr indent="0" marL="0">
              <a:lnSpc>
                <a:spcPts val="3186"/>
              </a:lnSpc>
              <a:buNone/>
            </a:pPr>
            <a:r>
              <a:rPr lang="en-US" sz="2700" b="1" dirty="0">
                <a:solidFill>
                  <a:srgbClr val="1B2338"/>
                </a:solidFill>
                <a:latin typeface="Cambria" pitchFamily="34" charset="0"/>
                <a:ea typeface="Cambria" pitchFamily="34" charset="-122"/>
                <a:cs typeface="Cambria" pitchFamily="34" charset="-120"/>
              </a:rPr>
              <a:t>Sequence A then C, with B woven through: a visible win in one quarter that becomes the platform.</a:t>
            </a:r>
            <a:endParaRPr lang="en-US" sz="2700" dirty="0"/>
          </a:p>
        </p:txBody>
      </p:sp>
      <p:sp>
        <p:nvSpPr>
          <p:cNvPr id="5" name="Text 3"/>
          <p:cNvSpPr/>
          <p:nvPr/>
        </p:nvSpPr>
        <p:spPr>
          <a:xfrm>
            <a:off x="1801368"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1 to 30  ·  Discover</a:t>
            </a:r>
            <a:endParaRPr lang="en-US" sz="1150" dirty="0"/>
          </a:p>
        </p:txBody>
      </p:sp>
      <p:sp>
        <p:nvSpPr>
          <p:cNvPr id="6" name="Text 4"/>
          <p:cNvSpPr/>
          <p:nvPr/>
        </p:nvSpPr>
        <p:spPr>
          <a:xfrm>
            <a:off x="5151120"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31 to 60  ·  MVP</a:t>
            </a:r>
            <a:endParaRPr lang="en-US" sz="1150" dirty="0"/>
          </a:p>
        </p:txBody>
      </p:sp>
      <p:sp>
        <p:nvSpPr>
          <p:cNvPr id="7" name="Text 5"/>
          <p:cNvSpPr/>
          <p:nvPr/>
        </p:nvSpPr>
        <p:spPr>
          <a:xfrm>
            <a:off x="8500872"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61 to 90  ·  Prove</a:t>
            </a:r>
            <a:endParaRPr lang="en-US" sz="1150" dirty="0"/>
          </a:p>
        </p:txBody>
      </p:sp>
      <p:sp>
        <p:nvSpPr>
          <p:cNvPr id="8" name="Shape 6"/>
          <p:cNvSpPr/>
          <p:nvPr/>
        </p:nvSpPr>
        <p:spPr>
          <a:xfrm>
            <a:off x="566928" y="2542032"/>
            <a:ext cx="402336" cy="402336"/>
          </a:xfrm>
          <a:prstGeom prst="ellipse">
            <a:avLst/>
          </a:prstGeom>
          <a:solidFill>
            <a:srgbClr val="D9922B"/>
          </a:solidFill>
          <a:ln w="12700">
            <a:solidFill>
              <a:srgbClr val="D9922B"/>
            </a:solidFill>
            <a:prstDash val="solid"/>
          </a:ln>
        </p:spPr>
      </p:sp>
      <p:sp>
        <p:nvSpPr>
          <p:cNvPr id="9" name="Text 7"/>
          <p:cNvSpPr/>
          <p:nvPr/>
        </p:nvSpPr>
        <p:spPr>
          <a:xfrm>
            <a:off x="566928" y="25420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10" name="Text 8"/>
          <p:cNvSpPr/>
          <p:nvPr/>
        </p:nvSpPr>
        <p:spPr>
          <a:xfrm>
            <a:off x="1042416" y="2487168"/>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Own the first</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90 days</a:t>
            </a:r>
            <a:endParaRPr lang="en-US" sz="1050" dirty="0"/>
          </a:p>
        </p:txBody>
      </p:sp>
      <p:sp>
        <p:nvSpPr>
          <p:cNvPr id="11" name="Shape 9"/>
          <p:cNvSpPr/>
          <p:nvPr/>
        </p:nvSpPr>
        <p:spPr>
          <a:xfrm>
            <a:off x="1801368" y="2286000"/>
            <a:ext cx="3121152" cy="914400"/>
          </a:xfrm>
          <a:prstGeom prst="roundRect">
            <a:avLst>
              <a:gd name="adj" fmla="val 10000"/>
            </a:avLst>
          </a:prstGeom>
          <a:solidFill>
            <a:srgbClr val="FAECD4"/>
          </a:solidFill>
          <a:ln w="12700">
            <a:solidFill>
              <a:srgbClr val="FAECD4"/>
            </a:solidFill>
            <a:prstDash val="solid"/>
          </a:ln>
        </p:spPr>
      </p:sp>
      <p:sp>
        <p:nvSpPr>
          <p:cNvPr id="12" name="Text 10"/>
          <p:cNvSpPr/>
          <p:nvPr/>
        </p:nvSpPr>
        <p:spPr>
          <a:xfrm>
            <a:off x="1965960"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Retention baselines and journey maps</a:t>
            </a:r>
            <a:endParaRPr lang="en-US" sz="1150" dirty="0"/>
          </a:p>
        </p:txBody>
      </p:sp>
      <p:sp>
        <p:nvSpPr>
          <p:cNvPr id="13" name="Shape 11"/>
          <p:cNvSpPr/>
          <p:nvPr/>
        </p:nvSpPr>
        <p:spPr>
          <a:xfrm>
            <a:off x="5151120" y="2286000"/>
            <a:ext cx="3121152" cy="914400"/>
          </a:xfrm>
          <a:prstGeom prst="roundRect">
            <a:avLst>
              <a:gd name="adj" fmla="val 10000"/>
            </a:avLst>
          </a:prstGeom>
          <a:solidFill>
            <a:srgbClr val="FAECD4"/>
          </a:solidFill>
          <a:ln w="12700">
            <a:solidFill>
              <a:srgbClr val="FAECD4"/>
            </a:solidFill>
            <a:prstDash val="solid"/>
          </a:ln>
        </p:spPr>
      </p:sp>
      <p:sp>
        <p:nvSpPr>
          <p:cNvPr id="14" name="Text 12"/>
          <p:cNvSpPr/>
          <p:nvPr/>
        </p:nvSpPr>
        <p:spPr>
          <a:xfrm>
            <a:off x="5315712"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Onboarding Companion live in 20 stores</a:t>
            </a:r>
            <a:endParaRPr lang="en-US" sz="1150" dirty="0"/>
          </a:p>
        </p:txBody>
      </p:sp>
      <p:sp>
        <p:nvSpPr>
          <p:cNvPr id="15" name="Shape 13"/>
          <p:cNvSpPr/>
          <p:nvPr/>
        </p:nvSpPr>
        <p:spPr>
          <a:xfrm>
            <a:off x="8500872" y="2286000"/>
            <a:ext cx="3121152" cy="914400"/>
          </a:xfrm>
          <a:prstGeom prst="roundRect">
            <a:avLst>
              <a:gd name="adj" fmla="val 10000"/>
            </a:avLst>
          </a:prstGeom>
          <a:solidFill>
            <a:srgbClr val="FAECD4"/>
          </a:solidFill>
          <a:ln w="12700">
            <a:solidFill>
              <a:srgbClr val="FAECD4"/>
            </a:solidFill>
            <a:prstDash val="solid"/>
          </a:ln>
        </p:spPr>
      </p:sp>
      <p:sp>
        <p:nvSpPr>
          <p:cNvPr id="16" name="Text 14"/>
          <p:cNvSpPr/>
          <p:nvPr/>
        </p:nvSpPr>
        <p:spPr>
          <a:xfrm>
            <a:off x="8665464"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Pilot vs control read. Scale or kill.</a:t>
            </a:r>
            <a:endParaRPr lang="en-US" sz="1150" dirty="0"/>
          </a:p>
        </p:txBody>
      </p:sp>
      <p:sp>
        <p:nvSpPr>
          <p:cNvPr id="17" name="Shape 15"/>
          <p:cNvSpPr/>
          <p:nvPr/>
        </p:nvSpPr>
        <p:spPr>
          <a:xfrm>
            <a:off x="566928" y="3712464"/>
            <a:ext cx="402336" cy="402336"/>
          </a:xfrm>
          <a:prstGeom prst="ellipse">
            <a:avLst/>
          </a:prstGeom>
          <a:solidFill>
            <a:srgbClr val="3B7EA8"/>
          </a:solidFill>
          <a:ln w="12700">
            <a:solidFill>
              <a:srgbClr val="3B7EA8"/>
            </a:solidFill>
            <a:prstDash val="solid"/>
          </a:ln>
        </p:spPr>
      </p:sp>
      <p:sp>
        <p:nvSpPr>
          <p:cNvPr id="18" name="Text 16"/>
          <p:cNvSpPr/>
          <p:nvPr/>
        </p:nvSpPr>
        <p:spPr>
          <a:xfrm>
            <a:off x="566928" y="37124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9" name="Text 17"/>
          <p:cNvSpPr/>
          <p:nvPr/>
        </p:nvSpPr>
        <p:spPr>
          <a:xfrm>
            <a:off x="1042416" y="3657600"/>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Answer to</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action</a:t>
            </a:r>
            <a:endParaRPr lang="en-US" sz="1050" dirty="0"/>
          </a:p>
        </p:txBody>
      </p:sp>
      <p:sp>
        <p:nvSpPr>
          <p:cNvPr id="20" name="Shape 18"/>
          <p:cNvSpPr/>
          <p:nvPr/>
        </p:nvSpPr>
        <p:spPr>
          <a:xfrm>
            <a:off x="1801368" y="3456432"/>
            <a:ext cx="3121152" cy="914400"/>
          </a:xfrm>
          <a:prstGeom prst="roundRect">
            <a:avLst>
              <a:gd name="adj" fmla="val 10000"/>
            </a:avLst>
          </a:prstGeom>
          <a:solidFill>
            <a:srgbClr val="DCE9F2"/>
          </a:solidFill>
          <a:ln w="12700">
            <a:solidFill>
              <a:srgbClr val="DCE9F2"/>
            </a:solidFill>
            <a:prstDash val="solid"/>
          </a:ln>
        </p:spPr>
      </p:sp>
      <p:sp>
        <p:nvSpPr>
          <p:cNvPr id="21" name="Text 19"/>
          <p:cNvSpPr/>
          <p:nvPr/>
        </p:nvSpPr>
        <p:spPr>
          <a:xfrm>
            <a:off x="1965960"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Cluster the 3M questions by intent</a:t>
            </a:r>
            <a:endParaRPr lang="en-US" sz="1150" dirty="0"/>
          </a:p>
        </p:txBody>
      </p:sp>
      <p:sp>
        <p:nvSpPr>
          <p:cNvPr id="22" name="Shape 20"/>
          <p:cNvSpPr/>
          <p:nvPr/>
        </p:nvSpPr>
        <p:spPr>
          <a:xfrm>
            <a:off x="5151120" y="3456432"/>
            <a:ext cx="3121152" cy="914400"/>
          </a:xfrm>
          <a:prstGeom prst="roundRect">
            <a:avLst>
              <a:gd name="adj" fmla="val 10000"/>
            </a:avLst>
          </a:prstGeom>
          <a:solidFill>
            <a:srgbClr val="DCE9F2"/>
          </a:solidFill>
          <a:ln w="12700">
            <a:solidFill>
              <a:srgbClr val="DCE9F2"/>
            </a:solidFill>
            <a:prstDash val="solid"/>
          </a:ln>
        </p:spPr>
      </p:sp>
      <p:sp>
        <p:nvSpPr>
          <p:cNvPr id="23" name="Text 21"/>
          <p:cNvSpPr/>
          <p:nvPr/>
        </p:nvSpPr>
        <p:spPr>
          <a:xfrm>
            <a:off x="5315712"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Schedule-conflict action agent, full loop</a:t>
            </a:r>
            <a:endParaRPr lang="en-US" sz="1150" dirty="0"/>
          </a:p>
        </p:txBody>
      </p:sp>
      <p:sp>
        <p:nvSpPr>
          <p:cNvPr id="24" name="Shape 22"/>
          <p:cNvSpPr/>
          <p:nvPr/>
        </p:nvSpPr>
        <p:spPr>
          <a:xfrm>
            <a:off x="8500872" y="3456432"/>
            <a:ext cx="3121152" cy="914400"/>
          </a:xfrm>
          <a:prstGeom prst="roundRect">
            <a:avLst>
              <a:gd name="adj" fmla="val 10000"/>
            </a:avLst>
          </a:prstGeom>
          <a:solidFill>
            <a:srgbClr val="DCE9F2"/>
          </a:solidFill>
          <a:ln w="12700">
            <a:solidFill>
              <a:srgbClr val="DCE9F2"/>
            </a:solidFill>
            <a:prstDash val="solid"/>
          </a:ln>
        </p:spPr>
      </p:sp>
      <p:sp>
        <p:nvSpPr>
          <p:cNvPr id="25" name="Text 23"/>
          <p:cNvSpPr/>
          <p:nvPr/>
        </p:nvSpPr>
        <p:spPr>
          <a:xfrm>
            <a:off x="8665464"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Harden reliability. Spec cluster two.</a:t>
            </a:r>
            <a:endParaRPr lang="en-US" sz="1150" dirty="0"/>
          </a:p>
        </p:txBody>
      </p:sp>
      <p:sp>
        <p:nvSpPr>
          <p:cNvPr id="26" name="Shape 24"/>
          <p:cNvSpPr/>
          <p:nvPr/>
        </p:nvSpPr>
        <p:spPr>
          <a:xfrm>
            <a:off x="566928" y="4882896"/>
            <a:ext cx="402336" cy="402336"/>
          </a:xfrm>
          <a:prstGeom prst="ellipse">
            <a:avLst/>
          </a:prstGeom>
          <a:solidFill>
            <a:srgbClr val="44795A"/>
          </a:solidFill>
          <a:ln w="12700">
            <a:solidFill>
              <a:srgbClr val="44795A"/>
            </a:solidFill>
            <a:prstDash val="solid"/>
          </a:ln>
        </p:spPr>
      </p:sp>
      <p:sp>
        <p:nvSpPr>
          <p:cNvPr id="27" name="Text 25"/>
          <p:cNvSpPr/>
          <p:nvPr/>
        </p:nvSpPr>
        <p:spPr>
          <a:xfrm>
            <a:off x="566928" y="48828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28" name="Text 26"/>
          <p:cNvSpPr/>
          <p:nvPr/>
        </p:nvSpPr>
        <p:spPr>
          <a:xfrm>
            <a:off x="1042416" y="4828032"/>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Signal</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Engine</a:t>
            </a:r>
            <a:endParaRPr lang="en-US" sz="1050" dirty="0"/>
          </a:p>
        </p:txBody>
      </p:sp>
      <p:sp>
        <p:nvSpPr>
          <p:cNvPr id="29" name="Shape 27"/>
          <p:cNvSpPr/>
          <p:nvPr/>
        </p:nvSpPr>
        <p:spPr>
          <a:xfrm>
            <a:off x="1801368" y="4626864"/>
            <a:ext cx="3121152" cy="914400"/>
          </a:xfrm>
          <a:prstGeom prst="roundRect">
            <a:avLst>
              <a:gd name="adj" fmla="val 10000"/>
            </a:avLst>
          </a:prstGeom>
          <a:solidFill>
            <a:srgbClr val="DDEAE1"/>
          </a:solidFill>
          <a:ln w="12700">
            <a:solidFill>
              <a:srgbClr val="DDEAE1"/>
            </a:solidFill>
            <a:prstDash val="solid"/>
          </a:ln>
        </p:spPr>
      </p:sp>
      <p:sp>
        <p:nvSpPr>
          <p:cNvPr id="30" name="Text 28"/>
          <p:cNvSpPr/>
          <p:nvPr/>
        </p:nvSpPr>
        <p:spPr>
          <a:xfrm>
            <a:off x="1965960"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Signal audit and cohort taxonomy</a:t>
            </a:r>
            <a:endParaRPr lang="en-US" sz="1150" dirty="0"/>
          </a:p>
        </p:txBody>
      </p:sp>
      <p:sp>
        <p:nvSpPr>
          <p:cNvPr id="31" name="Shape 29"/>
          <p:cNvSpPr/>
          <p:nvPr/>
        </p:nvSpPr>
        <p:spPr>
          <a:xfrm>
            <a:off x="5151120" y="4626864"/>
            <a:ext cx="3121152" cy="914400"/>
          </a:xfrm>
          <a:prstGeom prst="roundRect">
            <a:avLst>
              <a:gd name="adj" fmla="val 10000"/>
            </a:avLst>
          </a:prstGeom>
          <a:solidFill>
            <a:srgbClr val="DDEAE1"/>
          </a:solidFill>
          <a:ln w="12700">
            <a:solidFill>
              <a:srgbClr val="DDEAE1"/>
            </a:solidFill>
            <a:prstDash val="solid"/>
          </a:ln>
        </p:spPr>
      </p:sp>
      <p:sp>
        <p:nvSpPr>
          <p:cNvPr id="32" name="Text 30"/>
          <p:cNvSpPr/>
          <p:nvPr/>
        </p:nvSpPr>
        <p:spPr>
          <a:xfrm>
            <a:off x="5315712"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One score live, two intervention arms</a:t>
            </a:r>
            <a:endParaRPr lang="en-US" sz="1150" dirty="0"/>
          </a:p>
        </p:txBody>
      </p:sp>
      <p:sp>
        <p:nvSpPr>
          <p:cNvPr id="33" name="Shape 31"/>
          <p:cNvSpPr/>
          <p:nvPr/>
        </p:nvSpPr>
        <p:spPr>
          <a:xfrm>
            <a:off x="8500872" y="4626864"/>
            <a:ext cx="3121152" cy="914400"/>
          </a:xfrm>
          <a:prstGeom prst="roundRect">
            <a:avLst>
              <a:gd name="adj" fmla="val 10000"/>
            </a:avLst>
          </a:prstGeom>
          <a:solidFill>
            <a:srgbClr val="DDEAE1"/>
          </a:solidFill>
          <a:ln w="12700">
            <a:solidFill>
              <a:srgbClr val="DDEAE1"/>
            </a:solidFill>
            <a:prstDash val="solid"/>
          </a:ln>
        </p:spPr>
      </p:sp>
      <p:sp>
        <p:nvSpPr>
          <p:cNvPr id="34" name="Text 32"/>
          <p:cNvSpPr/>
          <p:nvPr/>
        </p:nvSpPr>
        <p:spPr>
          <a:xfrm>
            <a:off x="8665464"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Contextual bandit across 3 to 4 arms</a:t>
            </a:r>
            <a:endParaRPr lang="en-US" sz="1150" dirty="0"/>
          </a:p>
        </p:txBody>
      </p:sp>
      <p:sp>
        <p:nvSpPr>
          <p:cNvPr id="35" name="Shape 33"/>
          <p:cNvSpPr/>
          <p:nvPr/>
        </p:nvSpPr>
        <p:spPr>
          <a:xfrm>
            <a:off x="11722608" y="2212848"/>
            <a:ext cx="0" cy="3657600"/>
          </a:xfrm>
          <a:prstGeom prst="line">
            <a:avLst/>
          </a:prstGeom>
          <a:noFill/>
          <a:ln w="25400">
            <a:solidFill>
              <a:srgbClr val="AE5348"/>
            </a:solidFill>
            <a:prstDash val="dash"/>
          </a:ln>
        </p:spPr>
      </p:sp>
      <p:sp>
        <p:nvSpPr>
          <p:cNvPr id="36" name="Text 34"/>
          <p:cNvSpPr/>
          <p:nvPr/>
        </p:nvSpPr>
        <p:spPr>
          <a:xfrm>
            <a:off x="10570464" y="5852160"/>
            <a:ext cx="1097280" cy="274320"/>
          </a:xfrm>
          <a:prstGeom prst="rect">
            <a:avLst/>
          </a:prstGeom>
          <a:noFill/>
          <a:ln/>
        </p:spPr>
        <p:txBody>
          <a:bodyPr wrap="square" lIns="0" tIns="0" rIns="0" bIns="0" rtlCol="0" anchor="ctr"/>
          <a:lstStyle/>
          <a:p>
            <a:pPr algn="r" indent="0" marL="0">
              <a:buNone/>
            </a:pPr>
            <a:r>
              <a:rPr lang="en-US" sz="1050" b="1" dirty="0">
                <a:solidFill>
                  <a:srgbClr val="AE5348"/>
                </a:solidFill>
                <a:latin typeface="Calibri" pitchFamily="34" charset="0"/>
                <a:ea typeface="Calibri" pitchFamily="34" charset="-122"/>
                <a:cs typeface="Calibri" pitchFamily="34" charset="-120"/>
              </a:rPr>
              <a:t>Day-90 gate</a:t>
            </a:r>
            <a:endParaRPr lang="en-US" sz="105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Cost of this order: the platform starts slower. Benefit: a measured retention number in hand before anyone is asked to fund platform headcount.</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PLAN A, SEEN FROM THE FLOOR</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Day 1 stops being "nobody told me anything."</a:t>
            </a:r>
            <a:endParaRPr lang="en-US" sz="3000" dirty="0"/>
          </a:p>
        </p:txBody>
      </p:sp>
      <p:sp>
        <p:nvSpPr>
          <p:cNvPr id="5" name="Shape 3"/>
          <p:cNvSpPr/>
          <p:nvPr/>
        </p:nvSpPr>
        <p:spPr>
          <a:xfrm>
            <a:off x="1168146" y="1901952"/>
            <a:ext cx="1389888" cy="2865748"/>
          </a:xfrm>
          <a:prstGeom prst="roundRect">
            <a:avLst>
              <a:gd name="adj" fmla="val 9211"/>
            </a:avLst>
          </a:prstGeom>
          <a:solidFill>
            <a:srgbClr val="16233B"/>
          </a:solidFill>
          <a:ln w="12700">
            <a:solidFill>
              <a:srgbClr val="2E4571"/>
            </a:solidFill>
            <a:prstDash val="solid"/>
          </a:ln>
        </p:spPr>
      </p:sp>
      <p:sp>
        <p:nvSpPr>
          <p:cNvPr id="6" name="Shape 4"/>
          <p:cNvSpPr/>
          <p:nvPr/>
        </p:nvSpPr>
        <p:spPr>
          <a:xfrm>
            <a:off x="1218438" y="1952244"/>
            <a:ext cx="1289304" cy="2765164"/>
          </a:xfrm>
          <a:prstGeom prst="roundRect">
            <a:avLst>
              <a:gd name="adj" fmla="val 7092"/>
            </a:avLst>
          </a:prstGeom>
          <a:solidFill>
            <a:srgbClr val="FFFFFF"/>
          </a:solidFill>
          <a:ln w="12700">
            <a:solidFill>
              <a:srgbClr val="333333"/>
            </a:solidFill>
            <a:prstDash val="solid"/>
          </a:ln>
        </p:spPr>
      </p:sp>
      <p:sp>
        <p:nvSpPr>
          <p:cNvPr id="7" name="Shape 5"/>
          <p:cNvSpPr/>
          <p:nvPr/>
        </p:nvSpPr>
        <p:spPr>
          <a:xfrm>
            <a:off x="1661922" y="1963217"/>
            <a:ext cx="402336" cy="68580"/>
          </a:xfrm>
          <a:prstGeom prst="roundRect">
            <a:avLst>
              <a:gd name="adj" fmla="val 49333"/>
            </a:avLst>
          </a:prstGeom>
          <a:solidFill>
            <a:srgbClr val="16233B"/>
          </a:solidFill>
          <a:ln w="12700">
            <a:solidFill>
              <a:srgbClr val="333333"/>
            </a:solidFill>
            <a:prstDash val="solid"/>
          </a:ln>
        </p:spPr>
      </p:sp>
      <p:sp>
        <p:nvSpPr>
          <p:cNvPr id="8" name="Shape 6"/>
          <p:cNvSpPr/>
          <p:nvPr/>
        </p:nvSpPr>
        <p:spPr>
          <a:xfrm>
            <a:off x="1643634" y="4644256"/>
            <a:ext cx="438912" cy="25603"/>
          </a:xfrm>
          <a:prstGeom prst="roundRect">
            <a:avLst>
              <a:gd name="adj" fmla="val 50000"/>
            </a:avLst>
          </a:prstGeom>
          <a:solidFill>
            <a:srgbClr val="C6CFDD"/>
          </a:solidFill>
          <a:ln w="12700">
            <a:solidFill>
              <a:srgbClr val="333333"/>
            </a:solidFill>
            <a:prstDash val="solid"/>
          </a:ln>
        </p:spPr>
      </p:sp>
      <p:sp>
        <p:nvSpPr>
          <p:cNvPr id="9" name="Text 7"/>
          <p:cNvSpPr/>
          <p:nvPr/>
        </p:nvSpPr>
        <p:spPr>
          <a:xfrm>
            <a:off x="1309878" y="1965960"/>
            <a:ext cx="1106424" cy="146304"/>
          </a:xfrm>
          <a:prstGeom prst="rect">
            <a:avLst/>
          </a:prstGeom>
          <a:noFill/>
          <a:ln/>
        </p:spPr>
        <p:txBody>
          <a:bodyPr wrap="square" lIns="0" tIns="0" rIns="0" bIns="0" rtlCol="0" anchor="ctr"/>
          <a:lstStyle/>
          <a:p>
            <a:pPr indent="0" marL="0">
              <a:buNone/>
            </a:pPr>
            <a:r>
              <a:rPr lang="en-US" sz="600" b="1" dirty="0">
                <a:solidFill>
                  <a:srgbClr val="1B2338"/>
                </a:solidFill>
                <a:latin typeface="Calibri" pitchFamily="34" charset="0"/>
                <a:ea typeface="Calibri" pitchFamily="34" charset="-122"/>
                <a:cs typeface="Calibri" pitchFamily="34" charset="-120"/>
              </a:rPr>
              <a:t>6:55</a:t>
            </a:r>
            <a:endParaRPr lang="en-US" sz="600" dirty="0"/>
          </a:p>
        </p:txBody>
      </p:sp>
      <p:sp>
        <p:nvSpPr>
          <p:cNvPr id="10" name="Text 8"/>
          <p:cNvSpPr/>
          <p:nvPr/>
        </p:nvSpPr>
        <p:spPr>
          <a:xfrm>
            <a:off x="1309878" y="1965960"/>
            <a:ext cx="1106424" cy="146304"/>
          </a:xfrm>
          <a:prstGeom prst="rect">
            <a:avLst/>
          </a:prstGeom>
          <a:noFill/>
          <a:ln/>
        </p:spPr>
        <p:txBody>
          <a:bodyPr wrap="square" lIns="0" tIns="0" rIns="0" bIns="0" rtlCol="0" anchor="ctr"/>
          <a:lstStyle/>
          <a:p>
            <a:pPr algn="r" indent="0" marL="0">
              <a:buNone/>
            </a:pPr>
            <a:r>
              <a:rPr lang="en-US" sz="500" dirty="0">
                <a:solidFill>
                  <a:srgbClr val="5E6980"/>
                </a:solidFill>
                <a:latin typeface="Calibri" pitchFamily="34" charset="0"/>
                <a:ea typeface="Calibri" pitchFamily="34" charset="-122"/>
                <a:cs typeface="Calibri" pitchFamily="34" charset="-120"/>
              </a:rPr>
              <a:t>▮▮▮</a:t>
            </a:r>
            <a:endParaRPr lang="en-US" sz="500" dirty="0"/>
          </a:p>
        </p:txBody>
      </p:sp>
      <p:sp>
        <p:nvSpPr>
          <p:cNvPr id="11" name="Text 9"/>
          <p:cNvSpPr/>
          <p:nvPr/>
        </p:nvSpPr>
        <p:spPr>
          <a:xfrm>
            <a:off x="1218438" y="2171700"/>
            <a:ext cx="1289304" cy="146304"/>
          </a:xfrm>
          <a:prstGeom prst="rect">
            <a:avLst/>
          </a:prstGeom>
          <a:noFill/>
          <a:ln/>
        </p:spPr>
        <p:txBody>
          <a:bodyPr wrap="square" lIns="0" tIns="0" rIns="0" bIns="0" rtlCol="0" anchor="ctr"/>
          <a:lstStyle/>
          <a:p>
            <a:pPr algn="ctr" indent="0" marL="0">
              <a:buNone/>
            </a:pPr>
            <a:r>
              <a:rPr lang="en-US" sz="600" dirty="0">
                <a:solidFill>
                  <a:srgbClr val="5E6980"/>
                </a:solidFill>
                <a:latin typeface="Calibri" pitchFamily="34" charset="0"/>
                <a:ea typeface="Calibri" pitchFamily="34" charset="-122"/>
                <a:cs typeface="Calibri" pitchFamily="34" charset="-120"/>
              </a:rPr>
              <a:t>Monday</a:t>
            </a:r>
            <a:endParaRPr lang="en-US" sz="600" dirty="0"/>
          </a:p>
        </p:txBody>
      </p:sp>
      <p:sp>
        <p:nvSpPr>
          <p:cNvPr id="12" name="Text 10"/>
          <p:cNvSpPr/>
          <p:nvPr/>
        </p:nvSpPr>
        <p:spPr>
          <a:xfrm>
            <a:off x="1218438" y="2318004"/>
            <a:ext cx="1289304" cy="420624"/>
          </a:xfrm>
          <a:prstGeom prst="rect">
            <a:avLst/>
          </a:prstGeom>
          <a:noFill/>
          <a:ln/>
        </p:spPr>
        <p:txBody>
          <a:bodyPr wrap="square" lIns="0" tIns="0" rIns="0" bIns="0" rtlCol="0" anchor="ctr"/>
          <a:lstStyle/>
          <a:p>
            <a:pPr algn="ctr" indent="0" marL="0">
              <a:buNone/>
            </a:pPr>
            <a:r>
              <a:rPr lang="en-US" sz="2700" b="1" dirty="0">
                <a:solidFill>
                  <a:srgbClr val="1B2338"/>
                </a:solidFill>
                <a:latin typeface="Cambria" pitchFamily="34" charset="0"/>
                <a:ea typeface="Cambria" pitchFamily="34" charset="-122"/>
                <a:cs typeface="Cambria" pitchFamily="34" charset="-120"/>
              </a:rPr>
              <a:t>6:55</a:t>
            </a:r>
            <a:endParaRPr lang="en-US" sz="2700" dirty="0"/>
          </a:p>
        </p:txBody>
      </p:sp>
      <p:sp>
        <p:nvSpPr>
          <p:cNvPr id="13" name="Shape 11"/>
          <p:cNvSpPr/>
          <p:nvPr/>
        </p:nvSpPr>
        <p:spPr>
          <a:xfrm>
            <a:off x="1291590" y="2848356"/>
            <a:ext cx="1143000" cy="841248"/>
          </a:xfrm>
          <a:prstGeom prst="roundRect">
            <a:avLst>
              <a:gd name="adj" fmla="val 7609"/>
            </a:avLst>
          </a:prstGeom>
          <a:solidFill>
            <a:srgbClr val="F1F5FA"/>
          </a:solidFill>
          <a:ln w="9525">
            <a:solidFill>
              <a:srgbClr val="E2EAF4"/>
            </a:solidFill>
            <a:prstDash val="solid"/>
          </a:ln>
        </p:spPr>
      </p:sp>
      <p:sp>
        <p:nvSpPr>
          <p:cNvPr id="14" name="Shape 12"/>
          <p:cNvSpPr/>
          <p:nvPr/>
        </p:nvSpPr>
        <p:spPr>
          <a:xfrm>
            <a:off x="1355598" y="2912364"/>
            <a:ext cx="118872" cy="118872"/>
          </a:xfrm>
          <a:prstGeom prst="roundRect">
            <a:avLst>
              <a:gd name="adj" fmla="val 23077"/>
            </a:avLst>
          </a:prstGeom>
          <a:solidFill>
            <a:srgbClr val="3B7EA8"/>
          </a:solidFill>
          <a:ln w="12700">
            <a:solidFill>
              <a:srgbClr val="333333"/>
            </a:solidFill>
            <a:prstDash val="solid"/>
          </a:ln>
        </p:spPr>
      </p:sp>
      <p:sp>
        <p:nvSpPr>
          <p:cNvPr id="15" name="Text 13"/>
          <p:cNvSpPr/>
          <p:nvPr/>
        </p:nvSpPr>
        <p:spPr>
          <a:xfrm>
            <a:off x="1511046" y="2903220"/>
            <a:ext cx="905256" cy="137160"/>
          </a:xfrm>
          <a:prstGeom prst="rect">
            <a:avLst/>
          </a:prstGeom>
          <a:noFill/>
          <a:ln/>
        </p:spPr>
        <p:txBody>
          <a:bodyPr wrap="square" lIns="0" tIns="0" rIns="0" bIns="0" rtlCol="0" anchor="ctr"/>
          <a:lstStyle/>
          <a:p>
            <a:pPr indent="0" marL="0">
              <a:buNone/>
            </a:pPr>
            <a:r>
              <a:rPr lang="en-US" sz="550" b="1" dirty="0">
                <a:solidFill>
                  <a:srgbClr val="5E6980"/>
                </a:solidFill>
                <a:latin typeface="Calibri" pitchFamily="34" charset="0"/>
                <a:ea typeface="Calibri" pitchFamily="34" charset="-122"/>
                <a:cs typeface="Calibri" pitchFamily="34" charset="-120"/>
              </a:rPr>
              <a:t>Sidekick  ·  now</a:t>
            </a:r>
            <a:endParaRPr lang="en-US" sz="550" dirty="0"/>
          </a:p>
        </p:txBody>
      </p:sp>
      <p:sp>
        <p:nvSpPr>
          <p:cNvPr id="16" name="Text 14"/>
          <p:cNvSpPr/>
          <p:nvPr/>
        </p:nvSpPr>
        <p:spPr>
          <a:xfrm>
            <a:off x="1355598" y="3086100"/>
            <a:ext cx="1014984" cy="566928"/>
          </a:xfrm>
          <a:prstGeom prst="rect">
            <a:avLst/>
          </a:prstGeom>
          <a:noFill/>
          <a:ln/>
        </p:spPr>
        <p:txBody>
          <a:bodyPr wrap="square" lIns="0" tIns="0" rIns="0" bIns="0" rtlCol="0" anchor="t"/>
          <a:lstStyle/>
          <a:p>
            <a:pPr indent="0" marL="0">
              <a:lnSpc>
                <a:spcPts val="850"/>
              </a:lnSpc>
              <a:buNone/>
            </a:pPr>
            <a:r>
              <a:rPr lang="en-US" sz="650" dirty="0">
                <a:solidFill>
                  <a:srgbClr val="1B2338"/>
                </a:solidFill>
                <a:latin typeface="Calibri" pitchFamily="34" charset="0"/>
                <a:ea typeface="Calibri" pitchFamily="34" charset="-122"/>
                <a:cs typeface="Calibri" pitchFamily="34" charset="-120"/>
              </a:rPr>
              <a:t>First shift today, Maya. Badge and locker first, then meet Dee, your buddy, aisle 12. I will guide each step when you arrive.</a:t>
            </a:r>
            <a:endParaRPr lang="en-US" sz="650" dirty="0"/>
          </a:p>
        </p:txBody>
      </p:sp>
      <p:sp>
        <p:nvSpPr>
          <p:cNvPr id="17" name="Shape 15"/>
          <p:cNvSpPr/>
          <p:nvPr/>
        </p:nvSpPr>
        <p:spPr>
          <a:xfrm>
            <a:off x="566928" y="4895716"/>
            <a:ext cx="1298448" cy="256032"/>
          </a:xfrm>
          <a:prstGeom prst="roundRect">
            <a:avLst>
              <a:gd name="adj" fmla="val 50000"/>
            </a:avLst>
          </a:prstGeom>
          <a:solidFill>
            <a:srgbClr val="3B7EA8"/>
          </a:solidFill>
          <a:ln w="12700">
            <a:solidFill>
              <a:srgbClr val="333333"/>
            </a:solidFill>
            <a:prstDash val="solid"/>
          </a:ln>
        </p:spPr>
      </p:sp>
      <p:sp>
        <p:nvSpPr>
          <p:cNvPr id="18" name="Text 16"/>
          <p:cNvSpPr/>
          <p:nvPr/>
        </p:nvSpPr>
        <p:spPr>
          <a:xfrm>
            <a:off x="566928" y="4895716"/>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Proactive</a:t>
            </a:r>
            <a:endParaRPr lang="en-US" sz="900" dirty="0"/>
          </a:p>
        </p:txBody>
      </p:sp>
      <p:sp>
        <p:nvSpPr>
          <p:cNvPr id="19" name="Text 17"/>
          <p:cNvSpPr/>
          <p:nvPr/>
        </p:nvSpPr>
        <p:spPr>
          <a:xfrm>
            <a:off x="1938528" y="4895716"/>
            <a:ext cx="1220724" cy="256032"/>
          </a:xfrm>
          <a:prstGeom prst="rect">
            <a:avLst/>
          </a:prstGeom>
          <a:noFill/>
          <a:ln/>
        </p:spPr>
        <p:txBody>
          <a:bodyPr wrap="square" lIns="0" tIns="0" rIns="0" bIns="0" rtlCol="0" anchor="ctr"/>
          <a:lstStyle/>
          <a:p>
            <a:pPr indent="0" marL="0">
              <a:buNone/>
            </a:pPr>
            <a:r>
              <a:rPr lang="en-US" sz="900" b="1" dirty="0">
                <a:solidFill>
                  <a:srgbClr val="5E6980"/>
                </a:solidFill>
                <a:latin typeface="Calibri" pitchFamily="34" charset="0"/>
                <a:ea typeface="Calibri" pitchFamily="34" charset="-122"/>
                <a:cs typeface="Calibri" pitchFamily="34" charset="-120"/>
              </a:rPr>
              <a:t>Day 1  ·  6:55am</a:t>
            </a:r>
            <a:endParaRPr lang="en-US" sz="900" dirty="0"/>
          </a:p>
        </p:txBody>
      </p:sp>
      <p:sp>
        <p:nvSpPr>
          <p:cNvPr id="20" name="Text 18"/>
          <p:cNvSpPr/>
          <p:nvPr/>
        </p:nvSpPr>
        <p:spPr>
          <a:xfrm>
            <a:off x="566928" y="5188324"/>
            <a:ext cx="2592324" cy="365760"/>
          </a:xfrm>
          <a:prstGeom prst="rect">
            <a:avLst/>
          </a:prstGeom>
          <a:noFill/>
          <a:ln/>
        </p:spPr>
        <p:txBody>
          <a:bodyPr wrap="square" lIns="0" tIns="0" rIns="0" bIns="0" rtlCol="0" anchor="t"/>
          <a:lstStyle/>
          <a:p>
            <a:pPr indent="0" marL="0">
              <a:lnSpc>
                <a:spcPts val="1700"/>
              </a:lnSpc>
              <a:buNone/>
            </a:pPr>
            <a:r>
              <a:rPr lang="en-US" sz="1400" b="1" dirty="0">
                <a:solidFill>
                  <a:srgbClr val="1E4E6B"/>
                </a:solidFill>
                <a:latin typeface="Cambria" pitchFamily="34" charset="0"/>
                <a:ea typeface="Cambria" pitchFamily="34" charset="-122"/>
                <a:cs typeface="Cambria" pitchFamily="34" charset="-120"/>
              </a:rPr>
              <a:t>The app speaks first</a:t>
            </a:r>
            <a:endParaRPr lang="en-US" sz="1400" dirty="0"/>
          </a:p>
        </p:txBody>
      </p:sp>
      <p:sp>
        <p:nvSpPr>
          <p:cNvPr id="21" name="Shape 19"/>
          <p:cNvSpPr/>
          <p:nvPr/>
        </p:nvSpPr>
        <p:spPr>
          <a:xfrm>
            <a:off x="3989070" y="1901952"/>
            <a:ext cx="1389888" cy="2865748"/>
          </a:xfrm>
          <a:prstGeom prst="roundRect">
            <a:avLst>
              <a:gd name="adj" fmla="val 9211"/>
            </a:avLst>
          </a:prstGeom>
          <a:solidFill>
            <a:srgbClr val="16233B"/>
          </a:solidFill>
          <a:ln w="12700">
            <a:solidFill>
              <a:srgbClr val="2E4571"/>
            </a:solidFill>
            <a:prstDash val="solid"/>
          </a:ln>
        </p:spPr>
      </p:sp>
      <p:sp>
        <p:nvSpPr>
          <p:cNvPr id="22" name="Shape 20"/>
          <p:cNvSpPr/>
          <p:nvPr/>
        </p:nvSpPr>
        <p:spPr>
          <a:xfrm>
            <a:off x="4039362" y="1952244"/>
            <a:ext cx="1289304" cy="2765164"/>
          </a:xfrm>
          <a:prstGeom prst="roundRect">
            <a:avLst>
              <a:gd name="adj" fmla="val 7092"/>
            </a:avLst>
          </a:prstGeom>
          <a:solidFill>
            <a:srgbClr val="FFFFFF"/>
          </a:solidFill>
          <a:ln w="12700">
            <a:solidFill>
              <a:srgbClr val="333333"/>
            </a:solidFill>
            <a:prstDash val="solid"/>
          </a:ln>
        </p:spPr>
      </p:sp>
      <p:sp>
        <p:nvSpPr>
          <p:cNvPr id="23" name="Shape 21"/>
          <p:cNvSpPr/>
          <p:nvPr/>
        </p:nvSpPr>
        <p:spPr>
          <a:xfrm>
            <a:off x="4482846" y="1963217"/>
            <a:ext cx="402336" cy="68580"/>
          </a:xfrm>
          <a:prstGeom prst="roundRect">
            <a:avLst>
              <a:gd name="adj" fmla="val 49333"/>
            </a:avLst>
          </a:prstGeom>
          <a:solidFill>
            <a:srgbClr val="16233B"/>
          </a:solidFill>
          <a:ln w="12700">
            <a:solidFill>
              <a:srgbClr val="333333"/>
            </a:solidFill>
            <a:prstDash val="solid"/>
          </a:ln>
        </p:spPr>
      </p:sp>
      <p:sp>
        <p:nvSpPr>
          <p:cNvPr id="24" name="Shape 22"/>
          <p:cNvSpPr/>
          <p:nvPr/>
        </p:nvSpPr>
        <p:spPr>
          <a:xfrm>
            <a:off x="4464558" y="4644256"/>
            <a:ext cx="438912" cy="25603"/>
          </a:xfrm>
          <a:prstGeom prst="roundRect">
            <a:avLst>
              <a:gd name="adj" fmla="val 50000"/>
            </a:avLst>
          </a:prstGeom>
          <a:solidFill>
            <a:srgbClr val="C6CFDD"/>
          </a:solidFill>
          <a:ln w="12700">
            <a:solidFill>
              <a:srgbClr val="333333"/>
            </a:solidFill>
            <a:prstDash val="solid"/>
          </a:ln>
        </p:spPr>
      </p:sp>
      <p:sp>
        <p:nvSpPr>
          <p:cNvPr id="25" name="Text 23"/>
          <p:cNvSpPr/>
          <p:nvPr/>
        </p:nvSpPr>
        <p:spPr>
          <a:xfrm>
            <a:off x="4130802" y="1965960"/>
            <a:ext cx="1106424" cy="146304"/>
          </a:xfrm>
          <a:prstGeom prst="rect">
            <a:avLst/>
          </a:prstGeom>
          <a:noFill/>
          <a:ln/>
        </p:spPr>
        <p:txBody>
          <a:bodyPr wrap="square" lIns="0" tIns="0" rIns="0" bIns="0" rtlCol="0" anchor="ctr"/>
          <a:lstStyle/>
          <a:p>
            <a:pPr indent="0" marL="0">
              <a:buNone/>
            </a:pPr>
            <a:r>
              <a:rPr lang="en-US" sz="600" b="1" dirty="0">
                <a:solidFill>
                  <a:srgbClr val="1B2338"/>
                </a:solidFill>
                <a:latin typeface="Calibri" pitchFamily="34" charset="0"/>
                <a:ea typeface="Calibri" pitchFamily="34" charset="-122"/>
                <a:cs typeface="Calibri" pitchFamily="34" charset="-120"/>
              </a:rPr>
              <a:t>21:14</a:t>
            </a:r>
            <a:endParaRPr lang="en-US" sz="600" dirty="0"/>
          </a:p>
        </p:txBody>
      </p:sp>
      <p:sp>
        <p:nvSpPr>
          <p:cNvPr id="26" name="Text 24"/>
          <p:cNvSpPr/>
          <p:nvPr/>
        </p:nvSpPr>
        <p:spPr>
          <a:xfrm>
            <a:off x="4130802" y="1965960"/>
            <a:ext cx="1106424" cy="146304"/>
          </a:xfrm>
          <a:prstGeom prst="rect">
            <a:avLst/>
          </a:prstGeom>
          <a:noFill/>
          <a:ln/>
        </p:spPr>
        <p:txBody>
          <a:bodyPr wrap="square" lIns="0" tIns="0" rIns="0" bIns="0" rtlCol="0" anchor="ctr"/>
          <a:lstStyle/>
          <a:p>
            <a:pPr algn="r" indent="0" marL="0">
              <a:buNone/>
            </a:pPr>
            <a:r>
              <a:rPr lang="en-US" sz="500" dirty="0">
                <a:solidFill>
                  <a:srgbClr val="5E6980"/>
                </a:solidFill>
                <a:latin typeface="Calibri" pitchFamily="34" charset="0"/>
                <a:ea typeface="Calibri" pitchFamily="34" charset="-122"/>
                <a:cs typeface="Calibri" pitchFamily="34" charset="-120"/>
              </a:rPr>
              <a:t>▮▮▮</a:t>
            </a:r>
            <a:endParaRPr lang="en-US" sz="500" dirty="0"/>
          </a:p>
        </p:txBody>
      </p:sp>
      <p:sp>
        <p:nvSpPr>
          <p:cNvPr id="27" name="Shape 25"/>
          <p:cNvSpPr/>
          <p:nvPr/>
        </p:nvSpPr>
        <p:spPr>
          <a:xfrm>
            <a:off x="4039362" y="2135124"/>
            <a:ext cx="1289304" cy="219456"/>
          </a:xfrm>
          <a:prstGeom prst="rect">
            <a:avLst/>
          </a:prstGeom>
          <a:solidFill>
            <a:srgbClr val="2E4571"/>
          </a:solidFill>
          <a:ln w="12700">
            <a:solidFill>
              <a:srgbClr val="333333"/>
            </a:solidFill>
            <a:prstDash val="solid"/>
          </a:ln>
        </p:spPr>
      </p:sp>
      <p:sp>
        <p:nvSpPr>
          <p:cNvPr id="28" name="Text 26"/>
          <p:cNvSpPr/>
          <p:nvPr/>
        </p:nvSpPr>
        <p:spPr>
          <a:xfrm>
            <a:off x="4130802" y="2135124"/>
            <a:ext cx="1106424" cy="219456"/>
          </a:xfrm>
          <a:prstGeom prst="rect">
            <a:avLst/>
          </a:prstGeom>
          <a:noFill/>
          <a:ln/>
        </p:spPr>
        <p:txBody>
          <a:bodyPr wrap="square" lIns="0" tIns="0" rIns="0" bIns="0" rtlCol="0" anchor="ctr"/>
          <a:lstStyle/>
          <a:p>
            <a:pPr indent="0" marL="0">
              <a:buNone/>
            </a:pPr>
            <a:r>
              <a:rPr lang="en-US" sz="650" b="1" dirty="0">
                <a:solidFill>
                  <a:srgbClr val="FFFFFF"/>
                </a:solidFill>
                <a:latin typeface="Calibri" pitchFamily="34" charset="0"/>
                <a:ea typeface="Calibri" pitchFamily="34" charset="-122"/>
                <a:cs typeface="Calibri" pitchFamily="34" charset="-120"/>
              </a:rPr>
              <a:t>Sidekick</a:t>
            </a:r>
            <a:endParaRPr lang="en-US" sz="650" dirty="0"/>
          </a:p>
        </p:txBody>
      </p:sp>
      <p:sp>
        <p:nvSpPr>
          <p:cNvPr id="29" name="Shape 27"/>
          <p:cNvSpPr/>
          <p:nvPr/>
        </p:nvSpPr>
        <p:spPr>
          <a:xfrm>
            <a:off x="4214927" y="2427732"/>
            <a:ext cx="1031443" cy="190246"/>
          </a:xfrm>
          <a:prstGeom prst="roundRect">
            <a:avLst>
              <a:gd name="adj" fmla="val 33645"/>
            </a:avLst>
          </a:prstGeom>
          <a:solidFill>
            <a:srgbClr val="E2EAF4"/>
          </a:solidFill>
          <a:ln w="12700">
            <a:solidFill>
              <a:srgbClr val="333333"/>
            </a:solidFill>
            <a:prstDash val="solid"/>
          </a:ln>
        </p:spPr>
      </p:sp>
      <p:sp>
        <p:nvSpPr>
          <p:cNvPr id="30" name="Text 28"/>
          <p:cNvSpPr/>
          <p:nvPr/>
        </p:nvSpPr>
        <p:spPr>
          <a:xfrm>
            <a:off x="4288079" y="2468880"/>
            <a:ext cx="885139" cy="107950"/>
          </a:xfrm>
          <a:prstGeom prst="rect">
            <a:avLst/>
          </a:prstGeom>
          <a:noFill/>
          <a:ln/>
        </p:spPr>
        <p:txBody>
          <a:bodyPr wrap="square" lIns="0" tIns="0" rIns="0" bIns="0" rtlCol="0" anchor="t"/>
          <a:lstStyle/>
          <a:p>
            <a:pPr indent="0" marL="0">
              <a:lnSpc>
                <a:spcPts val="850"/>
              </a:lnSpc>
              <a:buNone/>
            </a:pPr>
            <a:r>
              <a:rPr lang="en-US" sz="650" dirty="0">
                <a:solidFill>
                  <a:srgbClr val="1B2338"/>
                </a:solidFill>
                <a:latin typeface="Calibri" pitchFamily="34" charset="0"/>
                <a:ea typeface="Calibri" pitchFamily="34" charset="-122"/>
                <a:cs typeface="Calibri" pitchFamily="34" charset="-120"/>
              </a:rPr>
              <a:t>What's a zone?</a:t>
            </a:r>
            <a:endParaRPr lang="en-US" sz="650" dirty="0"/>
          </a:p>
        </p:txBody>
      </p:sp>
      <p:sp>
        <p:nvSpPr>
          <p:cNvPr id="31" name="Shape 29"/>
          <p:cNvSpPr/>
          <p:nvPr/>
        </p:nvSpPr>
        <p:spPr>
          <a:xfrm>
            <a:off x="4121658" y="2672842"/>
            <a:ext cx="1031443" cy="406146"/>
          </a:xfrm>
          <a:prstGeom prst="roundRect">
            <a:avLst>
              <a:gd name="adj" fmla="val 15760"/>
            </a:avLst>
          </a:prstGeom>
          <a:solidFill>
            <a:srgbClr val="DCE9F2"/>
          </a:solidFill>
          <a:ln w="12700">
            <a:solidFill>
              <a:srgbClr val="333333"/>
            </a:solidFill>
            <a:prstDash val="solid"/>
          </a:ln>
        </p:spPr>
      </p:sp>
      <p:sp>
        <p:nvSpPr>
          <p:cNvPr id="32" name="Text 30"/>
          <p:cNvSpPr/>
          <p:nvPr/>
        </p:nvSpPr>
        <p:spPr>
          <a:xfrm>
            <a:off x="4194810" y="2713990"/>
            <a:ext cx="885139" cy="323850"/>
          </a:xfrm>
          <a:prstGeom prst="rect">
            <a:avLst/>
          </a:prstGeom>
          <a:noFill/>
          <a:ln/>
        </p:spPr>
        <p:txBody>
          <a:bodyPr wrap="square" lIns="0" tIns="0" rIns="0" bIns="0" rtlCol="0" anchor="t"/>
          <a:lstStyle/>
          <a:p>
            <a:pPr indent="0" marL="0">
              <a:lnSpc>
                <a:spcPts val="850"/>
              </a:lnSpc>
              <a:buNone/>
            </a:pPr>
            <a:r>
              <a:rPr lang="en-US" sz="650" dirty="0">
                <a:solidFill>
                  <a:srgbClr val="1E4E6B"/>
                </a:solidFill>
                <a:latin typeface="Calibri" pitchFamily="34" charset="0"/>
                <a:ea typeface="Calibri" pitchFamily="34" charset="-122"/>
                <a:cs typeface="Calibri" pitchFamily="34" charset="-120"/>
              </a:rPr>
              <a:t>Your section for tonight is GM-3, aisles 10 to 14.</a:t>
            </a:r>
            <a:endParaRPr lang="en-US" sz="650" dirty="0"/>
          </a:p>
        </p:txBody>
      </p:sp>
      <p:sp>
        <p:nvSpPr>
          <p:cNvPr id="33" name="Shape 31"/>
          <p:cNvSpPr/>
          <p:nvPr/>
        </p:nvSpPr>
        <p:spPr>
          <a:xfrm>
            <a:off x="4121658" y="3133852"/>
            <a:ext cx="1031443" cy="406146"/>
          </a:xfrm>
          <a:prstGeom prst="roundRect">
            <a:avLst>
              <a:gd name="adj" fmla="val 15760"/>
            </a:avLst>
          </a:prstGeom>
          <a:solidFill>
            <a:srgbClr val="DCE9F2"/>
          </a:solidFill>
          <a:ln w="12700">
            <a:solidFill>
              <a:srgbClr val="333333"/>
            </a:solidFill>
            <a:prstDash val="solid"/>
          </a:ln>
        </p:spPr>
      </p:sp>
      <p:sp>
        <p:nvSpPr>
          <p:cNvPr id="34" name="Text 32"/>
          <p:cNvSpPr/>
          <p:nvPr/>
        </p:nvSpPr>
        <p:spPr>
          <a:xfrm>
            <a:off x="4194810" y="3175000"/>
            <a:ext cx="885139" cy="323850"/>
          </a:xfrm>
          <a:prstGeom prst="rect">
            <a:avLst/>
          </a:prstGeom>
          <a:noFill/>
          <a:ln/>
        </p:spPr>
        <p:txBody>
          <a:bodyPr wrap="square" lIns="0" tIns="0" rIns="0" bIns="0" rtlCol="0" anchor="t"/>
          <a:lstStyle/>
          <a:p>
            <a:pPr indent="0" marL="0">
              <a:lnSpc>
                <a:spcPts val="850"/>
              </a:lnSpc>
              <a:buNone/>
            </a:pPr>
            <a:r>
              <a:rPr lang="en-US" sz="650" dirty="0">
                <a:solidFill>
                  <a:srgbClr val="1E4E6B"/>
                </a:solidFill>
                <a:latin typeface="Calibri" pitchFamily="34" charset="0"/>
                <a:ea typeface="Calibri" pitchFamily="34" charset="-122"/>
                <a:cs typeface="Calibri" pitchFamily="34" charset="-120"/>
              </a:rPr>
              <a:t>Dee walks the first pass with you. Want me to ping her?</a:t>
            </a:r>
            <a:endParaRPr lang="en-US" sz="650" dirty="0"/>
          </a:p>
        </p:txBody>
      </p:sp>
      <p:sp>
        <p:nvSpPr>
          <p:cNvPr id="35" name="Shape 33"/>
          <p:cNvSpPr/>
          <p:nvPr/>
        </p:nvSpPr>
        <p:spPr>
          <a:xfrm>
            <a:off x="4214927" y="3594862"/>
            <a:ext cx="1031443" cy="190246"/>
          </a:xfrm>
          <a:prstGeom prst="roundRect">
            <a:avLst>
              <a:gd name="adj" fmla="val 33645"/>
            </a:avLst>
          </a:prstGeom>
          <a:solidFill>
            <a:srgbClr val="E2EAF4"/>
          </a:solidFill>
          <a:ln w="12700">
            <a:solidFill>
              <a:srgbClr val="333333"/>
            </a:solidFill>
            <a:prstDash val="solid"/>
          </a:ln>
        </p:spPr>
      </p:sp>
      <p:sp>
        <p:nvSpPr>
          <p:cNvPr id="36" name="Text 34"/>
          <p:cNvSpPr/>
          <p:nvPr/>
        </p:nvSpPr>
        <p:spPr>
          <a:xfrm>
            <a:off x="4288079" y="3636010"/>
            <a:ext cx="885139" cy="107950"/>
          </a:xfrm>
          <a:prstGeom prst="rect">
            <a:avLst/>
          </a:prstGeom>
          <a:noFill/>
          <a:ln/>
        </p:spPr>
        <p:txBody>
          <a:bodyPr wrap="square" lIns="0" tIns="0" rIns="0" bIns="0" rtlCol="0" anchor="t"/>
          <a:lstStyle/>
          <a:p>
            <a:pPr indent="0" marL="0">
              <a:lnSpc>
                <a:spcPts val="850"/>
              </a:lnSpc>
              <a:buNone/>
            </a:pPr>
            <a:r>
              <a:rPr lang="en-US" sz="650" dirty="0">
                <a:solidFill>
                  <a:srgbClr val="1B2338"/>
                </a:solidFill>
                <a:latin typeface="Calibri" pitchFamily="34" charset="0"/>
                <a:ea typeface="Calibri" pitchFamily="34" charset="-122"/>
                <a:cs typeface="Calibri" pitchFamily="34" charset="-120"/>
              </a:rPr>
              <a:t>Yes please</a:t>
            </a:r>
            <a:endParaRPr lang="en-US" sz="650" dirty="0"/>
          </a:p>
        </p:txBody>
      </p:sp>
      <p:sp>
        <p:nvSpPr>
          <p:cNvPr id="37" name="Shape 35"/>
          <p:cNvSpPr/>
          <p:nvPr/>
        </p:nvSpPr>
        <p:spPr>
          <a:xfrm>
            <a:off x="4121658" y="3839972"/>
            <a:ext cx="1031443" cy="406146"/>
          </a:xfrm>
          <a:prstGeom prst="roundRect">
            <a:avLst>
              <a:gd name="adj" fmla="val 15760"/>
            </a:avLst>
          </a:prstGeom>
          <a:solidFill>
            <a:srgbClr val="DCE9F2"/>
          </a:solidFill>
          <a:ln w="12700">
            <a:solidFill>
              <a:srgbClr val="333333"/>
            </a:solidFill>
            <a:prstDash val="solid"/>
          </a:ln>
        </p:spPr>
      </p:sp>
      <p:sp>
        <p:nvSpPr>
          <p:cNvPr id="38" name="Text 36"/>
          <p:cNvSpPr/>
          <p:nvPr/>
        </p:nvSpPr>
        <p:spPr>
          <a:xfrm>
            <a:off x="4194810" y="3881120"/>
            <a:ext cx="885139" cy="323850"/>
          </a:xfrm>
          <a:prstGeom prst="rect">
            <a:avLst/>
          </a:prstGeom>
          <a:noFill/>
          <a:ln/>
        </p:spPr>
        <p:txBody>
          <a:bodyPr wrap="square" lIns="0" tIns="0" rIns="0" bIns="0" rtlCol="0" anchor="t"/>
          <a:lstStyle/>
          <a:p>
            <a:pPr indent="0" marL="0">
              <a:lnSpc>
                <a:spcPts val="850"/>
              </a:lnSpc>
              <a:buNone/>
            </a:pPr>
            <a:r>
              <a:rPr lang="en-US" sz="650" dirty="0">
                <a:solidFill>
                  <a:srgbClr val="1E4E6B"/>
                </a:solidFill>
                <a:latin typeface="Calibri" pitchFamily="34" charset="0"/>
                <a:ea typeface="Calibri" pitchFamily="34" charset="-122"/>
                <a:cs typeface="Calibri" pitchFamily="34" charset="-120"/>
              </a:rPr>
              <a:t>Done. She will meet you at the time clock.</a:t>
            </a:r>
            <a:endParaRPr lang="en-US" sz="650" dirty="0"/>
          </a:p>
        </p:txBody>
      </p:sp>
      <p:sp>
        <p:nvSpPr>
          <p:cNvPr id="39" name="Shape 37"/>
          <p:cNvSpPr/>
          <p:nvPr/>
        </p:nvSpPr>
        <p:spPr>
          <a:xfrm>
            <a:off x="4121658" y="4388224"/>
            <a:ext cx="1124712" cy="182880"/>
          </a:xfrm>
          <a:prstGeom prst="roundRect">
            <a:avLst>
              <a:gd name="adj" fmla="val 50000"/>
            </a:avLst>
          </a:prstGeom>
          <a:solidFill>
            <a:srgbClr val="F1F5FA"/>
          </a:solidFill>
          <a:ln w="9525">
            <a:solidFill>
              <a:srgbClr val="E2EAF4"/>
            </a:solidFill>
            <a:prstDash val="solid"/>
          </a:ln>
        </p:spPr>
      </p:sp>
      <p:sp>
        <p:nvSpPr>
          <p:cNvPr id="40" name="Text 38"/>
          <p:cNvSpPr/>
          <p:nvPr/>
        </p:nvSpPr>
        <p:spPr>
          <a:xfrm>
            <a:off x="4185666" y="4388224"/>
            <a:ext cx="1014984" cy="182880"/>
          </a:xfrm>
          <a:prstGeom prst="rect">
            <a:avLst/>
          </a:prstGeom>
          <a:noFill/>
          <a:ln/>
        </p:spPr>
        <p:txBody>
          <a:bodyPr wrap="square" lIns="0" tIns="0" rIns="0" bIns="0" rtlCol="0" anchor="ctr"/>
          <a:lstStyle/>
          <a:p>
            <a:pPr indent="0" marL="0">
              <a:buNone/>
            </a:pPr>
            <a:r>
              <a:rPr lang="en-US" sz="550" i="1" dirty="0">
                <a:solidFill>
                  <a:srgbClr val="5E6980"/>
                </a:solidFill>
                <a:latin typeface="Calibri" pitchFamily="34" charset="0"/>
                <a:ea typeface="Calibri" pitchFamily="34" charset="-122"/>
                <a:cs typeface="Calibri" pitchFamily="34" charset="-120"/>
              </a:rPr>
              <a:t>Ask anything</a:t>
            </a:r>
            <a:endParaRPr lang="en-US" sz="550" dirty="0"/>
          </a:p>
        </p:txBody>
      </p:sp>
      <p:sp>
        <p:nvSpPr>
          <p:cNvPr id="41" name="Shape 39"/>
          <p:cNvSpPr/>
          <p:nvPr/>
        </p:nvSpPr>
        <p:spPr>
          <a:xfrm>
            <a:off x="3387852" y="4895716"/>
            <a:ext cx="1298448" cy="256032"/>
          </a:xfrm>
          <a:prstGeom prst="roundRect">
            <a:avLst>
              <a:gd name="adj" fmla="val 50000"/>
            </a:avLst>
          </a:prstGeom>
          <a:solidFill>
            <a:srgbClr val="2E4571"/>
          </a:solidFill>
          <a:ln w="12700">
            <a:solidFill>
              <a:srgbClr val="333333"/>
            </a:solidFill>
            <a:prstDash val="solid"/>
          </a:ln>
        </p:spPr>
      </p:sp>
      <p:sp>
        <p:nvSpPr>
          <p:cNvPr id="42" name="Text 40"/>
          <p:cNvSpPr/>
          <p:nvPr/>
        </p:nvSpPr>
        <p:spPr>
          <a:xfrm>
            <a:off x="3387852" y="4895716"/>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Conversational</a:t>
            </a:r>
            <a:endParaRPr lang="en-US" sz="900" dirty="0"/>
          </a:p>
        </p:txBody>
      </p:sp>
      <p:sp>
        <p:nvSpPr>
          <p:cNvPr id="43" name="Text 41"/>
          <p:cNvSpPr/>
          <p:nvPr/>
        </p:nvSpPr>
        <p:spPr>
          <a:xfrm>
            <a:off x="4759452" y="4895716"/>
            <a:ext cx="1220724" cy="256032"/>
          </a:xfrm>
          <a:prstGeom prst="rect">
            <a:avLst/>
          </a:prstGeom>
          <a:noFill/>
          <a:ln/>
        </p:spPr>
        <p:txBody>
          <a:bodyPr wrap="square" lIns="0" tIns="0" rIns="0" bIns="0" rtlCol="0" anchor="ctr"/>
          <a:lstStyle/>
          <a:p>
            <a:pPr indent="0" marL="0">
              <a:buNone/>
            </a:pPr>
            <a:r>
              <a:rPr lang="en-US" sz="900" b="1" dirty="0">
                <a:solidFill>
                  <a:srgbClr val="5E6980"/>
                </a:solidFill>
                <a:latin typeface="Calibri" pitchFamily="34" charset="0"/>
                <a:ea typeface="Calibri" pitchFamily="34" charset="-122"/>
                <a:cs typeface="Calibri" pitchFamily="34" charset="-120"/>
              </a:rPr>
              <a:t>Shift 1</a:t>
            </a:r>
            <a:endParaRPr lang="en-US" sz="900" dirty="0"/>
          </a:p>
        </p:txBody>
      </p:sp>
      <p:sp>
        <p:nvSpPr>
          <p:cNvPr id="44" name="Text 42"/>
          <p:cNvSpPr/>
          <p:nvPr/>
        </p:nvSpPr>
        <p:spPr>
          <a:xfrm>
            <a:off x="3387852" y="5188324"/>
            <a:ext cx="2592324" cy="365760"/>
          </a:xfrm>
          <a:prstGeom prst="rect">
            <a:avLst/>
          </a:prstGeom>
          <a:noFill/>
          <a:ln/>
        </p:spPr>
        <p:txBody>
          <a:bodyPr wrap="square" lIns="0" tIns="0" rIns="0" bIns="0" rtlCol="0" anchor="t"/>
          <a:lstStyle/>
          <a:p>
            <a:pPr indent="0" marL="0">
              <a:lnSpc>
                <a:spcPts val="1700"/>
              </a:lnSpc>
              <a:buNone/>
            </a:pPr>
            <a:r>
              <a:rPr lang="en-US" sz="1400" b="1" dirty="0">
                <a:solidFill>
                  <a:srgbClr val="16233B"/>
                </a:solidFill>
                <a:latin typeface="Cambria" pitchFamily="34" charset="0"/>
                <a:ea typeface="Cambria" pitchFamily="34" charset="-122"/>
                <a:cs typeface="Cambria" pitchFamily="34" charset="-120"/>
              </a:rPr>
              <a:t>Zero-tenure vocabulary</a:t>
            </a:r>
            <a:endParaRPr lang="en-US" sz="1400" dirty="0"/>
          </a:p>
        </p:txBody>
      </p:sp>
      <p:sp>
        <p:nvSpPr>
          <p:cNvPr id="45" name="Shape 43"/>
          <p:cNvSpPr/>
          <p:nvPr/>
        </p:nvSpPr>
        <p:spPr>
          <a:xfrm>
            <a:off x="6809994" y="1901952"/>
            <a:ext cx="1389888" cy="2865748"/>
          </a:xfrm>
          <a:prstGeom prst="roundRect">
            <a:avLst>
              <a:gd name="adj" fmla="val 9211"/>
            </a:avLst>
          </a:prstGeom>
          <a:solidFill>
            <a:srgbClr val="16233B"/>
          </a:solidFill>
          <a:ln w="12700">
            <a:solidFill>
              <a:srgbClr val="2E4571"/>
            </a:solidFill>
            <a:prstDash val="solid"/>
          </a:ln>
        </p:spPr>
      </p:sp>
      <p:sp>
        <p:nvSpPr>
          <p:cNvPr id="46" name="Shape 44"/>
          <p:cNvSpPr/>
          <p:nvPr/>
        </p:nvSpPr>
        <p:spPr>
          <a:xfrm>
            <a:off x="6860286" y="1952244"/>
            <a:ext cx="1289304" cy="2765164"/>
          </a:xfrm>
          <a:prstGeom prst="roundRect">
            <a:avLst>
              <a:gd name="adj" fmla="val 7092"/>
            </a:avLst>
          </a:prstGeom>
          <a:solidFill>
            <a:srgbClr val="FFFFFF"/>
          </a:solidFill>
          <a:ln w="12700">
            <a:solidFill>
              <a:srgbClr val="333333"/>
            </a:solidFill>
            <a:prstDash val="solid"/>
          </a:ln>
        </p:spPr>
      </p:sp>
      <p:sp>
        <p:nvSpPr>
          <p:cNvPr id="47" name="Shape 45"/>
          <p:cNvSpPr/>
          <p:nvPr/>
        </p:nvSpPr>
        <p:spPr>
          <a:xfrm>
            <a:off x="7303770" y="1963217"/>
            <a:ext cx="402336" cy="68580"/>
          </a:xfrm>
          <a:prstGeom prst="roundRect">
            <a:avLst>
              <a:gd name="adj" fmla="val 49333"/>
            </a:avLst>
          </a:prstGeom>
          <a:solidFill>
            <a:srgbClr val="16233B"/>
          </a:solidFill>
          <a:ln w="12700">
            <a:solidFill>
              <a:srgbClr val="333333"/>
            </a:solidFill>
            <a:prstDash val="solid"/>
          </a:ln>
        </p:spPr>
      </p:sp>
      <p:sp>
        <p:nvSpPr>
          <p:cNvPr id="48" name="Shape 46"/>
          <p:cNvSpPr/>
          <p:nvPr/>
        </p:nvSpPr>
        <p:spPr>
          <a:xfrm>
            <a:off x="7285482" y="4644256"/>
            <a:ext cx="438912" cy="25603"/>
          </a:xfrm>
          <a:prstGeom prst="roundRect">
            <a:avLst>
              <a:gd name="adj" fmla="val 50000"/>
            </a:avLst>
          </a:prstGeom>
          <a:solidFill>
            <a:srgbClr val="C6CFDD"/>
          </a:solidFill>
          <a:ln w="12700">
            <a:solidFill>
              <a:srgbClr val="333333"/>
            </a:solidFill>
            <a:prstDash val="solid"/>
          </a:ln>
        </p:spPr>
      </p:sp>
      <p:sp>
        <p:nvSpPr>
          <p:cNvPr id="49" name="Text 47"/>
          <p:cNvSpPr/>
          <p:nvPr/>
        </p:nvSpPr>
        <p:spPr>
          <a:xfrm>
            <a:off x="6951726" y="1965960"/>
            <a:ext cx="1106424" cy="146304"/>
          </a:xfrm>
          <a:prstGeom prst="rect">
            <a:avLst/>
          </a:prstGeom>
          <a:noFill/>
          <a:ln/>
        </p:spPr>
        <p:txBody>
          <a:bodyPr wrap="square" lIns="0" tIns="0" rIns="0" bIns="0" rtlCol="0" anchor="ctr"/>
          <a:lstStyle/>
          <a:p>
            <a:pPr indent="0" marL="0">
              <a:buNone/>
            </a:pPr>
            <a:r>
              <a:rPr lang="en-US" sz="600" b="1" dirty="0">
                <a:solidFill>
                  <a:srgbClr val="1B2338"/>
                </a:solidFill>
                <a:latin typeface="Calibri" pitchFamily="34" charset="0"/>
                <a:ea typeface="Calibri" pitchFamily="34" charset="-122"/>
                <a:cs typeface="Calibri" pitchFamily="34" charset="-120"/>
              </a:rPr>
              <a:t>18:02</a:t>
            </a:r>
            <a:endParaRPr lang="en-US" sz="600" dirty="0"/>
          </a:p>
        </p:txBody>
      </p:sp>
      <p:sp>
        <p:nvSpPr>
          <p:cNvPr id="50" name="Text 48"/>
          <p:cNvSpPr/>
          <p:nvPr/>
        </p:nvSpPr>
        <p:spPr>
          <a:xfrm>
            <a:off x="6951726" y="1965960"/>
            <a:ext cx="1106424" cy="146304"/>
          </a:xfrm>
          <a:prstGeom prst="rect">
            <a:avLst/>
          </a:prstGeom>
          <a:noFill/>
          <a:ln/>
        </p:spPr>
        <p:txBody>
          <a:bodyPr wrap="square" lIns="0" tIns="0" rIns="0" bIns="0" rtlCol="0" anchor="ctr"/>
          <a:lstStyle/>
          <a:p>
            <a:pPr algn="r" indent="0" marL="0">
              <a:buNone/>
            </a:pPr>
            <a:r>
              <a:rPr lang="en-US" sz="500" dirty="0">
                <a:solidFill>
                  <a:srgbClr val="5E6980"/>
                </a:solidFill>
                <a:latin typeface="Calibri" pitchFamily="34" charset="0"/>
                <a:ea typeface="Calibri" pitchFamily="34" charset="-122"/>
                <a:cs typeface="Calibri" pitchFamily="34" charset="-120"/>
              </a:rPr>
              <a:t>▮▮▮</a:t>
            </a:r>
            <a:endParaRPr lang="en-US" sz="500" dirty="0"/>
          </a:p>
        </p:txBody>
      </p:sp>
      <p:sp>
        <p:nvSpPr>
          <p:cNvPr id="51" name="Shape 49"/>
          <p:cNvSpPr/>
          <p:nvPr/>
        </p:nvSpPr>
        <p:spPr>
          <a:xfrm>
            <a:off x="6860286" y="2135124"/>
            <a:ext cx="1289304" cy="219456"/>
          </a:xfrm>
          <a:prstGeom prst="rect">
            <a:avLst/>
          </a:prstGeom>
          <a:solidFill>
            <a:srgbClr val="D9922B"/>
          </a:solidFill>
          <a:ln w="12700">
            <a:solidFill>
              <a:srgbClr val="333333"/>
            </a:solidFill>
            <a:prstDash val="solid"/>
          </a:ln>
        </p:spPr>
      </p:sp>
      <p:sp>
        <p:nvSpPr>
          <p:cNvPr id="52" name="Text 50"/>
          <p:cNvSpPr/>
          <p:nvPr/>
        </p:nvSpPr>
        <p:spPr>
          <a:xfrm>
            <a:off x="6951726" y="2135124"/>
            <a:ext cx="1106424" cy="219456"/>
          </a:xfrm>
          <a:prstGeom prst="rect">
            <a:avLst/>
          </a:prstGeom>
          <a:noFill/>
          <a:ln/>
        </p:spPr>
        <p:txBody>
          <a:bodyPr wrap="square" lIns="0" tIns="0" rIns="0" bIns="0" rtlCol="0" anchor="ctr"/>
          <a:lstStyle/>
          <a:p>
            <a:pPr indent="0" marL="0">
              <a:buNone/>
            </a:pPr>
            <a:r>
              <a:rPr lang="en-US" sz="650" b="1" dirty="0">
                <a:solidFill>
                  <a:srgbClr val="FFFFFF"/>
                </a:solidFill>
                <a:latin typeface="Calibri" pitchFamily="34" charset="0"/>
                <a:ea typeface="Calibri" pitchFamily="34" charset="-122"/>
                <a:cs typeface="Calibri" pitchFamily="34" charset="-120"/>
              </a:rPr>
              <a:t>You earned a pick</a:t>
            </a:r>
            <a:endParaRPr lang="en-US" sz="650" dirty="0"/>
          </a:p>
        </p:txBody>
      </p:sp>
      <p:sp>
        <p:nvSpPr>
          <p:cNvPr id="53" name="Text 51"/>
          <p:cNvSpPr/>
          <p:nvPr/>
        </p:nvSpPr>
        <p:spPr>
          <a:xfrm>
            <a:off x="6951726" y="2409444"/>
            <a:ext cx="1106424" cy="146304"/>
          </a:xfrm>
          <a:prstGeom prst="rect">
            <a:avLst/>
          </a:prstGeom>
          <a:noFill/>
          <a:ln/>
        </p:spPr>
        <p:txBody>
          <a:bodyPr wrap="square" lIns="0" tIns="0" rIns="0" bIns="0" rtlCol="0" anchor="ctr"/>
          <a:lstStyle/>
          <a:p>
            <a:pPr indent="0" marL="0">
              <a:buNone/>
            </a:pPr>
            <a:r>
              <a:rPr lang="en-US" sz="600" dirty="0">
                <a:solidFill>
                  <a:srgbClr val="5E6980"/>
                </a:solidFill>
                <a:latin typeface="Calibri" pitchFamily="34" charset="0"/>
                <a:ea typeface="Calibri" pitchFamily="34" charset="-122"/>
                <a:cs typeface="Calibri" pitchFamily="34" charset="-120"/>
              </a:rPr>
              <a:t>5 shifts. All trainings done.</a:t>
            </a:r>
            <a:endParaRPr lang="en-US" sz="600" dirty="0"/>
          </a:p>
        </p:txBody>
      </p:sp>
      <p:sp>
        <p:nvSpPr>
          <p:cNvPr id="54" name="Shape 52"/>
          <p:cNvSpPr/>
          <p:nvPr/>
        </p:nvSpPr>
        <p:spPr>
          <a:xfrm>
            <a:off x="6942582" y="2610612"/>
            <a:ext cx="1124712" cy="256032"/>
          </a:xfrm>
          <a:prstGeom prst="roundRect">
            <a:avLst>
              <a:gd name="adj" fmla="val 21429"/>
            </a:avLst>
          </a:prstGeom>
          <a:solidFill>
            <a:srgbClr val="FAECD4"/>
          </a:solidFill>
          <a:ln w="12700">
            <a:solidFill>
              <a:srgbClr val="D9922B"/>
            </a:solidFill>
            <a:prstDash val="solid"/>
          </a:ln>
        </p:spPr>
      </p:sp>
      <p:sp>
        <p:nvSpPr>
          <p:cNvPr id="55" name="Shape 53"/>
          <p:cNvSpPr/>
          <p:nvPr/>
        </p:nvSpPr>
        <p:spPr>
          <a:xfrm>
            <a:off x="7015734" y="2697480"/>
            <a:ext cx="82296" cy="82296"/>
          </a:xfrm>
          <a:prstGeom prst="ellipse">
            <a:avLst/>
          </a:prstGeom>
          <a:solidFill>
            <a:srgbClr val="D9922B"/>
          </a:solidFill>
          <a:ln w="9525">
            <a:solidFill>
              <a:srgbClr val="D9922B"/>
            </a:solidFill>
            <a:prstDash val="solid"/>
          </a:ln>
        </p:spPr>
      </p:sp>
      <p:sp>
        <p:nvSpPr>
          <p:cNvPr id="56" name="Text 54"/>
          <p:cNvSpPr/>
          <p:nvPr/>
        </p:nvSpPr>
        <p:spPr>
          <a:xfrm>
            <a:off x="7143750" y="2610612"/>
            <a:ext cx="923544" cy="256032"/>
          </a:xfrm>
          <a:prstGeom prst="rect">
            <a:avLst/>
          </a:prstGeom>
          <a:noFill/>
          <a:ln/>
        </p:spPr>
        <p:txBody>
          <a:bodyPr wrap="square" lIns="0" tIns="0" rIns="0" bIns="0" rtlCol="0" anchor="ctr"/>
          <a:lstStyle/>
          <a:p>
            <a:pPr indent="0" marL="0">
              <a:buNone/>
            </a:pPr>
            <a:r>
              <a:rPr lang="en-US" sz="600" dirty="0">
                <a:solidFill>
                  <a:srgbClr val="1B2338"/>
                </a:solidFill>
                <a:latin typeface="Calibri" pitchFamily="34" charset="0"/>
                <a:ea typeface="Calibri" pitchFamily="34" charset="-122"/>
                <a:cs typeface="Calibri" pitchFamily="34" charset="-120"/>
              </a:rPr>
              <a:t>$15 gift card</a:t>
            </a:r>
            <a:endParaRPr lang="en-US" sz="600" dirty="0"/>
          </a:p>
        </p:txBody>
      </p:sp>
      <p:sp>
        <p:nvSpPr>
          <p:cNvPr id="57" name="Shape 55"/>
          <p:cNvSpPr/>
          <p:nvPr/>
        </p:nvSpPr>
        <p:spPr>
          <a:xfrm>
            <a:off x="6942582" y="2921508"/>
            <a:ext cx="1124712" cy="256032"/>
          </a:xfrm>
          <a:prstGeom prst="roundRect">
            <a:avLst>
              <a:gd name="adj" fmla="val 21429"/>
            </a:avLst>
          </a:prstGeom>
          <a:solidFill>
            <a:srgbClr val="F1F5FA"/>
          </a:solidFill>
          <a:ln w="9525">
            <a:solidFill>
              <a:srgbClr val="E2EAF4"/>
            </a:solidFill>
            <a:prstDash val="solid"/>
          </a:ln>
        </p:spPr>
      </p:sp>
      <p:sp>
        <p:nvSpPr>
          <p:cNvPr id="58" name="Shape 56"/>
          <p:cNvSpPr/>
          <p:nvPr/>
        </p:nvSpPr>
        <p:spPr>
          <a:xfrm>
            <a:off x="7015734" y="3008376"/>
            <a:ext cx="82296" cy="82296"/>
          </a:xfrm>
          <a:prstGeom prst="ellipse">
            <a:avLst/>
          </a:prstGeom>
          <a:solidFill>
            <a:srgbClr val="FFFFFF"/>
          </a:solidFill>
          <a:ln w="9525">
            <a:solidFill>
              <a:srgbClr val="C6CFDD"/>
            </a:solidFill>
            <a:prstDash val="solid"/>
          </a:ln>
        </p:spPr>
      </p:sp>
      <p:sp>
        <p:nvSpPr>
          <p:cNvPr id="59" name="Text 57"/>
          <p:cNvSpPr/>
          <p:nvPr/>
        </p:nvSpPr>
        <p:spPr>
          <a:xfrm>
            <a:off x="7143750" y="2921508"/>
            <a:ext cx="923544" cy="256032"/>
          </a:xfrm>
          <a:prstGeom prst="rect">
            <a:avLst/>
          </a:prstGeom>
          <a:noFill/>
          <a:ln/>
        </p:spPr>
        <p:txBody>
          <a:bodyPr wrap="square" lIns="0" tIns="0" rIns="0" bIns="0" rtlCol="0" anchor="ctr"/>
          <a:lstStyle/>
          <a:p>
            <a:pPr indent="0" marL="0">
              <a:buNone/>
            </a:pPr>
            <a:r>
              <a:rPr lang="en-US" sz="600" dirty="0">
                <a:solidFill>
                  <a:srgbClr val="1B2338"/>
                </a:solidFill>
                <a:latin typeface="Calibri" pitchFamily="34" charset="0"/>
                <a:ea typeface="Calibri" pitchFamily="34" charset="-122"/>
                <a:cs typeface="Calibri" pitchFamily="34" charset="-120"/>
              </a:rPr>
              <a:t>Free lunch on shift</a:t>
            </a:r>
            <a:endParaRPr lang="en-US" sz="600" dirty="0"/>
          </a:p>
        </p:txBody>
      </p:sp>
      <p:sp>
        <p:nvSpPr>
          <p:cNvPr id="60" name="Shape 58"/>
          <p:cNvSpPr/>
          <p:nvPr/>
        </p:nvSpPr>
        <p:spPr>
          <a:xfrm>
            <a:off x="6942582" y="3232404"/>
            <a:ext cx="1124712" cy="256032"/>
          </a:xfrm>
          <a:prstGeom prst="roundRect">
            <a:avLst>
              <a:gd name="adj" fmla="val 21429"/>
            </a:avLst>
          </a:prstGeom>
          <a:solidFill>
            <a:srgbClr val="F1F5FA"/>
          </a:solidFill>
          <a:ln w="9525">
            <a:solidFill>
              <a:srgbClr val="E2EAF4"/>
            </a:solidFill>
            <a:prstDash val="solid"/>
          </a:ln>
        </p:spPr>
      </p:sp>
      <p:sp>
        <p:nvSpPr>
          <p:cNvPr id="61" name="Shape 59"/>
          <p:cNvSpPr/>
          <p:nvPr/>
        </p:nvSpPr>
        <p:spPr>
          <a:xfrm>
            <a:off x="7015734" y="3319272"/>
            <a:ext cx="82296" cy="82296"/>
          </a:xfrm>
          <a:prstGeom prst="ellipse">
            <a:avLst/>
          </a:prstGeom>
          <a:solidFill>
            <a:srgbClr val="FFFFFF"/>
          </a:solidFill>
          <a:ln w="9525">
            <a:solidFill>
              <a:srgbClr val="C6CFDD"/>
            </a:solidFill>
            <a:prstDash val="solid"/>
          </a:ln>
        </p:spPr>
      </p:sp>
      <p:sp>
        <p:nvSpPr>
          <p:cNvPr id="62" name="Text 60"/>
          <p:cNvSpPr/>
          <p:nvPr/>
        </p:nvSpPr>
        <p:spPr>
          <a:xfrm>
            <a:off x="7143750" y="3232404"/>
            <a:ext cx="923544" cy="256032"/>
          </a:xfrm>
          <a:prstGeom prst="rect">
            <a:avLst/>
          </a:prstGeom>
          <a:noFill/>
          <a:ln/>
        </p:spPr>
        <p:txBody>
          <a:bodyPr wrap="square" lIns="0" tIns="0" rIns="0" bIns="0" rtlCol="0" anchor="ctr"/>
          <a:lstStyle/>
          <a:p>
            <a:pPr indent="0" marL="0">
              <a:buNone/>
            </a:pPr>
            <a:r>
              <a:rPr lang="en-US" sz="600" dirty="0">
                <a:solidFill>
                  <a:srgbClr val="1B2338"/>
                </a:solidFill>
                <a:latin typeface="Calibri" pitchFamily="34" charset="0"/>
                <a:ea typeface="Calibri" pitchFamily="34" charset="-122"/>
                <a:cs typeface="Calibri" pitchFamily="34" charset="-120"/>
              </a:rPr>
              <a:t>5 stock-sweepstake entries</a:t>
            </a:r>
            <a:endParaRPr lang="en-US" sz="600" dirty="0"/>
          </a:p>
        </p:txBody>
      </p:sp>
      <p:sp>
        <p:nvSpPr>
          <p:cNvPr id="63" name="Shape 61"/>
          <p:cNvSpPr/>
          <p:nvPr/>
        </p:nvSpPr>
        <p:spPr>
          <a:xfrm>
            <a:off x="6942582" y="3543300"/>
            <a:ext cx="1124712" cy="256032"/>
          </a:xfrm>
          <a:prstGeom prst="roundRect">
            <a:avLst>
              <a:gd name="adj" fmla="val 21429"/>
            </a:avLst>
          </a:prstGeom>
          <a:solidFill>
            <a:srgbClr val="F1F5FA"/>
          </a:solidFill>
          <a:ln w="9525">
            <a:solidFill>
              <a:srgbClr val="E2EAF4"/>
            </a:solidFill>
            <a:prstDash val="solid"/>
          </a:ln>
        </p:spPr>
      </p:sp>
      <p:sp>
        <p:nvSpPr>
          <p:cNvPr id="64" name="Shape 62"/>
          <p:cNvSpPr/>
          <p:nvPr/>
        </p:nvSpPr>
        <p:spPr>
          <a:xfrm>
            <a:off x="7015734" y="3630168"/>
            <a:ext cx="82296" cy="82296"/>
          </a:xfrm>
          <a:prstGeom prst="ellipse">
            <a:avLst/>
          </a:prstGeom>
          <a:solidFill>
            <a:srgbClr val="FFFFFF"/>
          </a:solidFill>
          <a:ln w="9525">
            <a:solidFill>
              <a:srgbClr val="C6CFDD"/>
            </a:solidFill>
            <a:prstDash val="solid"/>
          </a:ln>
        </p:spPr>
      </p:sp>
      <p:sp>
        <p:nvSpPr>
          <p:cNvPr id="65" name="Text 63"/>
          <p:cNvSpPr/>
          <p:nvPr/>
        </p:nvSpPr>
        <p:spPr>
          <a:xfrm>
            <a:off x="7143750" y="3543300"/>
            <a:ext cx="923544" cy="256032"/>
          </a:xfrm>
          <a:prstGeom prst="rect">
            <a:avLst/>
          </a:prstGeom>
          <a:noFill/>
          <a:ln/>
        </p:spPr>
        <p:txBody>
          <a:bodyPr wrap="square" lIns="0" tIns="0" rIns="0" bIns="0" rtlCol="0" anchor="ctr"/>
          <a:lstStyle/>
          <a:p>
            <a:pPr indent="0" marL="0">
              <a:buNone/>
            </a:pPr>
            <a:r>
              <a:rPr lang="en-US" sz="600" dirty="0">
                <a:solidFill>
                  <a:srgbClr val="1B2338"/>
                </a:solidFill>
                <a:latin typeface="Calibri" pitchFamily="34" charset="0"/>
                <a:ea typeface="Calibri" pitchFamily="34" charset="-122"/>
                <a:cs typeface="Calibri" pitchFamily="34" charset="-120"/>
              </a:rPr>
              <a:t>$15 to a cause you pick</a:t>
            </a:r>
            <a:endParaRPr lang="en-US" sz="600" dirty="0"/>
          </a:p>
        </p:txBody>
      </p:sp>
      <p:sp>
        <p:nvSpPr>
          <p:cNvPr id="66" name="Shape 64"/>
          <p:cNvSpPr/>
          <p:nvPr/>
        </p:nvSpPr>
        <p:spPr>
          <a:xfrm>
            <a:off x="6942582" y="4333360"/>
            <a:ext cx="1124712" cy="237744"/>
          </a:xfrm>
          <a:prstGeom prst="roundRect">
            <a:avLst>
              <a:gd name="adj" fmla="val 23077"/>
            </a:avLst>
          </a:prstGeom>
          <a:solidFill>
            <a:srgbClr val="D9922B"/>
          </a:solidFill>
          <a:ln w="12700">
            <a:solidFill>
              <a:srgbClr val="333333"/>
            </a:solidFill>
            <a:prstDash val="solid"/>
          </a:ln>
        </p:spPr>
      </p:sp>
      <p:sp>
        <p:nvSpPr>
          <p:cNvPr id="67" name="Text 65"/>
          <p:cNvSpPr/>
          <p:nvPr/>
        </p:nvSpPr>
        <p:spPr>
          <a:xfrm>
            <a:off x="6942582" y="4333360"/>
            <a:ext cx="1124712" cy="237744"/>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Claim it</a:t>
            </a:r>
            <a:endParaRPr lang="en-US" sz="650" dirty="0"/>
          </a:p>
        </p:txBody>
      </p:sp>
      <p:sp>
        <p:nvSpPr>
          <p:cNvPr id="68" name="Shape 66"/>
          <p:cNvSpPr/>
          <p:nvPr/>
        </p:nvSpPr>
        <p:spPr>
          <a:xfrm>
            <a:off x="6208776" y="4895716"/>
            <a:ext cx="1298448" cy="256032"/>
          </a:xfrm>
          <a:prstGeom prst="roundRect">
            <a:avLst>
              <a:gd name="adj" fmla="val 50000"/>
            </a:avLst>
          </a:prstGeom>
          <a:solidFill>
            <a:srgbClr val="D9922B"/>
          </a:solidFill>
          <a:ln w="12700">
            <a:solidFill>
              <a:srgbClr val="333333"/>
            </a:solidFill>
            <a:prstDash val="solid"/>
          </a:ln>
        </p:spPr>
      </p:sp>
      <p:sp>
        <p:nvSpPr>
          <p:cNvPr id="69" name="Text 67"/>
          <p:cNvSpPr/>
          <p:nvPr/>
        </p:nvSpPr>
        <p:spPr>
          <a:xfrm>
            <a:off x="6208776" y="4895716"/>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Reward</a:t>
            </a:r>
            <a:endParaRPr lang="en-US" sz="900" dirty="0"/>
          </a:p>
        </p:txBody>
      </p:sp>
      <p:sp>
        <p:nvSpPr>
          <p:cNvPr id="70" name="Text 68"/>
          <p:cNvSpPr/>
          <p:nvPr/>
        </p:nvSpPr>
        <p:spPr>
          <a:xfrm>
            <a:off x="7580376" y="4895716"/>
            <a:ext cx="1220724" cy="256032"/>
          </a:xfrm>
          <a:prstGeom prst="rect">
            <a:avLst/>
          </a:prstGeom>
          <a:noFill/>
          <a:ln/>
        </p:spPr>
        <p:txBody>
          <a:bodyPr wrap="square" lIns="0" tIns="0" rIns="0" bIns="0" rtlCol="0" anchor="ctr"/>
          <a:lstStyle/>
          <a:p>
            <a:pPr indent="0" marL="0">
              <a:buNone/>
            </a:pPr>
            <a:r>
              <a:rPr lang="en-US" sz="900" b="1" dirty="0">
                <a:solidFill>
                  <a:srgbClr val="5E6980"/>
                </a:solidFill>
                <a:latin typeface="Calibri" pitchFamily="34" charset="0"/>
                <a:ea typeface="Calibri" pitchFamily="34" charset="-122"/>
                <a:cs typeface="Calibri" pitchFamily="34" charset="-120"/>
              </a:rPr>
              <a:t>Week 1</a:t>
            </a:r>
            <a:endParaRPr lang="en-US" sz="900" dirty="0"/>
          </a:p>
        </p:txBody>
      </p:sp>
      <p:sp>
        <p:nvSpPr>
          <p:cNvPr id="71" name="Text 69"/>
          <p:cNvSpPr/>
          <p:nvPr/>
        </p:nvSpPr>
        <p:spPr>
          <a:xfrm>
            <a:off x="6208776" y="5188324"/>
            <a:ext cx="2592324" cy="365760"/>
          </a:xfrm>
          <a:prstGeom prst="rect">
            <a:avLst/>
          </a:prstGeom>
          <a:noFill/>
          <a:ln/>
        </p:spPr>
        <p:txBody>
          <a:bodyPr wrap="square" lIns="0" tIns="0" rIns="0" bIns="0" rtlCol="0" anchor="t"/>
          <a:lstStyle/>
          <a:p>
            <a:pPr indent="0" marL="0">
              <a:lnSpc>
                <a:spcPts val="1700"/>
              </a:lnSpc>
              <a:buNone/>
            </a:pPr>
            <a:r>
              <a:rPr lang="en-US" sz="1400" b="1" dirty="0">
                <a:solidFill>
                  <a:srgbClr val="8A5A11"/>
                </a:solidFill>
                <a:latin typeface="Cambria" pitchFamily="34" charset="0"/>
                <a:ea typeface="Cambria" pitchFamily="34" charset="-122"/>
                <a:cs typeface="Cambria" pitchFamily="34" charset="-120"/>
              </a:rPr>
              <a:t>Real reward, her choice</a:t>
            </a:r>
            <a:endParaRPr lang="en-US" sz="1400" dirty="0"/>
          </a:p>
        </p:txBody>
      </p:sp>
      <p:sp>
        <p:nvSpPr>
          <p:cNvPr id="72" name="Shape 70"/>
          <p:cNvSpPr/>
          <p:nvPr/>
        </p:nvSpPr>
        <p:spPr>
          <a:xfrm>
            <a:off x="9630918" y="1901952"/>
            <a:ext cx="1389888" cy="2865748"/>
          </a:xfrm>
          <a:prstGeom prst="roundRect">
            <a:avLst>
              <a:gd name="adj" fmla="val 9211"/>
            </a:avLst>
          </a:prstGeom>
          <a:solidFill>
            <a:srgbClr val="16233B"/>
          </a:solidFill>
          <a:ln w="12700">
            <a:solidFill>
              <a:srgbClr val="2E4571"/>
            </a:solidFill>
            <a:prstDash val="solid"/>
          </a:ln>
        </p:spPr>
      </p:sp>
      <p:sp>
        <p:nvSpPr>
          <p:cNvPr id="73" name="Shape 71"/>
          <p:cNvSpPr/>
          <p:nvPr/>
        </p:nvSpPr>
        <p:spPr>
          <a:xfrm>
            <a:off x="9681210" y="1952244"/>
            <a:ext cx="1289304" cy="2765164"/>
          </a:xfrm>
          <a:prstGeom prst="roundRect">
            <a:avLst>
              <a:gd name="adj" fmla="val 7092"/>
            </a:avLst>
          </a:prstGeom>
          <a:solidFill>
            <a:srgbClr val="FFFFFF"/>
          </a:solidFill>
          <a:ln w="12700">
            <a:solidFill>
              <a:srgbClr val="333333"/>
            </a:solidFill>
            <a:prstDash val="solid"/>
          </a:ln>
        </p:spPr>
      </p:sp>
      <p:sp>
        <p:nvSpPr>
          <p:cNvPr id="74" name="Shape 72"/>
          <p:cNvSpPr/>
          <p:nvPr/>
        </p:nvSpPr>
        <p:spPr>
          <a:xfrm>
            <a:off x="10124694" y="1963217"/>
            <a:ext cx="402336" cy="68580"/>
          </a:xfrm>
          <a:prstGeom prst="roundRect">
            <a:avLst>
              <a:gd name="adj" fmla="val 49333"/>
            </a:avLst>
          </a:prstGeom>
          <a:solidFill>
            <a:srgbClr val="16233B"/>
          </a:solidFill>
          <a:ln w="12700">
            <a:solidFill>
              <a:srgbClr val="333333"/>
            </a:solidFill>
            <a:prstDash val="solid"/>
          </a:ln>
        </p:spPr>
      </p:sp>
      <p:sp>
        <p:nvSpPr>
          <p:cNvPr id="75" name="Shape 73"/>
          <p:cNvSpPr/>
          <p:nvPr/>
        </p:nvSpPr>
        <p:spPr>
          <a:xfrm>
            <a:off x="10106406" y="4644256"/>
            <a:ext cx="438912" cy="25603"/>
          </a:xfrm>
          <a:prstGeom prst="roundRect">
            <a:avLst>
              <a:gd name="adj" fmla="val 50000"/>
            </a:avLst>
          </a:prstGeom>
          <a:solidFill>
            <a:srgbClr val="C6CFDD"/>
          </a:solidFill>
          <a:ln w="12700">
            <a:solidFill>
              <a:srgbClr val="333333"/>
            </a:solidFill>
            <a:prstDash val="solid"/>
          </a:ln>
        </p:spPr>
      </p:sp>
      <p:sp>
        <p:nvSpPr>
          <p:cNvPr id="76" name="Text 74"/>
          <p:cNvSpPr/>
          <p:nvPr/>
        </p:nvSpPr>
        <p:spPr>
          <a:xfrm>
            <a:off x="9772650" y="1965960"/>
            <a:ext cx="1106424" cy="146304"/>
          </a:xfrm>
          <a:prstGeom prst="rect">
            <a:avLst/>
          </a:prstGeom>
          <a:noFill/>
          <a:ln/>
        </p:spPr>
        <p:txBody>
          <a:bodyPr wrap="square" lIns="0" tIns="0" rIns="0" bIns="0" rtlCol="0" anchor="ctr"/>
          <a:lstStyle/>
          <a:p>
            <a:pPr indent="0" marL="0">
              <a:buNone/>
            </a:pPr>
            <a:r>
              <a:rPr lang="en-US" sz="600" b="1" dirty="0">
                <a:solidFill>
                  <a:srgbClr val="1B2338"/>
                </a:solidFill>
                <a:latin typeface="Calibri" pitchFamily="34" charset="0"/>
                <a:ea typeface="Calibri" pitchFamily="34" charset="-122"/>
                <a:cs typeface="Calibri" pitchFamily="34" charset="-120"/>
              </a:rPr>
              <a:t>07:30</a:t>
            </a:r>
            <a:endParaRPr lang="en-US" sz="600" dirty="0"/>
          </a:p>
        </p:txBody>
      </p:sp>
      <p:sp>
        <p:nvSpPr>
          <p:cNvPr id="77" name="Text 75"/>
          <p:cNvSpPr/>
          <p:nvPr/>
        </p:nvSpPr>
        <p:spPr>
          <a:xfrm>
            <a:off x="9772650" y="1965960"/>
            <a:ext cx="1106424" cy="146304"/>
          </a:xfrm>
          <a:prstGeom prst="rect">
            <a:avLst/>
          </a:prstGeom>
          <a:noFill/>
          <a:ln/>
        </p:spPr>
        <p:txBody>
          <a:bodyPr wrap="square" lIns="0" tIns="0" rIns="0" bIns="0" rtlCol="0" anchor="ctr"/>
          <a:lstStyle/>
          <a:p>
            <a:pPr algn="r" indent="0" marL="0">
              <a:buNone/>
            </a:pPr>
            <a:r>
              <a:rPr lang="en-US" sz="500" dirty="0">
                <a:solidFill>
                  <a:srgbClr val="5E6980"/>
                </a:solidFill>
                <a:latin typeface="Calibri" pitchFamily="34" charset="0"/>
                <a:ea typeface="Calibri" pitchFamily="34" charset="-122"/>
                <a:cs typeface="Calibri" pitchFamily="34" charset="-120"/>
              </a:rPr>
              <a:t>▮▮▮</a:t>
            </a:r>
            <a:endParaRPr lang="en-US" sz="500" dirty="0"/>
          </a:p>
        </p:txBody>
      </p:sp>
      <p:sp>
        <p:nvSpPr>
          <p:cNvPr id="78" name="Shape 76"/>
          <p:cNvSpPr/>
          <p:nvPr/>
        </p:nvSpPr>
        <p:spPr>
          <a:xfrm>
            <a:off x="9681210" y="2135124"/>
            <a:ext cx="1289304" cy="219456"/>
          </a:xfrm>
          <a:prstGeom prst="rect">
            <a:avLst/>
          </a:prstGeom>
          <a:solidFill>
            <a:srgbClr val="44795A"/>
          </a:solidFill>
          <a:ln w="12700">
            <a:solidFill>
              <a:srgbClr val="333333"/>
            </a:solidFill>
            <a:prstDash val="solid"/>
          </a:ln>
        </p:spPr>
      </p:sp>
      <p:sp>
        <p:nvSpPr>
          <p:cNvPr id="79" name="Text 77"/>
          <p:cNvSpPr/>
          <p:nvPr/>
        </p:nvSpPr>
        <p:spPr>
          <a:xfrm>
            <a:off x="9772650" y="2135124"/>
            <a:ext cx="1106424" cy="219456"/>
          </a:xfrm>
          <a:prstGeom prst="rect">
            <a:avLst/>
          </a:prstGeom>
          <a:noFill/>
          <a:ln/>
        </p:spPr>
        <p:txBody>
          <a:bodyPr wrap="square" lIns="0" tIns="0" rIns="0" bIns="0" rtlCol="0" anchor="ctr"/>
          <a:lstStyle/>
          <a:p>
            <a:pPr indent="0" marL="0">
              <a:buNone/>
            </a:pPr>
            <a:r>
              <a:rPr lang="en-US" sz="650" b="1" dirty="0">
                <a:solidFill>
                  <a:srgbClr val="FFFFFF"/>
                </a:solidFill>
                <a:latin typeface="Calibri" pitchFamily="34" charset="0"/>
                <a:ea typeface="Calibri" pitchFamily="34" charset="-122"/>
                <a:cs typeface="Calibri" pitchFamily="34" charset="-120"/>
              </a:rPr>
              <a:t>Your road</a:t>
            </a:r>
            <a:endParaRPr lang="en-US" sz="650" dirty="0"/>
          </a:p>
        </p:txBody>
      </p:sp>
      <p:sp>
        <p:nvSpPr>
          <p:cNvPr id="80" name="Shape 78"/>
          <p:cNvSpPr/>
          <p:nvPr/>
        </p:nvSpPr>
        <p:spPr>
          <a:xfrm>
            <a:off x="9850374" y="2592324"/>
            <a:ext cx="20117" cy="384048"/>
          </a:xfrm>
          <a:prstGeom prst="rect">
            <a:avLst/>
          </a:prstGeom>
          <a:solidFill>
            <a:srgbClr val="E2EAF4"/>
          </a:solidFill>
          <a:ln w="12700">
            <a:solidFill>
              <a:srgbClr val="333333"/>
            </a:solidFill>
            <a:prstDash val="solid"/>
          </a:ln>
        </p:spPr>
      </p:sp>
      <p:sp>
        <p:nvSpPr>
          <p:cNvPr id="81" name="Shape 79"/>
          <p:cNvSpPr/>
          <p:nvPr/>
        </p:nvSpPr>
        <p:spPr>
          <a:xfrm>
            <a:off x="9818370" y="2464308"/>
            <a:ext cx="118872" cy="118872"/>
          </a:xfrm>
          <a:prstGeom prst="ellipse">
            <a:avLst/>
          </a:prstGeom>
          <a:solidFill>
            <a:srgbClr val="44795A"/>
          </a:solidFill>
          <a:ln w="12700">
            <a:solidFill>
              <a:srgbClr val="44795A"/>
            </a:solidFill>
            <a:prstDash val="solid"/>
          </a:ln>
        </p:spPr>
      </p:sp>
      <p:sp>
        <p:nvSpPr>
          <p:cNvPr id="82" name="Text 80"/>
          <p:cNvSpPr/>
          <p:nvPr/>
        </p:nvSpPr>
        <p:spPr>
          <a:xfrm>
            <a:off x="9982962" y="2441448"/>
            <a:ext cx="905256" cy="146304"/>
          </a:xfrm>
          <a:prstGeom prst="rect">
            <a:avLst/>
          </a:prstGeom>
          <a:noFill/>
          <a:ln/>
        </p:spPr>
        <p:txBody>
          <a:bodyPr wrap="square" lIns="0" tIns="0" rIns="0" bIns="0" rtlCol="0" anchor="ctr"/>
          <a:lstStyle/>
          <a:p>
            <a:pPr indent="0" marL="0">
              <a:buNone/>
            </a:pPr>
            <a:r>
              <a:rPr lang="en-US" sz="650" b="1" dirty="0">
                <a:solidFill>
                  <a:srgbClr val="2E5540"/>
                </a:solidFill>
                <a:latin typeface="Calibri" pitchFamily="34" charset="0"/>
                <a:ea typeface="Calibri" pitchFamily="34" charset="-122"/>
                <a:cs typeface="Calibri" pitchFamily="34" charset="-120"/>
              </a:rPr>
              <a:t>Day 30</a:t>
            </a:r>
            <a:endParaRPr lang="en-US" sz="650" dirty="0"/>
          </a:p>
        </p:txBody>
      </p:sp>
      <p:sp>
        <p:nvSpPr>
          <p:cNvPr id="83" name="Text 81"/>
          <p:cNvSpPr/>
          <p:nvPr/>
        </p:nvSpPr>
        <p:spPr>
          <a:xfrm>
            <a:off x="9982962" y="2592324"/>
            <a:ext cx="905256" cy="201168"/>
          </a:xfrm>
          <a:prstGeom prst="rect">
            <a:avLst/>
          </a:prstGeom>
          <a:noFill/>
          <a:ln/>
        </p:spPr>
        <p:txBody>
          <a:bodyPr wrap="square" lIns="0" tIns="0" rIns="0" bIns="0" rtlCol="0" anchor="t"/>
          <a:lstStyle/>
          <a:p>
            <a:pPr indent="0" marL="0">
              <a:lnSpc>
                <a:spcPts val="700"/>
              </a:lnSpc>
              <a:buNone/>
            </a:pPr>
            <a:r>
              <a:rPr lang="en-US" sz="550" dirty="0">
                <a:solidFill>
                  <a:srgbClr val="5E6980"/>
                </a:solidFill>
                <a:latin typeface="Calibri" pitchFamily="34" charset="0"/>
                <a:ea typeface="Calibri" pitchFamily="34" charset="-122"/>
                <a:cs typeface="Calibri" pitchFamily="34" charset="-120"/>
              </a:rPr>
              <a:t>Check-in tomorrow</a:t>
            </a:r>
            <a:endParaRPr lang="en-US" sz="550" dirty="0"/>
          </a:p>
        </p:txBody>
      </p:sp>
      <p:sp>
        <p:nvSpPr>
          <p:cNvPr id="84" name="Shape 82"/>
          <p:cNvSpPr/>
          <p:nvPr/>
        </p:nvSpPr>
        <p:spPr>
          <a:xfrm>
            <a:off x="9850374" y="3049524"/>
            <a:ext cx="20117" cy="384048"/>
          </a:xfrm>
          <a:prstGeom prst="rect">
            <a:avLst/>
          </a:prstGeom>
          <a:solidFill>
            <a:srgbClr val="E2EAF4"/>
          </a:solidFill>
          <a:ln w="12700">
            <a:solidFill>
              <a:srgbClr val="333333"/>
            </a:solidFill>
            <a:prstDash val="solid"/>
          </a:ln>
        </p:spPr>
      </p:sp>
      <p:sp>
        <p:nvSpPr>
          <p:cNvPr id="85" name="Shape 83"/>
          <p:cNvSpPr/>
          <p:nvPr/>
        </p:nvSpPr>
        <p:spPr>
          <a:xfrm>
            <a:off x="9818370" y="2921508"/>
            <a:ext cx="118872" cy="118872"/>
          </a:xfrm>
          <a:prstGeom prst="ellipse">
            <a:avLst/>
          </a:prstGeom>
          <a:solidFill>
            <a:srgbClr val="FFFFFF"/>
          </a:solidFill>
          <a:ln w="12700">
            <a:solidFill>
              <a:srgbClr val="C6CFDD"/>
            </a:solidFill>
            <a:prstDash val="solid"/>
          </a:ln>
        </p:spPr>
      </p:sp>
      <p:sp>
        <p:nvSpPr>
          <p:cNvPr id="86" name="Text 84"/>
          <p:cNvSpPr/>
          <p:nvPr/>
        </p:nvSpPr>
        <p:spPr>
          <a:xfrm>
            <a:off x="9982962" y="2898648"/>
            <a:ext cx="905256" cy="146304"/>
          </a:xfrm>
          <a:prstGeom prst="rect">
            <a:avLst/>
          </a:prstGeom>
          <a:noFill/>
          <a:ln/>
        </p:spPr>
        <p:txBody>
          <a:bodyPr wrap="square" lIns="0" tIns="0" rIns="0" bIns="0" rtlCol="0" anchor="ctr"/>
          <a:lstStyle/>
          <a:p>
            <a:pPr indent="0" marL="0">
              <a:buNone/>
            </a:pPr>
            <a:r>
              <a:rPr lang="en-US" sz="650" b="1" dirty="0">
                <a:solidFill>
                  <a:srgbClr val="1B2338"/>
                </a:solidFill>
                <a:latin typeface="Calibri" pitchFamily="34" charset="0"/>
                <a:ea typeface="Calibri" pitchFamily="34" charset="-122"/>
                <a:cs typeface="Calibri" pitchFamily="34" charset="-120"/>
              </a:rPr>
              <a:t>Day 60</a:t>
            </a:r>
            <a:endParaRPr lang="en-US" sz="650" dirty="0"/>
          </a:p>
        </p:txBody>
      </p:sp>
      <p:sp>
        <p:nvSpPr>
          <p:cNvPr id="87" name="Text 85"/>
          <p:cNvSpPr/>
          <p:nvPr/>
        </p:nvSpPr>
        <p:spPr>
          <a:xfrm>
            <a:off x="9982962" y="3049524"/>
            <a:ext cx="905256" cy="201168"/>
          </a:xfrm>
          <a:prstGeom prst="rect">
            <a:avLst/>
          </a:prstGeom>
          <a:noFill/>
          <a:ln/>
        </p:spPr>
        <p:txBody>
          <a:bodyPr wrap="square" lIns="0" tIns="0" rIns="0" bIns="0" rtlCol="0" anchor="t"/>
          <a:lstStyle/>
          <a:p>
            <a:pPr indent="0" marL="0">
              <a:lnSpc>
                <a:spcPts val="700"/>
              </a:lnSpc>
              <a:buNone/>
            </a:pPr>
            <a:r>
              <a:rPr lang="en-US" sz="550" dirty="0">
                <a:solidFill>
                  <a:srgbClr val="5E6980"/>
                </a:solidFill>
                <a:latin typeface="Calibri" pitchFamily="34" charset="0"/>
                <a:ea typeface="Calibri" pitchFamily="34" charset="-122"/>
                <a:cs typeface="Calibri" pitchFamily="34" charset="-120"/>
              </a:rPr>
              <a:t>Cross-training choice</a:t>
            </a:r>
            <a:endParaRPr lang="en-US" sz="550" dirty="0"/>
          </a:p>
        </p:txBody>
      </p:sp>
      <p:sp>
        <p:nvSpPr>
          <p:cNvPr id="88" name="Shape 86"/>
          <p:cNvSpPr/>
          <p:nvPr/>
        </p:nvSpPr>
        <p:spPr>
          <a:xfrm>
            <a:off x="9818370" y="3378708"/>
            <a:ext cx="118872" cy="118872"/>
          </a:xfrm>
          <a:prstGeom prst="ellipse">
            <a:avLst/>
          </a:prstGeom>
          <a:solidFill>
            <a:srgbClr val="FFFFFF"/>
          </a:solidFill>
          <a:ln w="12700">
            <a:solidFill>
              <a:srgbClr val="C6CFDD"/>
            </a:solidFill>
            <a:prstDash val="solid"/>
          </a:ln>
        </p:spPr>
      </p:sp>
      <p:sp>
        <p:nvSpPr>
          <p:cNvPr id="89" name="Text 87"/>
          <p:cNvSpPr/>
          <p:nvPr/>
        </p:nvSpPr>
        <p:spPr>
          <a:xfrm>
            <a:off x="9982962" y="3355848"/>
            <a:ext cx="905256" cy="146304"/>
          </a:xfrm>
          <a:prstGeom prst="rect">
            <a:avLst/>
          </a:prstGeom>
          <a:noFill/>
          <a:ln/>
        </p:spPr>
        <p:txBody>
          <a:bodyPr wrap="square" lIns="0" tIns="0" rIns="0" bIns="0" rtlCol="0" anchor="ctr"/>
          <a:lstStyle/>
          <a:p>
            <a:pPr indent="0" marL="0">
              <a:buNone/>
            </a:pPr>
            <a:r>
              <a:rPr lang="en-US" sz="650" b="1" dirty="0">
                <a:solidFill>
                  <a:srgbClr val="1B2338"/>
                </a:solidFill>
                <a:latin typeface="Calibri" pitchFamily="34" charset="0"/>
                <a:ea typeface="Calibri" pitchFamily="34" charset="-122"/>
                <a:cs typeface="Calibri" pitchFamily="34" charset="-120"/>
              </a:rPr>
              <a:t>Day 90</a:t>
            </a:r>
            <a:endParaRPr lang="en-US" sz="650" dirty="0"/>
          </a:p>
        </p:txBody>
      </p:sp>
      <p:sp>
        <p:nvSpPr>
          <p:cNvPr id="90" name="Text 88"/>
          <p:cNvSpPr/>
          <p:nvPr/>
        </p:nvSpPr>
        <p:spPr>
          <a:xfrm>
            <a:off x="9982962" y="3506724"/>
            <a:ext cx="905256" cy="201168"/>
          </a:xfrm>
          <a:prstGeom prst="rect">
            <a:avLst/>
          </a:prstGeom>
          <a:noFill/>
          <a:ln/>
        </p:spPr>
        <p:txBody>
          <a:bodyPr wrap="square" lIns="0" tIns="0" rIns="0" bIns="0" rtlCol="0" anchor="t"/>
          <a:lstStyle/>
          <a:p>
            <a:pPr indent="0" marL="0">
              <a:lnSpc>
                <a:spcPts val="700"/>
              </a:lnSpc>
              <a:buNone/>
            </a:pPr>
            <a:r>
              <a:rPr lang="en-US" sz="550" dirty="0">
                <a:solidFill>
                  <a:srgbClr val="5E6980"/>
                </a:solidFill>
                <a:latin typeface="Calibri" pitchFamily="34" charset="0"/>
                <a:ea typeface="Calibri" pitchFamily="34" charset="-122"/>
                <a:cs typeface="Calibri" pitchFamily="34" charset="-120"/>
              </a:rPr>
              <a:t>Milestone and path picker</a:t>
            </a:r>
            <a:endParaRPr lang="en-US" sz="550" dirty="0"/>
          </a:p>
        </p:txBody>
      </p:sp>
      <p:sp>
        <p:nvSpPr>
          <p:cNvPr id="91" name="Shape 89"/>
          <p:cNvSpPr/>
          <p:nvPr/>
        </p:nvSpPr>
        <p:spPr>
          <a:xfrm>
            <a:off x="9763506" y="4150480"/>
            <a:ext cx="1124712" cy="420624"/>
          </a:xfrm>
          <a:prstGeom prst="roundRect">
            <a:avLst>
              <a:gd name="adj" fmla="val 13043"/>
            </a:avLst>
          </a:prstGeom>
          <a:solidFill>
            <a:srgbClr val="DDEAE1"/>
          </a:solidFill>
          <a:ln w="12700">
            <a:solidFill>
              <a:srgbClr val="333333"/>
            </a:solidFill>
            <a:prstDash val="solid"/>
          </a:ln>
        </p:spPr>
      </p:sp>
      <p:sp>
        <p:nvSpPr>
          <p:cNvPr id="92" name="Text 90"/>
          <p:cNvSpPr/>
          <p:nvPr/>
        </p:nvSpPr>
        <p:spPr>
          <a:xfrm>
            <a:off x="9827514" y="4177912"/>
            <a:ext cx="996696" cy="365760"/>
          </a:xfrm>
          <a:prstGeom prst="rect">
            <a:avLst/>
          </a:prstGeom>
          <a:noFill/>
          <a:ln/>
        </p:spPr>
        <p:txBody>
          <a:bodyPr wrap="square" lIns="0" tIns="0" rIns="0" bIns="0" rtlCol="0" anchor="t"/>
          <a:lstStyle/>
          <a:p>
            <a:pPr indent="0" marL="0">
              <a:lnSpc>
                <a:spcPts val="700"/>
              </a:lnSpc>
              <a:buNone/>
            </a:pPr>
            <a:r>
              <a:rPr lang="en-US" sz="550" dirty="0">
                <a:solidFill>
                  <a:srgbClr val="2E5540"/>
                </a:solidFill>
                <a:latin typeface="Calibri" pitchFamily="34" charset="0"/>
                <a:ea typeface="Calibri" pitchFamily="34" charset="-122"/>
                <a:cs typeface="Calibri" pitchFamily="34" charset="-120"/>
              </a:rPr>
              <a:t>Two recovery days a week are held for you. Skipping a training costs you nothing.</a:t>
            </a:r>
            <a:endParaRPr lang="en-US" sz="550" dirty="0"/>
          </a:p>
        </p:txBody>
      </p:sp>
      <p:sp>
        <p:nvSpPr>
          <p:cNvPr id="93" name="Shape 91"/>
          <p:cNvSpPr/>
          <p:nvPr/>
        </p:nvSpPr>
        <p:spPr>
          <a:xfrm>
            <a:off x="9029700" y="4895716"/>
            <a:ext cx="1298448" cy="256032"/>
          </a:xfrm>
          <a:prstGeom prst="roundRect">
            <a:avLst>
              <a:gd name="adj" fmla="val 50000"/>
            </a:avLst>
          </a:prstGeom>
          <a:solidFill>
            <a:srgbClr val="44795A"/>
          </a:solidFill>
          <a:ln w="12700">
            <a:solidFill>
              <a:srgbClr val="333333"/>
            </a:solidFill>
            <a:prstDash val="solid"/>
          </a:ln>
        </p:spPr>
      </p:sp>
      <p:sp>
        <p:nvSpPr>
          <p:cNvPr id="94" name="Text 92"/>
          <p:cNvSpPr/>
          <p:nvPr/>
        </p:nvSpPr>
        <p:spPr>
          <a:xfrm>
            <a:off x="9029700" y="4895716"/>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Growth path</a:t>
            </a:r>
            <a:endParaRPr lang="en-US" sz="900" dirty="0"/>
          </a:p>
        </p:txBody>
      </p:sp>
      <p:sp>
        <p:nvSpPr>
          <p:cNvPr id="95" name="Text 93"/>
          <p:cNvSpPr/>
          <p:nvPr/>
        </p:nvSpPr>
        <p:spPr>
          <a:xfrm>
            <a:off x="10401300" y="4895716"/>
            <a:ext cx="1220724" cy="256032"/>
          </a:xfrm>
          <a:prstGeom prst="rect">
            <a:avLst/>
          </a:prstGeom>
          <a:noFill/>
          <a:ln/>
        </p:spPr>
        <p:txBody>
          <a:bodyPr wrap="square" lIns="0" tIns="0" rIns="0" bIns="0" rtlCol="0" anchor="ctr"/>
          <a:lstStyle/>
          <a:p>
            <a:pPr indent="0" marL="0">
              <a:buNone/>
            </a:pPr>
            <a:r>
              <a:rPr lang="en-US" sz="900" b="1" dirty="0">
                <a:solidFill>
                  <a:srgbClr val="5E6980"/>
                </a:solidFill>
                <a:latin typeface="Calibri" pitchFamily="34" charset="0"/>
                <a:ea typeface="Calibri" pitchFamily="34" charset="-122"/>
                <a:cs typeface="Calibri" pitchFamily="34" charset="-120"/>
              </a:rPr>
              <a:t>Day 30</a:t>
            </a:r>
            <a:endParaRPr lang="en-US" sz="900" dirty="0"/>
          </a:p>
        </p:txBody>
      </p:sp>
      <p:sp>
        <p:nvSpPr>
          <p:cNvPr id="96" name="Text 94"/>
          <p:cNvSpPr/>
          <p:nvPr/>
        </p:nvSpPr>
        <p:spPr>
          <a:xfrm>
            <a:off x="9029700" y="5188324"/>
            <a:ext cx="2592324" cy="365760"/>
          </a:xfrm>
          <a:prstGeom prst="rect">
            <a:avLst/>
          </a:prstGeom>
          <a:noFill/>
          <a:ln/>
        </p:spPr>
        <p:txBody>
          <a:bodyPr wrap="square" lIns="0" tIns="0" rIns="0" bIns="0" rtlCol="0" anchor="t"/>
          <a:lstStyle/>
          <a:p>
            <a:pPr indent="0" marL="0">
              <a:lnSpc>
                <a:spcPts val="1700"/>
              </a:lnSpc>
              <a:buNone/>
            </a:pPr>
            <a:r>
              <a:rPr lang="en-US" sz="1400" b="1" dirty="0">
                <a:solidFill>
                  <a:srgbClr val="2E5540"/>
                </a:solidFill>
                <a:latin typeface="Cambria" pitchFamily="34" charset="0"/>
                <a:ea typeface="Cambria" pitchFamily="34" charset="-122"/>
                <a:cs typeface="Cambria" pitchFamily="34" charset="-120"/>
              </a:rPr>
              <a:t>A visible road</a:t>
            </a:r>
            <a:endParaRPr lang="en-US" sz="1400" dirty="0"/>
          </a:p>
        </p:txBody>
      </p:sp>
      <p:sp>
        <p:nvSpPr>
          <p:cNvPr id="97" name="Text 9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Illustrative mockups, drafted to show intent. Not shipped UX copy. Four surfaces, one associate, so the room compares experiences and not adjectives.</a:t>
            </a:r>
            <a:endParaRPr lang="en-US" sz="1050" dirty="0"/>
          </a:p>
        </p:txBody>
      </p:sp>
      <p:sp>
        <p:nvSpPr>
          <p:cNvPr id="98" name="Text 9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HOW IT SENSES AND LEARNS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Six cohort scores decide what fires, and a bandit learns what works per cohort.</a:t>
            </a:r>
            <a:endParaRPr lang="en-US" sz="2800" dirty="0"/>
          </a:p>
        </p:txBody>
      </p:sp>
      <p:sp>
        <p:nvSpPr>
          <p:cNvPr id="5" name="Shape 3"/>
          <p:cNvSpPr/>
          <p:nvPr/>
        </p:nvSpPr>
        <p:spPr>
          <a:xfrm>
            <a:off x="566928" y="1938528"/>
            <a:ext cx="11055096" cy="621792"/>
          </a:xfrm>
          <a:prstGeom prst="roundRect">
            <a:avLst>
              <a:gd name="adj" fmla="val 14706"/>
            </a:avLst>
          </a:prstGeom>
          <a:solidFill>
            <a:srgbClr val="2E4571"/>
          </a:solidFill>
          <a:ln w="12700">
            <a:solidFill>
              <a:srgbClr val="2E4571"/>
            </a:solidFill>
            <a:prstDash val="solid"/>
          </a:ln>
        </p:spPr>
      </p:sp>
      <p:sp>
        <p:nvSpPr>
          <p:cNvPr id="6" name="Shape 4"/>
          <p:cNvSpPr/>
          <p:nvPr/>
        </p:nvSpPr>
        <p:spPr>
          <a:xfrm>
            <a:off x="749808" y="2084832"/>
            <a:ext cx="475488" cy="329184"/>
          </a:xfrm>
          <a:prstGeom prst="roundRect">
            <a:avLst>
              <a:gd name="adj" fmla="val 22222"/>
            </a:avLst>
          </a:prstGeom>
          <a:solidFill>
            <a:srgbClr val="D9922B"/>
          </a:solidFill>
          <a:ln w="12700">
            <a:solidFill>
              <a:srgbClr val="D9922B"/>
            </a:solidFill>
            <a:prstDash val="solid"/>
          </a:ln>
        </p:spPr>
      </p:sp>
      <p:sp>
        <p:nvSpPr>
          <p:cNvPr id="7" name="Text 5"/>
          <p:cNvSpPr/>
          <p:nvPr/>
        </p:nvSpPr>
        <p:spPr>
          <a:xfrm>
            <a:off x="749808" y="2084832"/>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L5</a:t>
            </a:r>
            <a:endParaRPr lang="en-US" sz="1100" dirty="0"/>
          </a:p>
        </p:txBody>
      </p:sp>
      <p:sp>
        <p:nvSpPr>
          <p:cNvPr id="8" name="Text 6"/>
          <p:cNvSpPr/>
          <p:nvPr/>
        </p:nvSpPr>
        <p:spPr>
          <a:xfrm>
            <a:off x="1371600" y="2066544"/>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Roadmapping surface</a:t>
            </a:r>
            <a:endParaRPr lang="en-US" sz="1450" dirty="0"/>
          </a:p>
        </p:txBody>
      </p:sp>
      <p:sp>
        <p:nvSpPr>
          <p:cNvPr id="9" name="Text 7"/>
          <p:cNvSpPr/>
          <p:nvPr/>
        </p:nvSpPr>
        <p:spPr>
          <a:xfrm>
            <a:off x="4087368" y="2066544"/>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Score, rank, and sequence every candidate against build cost</a:t>
            </a:r>
            <a:endParaRPr lang="en-US" sz="1150" dirty="0"/>
          </a:p>
        </p:txBody>
      </p:sp>
      <p:sp>
        <p:nvSpPr>
          <p:cNvPr id="10" name="Shape 8"/>
          <p:cNvSpPr/>
          <p:nvPr/>
        </p:nvSpPr>
        <p:spPr>
          <a:xfrm>
            <a:off x="566928" y="2660904"/>
            <a:ext cx="11055096" cy="621792"/>
          </a:xfrm>
          <a:prstGeom prst="roundRect">
            <a:avLst>
              <a:gd name="adj" fmla="val 14706"/>
            </a:avLst>
          </a:prstGeom>
          <a:solidFill>
            <a:srgbClr val="223558"/>
          </a:solidFill>
          <a:ln w="12700">
            <a:solidFill>
              <a:srgbClr val="223558"/>
            </a:solidFill>
            <a:prstDash val="solid"/>
          </a:ln>
        </p:spPr>
      </p:sp>
      <p:sp>
        <p:nvSpPr>
          <p:cNvPr id="11" name="Shape 9"/>
          <p:cNvSpPr/>
          <p:nvPr/>
        </p:nvSpPr>
        <p:spPr>
          <a:xfrm>
            <a:off x="749808" y="2807208"/>
            <a:ext cx="475488" cy="329184"/>
          </a:xfrm>
          <a:prstGeom prst="roundRect">
            <a:avLst>
              <a:gd name="adj" fmla="val 22222"/>
            </a:avLst>
          </a:prstGeom>
          <a:solidFill>
            <a:srgbClr val="D9922B"/>
          </a:solidFill>
          <a:ln w="12700">
            <a:solidFill>
              <a:srgbClr val="D9922B"/>
            </a:solidFill>
            <a:prstDash val="solid"/>
          </a:ln>
        </p:spPr>
      </p:sp>
      <p:sp>
        <p:nvSpPr>
          <p:cNvPr id="12" name="Text 10"/>
          <p:cNvSpPr/>
          <p:nvPr/>
        </p:nvSpPr>
        <p:spPr>
          <a:xfrm>
            <a:off x="749808" y="2807208"/>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L4</a:t>
            </a:r>
            <a:endParaRPr lang="en-US" sz="1100" dirty="0"/>
          </a:p>
        </p:txBody>
      </p:sp>
      <p:sp>
        <p:nvSpPr>
          <p:cNvPr id="13" name="Text 11"/>
          <p:cNvSpPr/>
          <p:nvPr/>
        </p:nvSpPr>
        <p:spPr>
          <a:xfrm>
            <a:off x="1371600" y="2788920"/>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Learning layer</a:t>
            </a:r>
            <a:endParaRPr lang="en-US" sz="1450" dirty="0"/>
          </a:p>
        </p:txBody>
      </p:sp>
      <p:sp>
        <p:nvSpPr>
          <p:cNvPr id="14" name="Text 12"/>
          <p:cNvSpPr/>
          <p:nvPr/>
        </p:nvSpPr>
        <p:spPr>
          <a:xfrm>
            <a:off x="4087368" y="2788920"/>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Contextual bandit, Thompson sampling. Exploration scales with uncertainty</a:t>
            </a:r>
            <a:endParaRPr lang="en-US" sz="1150" dirty="0"/>
          </a:p>
        </p:txBody>
      </p:sp>
      <p:sp>
        <p:nvSpPr>
          <p:cNvPr id="15" name="Shape 13"/>
          <p:cNvSpPr/>
          <p:nvPr/>
        </p:nvSpPr>
        <p:spPr>
          <a:xfrm>
            <a:off x="566928" y="3383280"/>
            <a:ext cx="11055096" cy="621792"/>
          </a:xfrm>
          <a:prstGeom prst="roundRect">
            <a:avLst>
              <a:gd name="adj" fmla="val 14706"/>
            </a:avLst>
          </a:prstGeom>
          <a:solidFill>
            <a:srgbClr val="1F3050"/>
          </a:solidFill>
          <a:ln w="12700">
            <a:solidFill>
              <a:srgbClr val="1F3050"/>
            </a:solidFill>
            <a:prstDash val="solid"/>
          </a:ln>
        </p:spPr>
      </p:sp>
      <p:sp>
        <p:nvSpPr>
          <p:cNvPr id="16" name="Shape 14"/>
          <p:cNvSpPr/>
          <p:nvPr/>
        </p:nvSpPr>
        <p:spPr>
          <a:xfrm>
            <a:off x="749808" y="3529584"/>
            <a:ext cx="475488" cy="329184"/>
          </a:xfrm>
          <a:prstGeom prst="roundRect">
            <a:avLst>
              <a:gd name="adj" fmla="val 22222"/>
            </a:avLst>
          </a:prstGeom>
          <a:solidFill>
            <a:srgbClr val="D9922B"/>
          </a:solidFill>
          <a:ln w="12700">
            <a:solidFill>
              <a:srgbClr val="D9922B"/>
            </a:solidFill>
            <a:prstDash val="solid"/>
          </a:ln>
        </p:spPr>
      </p:sp>
      <p:sp>
        <p:nvSpPr>
          <p:cNvPr id="17" name="Text 15"/>
          <p:cNvSpPr/>
          <p:nvPr/>
        </p:nvSpPr>
        <p:spPr>
          <a:xfrm>
            <a:off x="749808" y="3529584"/>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L3</a:t>
            </a:r>
            <a:endParaRPr lang="en-US" sz="1100" dirty="0"/>
          </a:p>
        </p:txBody>
      </p:sp>
      <p:sp>
        <p:nvSpPr>
          <p:cNvPr id="18" name="Text 16"/>
          <p:cNvSpPr/>
          <p:nvPr/>
        </p:nvSpPr>
        <p:spPr>
          <a:xfrm>
            <a:off x="1371600" y="3511296"/>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Decision layer</a:t>
            </a:r>
            <a:endParaRPr lang="en-US" sz="1450" dirty="0"/>
          </a:p>
        </p:txBody>
      </p:sp>
      <p:sp>
        <p:nvSpPr>
          <p:cNvPr id="19" name="Text 17"/>
          <p:cNvSpPr/>
          <p:nvPr/>
        </p:nvSpPr>
        <p:spPr>
          <a:xfrm>
            <a:off x="4087368" y="3511296"/>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65 or higher fires alerts. Wellbeing 40 or lower offers recovery</a:t>
            </a:r>
            <a:endParaRPr lang="en-US" sz="1150" dirty="0"/>
          </a:p>
        </p:txBody>
      </p:sp>
      <p:sp>
        <p:nvSpPr>
          <p:cNvPr id="20" name="Shape 18"/>
          <p:cNvSpPr/>
          <p:nvPr/>
        </p:nvSpPr>
        <p:spPr>
          <a:xfrm>
            <a:off x="566928" y="4105656"/>
            <a:ext cx="11055096" cy="621792"/>
          </a:xfrm>
          <a:prstGeom prst="roundRect">
            <a:avLst>
              <a:gd name="adj" fmla="val 14706"/>
            </a:avLst>
          </a:prstGeom>
          <a:solidFill>
            <a:srgbClr val="223558"/>
          </a:solidFill>
          <a:ln w="12700">
            <a:solidFill>
              <a:srgbClr val="223558"/>
            </a:solidFill>
            <a:prstDash val="solid"/>
          </a:ln>
        </p:spPr>
      </p:sp>
      <p:sp>
        <p:nvSpPr>
          <p:cNvPr id="21" name="Shape 19"/>
          <p:cNvSpPr/>
          <p:nvPr/>
        </p:nvSpPr>
        <p:spPr>
          <a:xfrm>
            <a:off x="749808" y="4251960"/>
            <a:ext cx="475488" cy="329184"/>
          </a:xfrm>
          <a:prstGeom prst="roundRect">
            <a:avLst>
              <a:gd name="adj" fmla="val 22222"/>
            </a:avLst>
          </a:prstGeom>
          <a:solidFill>
            <a:srgbClr val="D9922B"/>
          </a:solidFill>
          <a:ln w="12700">
            <a:solidFill>
              <a:srgbClr val="D9922B"/>
            </a:solidFill>
            <a:prstDash val="solid"/>
          </a:ln>
        </p:spPr>
      </p:sp>
      <p:sp>
        <p:nvSpPr>
          <p:cNvPr id="22" name="Text 20"/>
          <p:cNvSpPr/>
          <p:nvPr/>
        </p:nvSpPr>
        <p:spPr>
          <a:xfrm>
            <a:off x="749808" y="4251960"/>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L2</a:t>
            </a:r>
            <a:endParaRPr lang="en-US" sz="1100" dirty="0"/>
          </a:p>
        </p:txBody>
      </p:sp>
      <p:sp>
        <p:nvSpPr>
          <p:cNvPr id="23" name="Text 21"/>
          <p:cNvSpPr/>
          <p:nvPr/>
        </p:nvSpPr>
        <p:spPr>
          <a:xfrm>
            <a:off x="1371600" y="4233672"/>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Cohort scores</a:t>
            </a:r>
            <a:endParaRPr lang="en-US" sz="1450" dirty="0"/>
          </a:p>
        </p:txBody>
      </p:sp>
      <p:sp>
        <p:nvSpPr>
          <p:cNvPr id="24" name="Text 22"/>
          <p:cNvSpPr/>
          <p:nvPr/>
        </p:nvSpPr>
        <p:spPr>
          <a:xfrm>
            <a:off x="4087368" y="4233672"/>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 engagement · retention-risk · growth-readiness · trust · wellbeing</a:t>
            </a:r>
            <a:endParaRPr lang="en-US" sz="1150" dirty="0"/>
          </a:p>
        </p:txBody>
      </p:sp>
      <p:sp>
        <p:nvSpPr>
          <p:cNvPr id="25" name="Shape 23"/>
          <p:cNvSpPr/>
          <p:nvPr/>
        </p:nvSpPr>
        <p:spPr>
          <a:xfrm>
            <a:off x="566928" y="4828032"/>
            <a:ext cx="11055096" cy="621792"/>
          </a:xfrm>
          <a:prstGeom prst="roundRect">
            <a:avLst>
              <a:gd name="adj" fmla="val 14706"/>
            </a:avLst>
          </a:prstGeom>
          <a:solidFill>
            <a:srgbClr val="1F3050"/>
          </a:solidFill>
          <a:ln w="12700">
            <a:solidFill>
              <a:srgbClr val="1F3050"/>
            </a:solidFill>
            <a:prstDash val="solid"/>
          </a:ln>
        </p:spPr>
      </p:sp>
      <p:sp>
        <p:nvSpPr>
          <p:cNvPr id="26" name="Shape 24"/>
          <p:cNvSpPr/>
          <p:nvPr/>
        </p:nvSpPr>
        <p:spPr>
          <a:xfrm>
            <a:off x="749808" y="4974336"/>
            <a:ext cx="475488" cy="329184"/>
          </a:xfrm>
          <a:prstGeom prst="roundRect">
            <a:avLst>
              <a:gd name="adj" fmla="val 22222"/>
            </a:avLst>
          </a:prstGeom>
          <a:solidFill>
            <a:srgbClr val="D9922B"/>
          </a:solidFill>
          <a:ln w="12700">
            <a:solidFill>
              <a:srgbClr val="D9922B"/>
            </a:solidFill>
            <a:prstDash val="solid"/>
          </a:ln>
        </p:spPr>
      </p:sp>
      <p:sp>
        <p:nvSpPr>
          <p:cNvPr id="27" name="Text 25"/>
          <p:cNvSpPr/>
          <p:nvPr/>
        </p:nvSpPr>
        <p:spPr>
          <a:xfrm>
            <a:off x="749808" y="4974336"/>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L1</a:t>
            </a:r>
            <a:endParaRPr lang="en-US" sz="1100" dirty="0"/>
          </a:p>
        </p:txBody>
      </p:sp>
      <p:sp>
        <p:nvSpPr>
          <p:cNvPr id="28" name="Text 26"/>
          <p:cNvSpPr/>
          <p:nvPr/>
        </p:nvSpPr>
        <p:spPr>
          <a:xfrm>
            <a:off x="1371600" y="4956048"/>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Data inputs</a:t>
            </a:r>
            <a:endParaRPr lang="en-US" sz="1450" dirty="0"/>
          </a:p>
        </p:txBody>
      </p:sp>
      <p:sp>
        <p:nvSpPr>
          <p:cNvPr id="29" name="Text 27"/>
          <p:cNvSpPr/>
          <p:nvPr/>
        </p:nvSpPr>
        <p:spPr>
          <a:xfrm>
            <a:off x="4087368" y="4956048"/>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Telemetry · voice of associate · field shifts · workforce · operational · competitive</a:t>
            </a:r>
            <a:endParaRPr lang="en-US" sz="1150" dirty="0"/>
          </a:p>
        </p:txBody>
      </p:sp>
      <p:sp>
        <p:nvSpPr>
          <p:cNvPr id="30" name="Text 28"/>
          <p:cNvSpPr/>
          <p:nvPr/>
        </p:nvSpPr>
        <p:spPr>
          <a:xfrm>
            <a:off x="566928" y="5596128"/>
            <a:ext cx="11055096" cy="566928"/>
          </a:xfrm>
          <a:prstGeom prst="rect">
            <a:avLst/>
          </a:prstGeom>
          <a:noFill/>
          <a:ln/>
        </p:spPr>
        <p:txBody>
          <a:bodyPr wrap="square" lIns="0" tIns="0" rIns="0" bIns="0" rtlCol="0" anchor="t"/>
          <a:lstStyle/>
          <a:p>
            <a:pPr indent="0" marL="0">
              <a:lnSpc>
                <a:spcPts val="1600"/>
              </a:lnSpc>
              <a:buNone/>
            </a:pPr>
            <a:r>
              <a:rPr lang="en-US" sz="1250" dirty="0">
                <a:solidFill>
                  <a:srgbClr val="D6DEEC"/>
                </a:solidFill>
                <a:latin typeface="Calibri" pitchFamily="34" charset="0"/>
                <a:ea typeface="Calibri" pitchFamily="34" charset="-122"/>
                <a:cs typeface="Calibri" pitchFamily="34" charset="-120"/>
              </a:rPr>
              <a:t>Scores are computed per cohort (role x shift x region x tenure), never per individual. Every learned policy exports in plain language: “cohort X responds best to Y,” reviewable by People teams.</a:t>
            </a:r>
            <a:endParaRPr lang="en-US" sz="1250" dirty="0"/>
          </a:p>
        </p:txBody>
      </p:sp>
      <p:sp>
        <p:nvSpPr>
          <p:cNvPr id="31" name="Text 2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WHAT WOULD SINK THIS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Four risks can sink this, and each has an owner and a trip wire.</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514600"/>
                <a:gridCol w="1371600"/>
                <a:gridCol w="2926080"/>
                <a:gridCol w="42428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Trip wire to watch</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Mitigation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Scoring reads as surveillance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 + HR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 sentiment drops in pilot stores versus control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Associates see their own signals, framed as growth, never as a hidden risk label. Opt-out available.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Bandit optimizes its own metric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Data science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Engagement climbs while 90-day retention stays flat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 is a leading indicator validated against 90-day retention in permanent holdout groups.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 is multi-causal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Control stores move with the pilot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Claim only the app's share. Matched pairs and a pre-registered north star.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Wrong write to a system of record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Engineering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Any incorrect scheduling or pay action, at any volume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Strictest grounding tier on pay, benefits, and scheduling. A lead approves before commit.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645152"/>
            <a:ext cx="11055096" cy="749808"/>
          </a:xfrm>
          <a:prstGeom prst="roundRect">
            <a:avLst>
              <a:gd name="adj" fmla="val 14634"/>
            </a:avLst>
          </a:prstGeom>
          <a:solidFill>
            <a:srgbClr val="F5E2DF"/>
          </a:solidFill>
          <a:ln w="12700">
            <a:solidFill>
              <a:srgbClr val="F5E2DF"/>
            </a:solidFill>
            <a:prstDash val="solid"/>
          </a:ln>
        </p:spPr>
      </p:sp>
      <p:sp>
        <p:nvSpPr>
          <p:cNvPr id="7" name="Text 4"/>
          <p:cNvSpPr/>
          <p:nvPr/>
        </p:nvSpPr>
        <p:spPr>
          <a:xfrm>
            <a:off x="786384" y="4681728"/>
            <a:ext cx="10616184" cy="676656"/>
          </a:xfrm>
          <a:prstGeom prst="rect">
            <a:avLst/>
          </a:prstGeom>
          <a:noFill/>
          <a:ln/>
        </p:spPr>
        <p:txBody>
          <a:bodyPr wrap="square" lIns="0" tIns="0" rIns="0" bIns="0" rtlCol="0" anchor="ctr"/>
          <a:lstStyle/>
          <a:p>
            <a:pPr indent="0" marL="0">
              <a:lnSpc>
                <a:spcPts val="1500"/>
              </a:lnSpc>
              <a:buNone/>
            </a:pPr>
            <a:r>
              <a:rPr lang="en-US" sz="1200" dirty="0">
                <a:solidFill>
                  <a:srgbClr val="7A322A"/>
                </a:solidFill>
                <a:latin typeface="Calibri" pitchFamily="34" charset="0"/>
                <a:ea typeface="Calibri" pitchFamily="34" charset="-122"/>
                <a:cs typeface="Calibri" pitchFamily="34" charset="-120"/>
              </a:rPr>
              <a:t>Said out loud: gift cards, bonuses, and stock are taxable compensation. That is payroll integration, not an app feature. Sweepstakes carry their own legal regime, and every reward tier ships with an equity audit.</a:t>
            </a:r>
            <a:endParaRPr lang="en-US" sz="12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DECISION REQUESTED TODAY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40"/>
              </a:lnSpc>
              <a:buNone/>
            </a:pPr>
            <a:r>
              <a:rPr lang="en-US" sz="3000" b="1" dirty="0">
                <a:solidFill>
                  <a:srgbClr val="FFFFFF"/>
                </a:solidFill>
                <a:latin typeface="Cambria" pitchFamily="34" charset="0"/>
                <a:ea typeface="Cambria" pitchFamily="34" charset="-122"/>
                <a:cs typeface="Cambria" pitchFamily="34" charset="-120"/>
              </a:rPr>
              <a:t>Two weeks, 40 stores, one pod, and a date on the calendar.</a:t>
            </a:r>
            <a:endParaRPr lang="en-US" sz="3000" dirty="0"/>
          </a:p>
        </p:txBody>
      </p:sp>
      <p:sp>
        <p:nvSpPr>
          <p:cNvPr id="5" name="Shape 3"/>
          <p:cNvSpPr/>
          <p:nvPr/>
        </p:nvSpPr>
        <p:spPr>
          <a:xfrm>
            <a:off x="566928" y="1874520"/>
            <a:ext cx="11055096" cy="2084832"/>
          </a:xfrm>
          <a:prstGeom prst="roundRect">
            <a:avLst>
              <a:gd name="adj" fmla="val 5263"/>
            </a:avLst>
          </a:prstGeom>
          <a:solidFill>
            <a:srgbClr val="223558"/>
          </a:solidFill>
          <a:ln w="12700">
            <a:solidFill>
              <a:srgbClr val="223558"/>
            </a:solidFill>
            <a:prstDash val="solid"/>
          </a:ln>
        </p:spPr>
      </p:sp>
      <p:sp>
        <p:nvSpPr>
          <p:cNvPr id="6" name="Text 4"/>
          <p:cNvSpPr/>
          <p:nvPr/>
        </p:nvSpPr>
        <p:spPr>
          <a:xfrm>
            <a:off x="841248" y="2029968"/>
            <a:ext cx="1828800" cy="292608"/>
          </a:xfrm>
          <a:prstGeom prst="rect">
            <a:avLst/>
          </a:prstGeom>
          <a:noFill/>
          <a:ln/>
        </p:spPr>
        <p:txBody>
          <a:bodyPr wrap="square" lIns="0" tIns="0" rIns="0" bIns="0" rtlCol="0" anchor="ctr"/>
          <a:lstStyle/>
          <a:p>
            <a:pPr indent="0" marL="0">
              <a:buNone/>
            </a:pPr>
            <a:r>
              <a:rPr lang="en-US" sz="1100" b="1" spc="160" kern="0" dirty="0">
                <a:solidFill>
                  <a:srgbClr val="D9922B"/>
                </a:solidFill>
                <a:latin typeface="Calibri" pitchFamily="34" charset="0"/>
                <a:ea typeface="Calibri" pitchFamily="34" charset="-122"/>
                <a:cs typeface="Calibri" pitchFamily="34" charset="-120"/>
              </a:rPr>
              <a:t>APPROVE</a:t>
            </a:r>
            <a:endParaRPr lang="en-US" sz="1100" dirty="0"/>
          </a:p>
        </p:txBody>
      </p:sp>
      <p:sp>
        <p:nvSpPr>
          <p:cNvPr id="7" name="Text 5"/>
          <p:cNvSpPr/>
          <p:nvPr/>
        </p:nvSpPr>
        <p:spPr>
          <a:xfrm>
            <a:off x="841248" y="2322576"/>
            <a:ext cx="10506456" cy="42062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2-week discovery sprint, then a 90-day pilot.</a:t>
            </a:r>
            <a:endParaRPr lang="en-US" sz="2100" dirty="0"/>
          </a:p>
        </p:txBody>
      </p:sp>
      <p:sp>
        <p:nvSpPr>
          <p:cNvPr id="8" name="Text 6"/>
          <p:cNvSpPr/>
          <p:nvPr/>
        </p:nvSpPr>
        <p:spPr>
          <a:xfrm>
            <a:off x="841248"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FOOTPRINT</a:t>
            </a:r>
            <a:endParaRPr lang="en-US" sz="950" dirty="0"/>
          </a:p>
        </p:txBody>
      </p:sp>
      <p:sp>
        <p:nvSpPr>
          <p:cNvPr id="9" name="Text 7"/>
          <p:cNvSpPr/>
          <p:nvPr/>
        </p:nvSpPr>
        <p:spPr>
          <a:xfrm>
            <a:off x="841248"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20 pilot stores and 20 matched control stores</a:t>
            </a:r>
            <a:endParaRPr lang="en-US" sz="1300" dirty="0"/>
          </a:p>
        </p:txBody>
      </p:sp>
      <p:sp>
        <p:nvSpPr>
          <p:cNvPr id="10" name="Text 8"/>
          <p:cNvSpPr/>
          <p:nvPr/>
        </p:nvSpPr>
        <p:spPr>
          <a:xfrm>
            <a:off x="4434840"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TEAM</a:t>
            </a:r>
            <a:endParaRPr lang="en-US" sz="950" dirty="0"/>
          </a:p>
        </p:txBody>
      </p:sp>
      <p:sp>
        <p:nvSpPr>
          <p:cNvPr id="11" name="Text 9"/>
          <p:cNvSpPr/>
          <p:nvPr/>
        </p:nvSpPr>
        <p:spPr>
          <a:xfrm>
            <a:off x="4434840"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1 data-science pod, [N] engineers.</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Owner: [PM name]</a:t>
            </a:r>
            <a:endParaRPr lang="en-US" sz="1300" dirty="0"/>
          </a:p>
        </p:txBody>
      </p:sp>
      <p:sp>
        <p:nvSpPr>
          <p:cNvPr id="12" name="Text 10"/>
          <p:cNvSpPr/>
          <p:nvPr/>
        </p:nvSpPr>
        <p:spPr>
          <a:xfrm>
            <a:off x="8028432"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MONEY AND DATES</a:t>
            </a:r>
            <a:endParaRPr lang="en-US" sz="950" dirty="0"/>
          </a:p>
        </p:txBody>
      </p:sp>
      <p:sp>
        <p:nvSpPr>
          <p:cNvPr id="13" name="Text 11"/>
          <p:cNvSpPr/>
          <p:nvPr/>
        </p:nvSpPr>
        <p:spPr>
          <a:xfrm>
            <a:off x="8028432"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Budget: $[amount]</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Start: [date]   Gate: day 90</a:t>
            </a:r>
            <a:endParaRPr lang="en-US" sz="1300" dirty="0"/>
          </a:p>
        </p:txBody>
      </p:sp>
      <p:sp>
        <p:nvSpPr>
          <p:cNvPr id="14" name="Shape 12"/>
          <p:cNvSpPr/>
          <p:nvPr/>
        </p:nvSpPr>
        <p:spPr>
          <a:xfrm>
            <a:off x="566928" y="4160520"/>
            <a:ext cx="3502152" cy="1371600"/>
          </a:xfrm>
          <a:prstGeom prst="roundRect">
            <a:avLst>
              <a:gd name="adj" fmla="val 8000"/>
            </a:avLst>
          </a:prstGeom>
          <a:solidFill>
            <a:srgbClr val="1F3050"/>
          </a:solidFill>
          <a:ln w="12700">
            <a:solidFill>
              <a:srgbClr val="1F3050"/>
            </a:solidFill>
            <a:prstDash val="solid"/>
          </a:ln>
        </p:spPr>
      </p:sp>
      <p:sp>
        <p:nvSpPr>
          <p:cNvPr id="15" name="Shape 13"/>
          <p:cNvSpPr/>
          <p:nvPr/>
        </p:nvSpPr>
        <p:spPr>
          <a:xfrm>
            <a:off x="786384" y="4379976"/>
            <a:ext cx="182880" cy="182880"/>
          </a:xfrm>
          <a:prstGeom prst="ellipse">
            <a:avLst/>
          </a:prstGeom>
          <a:solidFill>
            <a:srgbClr val="44795A"/>
          </a:solidFill>
          <a:ln w="12700">
            <a:solidFill>
              <a:srgbClr val="44795A"/>
            </a:solidFill>
            <a:prstDash val="solid"/>
          </a:ln>
        </p:spPr>
      </p:sp>
      <p:sp>
        <p:nvSpPr>
          <p:cNvPr id="16" name="Text 14"/>
          <p:cNvSpPr/>
          <p:nvPr/>
        </p:nvSpPr>
        <p:spPr>
          <a:xfrm>
            <a:off x="1060704" y="4325112"/>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Scale if</a:t>
            </a:r>
            <a:endParaRPr lang="en-US" sz="1500" dirty="0"/>
          </a:p>
        </p:txBody>
      </p:sp>
      <p:sp>
        <p:nvSpPr>
          <p:cNvPr id="17" name="Text 15"/>
          <p:cNvSpPr/>
          <p:nvPr/>
        </p:nvSpPr>
        <p:spPr>
          <a:xfrm>
            <a:off x="786384" y="4727448"/>
            <a:ext cx="3063240" cy="749808"/>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90-day retention in pilot stores beats matched controls by 2 points or more, on the pre-registered north star.</a:t>
            </a:r>
            <a:endParaRPr lang="en-US" sz="1150" dirty="0"/>
          </a:p>
        </p:txBody>
      </p:sp>
      <p:sp>
        <p:nvSpPr>
          <p:cNvPr id="18" name="Shape 16"/>
          <p:cNvSpPr/>
          <p:nvPr/>
        </p:nvSpPr>
        <p:spPr>
          <a:xfrm>
            <a:off x="4343400" y="4160520"/>
            <a:ext cx="3502152" cy="1371600"/>
          </a:xfrm>
          <a:prstGeom prst="roundRect">
            <a:avLst>
              <a:gd name="adj" fmla="val 8000"/>
            </a:avLst>
          </a:prstGeom>
          <a:solidFill>
            <a:srgbClr val="1F3050"/>
          </a:solidFill>
          <a:ln w="12700">
            <a:solidFill>
              <a:srgbClr val="1F3050"/>
            </a:solidFill>
            <a:prstDash val="solid"/>
          </a:ln>
        </p:spPr>
      </p:sp>
      <p:sp>
        <p:nvSpPr>
          <p:cNvPr id="19" name="Shape 17"/>
          <p:cNvSpPr/>
          <p:nvPr/>
        </p:nvSpPr>
        <p:spPr>
          <a:xfrm>
            <a:off x="4562856" y="4379976"/>
            <a:ext cx="182880" cy="182880"/>
          </a:xfrm>
          <a:prstGeom prst="ellipse">
            <a:avLst/>
          </a:prstGeom>
          <a:solidFill>
            <a:srgbClr val="AE5348"/>
          </a:solidFill>
          <a:ln w="12700">
            <a:solidFill>
              <a:srgbClr val="AE5348"/>
            </a:solidFill>
            <a:prstDash val="solid"/>
          </a:ln>
        </p:spPr>
      </p:sp>
      <p:sp>
        <p:nvSpPr>
          <p:cNvPr id="20" name="Text 18"/>
          <p:cNvSpPr/>
          <p:nvPr/>
        </p:nvSpPr>
        <p:spPr>
          <a:xfrm>
            <a:off x="4837176" y="4325112"/>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Kill if</a:t>
            </a:r>
            <a:endParaRPr lang="en-US" sz="1500" dirty="0"/>
          </a:p>
        </p:txBody>
      </p:sp>
      <p:sp>
        <p:nvSpPr>
          <p:cNvPr id="21" name="Text 19"/>
          <p:cNvSpPr/>
          <p:nvPr/>
        </p:nvSpPr>
        <p:spPr>
          <a:xfrm>
            <a:off x="4562856" y="4727448"/>
            <a:ext cx="3063240" cy="749808"/>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Lift comes in under 1 point, or associate sentiment drops in pilot stores. No renegotiation.</a:t>
            </a:r>
            <a:endParaRPr lang="en-US" sz="1150" dirty="0"/>
          </a:p>
        </p:txBody>
      </p:sp>
      <p:sp>
        <p:nvSpPr>
          <p:cNvPr id="22" name="Shape 20"/>
          <p:cNvSpPr/>
          <p:nvPr/>
        </p:nvSpPr>
        <p:spPr>
          <a:xfrm>
            <a:off x="8119872" y="4160520"/>
            <a:ext cx="3502152" cy="1371600"/>
          </a:xfrm>
          <a:prstGeom prst="roundRect">
            <a:avLst>
              <a:gd name="adj" fmla="val 8000"/>
            </a:avLst>
          </a:prstGeom>
          <a:solidFill>
            <a:srgbClr val="1F3050"/>
          </a:solidFill>
          <a:ln w="12700">
            <a:solidFill>
              <a:srgbClr val="1F3050"/>
            </a:solidFill>
            <a:prstDash val="solid"/>
          </a:ln>
        </p:spPr>
      </p:sp>
      <p:sp>
        <p:nvSpPr>
          <p:cNvPr id="23" name="Shape 21"/>
          <p:cNvSpPr/>
          <p:nvPr/>
        </p:nvSpPr>
        <p:spPr>
          <a:xfrm>
            <a:off x="8339328" y="4379976"/>
            <a:ext cx="182880" cy="182880"/>
          </a:xfrm>
          <a:prstGeom prst="ellipse">
            <a:avLst/>
          </a:prstGeom>
          <a:solidFill>
            <a:srgbClr val="D9922B"/>
          </a:solidFill>
          <a:ln w="12700">
            <a:solidFill>
              <a:srgbClr val="D9922B"/>
            </a:solidFill>
            <a:prstDash val="solid"/>
          </a:ln>
        </p:spPr>
      </p:sp>
      <p:sp>
        <p:nvSpPr>
          <p:cNvPr id="24" name="Text 22"/>
          <p:cNvSpPr/>
          <p:nvPr/>
        </p:nvSpPr>
        <p:spPr>
          <a:xfrm>
            <a:off x="8613648" y="4325112"/>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Fallback if declined</a:t>
            </a:r>
            <a:endParaRPr lang="en-US" sz="1500" dirty="0"/>
          </a:p>
        </p:txBody>
      </p:sp>
      <p:sp>
        <p:nvSpPr>
          <p:cNvPr id="25" name="Text 23"/>
          <p:cNvSpPr/>
          <p:nvPr/>
        </p:nvSpPr>
        <p:spPr>
          <a:xfrm>
            <a:off x="8339328" y="4727448"/>
            <a:ext cx="3063240" cy="749808"/>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Telemetry and survey baseline only, at roughly a tenth the cost. Weaker evidence. Revisit in Q3.</a:t>
            </a:r>
            <a:endParaRPr lang="en-US" sz="1150" dirty="0"/>
          </a:p>
        </p:txBody>
      </p:sp>
      <p:sp>
        <p:nvSpPr>
          <p:cNvPr id="26" name="Shape 24"/>
          <p:cNvSpPr/>
          <p:nvPr/>
        </p:nvSpPr>
        <p:spPr>
          <a:xfrm>
            <a:off x="566928" y="5705856"/>
            <a:ext cx="41148" cy="512064"/>
          </a:xfrm>
          <a:prstGeom prst="rect">
            <a:avLst/>
          </a:prstGeom>
          <a:solidFill>
            <a:srgbClr val="D9922B"/>
          </a:solidFill>
          <a:ln w="12700">
            <a:solidFill>
              <a:srgbClr val="333333"/>
            </a:solidFill>
            <a:prstDash val="solid"/>
          </a:ln>
        </p:spPr>
      </p:sp>
      <p:sp>
        <p:nvSpPr>
          <p:cNvPr id="27" name="Text 25"/>
          <p:cNvSpPr/>
          <p:nvPr/>
        </p:nvSpPr>
        <p:spPr>
          <a:xfrm>
            <a:off x="804672" y="5705856"/>
            <a:ext cx="10049256" cy="512064"/>
          </a:xfrm>
          <a:prstGeom prst="rect">
            <a:avLst/>
          </a:prstGeom>
          <a:noFill/>
          <a:ln/>
        </p:spPr>
        <p:txBody>
          <a:bodyPr wrap="square" lIns="0" tIns="0" rIns="0" bIns="0" rtlCol="0" anchor="ctr"/>
          <a:lstStyle/>
          <a:p>
            <a:pPr indent="0" marL="0">
              <a:lnSpc>
                <a:spcPts val="1600"/>
              </a:lnSpc>
              <a:buNone/>
            </a:pPr>
            <a:r>
              <a:rPr lang="en-US" sz="1200" i="1" dirty="0">
                <a:solidFill>
                  <a:srgbClr val="AEBFD8"/>
                </a:solidFill>
                <a:latin typeface="Calibri" pitchFamily="34" charset="0"/>
                <a:ea typeface="Calibri" pitchFamily="34" charset="-122"/>
                <a:cs typeface="Calibri" pitchFamily="34" charset="-120"/>
              </a:rPr>
              <a:t>Digital channels beat paper because the information mattered. Promotions are just one more reason to spend. This is the first kind. That is why I want to work on it.</a:t>
            </a:r>
            <a:endParaRPr lang="en-US" sz="1200" dirty="0"/>
          </a:p>
        </p:txBody>
      </p:sp>
      <p:sp>
        <p:nvSpPr>
          <p:cNvPr id="28" name="Text 2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33B"/>
        </a:solidFill>
      </p:bgPr>
    </p:bg>
    <p:spTree>
      <p:nvGrpSpPr>
        <p:cNvPr id="1" name=""/>
        <p:cNvGrpSpPr/>
        <p:nvPr/>
      </p:nvGrpSpPr>
      <p:grpSpPr>
        <a:xfrm>
          <a:off x="0" y="0"/>
          <a:ext cx="0" cy="0"/>
          <a:chOff x="0" y="0"/>
          <a:chExt cx="0" cy="0"/>
        </a:xfrm>
      </p:grpSpPr>
      <p:sp>
        <p:nvSpPr>
          <p:cNvPr id="2" name="Text 0"/>
          <p:cNvSpPr/>
          <p:nvPr/>
        </p:nvSpPr>
        <p:spPr>
          <a:xfrm>
            <a:off x="566928" y="2377440"/>
            <a:ext cx="11055096"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Appendix</a:t>
            </a:r>
            <a:endParaRPr lang="en-US" sz="4200" dirty="0"/>
          </a:p>
        </p:txBody>
      </p:sp>
      <p:sp>
        <p:nvSpPr>
          <p:cNvPr id="3" name="Text 1"/>
          <p:cNvSpPr/>
          <p:nvPr/>
        </p:nvSpPr>
        <p:spPr>
          <a:xfrm>
            <a:off x="566928" y="3383280"/>
            <a:ext cx="8129016" cy="1097280"/>
          </a:xfrm>
          <a:prstGeom prst="rect">
            <a:avLst/>
          </a:prstGeom>
          <a:noFill/>
          <a:ln/>
        </p:spPr>
        <p:txBody>
          <a:bodyPr wrap="square" lIns="0" tIns="0" rIns="0" bIns="0" rtlCol="0" anchor="t"/>
          <a:lstStyle/>
          <a:p>
            <a:pPr indent="0" marL="0">
              <a:lnSpc>
                <a:spcPts val="2100"/>
              </a:lnSpc>
              <a:buNone/>
            </a:pPr>
            <a:r>
              <a:rPr lang="en-US" sz="1500" dirty="0">
                <a:solidFill>
                  <a:srgbClr val="C9D4E6"/>
                </a:solidFill>
                <a:latin typeface="Calibri" pitchFamily="34" charset="0"/>
                <a:ea typeface="Calibri" pitchFamily="34" charset="-122"/>
                <a:cs typeface="Calibri" pitchFamily="34" charset="-120"/>
              </a:rPr>
              <a:t>Twenty slides, indexed by the seat that asks. ROI models and measurement design for finance. Architecture, integration, and bandit mechanics for engineering and data science. Reward ladder, compliance, guardrails, and reward-science sources for HR and legal.</a:t>
            </a:r>
            <a:endParaRPr lang="en-US" sz="1500" dirty="0"/>
          </a:p>
        </p:txBody>
      </p:sp>
      <p:sp>
        <p:nvSpPr>
          <p:cNvPr id="4" name="Text 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A ROI rests on two inputs, and both are testable in the pilot.</a:t>
            </a:r>
            <a:endParaRPr lang="en-US" sz="2600" dirty="0"/>
          </a:p>
        </p:txBody>
      </p:sp>
      <p:sp>
        <p:nvSpPr>
          <p:cNvPr id="5" name="Shape 3"/>
          <p:cNvSpPr/>
          <p:nvPr/>
        </p:nvSpPr>
        <p:spPr>
          <a:xfrm>
            <a:off x="566928" y="1783080"/>
            <a:ext cx="3502152" cy="1371600"/>
          </a:xfrm>
          <a:prstGeom prst="roundRect">
            <a:avLst>
              <a:gd name="adj" fmla="val 8000"/>
            </a:avLst>
          </a:prstGeom>
          <a:solidFill>
            <a:srgbClr val="F1F5FA"/>
          </a:solidFill>
          <a:ln w="12700">
            <a:solidFill>
              <a:srgbClr val="F1F5FA"/>
            </a:solidFill>
            <a:prstDash val="solid"/>
          </a:ln>
        </p:spPr>
      </p:sp>
      <p:sp>
        <p:nvSpPr>
          <p:cNvPr id="6" name="Text 4"/>
          <p:cNvSpPr/>
          <p:nvPr/>
        </p:nvSpPr>
        <p:spPr>
          <a:xfrm>
            <a:off x="731520"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~500K</a:t>
            </a:r>
            <a:endParaRPr lang="en-US" sz="3000" dirty="0"/>
          </a:p>
        </p:txBody>
      </p:sp>
      <p:sp>
        <p:nvSpPr>
          <p:cNvPr id="7" name="Text 5"/>
          <p:cNvSpPr/>
          <p:nvPr/>
        </p:nvSpPr>
        <p:spPr>
          <a:xfrm>
            <a:off x="731520"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new store hires a year</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(illustrative)</a:t>
            </a:r>
            <a:endParaRPr lang="en-US" sz="1150" dirty="0"/>
          </a:p>
        </p:txBody>
      </p:sp>
      <p:sp>
        <p:nvSpPr>
          <p:cNvPr id="8" name="Text 6"/>
          <p:cNvSpPr/>
          <p:nvPr/>
        </p:nvSpPr>
        <p:spPr>
          <a:xfrm>
            <a:off x="4087368"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9" name="Shape 7"/>
          <p:cNvSpPr/>
          <p:nvPr/>
        </p:nvSpPr>
        <p:spPr>
          <a:xfrm>
            <a:off x="4343400" y="1783080"/>
            <a:ext cx="3502152" cy="1371600"/>
          </a:xfrm>
          <a:prstGeom prst="roundRect">
            <a:avLst>
              <a:gd name="adj" fmla="val 8000"/>
            </a:avLst>
          </a:prstGeom>
          <a:solidFill>
            <a:srgbClr val="F1F5FA"/>
          </a:solidFill>
          <a:ln w="12700">
            <a:solidFill>
              <a:srgbClr val="F1F5FA"/>
            </a:solidFill>
            <a:prstDash val="solid"/>
          </a:ln>
        </p:spPr>
      </p:sp>
      <p:sp>
        <p:nvSpPr>
          <p:cNvPr id="10" name="Text 8"/>
          <p:cNvSpPr/>
          <p:nvPr/>
        </p:nvSpPr>
        <p:spPr>
          <a:xfrm>
            <a:off x="4507992"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+1 point</a:t>
            </a:r>
            <a:endParaRPr lang="en-US" sz="3000" dirty="0"/>
          </a:p>
        </p:txBody>
      </p:sp>
      <p:sp>
        <p:nvSpPr>
          <p:cNvPr id="11" name="Text 9"/>
          <p:cNvSpPr/>
          <p:nvPr/>
        </p:nvSpPr>
        <p:spPr>
          <a:xfrm>
            <a:off x="4507992"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of 90-day retention is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5,000 fewer replacements</a:t>
            </a:r>
            <a:endParaRPr lang="en-US" sz="1150" dirty="0"/>
          </a:p>
        </p:txBody>
      </p:sp>
      <p:sp>
        <p:nvSpPr>
          <p:cNvPr id="12" name="Text 10"/>
          <p:cNvSpPr/>
          <p:nvPr/>
        </p:nvSpPr>
        <p:spPr>
          <a:xfrm>
            <a:off x="7863840"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13" name="Shape 11"/>
          <p:cNvSpPr/>
          <p:nvPr/>
        </p:nvSpPr>
        <p:spPr>
          <a:xfrm>
            <a:off x="8119872" y="1783080"/>
            <a:ext cx="3502152" cy="1371600"/>
          </a:xfrm>
          <a:prstGeom prst="roundRect">
            <a:avLst>
              <a:gd name="adj" fmla="val 8000"/>
            </a:avLst>
          </a:prstGeom>
          <a:solidFill>
            <a:srgbClr val="F1F5FA"/>
          </a:solidFill>
          <a:ln w="12700">
            <a:solidFill>
              <a:srgbClr val="F1F5FA"/>
            </a:solidFill>
            <a:prstDash val="solid"/>
          </a:ln>
        </p:spPr>
      </p:sp>
      <p:sp>
        <p:nvSpPr>
          <p:cNvPr id="14" name="Text 12"/>
          <p:cNvSpPr/>
          <p:nvPr/>
        </p:nvSpPr>
        <p:spPr>
          <a:xfrm>
            <a:off x="8284464" y="1965960"/>
            <a:ext cx="3172968" cy="685800"/>
          </a:xfrm>
          <a:prstGeom prst="rect">
            <a:avLst/>
          </a:prstGeom>
          <a:noFill/>
          <a:ln/>
        </p:spPr>
        <p:txBody>
          <a:bodyPr wrap="square" lIns="0" tIns="0" rIns="0" bIns="0" rtlCol="0" anchor="ctr"/>
          <a:lstStyle/>
          <a:p>
            <a:pPr algn="ctr" indent="0" marL="0">
              <a:buNone/>
            </a:pPr>
            <a:r>
              <a:rPr lang="en-US" sz="3000" b="1" dirty="0">
                <a:solidFill>
                  <a:srgbClr val="8A5A11"/>
                </a:solidFill>
                <a:latin typeface="Cambria" pitchFamily="34" charset="0"/>
                <a:ea typeface="Cambria" pitchFamily="34" charset="-122"/>
                <a:cs typeface="Cambria" pitchFamily="34" charset="-120"/>
              </a:rPr>
              <a:t>~$15M</a:t>
            </a:r>
            <a:endParaRPr lang="en-US" sz="3000" dirty="0"/>
          </a:p>
        </p:txBody>
      </p:sp>
      <p:sp>
        <p:nvSpPr>
          <p:cNvPr id="15" name="Text 13"/>
          <p:cNvSpPr/>
          <p:nvPr/>
        </p:nvSpPr>
        <p:spPr>
          <a:xfrm>
            <a:off x="8284464"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a year per point, at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$3,000 to replace each hire</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3401568"/>
          <a:ext cx="11055096" cy="914400"/>
        </p:xfrm>
        <a:graphic>
          <a:graphicData uri="http://schemas.openxmlformats.org/drawingml/2006/table">
            <a:tbl>
              <a:tblPr/>
              <a:tblGrid>
                <a:gridCol w="2377440"/>
                <a:gridCol w="2889504"/>
                <a:gridCol w="2898648"/>
                <a:gridCol w="2898648"/>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Sensitivity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$2,000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$3,000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$4,000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400K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$16M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500K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$15M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600K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$24M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17" name="Shape 14"/>
          <p:cNvSpPr/>
          <p:nvPr/>
        </p:nvSpPr>
        <p:spPr>
          <a:xfrm>
            <a:off x="566928" y="5120640"/>
            <a:ext cx="11055096" cy="914400"/>
          </a:xfrm>
          <a:prstGeom prst="roundRect">
            <a:avLst>
              <a:gd name="adj" fmla="val 12000"/>
            </a:avLst>
          </a:prstGeom>
          <a:solidFill>
            <a:srgbClr val="F1F5FA"/>
          </a:solidFill>
          <a:ln w="12700">
            <a:solidFill>
              <a:srgbClr val="F1F5FA"/>
            </a:solidFill>
            <a:prstDash val="solid"/>
          </a:ln>
        </p:spPr>
      </p:sp>
      <p:sp>
        <p:nvSpPr>
          <p:cNvPr id="18" name="Text 15"/>
          <p:cNvSpPr/>
          <p:nvPr/>
        </p:nvSpPr>
        <p:spPr>
          <a:xfrm>
            <a:off x="786384" y="5175504"/>
            <a:ext cx="10616184" cy="8229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a pilot lift under 1 point, or a true replacement cost below about $1,500. Measurement is matched pilot versus control stores, 20 each, with the north star pre-registered before the pilot opens and a scale or kill call at day 90.</a:t>
            </a:r>
            <a:endParaRPr lang="en-US" sz="1200" dirty="0"/>
          </a:p>
        </p:txBody>
      </p:sp>
      <p:sp>
        <p:nvSpPr>
          <p:cNvPr id="19" name="Text 16"/>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Order-of-magnitude model with stated assumptions, built to be interrogated in the room and then replaced by measured pilot data.</a:t>
            </a:r>
            <a:endParaRPr lang="en-US" sz="1050" dirty="0"/>
          </a:p>
        </p:txBody>
      </p:sp>
      <p:sp>
        <p:nvSpPr>
          <p:cNvPr id="20" name="Text 17"/>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A2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B ROI is a labor-minutes model, and the top clusters waste far more than a minute.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About 1M store associates x 1 minute per shift x about $0.30 a minute loaded labor is roughly $300K a day, or $100M a year.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Deflection is the second lever: fewer mid-task interruptions per team lead per shift, which the current dead-end pattern generates all day.</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Shift planning already fell from 90 minutes to 30 with agent help. That is the proof the mechanism works here.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task-level instrumentation: answer-to-action conversion, deflection rate, and time-to-resolution against a pre-pilot baseline.</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the top clusters turn out to be genuinely low-frequency, or if action feasibility is blocked by systems of record we cannot write to.</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The sprint ranks every intent cluster by frequency x time-cost x feasibility before a single agent is built.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A3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C pays back through targeting yield and through what it makes cheap later.</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 targeting concentrates incentive spend on the arms that work per cohort, which is where the roughly 2x yield on the same dollar comes from. Holdout-proven, not asserted.</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Platform effect: a new intervention becomes config rather than code, so what took weeks takes days.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It compounds A and B rather than competing with them. Their features become arms the engine keeps optimizing.</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permanent long-horizon holdouts, incentive ROI per arm, and predicted versus actual lift with equity audits attached.</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attrition drivers turn out to be uniform across cohorts, targeting has nothing to find and the platform spend is not justified yet.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slowest bet to a visible win, which is exactly why it is sequenced second rather than first.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A4  ·  FOR FINANCE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Measurement is designed before the build, so the day-90 call is arithmetic and not debate.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Matched pairs: 20 pilot stores and 20 control stores matched on volume, region, tenure mix, and recent turnover.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north star is pre-registered before the pilot opens. No metric shopping after the read.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keeps permanent long-horizon holdout groups, so leading indicators stay honest against 90-day retention.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plan ends in a scale or kill decision priced in CFO terms: cost per replaced associate against measured pilot lift.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Scale at 2 points or better. Kill under 1 point, or on any sentiment drop in pilot stores.</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Pre-registration is what separates a pilot from a demo.</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A5  ·  FOR THE GM AND HIRING PRINCIPAL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Two weeks, four workstreams, and one question each has to answer.</a:t>
            </a:r>
            <a:endParaRPr lang="en-US" sz="2600" dirty="0"/>
          </a:p>
        </p:txBody>
      </p:sp>
      <p:sp>
        <p:nvSpPr>
          <p:cNvPr id="5" name="Shape 3"/>
          <p:cNvSpPr/>
          <p:nvPr/>
        </p:nvSpPr>
        <p:spPr>
          <a:xfrm>
            <a:off x="566928" y="1810512"/>
            <a:ext cx="2592324" cy="3566160"/>
          </a:xfrm>
          <a:prstGeom prst="roundRect">
            <a:avLst>
              <a:gd name="adj" fmla="val 4233"/>
            </a:avLst>
          </a:prstGeom>
          <a:solidFill>
            <a:srgbClr val="F1F5FA"/>
          </a:solidFill>
          <a:ln w="12700">
            <a:solidFill>
              <a:srgbClr val="F1F5FA"/>
            </a:solidFill>
            <a:prstDash val="solid"/>
          </a:ln>
        </p:spPr>
      </p:sp>
      <p:sp>
        <p:nvSpPr>
          <p:cNvPr id="6" name="Shape 4"/>
          <p:cNvSpPr/>
          <p:nvPr/>
        </p:nvSpPr>
        <p:spPr>
          <a:xfrm>
            <a:off x="749808" y="1993392"/>
            <a:ext cx="384048" cy="384048"/>
          </a:xfrm>
          <a:prstGeom prst="ellipse">
            <a:avLst/>
          </a:prstGeom>
          <a:solidFill>
            <a:srgbClr val="16233B"/>
          </a:solidFill>
          <a:ln w="12700">
            <a:solidFill>
              <a:srgbClr val="16233B"/>
            </a:solidFill>
            <a:prstDash val="solid"/>
          </a:ln>
        </p:spPr>
      </p:sp>
      <p:sp>
        <p:nvSpPr>
          <p:cNvPr id="7" name="Text 5"/>
          <p:cNvSpPr/>
          <p:nvPr/>
        </p:nvSpPr>
        <p:spPr>
          <a:xfrm>
            <a:off x="749808"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749808"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a:t>
            </a:r>
            <a:endParaRPr lang="en-US" sz="1000" dirty="0"/>
          </a:p>
        </p:txBody>
      </p:sp>
      <p:sp>
        <p:nvSpPr>
          <p:cNvPr id="9" name="Text 7"/>
          <p:cNvSpPr/>
          <p:nvPr/>
        </p:nvSpPr>
        <p:spPr>
          <a:xfrm>
            <a:off x="749808"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Telemetry deep-dive</a:t>
            </a:r>
            <a:endParaRPr lang="en-US" sz="1450" dirty="0"/>
          </a:p>
        </p:txBody>
      </p:sp>
      <p:sp>
        <p:nvSpPr>
          <p:cNvPr id="10" name="Text 8"/>
          <p:cNvSpPr/>
          <p:nvPr/>
        </p:nvSpPr>
        <p:spPr>
          <a:xfrm>
            <a:off x="749808"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The 3M daily Sidekick questions clustered by intent. Feature engagement by role, tenure, shift, and region. Drop-off funnels.</a:t>
            </a:r>
            <a:endParaRPr lang="en-US" sz="1100" dirty="0"/>
          </a:p>
        </p:txBody>
      </p:sp>
      <p:sp>
        <p:nvSpPr>
          <p:cNvPr id="11" name="Shape 9"/>
          <p:cNvSpPr/>
          <p:nvPr/>
        </p:nvSpPr>
        <p:spPr>
          <a:xfrm>
            <a:off x="749808" y="4572000"/>
            <a:ext cx="2226564" cy="658368"/>
          </a:xfrm>
          <a:prstGeom prst="roundRect">
            <a:avLst>
              <a:gd name="adj" fmla="val 11111"/>
            </a:avLst>
          </a:prstGeom>
          <a:solidFill>
            <a:srgbClr val="FAECD4"/>
          </a:solidFill>
          <a:ln w="12700">
            <a:solidFill>
              <a:srgbClr val="FAECD4"/>
            </a:solidFill>
            <a:prstDash val="solid"/>
          </a:ln>
        </p:spPr>
      </p:sp>
      <p:sp>
        <p:nvSpPr>
          <p:cNvPr id="12" name="Text 10"/>
          <p:cNvSpPr/>
          <p:nvPr/>
        </p:nvSpPr>
        <p:spPr>
          <a:xfrm>
            <a:off x="859536"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answers dead-end into manual work?</a:t>
            </a:r>
            <a:endParaRPr lang="en-US" sz="1000" dirty="0"/>
          </a:p>
        </p:txBody>
      </p:sp>
      <p:sp>
        <p:nvSpPr>
          <p:cNvPr id="13" name="Shape 11"/>
          <p:cNvSpPr/>
          <p:nvPr/>
        </p:nvSpPr>
        <p:spPr>
          <a:xfrm>
            <a:off x="3387852" y="1810512"/>
            <a:ext cx="2592324" cy="3566160"/>
          </a:xfrm>
          <a:prstGeom prst="roundRect">
            <a:avLst>
              <a:gd name="adj" fmla="val 4233"/>
            </a:avLst>
          </a:prstGeom>
          <a:solidFill>
            <a:srgbClr val="F1F5FA"/>
          </a:solidFill>
          <a:ln w="12700">
            <a:solidFill>
              <a:srgbClr val="F1F5FA"/>
            </a:solidFill>
            <a:prstDash val="solid"/>
          </a:ln>
        </p:spPr>
      </p:sp>
      <p:sp>
        <p:nvSpPr>
          <p:cNvPr id="14" name="Shape 12"/>
          <p:cNvSpPr/>
          <p:nvPr/>
        </p:nvSpPr>
        <p:spPr>
          <a:xfrm>
            <a:off x="3570732" y="1993392"/>
            <a:ext cx="384048" cy="384048"/>
          </a:xfrm>
          <a:prstGeom prst="ellipse">
            <a:avLst/>
          </a:prstGeom>
          <a:solidFill>
            <a:srgbClr val="16233B"/>
          </a:solidFill>
          <a:ln w="12700">
            <a:solidFill>
              <a:srgbClr val="16233B"/>
            </a:solidFill>
            <a:prstDash val="solid"/>
          </a:ln>
        </p:spPr>
      </p:sp>
      <p:sp>
        <p:nvSpPr>
          <p:cNvPr id="15" name="Text 13"/>
          <p:cNvSpPr/>
          <p:nvPr/>
        </p:nvSpPr>
        <p:spPr>
          <a:xfrm>
            <a:off x="357073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6" name="Text 14"/>
          <p:cNvSpPr/>
          <p:nvPr/>
        </p:nvSpPr>
        <p:spPr>
          <a:xfrm>
            <a:off x="3570732"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 parallel</a:t>
            </a:r>
            <a:endParaRPr lang="en-US" sz="1000" dirty="0"/>
          </a:p>
        </p:txBody>
      </p:sp>
      <p:sp>
        <p:nvSpPr>
          <p:cNvPr id="17" name="Text 15"/>
          <p:cNvSpPr/>
          <p:nvPr/>
        </p:nvSpPr>
        <p:spPr>
          <a:xfrm>
            <a:off x="3570732"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Voice-of-associate review</a:t>
            </a:r>
            <a:endParaRPr lang="en-US" sz="1450" dirty="0"/>
          </a:p>
        </p:txBody>
      </p:sp>
      <p:sp>
        <p:nvSpPr>
          <p:cNvPr id="18" name="Text 16"/>
          <p:cNvSpPr/>
          <p:nvPr/>
        </p:nvSpPr>
        <p:spPr>
          <a:xfrm>
            <a:off x="3570732"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In-app feedback, survey verbatims, app store reviews, thumbs-down transcripts, exit interview themes, coded against the telemetry clusters.</a:t>
            </a:r>
            <a:endParaRPr lang="en-US" sz="1100" dirty="0"/>
          </a:p>
        </p:txBody>
      </p:sp>
      <p:sp>
        <p:nvSpPr>
          <p:cNvPr id="19" name="Shape 17"/>
          <p:cNvSpPr/>
          <p:nvPr/>
        </p:nvSpPr>
        <p:spPr>
          <a:xfrm>
            <a:off x="3570732" y="4572000"/>
            <a:ext cx="2226564" cy="658368"/>
          </a:xfrm>
          <a:prstGeom prst="roundRect">
            <a:avLst>
              <a:gd name="adj" fmla="val 11111"/>
            </a:avLst>
          </a:prstGeom>
          <a:solidFill>
            <a:srgbClr val="FAECD4"/>
          </a:solidFill>
          <a:ln w="12700">
            <a:solidFill>
              <a:srgbClr val="FAECD4"/>
            </a:solidFill>
            <a:prstDash val="solid"/>
          </a:ln>
        </p:spPr>
      </p:sp>
      <p:sp>
        <p:nvSpPr>
          <p:cNvPr id="20" name="Text 18"/>
          <p:cNvSpPr/>
          <p:nvPr/>
        </p:nvSpPr>
        <p:spPr>
          <a:xfrm>
            <a:off x="3680460"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associates say it hurts versus where the data shows it hurts?</a:t>
            </a:r>
            <a:endParaRPr lang="en-US" sz="1000" dirty="0"/>
          </a:p>
        </p:txBody>
      </p:sp>
      <p:sp>
        <p:nvSpPr>
          <p:cNvPr id="21" name="Shape 19"/>
          <p:cNvSpPr/>
          <p:nvPr/>
        </p:nvSpPr>
        <p:spPr>
          <a:xfrm>
            <a:off x="6208776" y="1810512"/>
            <a:ext cx="2592324" cy="3566160"/>
          </a:xfrm>
          <a:prstGeom prst="roundRect">
            <a:avLst>
              <a:gd name="adj" fmla="val 4233"/>
            </a:avLst>
          </a:prstGeom>
          <a:solidFill>
            <a:srgbClr val="F1F5FA"/>
          </a:solidFill>
          <a:ln w="12700">
            <a:solidFill>
              <a:srgbClr val="F1F5FA"/>
            </a:solidFill>
            <a:prstDash val="solid"/>
          </a:ln>
        </p:spPr>
      </p:sp>
      <p:sp>
        <p:nvSpPr>
          <p:cNvPr id="22" name="Shape 20"/>
          <p:cNvSpPr/>
          <p:nvPr/>
        </p:nvSpPr>
        <p:spPr>
          <a:xfrm>
            <a:off x="6391656" y="1993392"/>
            <a:ext cx="384048" cy="384048"/>
          </a:xfrm>
          <a:prstGeom prst="ellipse">
            <a:avLst/>
          </a:prstGeom>
          <a:solidFill>
            <a:srgbClr val="16233B"/>
          </a:solidFill>
          <a:ln w="12700">
            <a:solidFill>
              <a:srgbClr val="16233B"/>
            </a:solidFill>
            <a:prstDash val="solid"/>
          </a:ln>
        </p:spPr>
      </p:sp>
      <p:sp>
        <p:nvSpPr>
          <p:cNvPr id="23" name="Text 21"/>
          <p:cNvSpPr/>
          <p:nvPr/>
        </p:nvSpPr>
        <p:spPr>
          <a:xfrm>
            <a:off x="6391656"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4" name="Text 22"/>
          <p:cNvSpPr/>
          <p:nvPr/>
        </p:nvSpPr>
        <p:spPr>
          <a:xfrm>
            <a:off x="6391656"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6 to 12</a:t>
            </a:r>
            <a:endParaRPr lang="en-US" sz="1000" dirty="0"/>
          </a:p>
        </p:txBody>
      </p:sp>
      <p:sp>
        <p:nvSpPr>
          <p:cNvPr id="25" name="Text 23"/>
          <p:cNvSpPr/>
          <p:nvPr/>
        </p:nvSpPr>
        <p:spPr>
          <a:xfrm>
            <a:off x="6391656"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Work as a store associate</a:t>
            </a:r>
            <a:endParaRPr lang="en-US" sz="1450" dirty="0"/>
          </a:p>
        </p:txBody>
      </p:sp>
      <p:sp>
        <p:nvSpPr>
          <p:cNvPr id="26" name="Text 24"/>
          <p:cNvSpPr/>
          <p:nvPr/>
        </p:nvSpPr>
        <p:spPr>
          <a:xfrm>
            <a:off x="6391656"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Badge in. Overnight stocking and front-end shifts with real task assignments, on the same shared handhelds. Not a store tour.</a:t>
            </a:r>
            <a:endParaRPr lang="en-US" sz="1100" dirty="0"/>
          </a:p>
        </p:txBody>
      </p:sp>
      <p:sp>
        <p:nvSpPr>
          <p:cNvPr id="27" name="Shape 25"/>
          <p:cNvSpPr/>
          <p:nvPr/>
        </p:nvSpPr>
        <p:spPr>
          <a:xfrm>
            <a:off x="6391656" y="4572000"/>
            <a:ext cx="2226564" cy="658368"/>
          </a:xfrm>
          <a:prstGeom prst="roundRect">
            <a:avLst>
              <a:gd name="adj" fmla="val 11111"/>
            </a:avLst>
          </a:prstGeom>
          <a:solidFill>
            <a:srgbClr val="FAECD4"/>
          </a:solidFill>
          <a:ln w="12700">
            <a:solidFill>
              <a:srgbClr val="FAECD4"/>
            </a:solidFill>
            <a:prstDash val="solid"/>
          </a:ln>
        </p:spPr>
      </p:sp>
      <p:sp>
        <p:nvSpPr>
          <p:cNvPr id="28" name="Text 26"/>
          <p:cNvSpPr/>
          <p:nvPr/>
        </p:nvSpPr>
        <p:spPr>
          <a:xfrm>
            <a:off x="6501384"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does the first shift feel like, and when is the app absent?</a:t>
            </a:r>
            <a:endParaRPr lang="en-US" sz="1000" dirty="0"/>
          </a:p>
        </p:txBody>
      </p:sp>
      <p:sp>
        <p:nvSpPr>
          <p:cNvPr id="29" name="Shape 27"/>
          <p:cNvSpPr/>
          <p:nvPr/>
        </p:nvSpPr>
        <p:spPr>
          <a:xfrm>
            <a:off x="9029700" y="1810512"/>
            <a:ext cx="2592324" cy="3566160"/>
          </a:xfrm>
          <a:prstGeom prst="roundRect">
            <a:avLst>
              <a:gd name="adj" fmla="val 4233"/>
            </a:avLst>
          </a:prstGeom>
          <a:solidFill>
            <a:srgbClr val="F1F5FA"/>
          </a:solidFill>
          <a:ln w="12700">
            <a:solidFill>
              <a:srgbClr val="F1F5FA"/>
            </a:solidFill>
            <a:prstDash val="solid"/>
          </a:ln>
        </p:spPr>
      </p:sp>
      <p:sp>
        <p:nvSpPr>
          <p:cNvPr id="30" name="Shape 28"/>
          <p:cNvSpPr/>
          <p:nvPr/>
        </p:nvSpPr>
        <p:spPr>
          <a:xfrm>
            <a:off x="9212580" y="1993392"/>
            <a:ext cx="384048" cy="384048"/>
          </a:xfrm>
          <a:prstGeom prst="ellipse">
            <a:avLst/>
          </a:prstGeom>
          <a:solidFill>
            <a:srgbClr val="16233B"/>
          </a:solidFill>
          <a:ln w="12700">
            <a:solidFill>
              <a:srgbClr val="16233B"/>
            </a:solidFill>
            <a:prstDash val="solid"/>
          </a:ln>
        </p:spPr>
      </p:sp>
      <p:sp>
        <p:nvSpPr>
          <p:cNvPr id="31" name="Text 29"/>
          <p:cNvSpPr/>
          <p:nvPr/>
        </p:nvSpPr>
        <p:spPr>
          <a:xfrm>
            <a:off x="9212580"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2" name="Text 30"/>
          <p:cNvSpPr/>
          <p:nvPr/>
        </p:nvSpPr>
        <p:spPr>
          <a:xfrm>
            <a:off x="9212580"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13 to 14</a:t>
            </a:r>
            <a:endParaRPr lang="en-US" sz="1000" dirty="0"/>
          </a:p>
        </p:txBody>
      </p:sp>
      <p:sp>
        <p:nvSpPr>
          <p:cNvPr id="33" name="Text 31"/>
          <p:cNvSpPr/>
          <p:nvPr/>
        </p:nvSpPr>
        <p:spPr>
          <a:xfrm>
            <a:off x="9212580"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Refresh the journey maps</a:t>
            </a:r>
            <a:endParaRPr lang="en-US" sz="1450" dirty="0"/>
          </a:p>
        </p:txBody>
      </p:sp>
      <p:sp>
        <p:nvSpPr>
          <p:cNvPr id="34" name="Text 32"/>
          <p:cNvSpPr/>
          <p:nvPr/>
        </p:nvSpPr>
        <p:spPr>
          <a:xfrm>
            <a:off x="9212580"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Synthesize all three inputs into evidence-based maps per persona: new associate, tenured associate, team lead.</a:t>
            </a:r>
            <a:endParaRPr lang="en-US" sz="1100" dirty="0"/>
          </a:p>
        </p:txBody>
      </p:sp>
      <p:sp>
        <p:nvSpPr>
          <p:cNvPr id="35" name="Shape 33"/>
          <p:cNvSpPr/>
          <p:nvPr/>
        </p:nvSpPr>
        <p:spPr>
          <a:xfrm>
            <a:off x="9212580" y="4572000"/>
            <a:ext cx="2226564" cy="658368"/>
          </a:xfrm>
          <a:prstGeom prst="roundRect">
            <a:avLst>
              <a:gd name="adj" fmla="val 11111"/>
            </a:avLst>
          </a:prstGeom>
          <a:solidFill>
            <a:srgbClr val="FAECD4"/>
          </a:solidFill>
          <a:ln w="12700">
            <a:solidFill>
              <a:srgbClr val="FAECD4"/>
            </a:solidFill>
            <a:prstDash val="solid"/>
          </a:ln>
        </p:spPr>
      </p:sp>
      <p:sp>
        <p:nvSpPr>
          <p:cNvPr id="36" name="Text 34"/>
          <p:cNvSpPr/>
          <p:nvPr/>
        </p:nvSpPr>
        <p:spPr>
          <a:xfrm>
            <a:off x="9322308"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role does the app actually play in whether a new associate stays?</a:t>
            </a:r>
            <a:endParaRPr lang="en-US" sz="100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Triangulation by design: telemetry shows what associates do, voice-of-associate shows what they say, floor shifts show what it feels like. A pain point in all three is real. In one, it is a hypothesis.</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A6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This ships as nano-agents inside the four-super-agent architecture that already exists.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Sparky, Marty, Associate, and Developer are the existing super-agents. Plan A's Onboarding Companion is a nano-agent under the Associate super-agent, not a new stack.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matches the stated surgical agent philosophy: small, purpose-built agents over one general assistant asked to do everything.</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B's action agents are nano-agents per intent cluster, starting with schedule conflicts, each owning one complete loop.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adds no new surface. It adds the rails underneath: a feature store, versioned scores, and config-driven intervention arms.</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Nothing here asks for a rewrite. Every plan lands as an increment on shipped infrastructure.</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Reference: four-super-agent architecture with nano-agents, per CTO Hari Vasudev's stated agent philosophy.</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A7  ·  FOR ENGINEERING LEADS</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Writing to systems of record sets the trust bar, so accuracy is tiered by what a mistake costs.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Strictest grounding tier covers pay, benefits, and scheduling. These actions double-check against the system of record before commit.</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 human approves the write: the schedule-swap loop proposes eligible takers and the lead approves with one tap.</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One wrong scheduling action costs more trust than 100 right answers earn. Reliability is the feature, not a follow-up.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Graceful handoff is specified, not implied: when the agent cannot act it says who, why, and what happens next.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of Plan B are reliability hardening. The agent has to be boringly dependable before it can be broadly loved.</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Trust telemetry runs alongside: accuracy, correction rate, and escalation quality, all read per cluster.</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A8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Exploration scales with uncertainty, which is the whole trick.</a:t>
            </a:r>
            <a:endParaRPr lang="en-US" sz="2600" dirty="0"/>
          </a:p>
        </p:txBody>
      </p:sp>
      <p:sp>
        <p:nvSpPr>
          <p:cNvPr id="5" name="Shape 3"/>
          <p:cNvSpPr/>
          <p:nvPr/>
        </p:nvSpPr>
        <p:spPr>
          <a:xfrm>
            <a:off x="566928" y="1892808"/>
            <a:ext cx="100584" cy="100584"/>
          </a:xfrm>
          <a:prstGeom prst="diamond">
            <a:avLst/>
          </a:prstGeom>
          <a:solidFill>
            <a:srgbClr val="D9922B"/>
          </a:solidFill>
          <a:ln w="12700">
            <a:solidFill>
              <a:srgbClr val="D9922B"/>
            </a:solidFill>
            <a:prstDash val="solid"/>
          </a:ln>
        </p:spPr>
      </p:sp>
      <p:sp>
        <p:nvSpPr>
          <p:cNvPr id="6" name="Text 4"/>
          <p:cNvSpPr/>
          <p:nvPr/>
        </p:nvSpPr>
        <p:spPr>
          <a:xfrm>
            <a:off x="786384" y="1783080"/>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For each cohort-context and each intervention arm, the bandit keeps a probability distribution over how well that arm works there.</a:t>
            </a:r>
            <a:endParaRPr lang="en-US" sz="1300" dirty="0"/>
          </a:p>
        </p:txBody>
      </p:sp>
      <p:sp>
        <p:nvSpPr>
          <p:cNvPr id="7" name="Shape 5"/>
          <p:cNvSpPr/>
          <p:nvPr/>
        </p:nvSpPr>
        <p:spPr>
          <a:xfrm>
            <a:off x="566928" y="2520696"/>
            <a:ext cx="100584" cy="100584"/>
          </a:xfrm>
          <a:prstGeom prst="diamond">
            <a:avLst/>
          </a:prstGeom>
          <a:solidFill>
            <a:srgbClr val="D9922B"/>
          </a:solidFill>
          <a:ln w="12700">
            <a:solidFill>
              <a:srgbClr val="D9922B"/>
            </a:solidFill>
            <a:prstDash val="solid"/>
          </a:ln>
        </p:spPr>
      </p:sp>
      <p:sp>
        <p:nvSpPr>
          <p:cNvPr id="8" name="Text 6"/>
          <p:cNvSpPr/>
          <p:nvPr/>
        </p:nvSpPr>
        <p:spPr>
          <a:xfrm>
            <a:off x="786384" y="2410968"/>
            <a:ext cx="5815584" cy="717804"/>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To choose, it samples from every distribution and plays the winner. An arm it is unsure about occasionally wins the sample, so exploration happens on its own.</a:t>
            </a:r>
            <a:endParaRPr lang="en-US" sz="1300" dirty="0"/>
          </a:p>
        </p:txBody>
      </p:sp>
      <p:sp>
        <p:nvSpPr>
          <p:cNvPr id="9" name="Shape 7"/>
          <p:cNvSpPr/>
          <p:nvPr/>
        </p:nvSpPr>
        <p:spPr>
          <a:xfrm>
            <a:off x="566928" y="3366516"/>
            <a:ext cx="100584" cy="100584"/>
          </a:xfrm>
          <a:prstGeom prst="diamond">
            <a:avLst/>
          </a:prstGeom>
          <a:solidFill>
            <a:srgbClr val="D9922B"/>
          </a:solidFill>
          <a:ln w="12700">
            <a:solidFill>
              <a:srgbClr val="D9922B"/>
            </a:solidFill>
            <a:prstDash val="solid"/>
          </a:ln>
        </p:spPr>
      </p:sp>
      <p:sp>
        <p:nvSpPr>
          <p:cNvPr id="10" name="Text 8"/>
          <p:cNvSpPr/>
          <p:nvPr/>
        </p:nvSpPr>
        <p:spPr>
          <a:xfrm>
            <a:off x="786384" y="3256788"/>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Persistently weak arms get sampled less and less. Nobody has to prune them by hand.</a:t>
            </a:r>
            <a:endParaRPr lang="en-US" sz="1300" dirty="0"/>
          </a:p>
        </p:txBody>
      </p:sp>
      <p:sp>
        <p:nvSpPr>
          <p:cNvPr id="11" name="Shape 9"/>
          <p:cNvSpPr/>
          <p:nvPr/>
        </p:nvSpPr>
        <p:spPr>
          <a:xfrm>
            <a:off x="566928" y="3994404"/>
            <a:ext cx="100584" cy="100584"/>
          </a:xfrm>
          <a:prstGeom prst="diamond">
            <a:avLst/>
          </a:prstGeom>
          <a:solidFill>
            <a:srgbClr val="D9922B"/>
          </a:solidFill>
          <a:ln w="12700">
            <a:solidFill>
              <a:srgbClr val="D9922B"/>
            </a:solidFill>
            <a:prstDash val="solid"/>
          </a:ln>
        </p:spPr>
      </p:sp>
      <p:sp>
        <p:nvSpPr>
          <p:cNvPr id="12" name="Text 10"/>
          <p:cNvSpPr/>
          <p:nvPr/>
        </p:nvSpPr>
        <p:spPr>
          <a:xfrm>
            <a:off x="786384" y="3884676"/>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Classic A/B is too slow here: dozens of cohorts times multiple arms wastes exposure on losing arms for weeks.</a:t>
            </a:r>
            <a:endParaRPr lang="en-US" sz="1300" dirty="0"/>
          </a:p>
        </p:txBody>
      </p:sp>
      <p:sp>
        <p:nvSpPr>
          <p:cNvPr id="13" name="Shape 11"/>
          <p:cNvSpPr/>
          <p:nvPr/>
        </p:nvSpPr>
        <p:spPr>
          <a:xfrm>
            <a:off x="6967728" y="1810512"/>
            <a:ext cx="4654296" cy="3566160"/>
          </a:xfrm>
          <a:prstGeom prst="roundRect">
            <a:avLst>
              <a:gd name="adj" fmla="val 3077"/>
            </a:avLst>
          </a:prstGeom>
          <a:solidFill>
            <a:srgbClr val="F1F5FA"/>
          </a:solidFill>
          <a:ln w="12700">
            <a:solidFill>
              <a:srgbClr val="F1F5FA"/>
            </a:solidFill>
            <a:prstDash val="solid"/>
          </a:ln>
        </p:spPr>
      </p:sp>
      <p:sp>
        <p:nvSpPr>
          <p:cNvPr id="14" name="Text 12"/>
          <p:cNvSpPr/>
          <p:nvPr/>
        </p:nvSpPr>
        <p:spPr>
          <a:xfrm>
            <a:off x="7205472" y="1956816"/>
            <a:ext cx="4178808"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Why a bandit and not A/B</a:t>
            </a:r>
            <a:endParaRPr lang="en-US" sz="1600" dirty="0"/>
          </a:p>
        </p:txBody>
      </p:sp>
      <p:sp>
        <p:nvSpPr>
          <p:cNvPr id="15" name="Shape 13"/>
          <p:cNvSpPr/>
          <p:nvPr/>
        </p:nvSpPr>
        <p:spPr>
          <a:xfrm>
            <a:off x="7205472" y="2514600"/>
            <a:ext cx="100584" cy="100584"/>
          </a:xfrm>
          <a:prstGeom prst="diamond">
            <a:avLst/>
          </a:prstGeom>
          <a:solidFill>
            <a:srgbClr val="D9922B"/>
          </a:solidFill>
          <a:ln w="12700">
            <a:solidFill>
              <a:srgbClr val="D9922B"/>
            </a:solidFill>
            <a:prstDash val="solid"/>
          </a:ln>
        </p:spPr>
      </p:sp>
      <p:sp>
        <p:nvSpPr>
          <p:cNvPr id="16" name="Text 14"/>
          <p:cNvSpPr/>
          <p:nvPr/>
        </p:nvSpPr>
        <p:spPr>
          <a:xfrm>
            <a:off x="7424928" y="2404872"/>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Reward type (cash, food, stock upside, giving) joins the context as its own factored dimension. The associate's own choices are the labels.</a:t>
            </a:r>
            <a:endParaRPr lang="en-US" sz="1150" dirty="0"/>
          </a:p>
        </p:txBody>
      </p:sp>
      <p:sp>
        <p:nvSpPr>
          <p:cNvPr id="17" name="Shape 15"/>
          <p:cNvSpPr/>
          <p:nvPr/>
        </p:nvSpPr>
        <p:spPr>
          <a:xfrm>
            <a:off x="7205472" y="3284982"/>
            <a:ext cx="100584" cy="100584"/>
          </a:xfrm>
          <a:prstGeom prst="diamond">
            <a:avLst/>
          </a:prstGeom>
          <a:solidFill>
            <a:srgbClr val="D9922B"/>
          </a:solidFill>
          <a:ln w="12700">
            <a:solidFill>
              <a:srgbClr val="D9922B"/>
            </a:solidFill>
            <a:prstDash val="solid"/>
          </a:ln>
        </p:spPr>
      </p:sp>
      <p:sp>
        <p:nvSpPr>
          <p:cNvPr id="18" name="Text 16"/>
          <p:cNvSpPr/>
          <p:nvPr/>
        </p:nvSpPr>
        <p:spPr>
          <a:xfrm>
            <a:off x="7424928" y="3175254"/>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Factoring intervention-family by reward-type keeps the arm space tractable instead of exploding combinatorially.</a:t>
            </a:r>
            <a:endParaRPr lang="en-US" sz="1150" dirty="0"/>
          </a:p>
        </p:txBody>
      </p:sp>
      <p:sp>
        <p:nvSpPr>
          <p:cNvPr id="19" name="Shape 17"/>
          <p:cNvSpPr/>
          <p:nvPr/>
        </p:nvSpPr>
        <p:spPr>
          <a:xfrm>
            <a:off x="7205472" y="3862578"/>
            <a:ext cx="100584" cy="100584"/>
          </a:xfrm>
          <a:prstGeom prst="diamond">
            <a:avLst/>
          </a:prstGeom>
          <a:solidFill>
            <a:srgbClr val="D9922B"/>
          </a:solidFill>
          <a:ln w="12700">
            <a:solidFill>
              <a:srgbClr val="D9922B"/>
            </a:solidFill>
            <a:prstDash val="solid"/>
          </a:ln>
        </p:spPr>
      </p:sp>
      <p:sp>
        <p:nvSpPr>
          <p:cNvPr id="20" name="Text 18"/>
          <p:cNvSpPr/>
          <p:nvPr/>
        </p:nvSpPr>
        <p:spPr>
          <a:xfrm>
            <a:off x="7424928" y="3752850"/>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Start reward-type learning inside the incentive family only, then widen.</a:t>
            </a:r>
            <a:endParaRPr lang="en-US" sz="1150" dirty="0"/>
          </a:p>
        </p:txBody>
      </p:sp>
      <p:sp>
        <p:nvSpPr>
          <p:cNvPr id="21" name="Shape 19"/>
          <p:cNvSpPr/>
          <p:nvPr/>
        </p:nvSpPr>
        <p:spPr>
          <a:xfrm>
            <a:off x="7205472" y="4440174"/>
            <a:ext cx="100584" cy="100584"/>
          </a:xfrm>
          <a:prstGeom prst="diamond">
            <a:avLst/>
          </a:prstGeom>
          <a:solidFill>
            <a:srgbClr val="D9922B"/>
          </a:solidFill>
          <a:ln w="12700">
            <a:solidFill>
              <a:srgbClr val="D9922B"/>
            </a:solidFill>
            <a:prstDash val="solid"/>
          </a:ln>
        </p:spPr>
      </p:sp>
      <p:sp>
        <p:nvSpPr>
          <p:cNvPr id="22" name="Text 20"/>
          <p:cNvSpPr/>
          <p:nvPr/>
        </p:nvSpPr>
        <p:spPr>
          <a:xfrm>
            <a:off x="7424928" y="4330446"/>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West-coast overnight stockers may respond differently from East-coast stockers. The bandit finds out and surfaces the pattern for humans to interrogate.</a:t>
            </a:r>
            <a:endParaRPr lang="en-US" sz="115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Every learned policy exports as a readable sentence, so a People team reviews behaviour rather than weights.</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A9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 bandit optimizes exactly what you feed it, so the reward is validated against 90-day retention.</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reward fed to the learner is a leading indicator, for example week-4 engagement, never a click.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leading indicator is itself validated against 90-day retention inside permanent holdout groups before it is trusted.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If the reward were “clicked the nudge,” the engine would maximize clicks and could annoy people into quitting while the dashboard turned green.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Holdouts are permanent, not a launch-phase courtesy. They are how the metric stays honest a year in.</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Trip wire on the risk register: engagement climbing while 90-day retention stays flat.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single most important line of defence against optimizing the wrong thing.</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A10  ·  FOR DATA SCIENCE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Six scores, computed per cohort and never per individual.</a:t>
            </a:r>
            <a:endParaRPr lang="en-US" sz="2600" dirty="0"/>
          </a:p>
        </p:txBody>
      </p:sp>
      <p:sp>
        <p:nvSpPr>
          <p:cNvPr id="5" name="Shape 3"/>
          <p:cNvSpPr/>
          <p:nvPr/>
        </p:nvSpPr>
        <p:spPr>
          <a:xfrm>
            <a:off x="566928" y="1810512"/>
            <a:ext cx="5390388" cy="987552"/>
          </a:xfrm>
          <a:prstGeom prst="roundRect">
            <a:avLst>
              <a:gd name="adj" fmla="val 9259"/>
            </a:avLst>
          </a:prstGeom>
          <a:solidFill>
            <a:srgbClr val="F1F5FA"/>
          </a:solidFill>
          <a:ln w="12700">
            <a:solidFill>
              <a:srgbClr val="F1F5FA"/>
            </a:solidFill>
            <a:prstDash val="solid"/>
          </a:ln>
        </p:spPr>
      </p:sp>
      <p:sp>
        <p:nvSpPr>
          <p:cNvPr id="6" name="Text 4"/>
          <p:cNvSpPr/>
          <p:nvPr/>
        </p:nvSpPr>
        <p:spPr>
          <a:xfrm>
            <a:off x="786384"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Friction</a:t>
            </a:r>
            <a:endParaRPr lang="en-US" sz="1500" dirty="0"/>
          </a:p>
        </p:txBody>
      </p:sp>
      <p:sp>
        <p:nvSpPr>
          <p:cNvPr id="7" name="Text 5"/>
          <p:cNvSpPr/>
          <p:nvPr/>
        </p:nvSpPr>
        <p:spPr>
          <a:xfrm>
            <a:off x="786384"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How often this cohort's journeys dead-end: abandoned flows, repeated questions, escalations.</a:t>
            </a:r>
            <a:endParaRPr lang="en-US" sz="1100" dirty="0"/>
          </a:p>
        </p:txBody>
      </p:sp>
      <p:sp>
        <p:nvSpPr>
          <p:cNvPr id="8" name="Shape 6"/>
          <p:cNvSpPr/>
          <p:nvPr/>
        </p:nvSpPr>
        <p:spPr>
          <a:xfrm>
            <a:off x="6231636" y="1810512"/>
            <a:ext cx="5390388" cy="987552"/>
          </a:xfrm>
          <a:prstGeom prst="roundRect">
            <a:avLst>
              <a:gd name="adj" fmla="val 9259"/>
            </a:avLst>
          </a:prstGeom>
          <a:solidFill>
            <a:srgbClr val="F1F5FA"/>
          </a:solidFill>
          <a:ln w="12700">
            <a:solidFill>
              <a:srgbClr val="F1F5FA"/>
            </a:solidFill>
            <a:prstDash val="solid"/>
          </a:ln>
        </p:spPr>
      </p:sp>
      <p:sp>
        <p:nvSpPr>
          <p:cNvPr id="9" name="Text 7"/>
          <p:cNvSpPr/>
          <p:nvPr/>
        </p:nvSpPr>
        <p:spPr>
          <a:xfrm>
            <a:off x="6451092"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Engagement</a:t>
            </a:r>
            <a:endParaRPr lang="en-US" sz="1500" dirty="0"/>
          </a:p>
        </p:txBody>
      </p:sp>
      <p:sp>
        <p:nvSpPr>
          <p:cNvPr id="10" name="Text 8"/>
          <p:cNvSpPr/>
          <p:nvPr/>
        </p:nvSpPr>
        <p:spPr>
          <a:xfrm>
            <a:off x="6451092"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Depth and breadth of app usage relative to the role baseline.</a:t>
            </a:r>
            <a:endParaRPr lang="en-US" sz="1100" dirty="0"/>
          </a:p>
        </p:txBody>
      </p:sp>
      <p:sp>
        <p:nvSpPr>
          <p:cNvPr id="11" name="Shape 9"/>
          <p:cNvSpPr/>
          <p:nvPr/>
        </p:nvSpPr>
        <p:spPr>
          <a:xfrm>
            <a:off x="566928" y="2953512"/>
            <a:ext cx="5390388" cy="987552"/>
          </a:xfrm>
          <a:prstGeom prst="roundRect">
            <a:avLst>
              <a:gd name="adj" fmla="val 9259"/>
            </a:avLst>
          </a:prstGeom>
          <a:solidFill>
            <a:srgbClr val="F1F5FA"/>
          </a:solidFill>
          <a:ln w="12700">
            <a:solidFill>
              <a:srgbClr val="F1F5FA"/>
            </a:solidFill>
            <a:prstDash val="solid"/>
          </a:ln>
        </p:spPr>
      </p:sp>
      <p:sp>
        <p:nvSpPr>
          <p:cNvPr id="12" name="Text 10"/>
          <p:cNvSpPr/>
          <p:nvPr/>
        </p:nvSpPr>
        <p:spPr>
          <a:xfrm>
            <a:off x="786384"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Retention-risk</a:t>
            </a:r>
            <a:endParaRPr lang="en-US" sz="1500" dirty="0"/>
          </a:p>
        </p:txBody>
      </p:sp>
      <p:sp>
        <p:nvSpPr>
          <p:cNvPr id="13" name="Text 11"/>
          <p:cNvSpPr/>
          <p:nvPr/>
        </p:nvSpPr>
        <p:spPr>
          <a:xfrm>
            <a:off x="786384"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Predicted attrition probability against baseline, from workforce and telemetry features.</a:t>
            </a:r>
            <a:endParaRPr lang="en-US" sz="1100" dirty="0"/>
          </a:p>
        </p:txBody>
      </p:sp>
      <p:sp>
        <p:nvSpPr>
          <p:cNvPr id="14" name="Shape 12"/>
          <p:cNvSpPr/>
          <p:nvPr/>
        </p:nvSpPr>
        <p:spPr>
          <a:xfrm>
            <a:off x="6231636" y="2953512"/>
            <a:ext cx="5390388" cy="987552"/>
          </a:xfrm>
          <a:prstGeom prst="roundRect">
            <a:avLst>
              <a:gd name="adj" fmla="val 9259"/>
            </a:avLst>
          </a:prstGeom>
          <a:solidFill>
            <a:srgbClr val="F1F5FA"/>
          </a:solidFill>
          <a:ln w="12700">
            <a:solidFill>
              <a:srgbClr val="F1F5FA"/>
            </a:solidFill>
            <a:prstDash val="solid"/>
          </a:ln>
        </p:spPr>
      </p:sp>
      <p:sp>
        <p:nvSpPr>
          <p:cNvPr id="15" name="Text 13"/>
          <p:cNvSpPr/>
          <p:nvPr/>
        </p:nvSpPr>
        <p:spPr>
          <a:xfrm>
            <a:off x="6451092"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Growth-readiness</a:t>
            </a:r>
            <a:endParaRPr lang="en-US" sz="1500" dirty="0"/>
          </a:p>
        </p:txBody>
      </p:sp>
      <p:sp>
        <p:nvSpPr>
          <p:cNvPr id="16" name="Text 14"/>
          <p:cNvSpPr/>
          <p:nvPr/>
        </p:nvSpPr>
        <p:spPr>
          <a:xfrm>
            <a:off x="6451092"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Advancement appetite: LBU activity, skill completions, questions about becoming a team lead.</a:t>
            </a:r>
            <a:endParaRPr lang="en-US" sz="1100" dirty="0"/>
          </a:p>
        </p:txBody>
      </p:sp>
      <p:sp>
        <p:nvSpPr>
          <p:cNvPr id="17" name="Shape 15"/>
          <p:cNvSpPr/>
          <p:nvPr/>
        </p:nvSpPr>
        <p:spPr>
          <a:xfrm>
            <a:off x="566928" y="4096512"/>
            <a:ext cx="5390388" cy="987552"/>
          </a:xfrm>
          <a:prstGeom prst="roundRect">
            <a:avLst>
              <a:gd name="adj" fmla="val 9259"/>
            </a:avLst>
          </a:prstGeom>
          <a:solidFill>
            <a:srgbClr val="F1F5FA"/>
          </a:solidFill>
          <a:ln w="12700">
            <a:solidFill>
              <a:srgbClr val="F1F5FA"/>
            </a:solidFill>
            <a:prstDash val="solid"/>
          </a:ln>
        </p:spPr>
      </p:sp>
      <p:sp>
        <p:nvSpPr>
          <p:cNvPr id="18" name="Text 16"/>
          <p:cNvSpPr/>
          <p:nvPr/>
        </p:nvSpPr>
        <p:spPr>
          <a:xfrm>
            <a:off x="786384" y="4206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Trust</a:t>
            </a:r>
            <a:endParaRPr lang="en-US" sz="1500" dirty="0"/>
          </a:p>
        </p:txBody>
      </p:sp>
      <p:sp>
        <p:nvSpPr>
          <p:cNvPr id="19" name="Text 17"/>
          <p:cNvSpPr/>
          <p:nvPr/>
        </p:nvSpPr>
        <p:spPr>
          <a:xfrm>
            <a:off x="786384"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Thumbs-down rate, correction rate, and reliance on workarounds after using Sidekick.</a:t>
            </a:r>
            <a:endParaRPr lang="en-US" sz="1100" dirty="0"/>
          </a:p>
        </p:txBody>
      </p:sp>
      <p:sp>
        <p:nvSpPr>
          <p:cNvPr id="20" name="Shape 18"/>
          <p:cNvSpPr/>
          <p:nvPr/>
        </p:nvSpPr>
        <p:spPr>
          <a:xfrm>
            <a:off x="6231636" y="4096512"/>
            <a:ext cx="5390388" cy="987552"/>
          </a:xfrm>
          <a:prstGeom prst="roundRect">
            <a:avLst>
              <a:gd name="adj" fmla="val 9259"/>
            </a:avLst>
          </a:prstGeom>
          <a:solidFill>
            <a:srgbClr val="FAECD4"/>
          </a:solidFill>
          <a:ln w="12700">
            <a:solidFill>
              <a:srgbClr val="FAECD4"/>
            </a:solidFill>
            <a:prstDash val="solid"/>
          </a:ln>
        </p:spPr>
      </p:sp>
      <p:sp>
        <p:nvSpPr>
          <p:cNvPr id="21" name="Text 19"/>
          <p:cNvSpPr/>
          <p:nvPr/>
        </p:nvSpPr>
        <p:spPr>
          <a:xfrm>
            <a:off x="6451092" y="4206240"/>
            <a:ext cx="4951476" cy="310896"/>
          </a:xfrm>
          <a:prstGeom prst="rect">
            <a:avLst/>
          </a:prstGeom>
          <a:noFill/>
          <a:ln/>
        </p:spPr>
        <p:txBody>
          <a:bodyPr wrap="square" lIns="0" tIns="0" rIns="0" bIns="0" rtlCol="0" anchor="ctr"/>
          <a:lstStyle/>
          <a:p>
            <a:pPr indent="0" marL="0">
              <a:buNone/>
            </a:pPr>
            <a:r>
              <a:rPr lang="en-US" sz="1500" b="1" dirty="0">
                <a:solidFill>
                  <a:srgbClr val="8A5A11"/>
                </a:solidFill>
                <a:latin typeface="Cambria" pitchFamily="34" charset="0"/>
                <a:ea typeface="Cambria" pitchFamily="34" charset="-122"/>
                <a:cs typeface="Cambria" pitchFamily="34" charset="-120"/>
              </a:rPr>
              <a:t>Wellbeing</a:t>
            </a:r>
            <a:endParaRPr lang="en-US" sz="1500" dirty="0"/>
          </a:p>
        </p:txBody>
      </p:sp>
      <p:sp>
        <p:nvSpPr>
          <p:cNvPr id="22" name="Text 20"/>
          <p:cNvSpPr/>
          <p:nvPr/>
        </p:nvSpPr>
        <p:spPr>
          <a:xfrm>
            <a:off x="6451092"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8A5A11"/>
                </a:solidFill>
                <a:latin typeface="Calibri" pitchFamily="34" charset="0"/>
                <a:ea typeface="Calibri" pitchFamily="34" charset="-122"/>
                <a:cs typeface="Calibri" pitchFamily="34" charset="-120"/>
              </a:rPr>
              <a:t>Operational rest and load signals only: schedule volatility, overtime density, break patterns, callout trends.</a:t>
            </a:r>
            <a:endParaRPr lang="en-US" sz="1100" dirty="0"/>
          </a:p>
        </p:txBody>
      </p:sp>
      <p:sp>
        <p:nvSpPr>
          <p:cNvPr id="23" name="Shape 21"/>
          <p:cNvSpPr/>
          <p:nvPr/>
        </p:nvSpPr>
        <p:spPr>
          <a:xfrm>
            <a:off x="566928" y="5394960"/>
            <a:ext cx="11055096" cy="713232"/>
          </a:xfrm>
          <a:prstGeom prst="roundRect">
            <a:avLst>
              <a:gd name="adj" fmla="val 15385"/>
            </a:avLst>
          </a:prstGeom>
          <a:solidFill>
            <a:srgbClr val="16233B"/>
          </a:solidFill>
          <a:ln w="12700">
            <a:solidFill>
              <a:srgbClr val="16233B"/>
            </a:solidFill>
            <a:prstDash val="solid"/>
          </a:ln>
        </p:spPr>
      </p:sp>
      <p:sp>
        <p:nvSpPr>
          <p:cNvPr id="24" name="Text 22"/>
          <p:cNvSpPr/>
          <p:nvPr/>
        </p:nvSpPr>
        <p:spPr>
          <a:xfrm>
            <a:off x="786384" y="5431536"/>
            <a:ext cx="10616184" cy="640080"/>
          </a:xfrm>
          <a:prstGeom prst="rect">
            <a:avLst/>
          </a:prstGeom>
          <a:noFill/>
          <a:ln/>
        </p:spPr>
        <p:txBody>
          <a:bodyPr wrap="square" lIns="0" tIns="0" rIns="0" bIns="0" rtlCol="0" anchor="ctr"/>
          <a:lstStyle/>
          <a:p>
            <a:pPr indent="0" marL="0">
              <a:lnSpc>
                <a:spcPts val="1500"/>
              </a:lnSpc>
              <a:buNone/>
            </a:pPr>
            <a:r>
              <a:rPr lang="en-US" sz="1200" dirty="0">
                <a:solidFill>
                  <a:srgbClr val="FFFFFF"/>
                </a:solidFill>
                <a:latin typeface="Calibri" pitchFamily="34" charset="0"/>
                <a:ea typeface="Calibri" pitchFamily="34" charset="-122"/>
                <a:cs typeface="Calibri" pitchFamily="34" charset="-120"/>
              </a:rPr>
              <a:t>Wellbeing is deliberately narrow. It reads operational signals only, never health data. The app offers resources and recovery options. It never infers, records, or diagnoses a health status.</a:t>
            </a:r>
            <a:endParaRPr lang="en-US" sz="120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A11  ·  FOR PRODUCT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The decision layer is a readable threshold policy, auditable line by line.</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3200400"/>
                <a:gridCol w="2926080"/>
                <a:gridCol w="49286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Score pattern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Intervention family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looks like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Friction at 65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Proactive alerts and product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Detect the schedule conflict before the associate does. 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Engagement 40 or below, tenure under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interventions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Companion nudges, buddy prompts, a day-30 check-in.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Retention-risk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Rewards and recognition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Real rewards, associate's choice. Streaks feed bonus and merit nominations with evidence attached.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Growth-readiness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Career pathing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“You are 2 certificates from team-lead eligibility,” with concrete next steps via Academies and LBU.</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Trust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FYIs, training, product hardening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Transparent what-it-can-and-cannot-do dialogue, targeted micro-training, grounding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Wellbeing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Rejuvenation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Recovery-day nudges when close-shift streaks stack up. Break protection. Offered, never prescribed.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Text 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Several families can fire at once. A struggling new hire trips both onboarding and rewards, and the intervention budget cap arbitrates so the engine competes for scarce attention instead of sending everything.</a:t>
            </a:r>
            <a:endParaRPr lang="en-US" sz="1050" dirty="0"/>
          </a:p>
        </p:txBody>
      </p:sp>
      <p:sp>
        <p:nvSpPr>
          <p:cNvPr id="7" name="Text 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A12  ·  FOR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Three reward tiers, three different grant mechanics.</a:t>
            </a:r>
            <a:endParaRPr lang="en-US" sz="2600" dirty="0"/>
          </a:p>
        </p:txBody>
      </p:sp>
      <p:sp>
        <p:nvSpPr>
          <p:cNvPr id="5" name="Shape 3"/>
          <p:cNvSpPr/>
          <p:nvPr/>
        </p:nvSpPr>
        <p:spPr>
          <a:xfrm>
            <a:off x="566928" y="1810512"/>
            <a:ext cx="3502152" cy="3200400"/>
          </a:xfrm>
          <a:prstGeom prst="roundRect">
            <a:avLst>
              <a:gd name="adj" fmla="val 3429"/>
            </a:avLst>
          </a:prstGeom>
          <a:solidFill>
            <a:srgbClr val="FAECD4"/>
          </a:solidFill>
          <a:ln w="12700">
            <a:solidFill>
              <a:srgbClr val="FAECD4"/>
            </a:solidFill>
            <a:prstDash val="solid"/>
          </a:ln>
        </p:spPr>
      </p:sp>
      <p:sp>
        <p:nvSpPr>
          <p:cNvPr id="6" name="Text 4"/>
          <p:cNvSpPr/>
          <p:nvPr/>
        </p:nvSpPr>
        <p:spPr>
          <a:xfrm>
            <a:off x="804672" y="1975104"/>
            <a:ext cx="3026664" cy="420624"/>
          </a:xfrm>
          <a:prstGeom prst="rect">
            <a:avLst/>
          </a:prstGeom>
          <a:noFill/>
          <a:ln/>
        </p:spPr>
        <p:txBody>
          <a:bodyPr wrap="square" lIns="0" tIns="0" rIns="0" bIns="0" rtlCol="0" anchor="ctr"/>
          <a:lstStyle/>
          <a:p>
            <a:pPr indent="0" marL="0">
              <a:buNone/>
            </a:pPr>
            <a:r>
              <a:rPr lang="en-US" sz="2000" b="1" dirty="0">
                <a:solidFill>
                  <a:srgbClr val="8A5A11"/>
                </a:solidFill>
                <a:latin typeface="Cambria" pitchFamily="34" charset="0"/>
                <a:ea typeface="Cambria" pitchFamily="34" charset="-122"/>
                <a:cs typeface="Cambria" pitchFamily="34" charset="-120"/>
              </a:rPr>
              <a:t>Everyday</a:t>
            </a:r>
            <a:endParaRPr lang="en-US" sz="2000" dirty="0"/>
          </a:p>
        </p:txBody>
      </p:sp>
      <p:sp>
        <p:nvSpPr>
          <p:cNvPr id="7" name="Text 5"/>
          <p:cNvSpPr/>
          <p:nvPr/>
        </p:nvSpPr>
        <p:spPr>
          <a:xfrm>
            <a:off x="804672"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8A5A11"/>
                </a:solidFill>
                <a:latin typeface="Calibri" pitchFamily="34" charset="0"/>
                <a:ea typeface="Calibri" pitchFamily="34" charset="-122"/>
                <a:cs typeface="Calibri" pitchFamily="34" charset="-120"/>
              </a:rPr>
              <a:t>SYSTEM-GRANTABLE, INSTANT</a:t>
            </a:r>
            <a:endParaRPr lang="en-US" sz="950" dirty="0"/>
          </a:p>
        </p:txBody>
      </p:sp>
      <p:sp>
        <p:nvSpPr>
          <p:cNvPr id="8" name="Text 6"/>
          <p:cNvSpPr/>
          <p:nvPr/>
        </p:nvSpPr>
        <p:spPr>
          <a:xfrm>
            <a:off x="804672"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Free lunch. Small gift card. Stock-sweepstake entries. A donation to a cause the associate picks.</a:t>
            </a:r>
            <a:endParaRPr lang="en-US" sz="1250" dirty="0"/>
          </a:p>
        </p:txBody>
      </p:sp>
      <p:sp>
        <p:nvSpPr>
          <p:cNvPr id="9" name="Text 7"/>
          <p:cNvSpPr/>
          <p:nvPr/>
        </p:nvSpPr>
        <p:spPr>
          <a:xfrm>
            <a:off x="804672"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8A5A11"/>
                </a:solidFill>
                <a:latin typeface="Calibri" pitchFamily="34" charset="0"/>
                <a:ea typeface="Calibri" pitchFamily="34" charset="-122"/>
                <a:cs typeface="Calibri" pitchFamily="34" charset="-120"/>
              </a:rPr>
              <a:t>The associate picks, and every choice teaches the engine what motivates that cohort.</a:t>
            </a:r>
            <a:endParaRPr lang="en-US" sz="1100" dirty="0"/>
          </a:p>
        </p:txBody>
      </p:sp>
      <p:sp>
        <p:nvSpPr>
          <p:cNvPr id="10" name="Shape 8"/>
          <p:cNvSpPr/>
          <p:nvPr/>
        </p:nvSpPr>
        <p:spPr>
          <a:xfrm>
            <a:off x="4343400" y="1810512"/>
            <a:ext cx="3502152" cy="3200400"/>
          </a:xfrm>
          <a:prstGeom prst="roundRect">
            <a:avLst>
              <a:gd name="adj" fmla="val 3429"/>
            </a:avLst>
          </a:prstGeom>
          <a:solidFill>
            <a:srgbClr val="DCE9F2"/>
          </a:solidFill>
          <a:ln w="12700">
            <a:solidFill>
              <a:srgbClr val="DCE9F2"/>
            </a:solidFill>
            <a:prstDash val="solid"/>
          </a:ln>
        </p:spPr>
      </p:sp>
      <p:sp>
        <p:nvSpPr>
          <p:cNvPr id="11" name="Text 9"/>
          <p:cNvSpPr/>
          <p:nvPr/>
        </p:nvSpPr>
        <p:spPr>
          <a:xfrm>
            <a:off x="4581144" y="1975104"/>
            <a:ext cx="3026664" cy="420624"/>
          </a:xfrm>
          <a:prstGeom prst="rect">
            <a:avLst/>
          </a:prstGeom>
          <a:noFill/>
          <a:ln/>
        </p:spPr>
        <p:txBody>
          <a:bodyPr wrap="square" lIns="0" tIns="0" rIns="0" bIns="0" rtlCol="0" anchor="ctr"/>
          <a:lstStyle/>
          <a:p>
            <a:pPr indent="0" marL="0">
              <a:buNone/>
            </a:pPr>
            <a:r>
              <a:rPr lang="en-US" sz="2000" b="1" dirty="0">
                <a:solidFill>
                  <a:srgbClr val="1E4E6B"/>
                </a:solidFill>
                <a:latin typeface="Cambria" pitchFamily="34" charset="0"/>
                <a:ea typeface="Cambria" pitchFamily="34" charset="-122"/>
                <a:cs typeface="Cambria" pitchFamily="34" charset="-120"/>
              </a:rPr>
              <a:t>Quarterly</a:t>
            </a:r>
            <a:endParaRPr lang="en-US" sz="2000" dirty="0"/>
          </a:p>
        </p:txBody>
      </p:sp>
      <p:sp>
        <p:nvSpPr>
          <p:cNvPr id="12" name="Text 10"/>
          <p:cNvSpPr/>
          <p:nvPr/>
        </p:nvSpPr>
        <p:spPr>
          <a:xfrm>
            <a:off x="4581144"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1E4E6B"/>
                </a:solidFill>
                <a:latin typeface="Calibri" pitchFamily="34" charset="0"/>
                <a:ea typeface="Calibri" pitchFamily="34" charset="-122"/>
                <a:cs typeface="Calibri" pitchFamily="34" charset="-120"/>
              </a:rPr>
              <a:t>MANAGER AND HR LOOP, FED BY STREAKS</a:t>
            </a:r>
            <a:endParaRPr lang="en-US" sz="950" dirty="0"/>
          </a:p>
        </p:txBody>
      </p:sp>
      <p:sp>
        <p:nvSpPr>
          <p:cNvPr id="13" name="Text 11"/>
          <p:cNvSpPr/>
          <p:nvPr/>
        </p:nvSpPr>
        <p:spPr>
          <a:xfrm>
            <a:off x="4581144"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Bonus. Merit-increase nomination. A larger stock sweepstake.</a:t>
            </a:r>
            <a:endParaRPr lang="en-US" sz="1250" dirty="0"/>
          </a:p>
        </p:txBody>
      </p:sp>
      <p:sp>
        <p:nvSpPr>
          <p:cNvPr id="14" name="Text 12"/>
          <p:cNvSpPr/>
          <p:nvPr/>
        </p:nvSpPr>
        <p:spPr>
          <a:xfrm>
            <a:off x="4581144"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1E4E6B"/>
                </a:solidFill>
                <a:latin typeface="Calibri" pitchFamily="34" charset="0"/>
                <a:ea typeface="Calibri" pitchFamily="34" charset="-122"/>
                <a:cs typeface="Calibri" pitchFamily="34" charset="-120"/>
              </a:rPr>
              <a:t>The app nominates with evidence. Humans decide inside existing HR calibration.</a:t>
            </a:r>
            <a:endParaRPr lang="en-US" sz="1100" dirty="0"/>
          </a:p>
        </p:txBody>
      </p:sp>
      <p:sp>
        <p:nvSpPr>
          <p:cNvPr id="15" name="Shape 13"/>
          <p:cNvSpPr/>
          <p:nvPr/>
        </p:nvSpPr>
        <p:spPr>
          <a:xfrm>
            <a:off x="8119872" y="1810512"/>
            <a:ext cx="3502152" cy="3200400"/>
          </a:xfrm>
          <a:prstGeom prst="roundRect">
            <a:avLst>
              <a:gd name="adj" fmla="val 3429"/>
            </a:avLst>
          </a:prstGeom>
          <a:solidFill>
            <a:srgbClr val="DDEAE1"/>
          </a:solidFill>
          <a:ln w="12700">
            <a:solidFill>
              <a:srgbClr val="DDEAE1"/>
            </a:solidFill>
            <a:prstDash val="solid"/>
          </a:ln>
        </p:spPr>
      </p:sp>
      <p:sp>
        <p:nvSpPr>
          <p:cNvPr id="16" name="Text 14"/>
          <p:cNvSpPr/>
          <p:nvPr/>
        </p:nvSpPr>
        <p:spPr>
          <a:xfrm>
            <a:off x="8357616" y="1975104"/>
            <a:ext cx="3026664" cy="420624"/>
          </a:xfrm>
          <a:prstGeom prst="rect">
            <a:avLst/>
          </a:prstGeom>
          <a:noFill/>
          <a:ln/>
        </p:spPr>
        <p:txBody>
          <a:bodyPr wrap="square" lIns="0" tIns="0" rIns="0" bIns="0" rtlCol="0" anchor="ctr"/>
          <a:lstStyle/>
          <a:p>
            <a:pPr indent="0" marL="0">
              <a:buNone/>
            </a:pPr>
            <a:r>
              <a:rPr lang="en-US" sz="2000" b="1" dirty="0">
                <a:solidFill>
                  <a:srgbClr val="2E5540"/>
                </a:solidFill>
                <a:latin typeface="Cambria" pitchFamily="34" charset="0"/>
                <a:ea typeface="Cambria" pitchFamily="34" charset="-122"/>
                <a:cs typeface="Cambria" pitchFamily="34" charset="-120"/>
              </a:rPr>
              <a:t>Career</a:t>
            </a:r>
            <a:endParaRPr lang="en-US" sz="2000" dirty="0"/>
          </a:p>
        </p:txBody>
      </p:sp>
      <p:sp>
        <p:nvSpPr>
          <p:cNvPr id="17" name="Text 15"/>
          <p:cNvSpPr/>
          <p:nvPr/>
        </p:nvSpPr>
        <p:spPr>
          <a:xfrm>
            <a:off x="8357616"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2E5540"/>
                </a:solidFill>
                <a:latin typeface="Calibri" pitchFamily="34" charset="0"/>
                <a:ea typeface="Calibri" pitchFamily="34" charset="-122"/>
                <a:cs typeface="Calibri" pitchFamily="34" charset="-120"/>
              </a:rPr>
              <a:t>HR PIPELINE, THE GROWTH PATH ITSELF</a:t>
            </a:r>
            <a:endParaRPr lang="en-US" sz="950" dirty="0"/>
          </a:p>
        </p:txBody>
      </p:sp>
      <p:sp>
        <p:nvSpPr>
          <p:cNvPr id="18" name="Text 16"/>
          <p:cNvSpPr/>
          <p:nvPr/>
        </p:nvSpPr>
        <p:spPr>
          <a:xfrm>
            <a:off x="8357616"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Stock grants. Team-lead track via Academies and Live Better U.</a:t>
            </a:r>
            <a:endParaRPr lang="en-US" sz="1250" dirty="0"/>
          </a:p>
        </p:txBody>
      </p:sp>
      <p:sp>
        <p:nvSpPr>
          <p:cNvPr id="19" name="Text 17"/>
          <p:cNvSpPr/>
          <p:nvPr/>
        </p:nvSpPr>
        <p:spPr>
          <a:xfrm>
            <a:off x="8357616"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2E5540"/>
                </a:solidFill>
                <a:latin typeface="Calibri" pitchFamily="34" charset="0"/>
                <a:ea typeface="Calibri" pitchFamily="34" charset="-122"/>
                <a:cs typeface="Calibri" pitchFamily="34" charset="-120"/>
              </a:rPr>
              <a:t>The reward is the path, surfaced as concrete next steps rather than a vague promise. 310K promoted in two years.</a:t>
            </a:r>
            <a:endParaRPr lang="en-US" sz="11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Rewards reach payroll. That is what separates this from a badge in an app, and it is also what makes compliance a day-one workstream.</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A13  ·  FOR LEGAL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Compliance is a day-one workstream, not a launch-week discovery.</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Gift cards, bonuses, and stock are taxable compensation. That means payroll integration, not an app feature.</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Sweepstakes carry their own legal regime: no-consideration entry and state-by-state rules.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Merit and promotion nominations flow through existing HR calibration. The app brings evidence, humans decide.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tier ships with an equity audit of realized rewards across cohorts.</a:t>
            </a:r>
            <a:endParaRPr lang="en-US" sz="1200" dirty="0"/>
          </a:p>
        </p:txBody>
      </p:sp>
      <p:sp>
        <p:nvSpPr>
          <p:cNvPr id="17" name="Shape 15"/>
          <p:cNvSpPr/>
          <p:nvPr/>
        </p:nvSpPr>
        <p:spPr>
          <a:xfrm>
            <a:off x="566928" y="4721352"/>
            <a:ext cx="5390388"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audit includes checking that rewarding drive never quietly disadvantages the associate who simply works their shift well.</a:t>
            </a:r>
            <a:endParaRPr lang="en-US" sz="1200" dirty="0"/>
          </a:p>
        </p:txBody>
      </p:sp>
      <p:sp>
        <p:nvSpPr>
          <p:cNvPr id="20" name="Shape 18"/>
          <p:cNvSpPr/>
          <p:nvPr/>
        </p:nvSpPr>
        <p:spPr>
          <a:xfrm>
            <a:off x="6231636" y="4721352"/>
            <a:ext cx="5390388" cy="1267968"/>
          </a:xfrm>
          <a:prstGeom prst="roundRect">
            <a:avLst>
              <a:gd name="adj" fmla="val 7212"/>
            </a:avLst>
          </a:prstGeom>
          <a:solidFill>
            <a:srgbClr val="F1F5FA"/>
          </a:solidFill>
          <a:ln w="12700">
            <a:solidFill>
              <a:srgbClr val="F1F5FA"/>
            </a:solidFill>
            <a:prstDash val="solid"/>
          </a:ln>
        </p:spPr>
      </p:sp>
      <p:sp>
        <p:nvSpPr>
          <p:cNvPr id="21" name="Shape 19"/>
          <p:cNvSpPr/>
          <p:nvPr/>
        </p:nvSpPr>
        <p:spPr>
          <a:xfrm>
            <a:off x="6487668" y="52913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Reward mechanics must never read as pay-for-surveillance. If a mechanic cannot survive being explained to the associate it applies to, it does not ship.</a:t>
            </a:r>
            <a:endParaRPr lang="en-US" sz="120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Cleared with HR and legal inside days 31 to 60 of Plan C, before the first reward arm goes live.</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A14  ·  FOR HR AND LEGAL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Four guardrails keep the learning layer honest.</a:t>
            </a:r>
            <a:endParaRPr lang="en-US" sz="2600" dirty="0"/>
          </a:p>
        </p:txBody>
      </p:sp>
      <p:sp>
        <p:nvSpPr>
          <p:cNvPr id="5" name="Shape 3"/>
          <p:cNvSpPr/>
          <p:nvPr/>
        </p:nvSpPr>
        <p:spPr>
          <a:xfrm>
            <a:off x="566928" y="1828800"/>
            <a:ext cx="5390388" cy="1691640"/>
          </a:xfrm>
          <a:prstGeom prst="roundRect">
            <a:avLst>
              <a:gd name="adj" fmla="val 6486"/>
            </a:avLst>
          </a:prstGeom>
          <a:solidFill>
            <a:srgbClr val="F1F5FA"/>
          </a:solidFill>
          <a:ln w="12700">
            <a:solidFill>
              <a:srgbClr val="F1F5FA"/>
            </a:solidFill>
            <a:prstDash val="solid"/>
          </a:ln>
        </p:spPr>
      </p:sp>
      <p:sp>
        <p:nvSpPr>
          <p:cNvPr id="6" name="Shape 4"/>
          <p:cNvSpPr/>
          <p:nvPr/>
        </p:nvSpPr>
        <p:spPr>
          <a:xfrm>
            <a:off x="804672" y="2103120"/>
            <a:ext cx="146304" cy="146304"/>
          </a:xfrm>
          <a:prstGeom prst="diamond">
            <a:avLst/>
          </a:prstGeom>
          <a:solidFill>
            <a:srgbClr val="D9922B"/>
          </a:solidFill>
          <a:ln w="12700">
            <a:solidFill>
              <a:srgbClr val="D9922B"/>
            </a:solidFill>
            <a:prstDash val="solid"/>
          </a:ln>
        </p:spPr>
      </p:sp>
      <p:sp>
        <p:nvSpPr>
          <p:cNvPr id="7" name="Text 5"/>
          <p:cNvSpPr/>
          <p:nvPr/>
        </p:nvSpPr>
        <p:spPr>
          <a:xfrm>
            <a:off x="1078992"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Long-horizon holdouts</a:t>
            </a:r>
            <a:endParaRPr lang="en-US" sz="1600" dirty="0"/>
          </a:p>
        </p:txBody>
      </p:sp>
      <p:sp>
        <p:nvSpPr>
          <p:cNvPr id="8" name="Text 6"/>
          <p:cNvSpPr/>
          <p:nvPr/>
        </p:nvSpPr>
        <p:spPr>
          <a:xfrm>
            <a:off x="804672"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Bandits optimize the reward you give them. Reward is a leading indicator validated against 90-day retention in permanent holdout groups.</a:t>
            </a:r>
            <a:endParaRPr lang="en-US" sz="1200" dirty="0"/>
          </a:p>
        </p:txBody>
      </p:sp>
      <p:sp>
        <p:nvSpPr>
          <p:cNvPr id="9" name="Shape 7"/>
          <p:cNvSpPr/>
          <p:nvPr/>
        </p:nvSpPr>
        <p:spPr>
          <a:xfrm>
            <a:off x="6231636" y="1828800"/>
            <a:ext cx="5390388" cy="1691640"/>
          </a:xfrm>
          <a:prstGeom prst="roundRect">
            <a:avLst>
              <a:gd name="adj" fmla="val 6486"/>
            </a:avLst>
          </a:prstGeom>
          <a:solidFill>
            <a:srgbClr val="F1F5FA"/>
          </a:solidFill>
          <a:ln w="12700">
            <a:solidFill>
              <a:srgbClr val="F1F5FA"/>
            </a:solidFill>
            <a:prstDash val="solid"/>
          </a:ln>
        </p:spPr>
      </p:sp>
      <p:sp>
        <p:nvSpPr>
          <p:cNvPr id="10" name="Shape 8"/>
          <p:cNvSpPr/>
          <p:nvPr/>
        </p:nvSpPr>
        <p:spPr>
          <a:xfrm>
            <a:off x="6469380" y="2103120"/>
            <a:ext cx="146304" cy="146304"/>
          </a:xfrm>
          <a:prstGeom prst="diamond">
            <a:avLst/>
          </a:prstGeom>
          <a:solidFill>
            <a:srgbClr val="D9922B"/>
          </a:solidFill>
          <a:ln w="12700">
            <a:solidFill>
              <a:srgbClr val="D9922B"/>
            </a:solidFill>
            <a:prstDash val="solid"/>
          </a:ln>
        </p:spPr>
      </p:sp>
      <p:sp>
        <p:nvSpPr>
          <p:cNvPr id="11" name="Text 9"/>
          <p:cNvSpPr/>
          <p:nvPr/>
        </p:nvSpPr>
        <p:spPr>
          <a:xfrm>
            <a:off x="6743700"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Fairness constraints</a:t>
            </a:r>
            <a:endParaRPr lang="en-US" sz="1600" dirty="0"/>
          </a:p>
        </p:txBody>
      </p:sp>
      <p:sp>
        <p:nvSpPr>
          <p:cNvPr id="12" name="Text 10"/>
          <p:cNvSpPr/>
          <p:nvPr/>
        </p:nvSpPr>
        <p:spPr>
          <a:xfrm>
            <a:off x="6469380"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Minimum exposure floors per arm and per cohort. No cohort is silently starved of a beneficial intervention, and realized rewards are audited for equity.</a:t>
            </a:r>
            <a:endParaRPr lang="en-US" sz="1200" dirty="0"/>
          </a:p>
        </p:txBody>
      </p:sp>
      <p:sp>
        <p:nvSpPr>
          <p:cNvPr id="13" name="Shape 11"/>
          <p:cNvSpPr/>
          <p:nvPr/>
        </p:nvSpPr>
        <p:spPr>
          <a:xfrm>
            <a:off x="566928" y="3749040"/>
            <a:ext cx="5390388" cy="1691640"/>
          </a:xfrm>
          <a:prstGeom prst="roundRect">
            <a:avLst>
              <a:gd name="adj" fmla="val 6486"/>
            </a:avLst>
          </a:prstGeom>
          <a:solidFill>
            <a:srgbClr val="F1F5FA"/>
          </a:solidFill>
          <a:ln w="12700">
            <a:solidFill>
              <a:srgbClr val="F1F5FA"/>
            </a:solidFill>
            <a:prstDash val="solid"/>
          </a:ln>
        </p:spPr>
      </p:sp>
      <p:sp>
        <p:nvSpPr>
          <p:cNvPr id="14" name="Shape 12"/>
          <p:cNvSpPr/>
          <p:nvPr/>
        </p:nvSpPr>
        <p:spPr>
          <a:xfrm>
            <a:off x="804672" y="4023360"/>
            <a:ext cx="146304" cy="146304"/>
          </a:xfrm>
          <a:prstGeom prst="diamond">
            <a:avLst/>
          </a:prstGeom>
          <a:solidFill>
            <a:srgbClr val="D9922B"/>
          </a:solidFill>
          <a:ln w="12700">
            <a:solidFill>
              <a:srgbClr val="D9922B"/>
            </a:solidFill>
            <a:prstDash val="solid"/>
          </a:ln>
        </p:spPr>
      </p:sp>
      <p:sp>
        <p:nvSpPr>
          <p:cNvPr id="15" name="Text 13"/>
          <p:cNvSpPr/>
          <p:nvPr/>
        </p:nvSpPr>
        <p:spPr>
          <a:xfrm>
            <a:off x="1078992"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Intervention budget caps</a:t>
            </a:r>
            <a:endParaRPr lang="en-US" sz="1600" dirty="0"/>
          </a:p>
        </p:txBody>
      </p:sp>
      <p:sp>
        <p:nvSpPr>
          <p:cNvPr id="16" name="Text 14"/>
          <p:cNvSpPr/>
          <p:nvPr/>
        </p:nvSpPr>
        <p:spPr>
          <a:xfrm>
            <a:off x="804672"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An associate sees at most N interventions a week. The engine competes for a scarce attention budget, which prevents nudge fatigue.</a:t>
            </a:r>
            <a:endParaRPr lang="en-US" sz="1200" dirty="0"/>
          </a:p>
        </p:txBody>
      </p:sp>
      <p:sp>
        <p:nvSpPr>
          <p:cNvPr id="17" name="Shape 15"/>
          <p:cNvSpPr/>
          <p:nvPr/>
        </p:nvSpPr>
        <p:spPr>
          <a:xfrm>
            <a:off x="6231636" y="3749040"/>
            <a:ext cx="5390388" cy="1691640"/>
          </a:xfrm>
          <a:prstGeom prst="roundRect">
            <a:avLst>
              <a:gd name="adj" fmla="val 6486"/>
            </a:avLst>
          </a:prstGeom>
          <a:solidFill>
            <a:srgbClr val="F1F5FA"/>
          </a:solidFill>
          <a:ln w="12700">
            <a:solidFill>
              <a:srgbClr val="F1F5FA"/>
            </a:solidFill>
            <a:prstDash val="solid"/>
          </a:ln>
        </p:spPr>
      </p:sp>
      <p:sp>
        <p:nvSpPr>
          <p:cNvPr id="18" name="Shape 16"/>
          <p:cNvSpPr/>
          <p:nvPr/>
        </p:nvSpPr>
        <p:spPr>
          <a:xfrm>
            <a:off x="6469380" y="4023360"/>
            <a:ext cx="146304" cy="146304"/>
          </a:xfrm>
          <a:prstGeom prst="diamond">
            <a:avLst/>
          </a:prstGeom>
          <a:solidFill>
            <a:srgbClr val="D9922B"/>
          </a:solidFill>
          <a:ln w="12700">
            <a:solidFill>
              <a:srgbClr val="D9922B"/>
            </a:solidFill>
            <a:prstDash val="solid"/>
          </a:ln>
        </p:spPr>
      </p:sp>
      <p:sp>
        <p:nvSpPr>
          <p:cNvPr id="19" name="Text 17"/>
          <p:cNvSpPr/>
          <p:nvPr/>
        </p:nvSpPr>
        <p:spPr>
          <a:xfrm>
            <a:off x="6743700"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Human-readable policies</a:t>
            </a:r>
            <a:endParaRPr lang="en-US" sz="1600" dirty="0"/>
          </a:p>
        </p:txBody>
      </p:sp>
      <p:sp>
        <p:nvSpPr>
          <p:cNvPr id="20" name="Text 18"/>
          <p:cNvSpPr/>
          <p:nvPr/>
        </p:nvSpPr>
        <p:spPr>
          <a:xfrm>
            <a:off x="6469380"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learned policy exports as “cohort X responds best to Y,” reviewable by People teams. Not a black box.</a:t>
            </a:r>
            <a:endParaRPr lang="en-US" sz="1200" dirty="0"/>
          </a:p>
        </p:txBody>
      </p:sp>
      <p:sp>
        <p:nvSpPr>
          <p:cNvPr id="21"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Fairness floors are hard constraints in the sampler, not preferences applied afterwards in review.</a:t>
            </a:r>
            <a:endParaRPr lang="en-US" sz="1050" dirty="0"/>
          </a:p>
        </p:txBody>
      </p:sp>
      <p:sp>
        <p:nvSpPr>
          <p:cNvPr id="22"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A15  ·  FOR ENGINEERING LEADS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Eighteen capabilities, one scoring formula, placed on the associate journey.</a:t>
            </a:r>
            <a:endParaRPr lang="en-US" sz="2600" dirty="0"/>
          </a:p>
        </p:txBody>
      </p:sp>
      <p:sp>
        <p:nvSpPr>
          <p:cNvPr id="5" name="Shape 3"/>
          <p:cNvSpPr/>
          <p:nvPr/>
        </p:nvSpPr>
        <p:spPr>
          <a:xfrm>
            <a:off x="566928" y="1783080"/>
            <a:ext cx="11055096" cy="658368"/>
          </a:xfrm>
          <a:prstGeom prst="roundRect">
            <a:avLst>
              <a:gd name="adj" fmla="val 16667"/>
            </a:avLst>
          </a:prstGeom>
          <a:solidFill>
            <a:srgbClr val="16233B"/>
          </a:solidFill>
          <a:ln w="12700">
            <a:solidFill>
              <a:srgbClr val="16233B"/>
            </a:solidFill>
            <a:prstDash val="solid"/>
          </a:ln>
        </p:spPr>
      </p:sp>
      <p:sp>
        <p:nvSpPr>
          <p:cNvPr id="6" name="Text 4"/>
          <p:cNvSpPr/>
          <p:nvPr/>
        </p:nvSpPr>
        <p:spPr>
          <a:xfrm>
            <a:off x="786384" y="1819656"/>
            <a:ext cx="10616184" cy="58521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score  =  ( minutes returned x weight  +  retention lift x weight )  x  confidence  ÷  build cost</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2670048"/>
          <a:ext cx="11055096" cy="914400"/>
        </p:xfrm>
        <a:graphic>
          <a:graphicData uri="http://schemas.openxmlformats.org/drawingml/2006/table">
            <a:tbl>
              <a:tblPr/>
              <a:tblGrid>
                <a:gridCol w="3566160"/>
                <a:gridCol w="731520"/>
                <a:gridCol w="1828800"/>
                <a:gridCol w="1600200"/>
                <a:gridCol w="33284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Top-ranked capability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Journey lane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Horizon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ranks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1 to 30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minutes, high confidence,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Schedule-conflict action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Largest minutes return of any single capability</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Companion nano-agent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retention lift, moderate confidence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Day-1 orientation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Strong retention lift at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Retention-risk score and two arms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lift, low confidence until measured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Contextual bandit pilot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61 to 90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cost, highest option value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8" name="Text 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Confidence multiplies rather than adds, so a large opportunity nobody believes in ranks like a modest one that is certain. Cost divides, which converts impact into impact per unit of effort. Swimlanes expose gaps: an empty lane is a journey milestone no plan is serving.</a:t>
            </a:r>
            <a:endParaRPr lang="en-US" sz="1050" dirty="0"/>
          </a:p>
        </p:txBody>
      </p:sp>
      <p:sp>
        <p:nvSpPr>
          <p:cNvPr id="9" name="Text 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A16  ·  PLAN B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Answer to action: close the agentic gap on the highest-volume clusters.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every question that ends in “go find your team lead” costs three people time. Moving the top clusters from explaining to doing returns minutes and removes daily friction.</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cluster the 3M daily questions by intent and score each cluster by frequency x time-cost x feasibility. Hypothesis for the top three: scheduling, time off, task and equipment.</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one nano-agent ships the complete loop for cluster one. Detect, propose takers, initiate the swap, escalate async to the lead, close the loop.</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instrument task completion and deflection, harden reliability, spec cluster two, and institutionalize the experimentation cadence.</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minutes of associate time returned per week. Supporting: in-app task completion, manager-interruption deflection, answer-to-action conversion, and trust metrics.</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action agents touch systems of record, so the integration and trust bar is high, and one wrong scheduling action costs more trust than 100 right answers earn.</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A17  ·  PLAN C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Signal Engine: sense each cohort's state, respond with the right intervention, learn what works.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Walmart has 1.9M associates and treats them, product-wise, as one user. The durable advantage is a platform that senses cohort state and responds, not any single feature.</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inventory every existing signal, define the cohort taxonomy (role x shift x region x tenure), and fit a scoring model v0 on historical data to test whether 90-day attrition is predictable from app signals.</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retention-risk score live for new hires. Two arms A/B tested, proactive check-in against real-reward choice. Reward catalog v1 shipped with HR and legal clearance.</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contextual bandit across 3 to 4 arms in pilot regions, cohort-level results, and an opportunity-scoring dashboard that turns signals into ranked roadmap input.</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predicted versus actual retention lift in bandit cohorts, with long-horizon holdouts. Supporting: score AUC, incentive ROI per arm, engagement lift per cohort.</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scoring associates can read as surveillance, and this is the slowest path to a visible win. Mitigation is radical transparency plus dedicated data-science headcount.</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A18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What this needs to scale past the pilot.</a:t>
            </a:r>
            <a:endParaRPr lang="en-US" sz="2600" dirty="0"/>
          </a:p>
        </p:txBody>
      </p:sp>
      <p:sp>
        <p:nvSpPr>
          <p:cNvPr id="5" name="Shape 3"/>
          <p:cNvSpPr/>
          <p:nvPr/>
        </p:nvSpPr>
        <p:spPr>
          <a:xfrm>
            <a:off x="566928" y="1920240"/>
            <a:ext cx="2558034" cy="2651760"/>
          </a:xfrm>
          <a:prstGeom prst="roundRect">
            <a:avLst>
              <a:gd name="adj" fmla="val 4290"/>
            </a:avLst>
          </a:prstGeom>
          <a:solidFill>
            <a:srgbClr val="F1F5FA"/>
          </a:solidFill>
          <a:ln w="12700">
            <a:solidFill>
              <a:srgbClr val="F1F5FA"/>
            </a:solidFill>
            <a:prstDash val="solid"/>
          </a:ln>
        </p:spPr>
      </p:sp>
      <p:sp>
        <p:nvSpPr>
          <p:cNvPr id="6" name="Shape 4"/>
          <p:cNvSpPr/>
          <p:nvPr/>
        </p:nvSpPr>
        <p:spPr>
          <a:xfrm>
            <a:off x="804672" y="2157984"/>
            <a:ext cx="457200" cy="457200"/>
          </a:xfrm>
          <a:prstGeom prst="ellipse">
            <a:avLst/>
          </a:prstGeom>
          <a:solidFill>
            <a:srgbClr val="16233B"/>
          </a:solidFill>
          <a:ln w="12700">
            <a:solidFill>
              <a:srgbClr val="16233B"/>
            </a:solidFill>
            <a:prstDash val="solid"/>
          </a:ln>
        </p:spPr>
      </p:sp>
      <p:sp>
        <p:nvSpPr>
          <p:cNvPr id="7" name="Text 5"/>
          <p:cNvSpPr/>
          <p:nvPr/>
        </p:nvSpPr>
        <p:spPr>
          <a:xfrm>
            <a:off x="804672"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804672"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Feature store</a:t>
            </a:r>
            <a:endParaRPr lang="en-US" sz="1600" dirty="0"/>
          </a:p>
        </p:txBody>
      </p:sp>
      <p:sp>
        <p:nvSpPr>
          <p:cNvPr id="9" name="Text 7"/>
          <p:cNvSpPr/>
          <p:nvPr/>
        </p:nvSpPr>
        <p:spPr>
          <a:xfrm>
            <a:off x="804672"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Signals land in a shared feature store on the Element platform. Built to hand off, not to hoard.</a:t>
            </a:r>
            <a:endParaRPr lang="en-US" sz="1150" dirty="0"/>
          </a:p>
        </p:txBody>
      </p:sp>
      <p:sp>
        <p:nvSpPr>
          <p:cNvPr id="10" name="Shape 8"/>
          <p:cNvSpPr/>
          <p:nvPr/>
        </p:nvSpPr>
        <p:spPr>
          <a:xfrm>
            <a:off x="3399282" y="1920240"/>
            <a:ext cx="2558034" cy="2651760"/>
          </a:xfrm>
          <a:prstGeom prst="roundRect">
            <a:avLst>
              <a:gd name="adj" fmla="val 4290"/>
            </a:avLst>
          </a:prstGeom>
          <a:solidFill>
            <a:srgbClr val="F1F5FA"/>
          </a:solidFill>
          <a:ln w="12700">
            <a:solidFill>
              <a:srgbClr val="F1F5FA"/>
            </a:solidFill>
            <a:prstDash val="solid"/>
          </a:ln>
        </p:spPr>
      </p:sp>
      <p:sp>
        <p:nvSpPr>
          <p:cNvPr id="11" name="Shape 9"/>
          <p:cNvSpPr/>
          <p:nvPr/>
        </p:nvSpPr>
        <p:spPr>
          <a:xfrm>
            <a:off x="3637026" y="2157984"/>
            <a:ext cx="457200" cy="457200"/>
          </a:xfrm>
          <a:prstGeom prst="ellipse">
            <a:avLst/>
          </a:prstGeom>
          <a:solidFill>
            <a:srgbClr val="16233B"/>
          </a:solidFill>
          <a:ln w="12700">
            <a:solidFill>
              <a:srgbClr val="16233B"/>
            </a:solidFill>
            <a:prstDash val="solid"/>
          </a:ln>
        </p:spPr>
      </p:sp>
      <p:sp>
        <p:nvSpPr>
          <p:cNvPr id="12" name="Text 10"/>
          <p:cNvSpPr/>
          <p:nvPr/>
        </p:nvSpPr>
        <p:spPr>
          <a:xfrm>
            <a:off x="3637026"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3637026"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Versioned scores</a:t>
            </a:r>
            <a:endParaRPr lang="en-US" sz="1600" dirty="0"/>
          </a:p>
        </p:txBody>
      </p:sp>
      <p:sp>
        <p:nvSpPr>
          <p:cNvPr id="14" name="Text 12"/>
          <p:cNvSpPr/>
          <p:nvPr/>
        </p:nvSpPr>
        <p:spPr>
          <a:xfrm>
            <a:off x="3637026"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Scores are versioned models with monitoring owned by data science. Product owns the semantics.</a:t>
            </a:r>
            <a:endParaRPr lang="en-US" sz="1150" dirty="0"/>
          </a:p>
        </p:txBody>
      </p:sp>
      <p:sp>
        <p:nvSpPr>
          <p:cNvPr id="15" name="Shape 13"/>
          <p:cNvSpPr/>
          <p:nvPr/>
        </p:nvSpPr>
        <p:spPr>
          <a:xfrm>
            <a:off x="6231636" y="1920240"/>
            <a:ext cx="2558034" cy="2651760"/>
          </a:xfrm>
          <a:prstGeom prst="roundRect">
            <a:avLst>
              <a:gd name="adj" fmla="val 4290"/>
            </a:avLst>
          </a:prstGeom>
          <a:solidFill>
            <a:srgbClr val="F1F5FA"/>
          </a:solidFill>
          <a:ln w="12700">
            <a:solidFill>
              <a:srgbClr val="F1F5FA"/>
            </a:solidFill>
            <a:prstDash val="solid"/>
          </a:ln>
        </p:spPr>
      </p:sp>
      <p:sp>
        <p:nvSpPr>
          <p:cNvPr id="16" name="Shape 14"/>
          <p:cNvSpPr/>
          <p:nvPr/>
        </p:nvSpPr>
        <p:spPr>
          <a:xfrm>
            <a:off x="6469380" y="2157984"/>
            <a:ext cx="457200" cy="457200"/>
          </a:xfrm>
          <a:prstGeom prst="ellipse">
            <a:avLst/>
          </a:prstGeom>
          <a:solidFill>
            <a:srgbClr val="16233B"/>
          </a:solidFill>
          <a:ln w="12700">
            <a:solidFill>
              <a:srgbClr val="16233B"/>
            </a:solidFill>
            <a:prstDash val="solid"/>
          </a:ln>
        </p:spPr>
      </p:sp>
      <p:sp>
        <p:nvSpPr>
          <p:cNvPr id="17" name="Text 15"/>
          <p:cNvSpPr/>
          <p:nvPr/>
        </p:nvSpPr>
        <p:spPr>
          <a:xfrm>
            <a:off x="6469380"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6469380"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Config-driven arms</a:t>
            </a:r>
            <a:endParaRPr lang="en-US" sz="1600" dirty="0"/>
          </a:p>
        </p:txBody>
      </p:sp>
      <p:sp>
        <p:nvSpPr>
          <p:cNvPr id="19" name="Text 17"/>
          <p:cNvSpPr/>
          <p:nvPr/>
        </p:nvSpPr>
        <p:spPr>
          <a:xfrm>
            <a:off x="6469380"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Interventions are config-driven templates. A new arm is config, not code.</a:t>
            </a:r>
            <a:endParaRPr lang="en-US" sz="1150" dirty="0"/>
          </a:p>
        </p:txBody>
      </p:sp>
      <p:sp>
        <p:nvSpPr>
          <p:cNvPr id="20" name="Shape 18"/>
          <p:cNvSpPr/>
          <p:nvPr/>
        </p:nvSpPr>
        <p:spPr>
          <a:xfrm>
            <a:off x="9063990" y="1920240"/>
            <a:ext cx="2558034" cy="2651760"/>
          </a:xfrm>
          <a:prstGeom prst="roundRect">
            <a:avLst>
              <a:gd name="adj" fmla="val 4290"/>
            </a:avLst>
          </a:prstGeom>
          <a:solidFill>
            <a:srgbClr val="F1F5FA"/>
          </a:solidFill>
          <a:ln w="12700">
            <a:solidFill>
              <a:srgbClr val="F1F5FA"/>
            </a:solidFill>
            <a:prstDash val="solid"/>
          </a:ln>
        </p:spPr>
      </p:sp>
      <p:sp>
        <p:nvSpPr>
          <p:cNvPr id="21" name="Shape 19"/>
          <p:cNvSpPr/>
          <p:nvPr/>
        </p:nvSpPr>
        <p:spPr>
          <a:xfrm>
            <a:off x="9301734" y="2157984"/>
            <a:ext cx="457200" cy="457200"/>
          </a:xfrm>
          <a:prstGeom prst="ellipse">
            <a:avLst/>
          </a:prstGeom>
          <a:solidFill>
            <a:srgbClr val="16233B"/>
          </a:solidFill>
          <a:ln w="12700">
            <a:solidFill>
              <a:srgbClr val="16233B"/>
            </a:solidFill>
            <a:prstDash val="solid"/>
          </a:ln>
        </p:spPr>
      </p:sp>
      <p:sp>
        <p:nvSpPr>
          <p:cNvPr id="22" name="Text 20"/>
          <p:cNvSpPr/>
          <p:nvPr/>
        </p:nvSpPr>
        <p:spPr>
          <a:xfrm>
            <a:off x="9301734"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9301734"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Launch criteria</a:t>
            </a:r>
            <a:endParaRPr lang="en-US" sz="1600" dirty="0"/>
          </a:p>
        </p:txBody>
      </p:sp>
      <p:sp>
        <p:nvSpPr>
          <p:cNvPr id="24" name="Text 22"/>
          <p:cNvSpPr/>
          <p:nvPr/>
        </p:nvSpPr>
        <p:spPr>
          <a:xfrm>
            <a:off x="9301734"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WCAG 2.2 AA and 44-language coverage as launch gates, with associate co-design panels every field cycle.</a:t>
            </a:r>
            <a:endParaRPr lang="en-US" sz="1150" dirty="0"/>
          </a:p>
        </p:txBody>
      </p:sp>
      <p:sp>
        <p:nvSpPr>
          <p:cNvPr id="25" name="Text 2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Accessibility and language coverage are launch criteria, not a later release. An associate app that only serves some associates is not shipped.</a:t>
            </a:r>
            <a:endParaRPr lang="en-US" sz="1050" dirty="0"/>
          </a:p>
        </p:txBody>
      </p:sp>
      <p:sp>
        <p:nvSpPr>
          <p:cNvPr id="26" name="Text 2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A19  ·  GROUNDING FACTS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Numbers this deck rests on.</a:t>
            </a:r>
            <a:endParaRPr lang="en-US" sz="2800" dirty="0"/>
          </a:p>
        </p:txBody>
      </p:sp>
      <p:sp>
        <p:nvSpPr>
          <p:cNvPr id="5" name="Shape 3"/>
          <p:cNvSpPr/>
          <p:nvPr/>
        </p:nvSpPr>
        <p:spPr>
          <a:xfrm>
            <a:off x="566928" y="1965960"/>
            <a:ext cx="3502152" cy="1298448"/>
          </a:xfrm>
          <a:prstGeom prst="roundRect">
            <a:avLst>
              <a:gd name="adj" fmla="val 8451"/>
            </a:avLst>
          </a:prstGeom>
          <a:solidFill>
            <a:srgbClr val="223558"/>
          </a:solidFill>
          <a:ln w="12700">
            <a:solidFill>
              <a:srgbClr val="223558"/>
            </a:solidFill>
            <a:prstDash val="solid"/>
          </a:ln>
        </p:spPr>
      </p:sp>
      <p:sp>
        <p:nvSpPr>
          <p:cNvPr id="6" name="Text 4"/>
          <p:cNvSpPr/>
          <p:nvPr/>
        </p:nvSpPr>
        <p:spPr>
          <a:xfrm>
            <a:off x="731520"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~1.9M</a:t>
            </a:r>
            <a:endParaRPr lang="en-US" sz="3000" dirty="0"/>
          </a:p>
        </p:txBody>
      </p:sp>
      <p:sp>
        <p:nvSpPr>
          <p:cNvPr id="7" name="Text 5"/>
          <p:cNvSpPr/>
          <p:nvPr/>
        </p:nvSpPr>
        <p:spPr>
          <a:xfrm>
            <a:off x="731520"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global associates</a:t>
            </a:r>
            <a:endParaRPr lang="en-US" sz="1150" dirty="0"/>
          </a:p>
        </p:txBody>
      </p:sp>
      <p:sp>
        <p:nvSpPr>
          <p:cNvPr id="8" name="Shape 6"/>
          <p:cNvSpPr/>
          <p:nvPr/>
        </p:nvSpPr>
        <p:spPr>
          <a:xfrm>
            <a:off x="4343400" y="1965960"/>
            <a:ext cx="3502152" cy="1298448"/>
          </a:xfrm>
          <a:prstGeom prst="roundRect">
            <a:avLst>
              <a:gd name="adj" fmla="val 8451"/>
            </a:avLst>
          </a:prstGeom>
          <a:solidFill>
            <a:srgbClr val="223558"/>
          </a:solidFill>
          <a:ln w="12700">
            <a:solidFill>
              <a:srgbClr val="223558"/>
            </a:solidFill>
            <a:prstDash val="solid"/>
          </a:ln>
        </p:spPr>
      </p:sp>
      <p:sp>
        <p:nvSpPr>
          <p:cNvPr id="9" name="Text 7"/>
          <p:cNvSpPr/>
          <p:nvPr/>
        </p:nvSpPr>
        <p:spPr>
          <a:xfrm>
            <a:off x="4507992"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~3M</a:t>
            </a:r>
            <a:endParaRPr lang="en-US" sz="3000" dirty="0"/>
          </a:p>
        </p:txBody>
      </p:sp>
      <p:sp>
        <p:nvSpPr>
          <p:cNvPr id="10" name="Text 8"/>
          <p:cNvSpPr/>
          <p:nvPr/>
        </p:nvSpPr>
        <p:spPr>
          <a:xfrm>
            <a:off x="4507992"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Sidekick questions a day</a:t>
            </a:r>
            <a:endParaRPr lang="en-US" sz="1150" dirty="0"/>
          </a:p>
        </p:txBody>
      </p:sp>
      <p:sp>
        <p:nvSpPr>
          <p:cNvPr id="11" name="Shape 9"/>
          <p:cNvSpPr/>
          <p:nvPr/>
        </p:nvSpPr>
        <p:spPr>
          <a:xfrm>
            <a:off x="8119872" y="1965960"/>
            <a:ext cx="3502152" cy="1298448"/>
          </a:xfrm>
          <a:prstGeom prst="roundRect">
            <a:avLst>
              <a:gd name="adj" fmla="val 8451"/>
            </a:avLst>
          </a:prstGeom>
          <a:solidFill>
            <a:srgbClr val="223558"/>
          </a:solidFill>
          <a:ln w="12700">
            <a:solidFill>
              <a:srgbClr val="223558"/>
            </a:solidFill>
            <a:prstDash val="solid"/>
          </a:ln>
        </p:spPr>
      </p:sp>
      <p:sp>
        <p:nvSpPr>
          <p:cNvPr id="12" name="Text 10"/>
          <p:cNvSpPr/>
          <p:nvPr/>
        </p:nvSpPr>
        <p:spPr>
          <a:xfrm>
            <a:off x="8284464"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310K</a:t>
            </a:r>
            <a:endParaRPr lang="en-US" sz="3000" dirty="0"/>
          </a:p>
        </p:txBody>
      </p:sp>
      <p:sp>
        <p:nvSpPr>
          <p:cNvPr id="13" name="Text 11"/>
          <p:cNvSpPr/>
          <p:nvPr/>
        </p:nvSpPr>
        <p:spPr>
          <a:xfrm>
            <a:off x="8284464"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promoted in two years</a:t>
            </a:r>
            <a:endParaRPr lang="en-US" sz="1150" dirty="0"/>
          </a:p>
        </p:txBody>
      </p:sp>
      <p:sp>
        <p:nvSpPr>
          <p:cNvPr id="14" name="Shape 12"/>
          <p:cNvSpPr/>
          <p:nvPr/>
        </p:nvSpPr>
        <p:spPr>
          <a:xfrm>
            <a:off x="566928" y="3447288"/>
            <a:ext cx="3502152" cy="1298448"/>
          </a:xfrm>
          <a:prstGeom prst="roundRect">
            <a:avLst>
              <a:gd name="adj" fmla="val 8451"/>
            </a:avLst>
          </a:prstGeom>
          <a:solidFill>
            <a:srgbClr val="223558"/>
          </a:solidFill>
          <a:ln w="12700">
            <a:solidFill>
              <a:srgbClr val="223558"/>
            </a:solidFill>
            <a:prstDash val="solid"/>
          </a:ln>
        </p:spPr>
      </p:sp>
      <p:sp>
        <p:nvSpPr>
          <p:cNvPr id="15" name="Text 13"/>
          <p:cNvSpPr/>
          <p:nvPr/>
        </p:nvSpPr>
        <p:spPr>
          <a:xfrm>
            <a:off x="731520"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50+</a:t>
            </a:r>
            <a:endParaRPr lang="en-US" sz="3000" dirty="0"/>
          </a:p>
        </p:txBody>
      </p:sp>
      <p:sp>
        <p:nvSpPr>
          <p:cNvPr id="16" name="Text 14"/>
          <p:cNvSpPr/>
          <p:nvPr/>
        </p:nvSpPr>
        <p:spPr>
          <a:xfrm>
            <a:off x="731520"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Live Better U certificates, no cost</a:t>
            </a:r>
            <a:endParaRPr lang="en-US" sz="1150" dirty="0"/>
          </a:p>
        </p:txBody>
      </p:sp>
      <p:sp>
        <p:nvSpPr>
          <p:cNvPr id="17" name="Shape 15"/>
          <p:cNvSpPr/>
          <p:nvPr/>
        </p:nvSpPr>
        <p:spPr>
          <a:xfrm>
            <a:off x="4343400" y="3447288"/>
            <a:ext cx="3502152" cy="1298448"/>
          </a:xfrm>
          <a:prstGeom prst="roundRect">
            <a:avLst>
              <a:gd name="adj" fmla="val 8451"/>
            </a:avLst>
          </a:prstGeom>
          <a:solidFill>
            <a:srgbClr val="223558"/>
          </a:solidFill>
          <a:ln w="12700">
            <a:solidFill>
              <a:srgbClr val="223558"/>
            </a:solidFill>
            <a:prstDash val="solid"/>
          </a:ln>
        </p:spPr>
      </p:sp>
      <p:sp>
        <p:nvSpPr>
          <p:cNvPr id="18" name="Text 16"/>
          <p:cNvSpPr/>
          <p:nvPr/>
        </p:nvSpPr>
        <p:spPr>
          <a:xfrm>
            <a:off x="4507992"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$1B</a:t>
            </a:r>
            <a:endParaRPr lang="en-US" sz="3000" dirty="0"/>
          </a:p>
        </p:txBody>
      </p:sp>
      <p:sp>
        <p:nvSpPr>
          <p:cNvPr id="19" name="Text 17"/>
          <p:cNvSpPr/>
          <p:nvPr/>
        </p:nvSpPr>
        <p:spPr>
          <a:xfrm>
            <a:off x="4507992"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training investment by 2026</a:t>
            </a:r>
            <a:endParaRPr lang="en-US" sz="1150" dirty="0"/>
          </a:p>
        </p:txBody>
      </p:sp>
      <p:sp>
        <p:nvSpPr>
          <p:cNvPr id="20" name="Shape 18"/>
          <p:cNvSpPr/>
          <p:nvPr/>
        </p:nvSpPr>
        <p:spPr>
          <a:xfrm>
            <a:off x="8119872" y="3447288"/>
            <a:ext cx="3502152" cy="1298448"/>
          </a:xfrm>
          <a:prstGeom prst="roundRect">
            <a:avLst>
              <a:gd name="adj" fmla="val 8451"/>
            </a:avLst>
          </a:prstGeom>
          <a:solidFill>
            <a:srgbClr val="223558"/>
          </a:solidFill>
          <a:ln w="12700">
            <a:solidFill>
              <a:srgbClr val="223558"/>
            </a:solidFill>
            <a:prstDash val="solid"/>
          </a:ln>
        </p:spPr>
      </p:sp>
      <p:sp>
        <p:nvSpPr>
          <p:cNvPr id="21" name="Text 19"/>
          <p:cNvSpPr/>
          <p:nvPr/>
        </p:nvSpPr>
        <p:spPr>
          <a:xfrm>
            <a:off x="8284464"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90 to 30 min</a:t>
            </a:r>
            <a:endParaRPr lang="en-US" sz="3000" dirty="0"/>
          </a:p>
        </p:txBody>
      </p:sp>
      <p:sp>
        <p:nvSpPr>
          <p:cNvPr id="22" name="Text 20"/>
          <p:cNvSpPr/>
          <p:nvPr/>
        </p:nvSpPr>
        <p:spPr>
          <a:xfrm>
            <a:off x="8284464"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shift planning, already cut by agents</a:t>
            </a:r>
            <a:endParaRPr lang="en-US" sz="1150" dirty="0"/>
          </a:p>
        </p:txBody>
      </p:sp>
      <p:sp>
        <p:nvSpPr>
          <p:cNvPr id="23" name="Text 21"/>
          <p:cNvSpPr/>
          <p:nvPr/>
        </p:nvSpPr>
        <p:spPr>
          <a:xfrm>
            <a:off x="566928" y="5138928"/>
            <a:ext cx="11055096" cy="658368"/>
          </a:xfrm>
          <a:prstGeom prst="rect">
            <a:avLst/>
          </a:prstGeom>
          <a:noFill/>
          <a:ln/>
        </p:spPr>
        <p:txBody>
          <a:bodyPr wrap="square" lIns="0" tIns="0" rIns="0" bIns="0" rtlCol="0" anchor="t"/>
          <a:lstStyle/>
          <a:p>
            <a:pPr indent="0" marL="0">
              <a:lnSpc>
                <a:spcPts val="1700"/>
              </a:lnSpc>
              <a:buNone/>
            </a:pPr>
            <a:r>
              <a:rPr lang="en-US" sz="1250" dirty="0">
                <a:solidFill>
                  <a:srgbClr val="C9D4E6"/>
                </a:solidFill>
                <a:latin typeface="Calibri" pitchFamily="34" charset="0"/>
                <a:ea typeface="Calibri" pitchFamily="34" charset="-122"/>
                <a:cs typeface="Calibri" pitchFamily="34" charset="-120"/>
              </a:rPr>
              <a:t>Context: a four-super-agent architecture (Sparky, Marty, Associate, Developer) with nano-agents beneath, a stated surgical agent philosophy from CTO Hari Vasudev, and a 5-year average US associate tenure.</a:t>
            </a:r>
            <a:endParaRPr lang="en-US" sz="1250" dirty="0"/>
          </a:p>
        </p:txBody>
      </p:sp>
      <p:sp>
        <p:nvSpPr>
          <p:cNvPr id="24" name="Text 22"/>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Independent candidate work product. Not affiliated with or endorsed by Walmart Inc. Financial models are illustrative with stated assumptions.</a:t>
            </a:r>
            <a:endParaRPr lang="en-US" sz="105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A20  ·  SOURCES BEHIND SLIDE 4</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1B2338"/>
                </a:solidFill>
                <a:latin typeface="Cambria" pitchFamily="34" charset="0"/>
                <a:ea typeface="Cambria" pitchFamily="34" charset="-122"/>
                <a:cs typeface="Cambria" pitchFamily="34" charset="-120"/>
              </a:rPr>
              <a:t>Six sources, and what each one is doing.</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3017520"/>
                <a:gridCol w="6025896"/>
                <a:gridCol w="20116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Weight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PubMed Central, PMC8319625</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Intrinsic and extrinsic motivation operate through different mechanisms, so they are not interchangeable currencies</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Peer reviewed</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IJSMS, vol 8 issue 3, paper 118</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Recent academic treatment of reward systems and engagement</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Peer reviewed</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Gallup, employee recognition</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Recognition is low cost relative to its effect, which is the intrinsic column's cost argument</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Industry research</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Incentive Research Foundation</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Value and ROI of recognition programs, the number a CFO will press on</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Industry, vendor-adjacent</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Reward Gateway</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Point-reward mechanics as actually implemented, the instant gratification column</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Vendor published</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050" b="1" dirty="0">
                          <a:solidFill>
                            <a:srgbClr val="1B2338"/>
                          </a:solidFill>
                          <a:latin typeface="Calibri" pitchFamily="34" charset="0"/>
                          <a:ea typeface="Calibri" pitchFamily="34" charset="-122"/>
                          <a:cs typeface="Calibri" pitchFamily="34" charset="-120"/>
                        </a:rPr>
                        <a:t>Author-supplied video reference</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Practitioner framing of gratification timing. Held in notes, not cited on slide 4</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050" dirty="0">
                          <a:solidFill>
                            <a:srgbClr val="1B2338"/>
                          </a:solidFill>
                          <a:latin typeface="Calibri" pitchFamily="34" charset="0"/>
                          <a:ea typeface="Calibri" pitchFamily="34" charset="-122"/>
                          <a:cs typeface="Calibri" pitchFamily="34" charset="-120"/>
                        </a:rPr>
                        <a:t>Not cited</a:t>
                      </a:r>
                      <a:endParaRPr lang="en-US" sz="10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5029200"/>
            <a:ext cx="11055096" cy="749808"/>
          </a:xfrm>
          <a:prstGeom prst="roundRect">
            <a:avLst>
              <a:gd name="adj" fmla="val 14634"/>
            </a:avLst>
          </a:prstGeom>
          <a:solidFill>
            <a:srgbClr val="FAECD4"/>
          </a:solidFill>
          <a:ln w="12700">
            <a:solidFill>
              <a:srgbClr val="FAECD4"/>
            </a:solidFill>
            <a:prstDash val="solid"/>
          </a:ln>
        </p:spPr>
      </p:sp>
      <p:sp>
        <p:nvSpPr>
          <p:cNvPr id="7" name="Text 4"/>
          <p:cNvSpPr/>
          <p:nvPr/>
        </p:nvSpPr>
        <p:spPr>
          <a:xfrm>
            <a:off x="786384" y="5029200"/>
            <a:ext cx="10616184" cy="749808"/>
          </a:xfrm>
          <a:prstGeom prst="rect">
            <a:avLst/>
          </a:prstGeom>
          <a:noFill/>
          <a:ln/>
        </p:spPr>
        <p:txBody>
          <a:bodyPr wrap="square" lIns="0" tIns="0" rIns="0" bIns="0" rtlCol="0" anchor="ctr"/>
          <a:lstStyle/>
          <a:p>
            <a:pPr indent="0" marL="0">
              <a:lnSpc>
                <a:spcPts val="1500"/>
              </a:lnSpc>
              <a:buNone/>
            </a:pPr>
            <a:r>
              <a:rPr lang="en-US" sz="1150" b="1" dirty="0">
                <a:solidFill>
                  <a:srgbClr val="8A5A11"/>
                </a:solidFill>
                <a:latin typeface="Calibri" pitchFamily="34" charset="0"/>
                <a:ea typeface="Calibri" pitchFamily="34" charset="-122"/>
                <a:cs typeface="Calibri" pitchFamily="34" charset="-120"/>
              </a:rPr>
              <a:t>Slide 4 leans on the two peer-reviewed sources for mechanism claims and uses the industry sources for practice examples. Three of the six have a commercial interest in the conclusion, which is stated here rather than hidden.</a:t>
            </a:r>
            <a:endParaRPr lang="en-US" sz="115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MyWalmart / Sidekick: first 90 days</dc:title>
  <dc:subject>PptxGenJS Presentation</dc:subject>
  <dc:creator>Allen Hoem</dc:creator>
  <cp:lastModifiedBy>Allen Hoem</cp:lastModifiedBy>
  <cp:revision>1</cp:revision>
  <dcterms:created xsi:type="dcterms:W3CDTF">2026-08-06T19:06:18Z</dcterms:created>
  <dcterms:modified xsi:type="dcterms:W3CDTF">2026-08-06T19:06:18Z</dcterms:modified>
</cp:coreProperties>
</file>